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2" r:id="rId3"/>
    <p:sldId id="258" r:id="rId4"/>
    <p:sldId id="259" r:id="rId5"/>
    <p:sldId id="339" r:id="rId6"/>
    <p:sldId id="340" r:id="rId7"/>
    <p:sldId id="341" r:id="rId8"/>
    <p:sldId id="343" r:id="rId9"/>
    <p:sldId id="342" r:id="rId10"/>
    <p:sldId id="344" r:id="rId11"/>
    <p:sldId id="347" r:id="rId12"/>
    <p:sldId id="351" r:id="rId13"/>
    <p:sldId id="350" r:id="rId14"/>
    <p:sldId id="348" r:id="rId15"/>
    <p:sldId id="349" r:id="rId16"/>
    <p:sldId id="353" r:id="rId17"/>
    <p:sldId id="346" r:id="rId18"/>
    <p:sldId id="35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3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4A651-AB18-4FE4-B450-9964AC3B24C4}" type="datetimeFigureOut">
              <a:rPr lang="zh-TW" altLang="en-US" smtClean="0"/>
              <a:t>2022/2/9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1010F31A-A9C3-4684-A847-A3D42D01EB1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8177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27D4A651-AB18-4FE4-B450-9964AC3B24C4}" type="datetimeFigureOut">
              <a:rPr lang="zh-TW" altLang="en-US" smtClean="0"/>
              <a:t>2022/2/9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0F31A-A9C3-4684-A847-A3D42D01EB1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21168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4A651-AB18-4FE4-B450-9964AC3B24C4}" type="datetimeFigureOut">
              <a:rPr lang="zh-TW" altLang="en-US" smtClean="0"/>
              <a:t>2022/2/9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0F31A-A9C3-4684-A847-A3D42D01EB1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0270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4A651-AB18-4FE4-B450-9964AC3B24C4}" type="datetimeFigureOut">
              <a:rPr lang="zh-TW" altLang="en-US" smtClean="0"/>
              <a:t>2022/2/9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0F31A-A9C3-4684-A847-A3D42D01EB1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3367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4A651-AB18-4FE4-B450-9964AC3B24C4}" type="datetimeFigureOut">
              <a:rPr lang="zh-TW" altLang="en-US" smtClean="0"/>
              <a:t>2022/2/9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0F31A-A9C3-4684-A847-A3D42D01EB1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7492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4A651-AB18-4FE4-B450-9964AC3B24C4}" type="datetimeFigureOut">
              <a:rPr lang="zh-TW" altLang="en-US" smtClean="0"/>
              <a:t>2022/2/9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0F31A-A9C3-4684-A847-A3D42D01EB1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6705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4A651-AB18-4FE4-B450-9964AC3B24C4}" type="datetimeFigureOut">
              <a:rPr lang="zh-TW" altLang="en-US" smtClean="0"/>
              <a:t>2022/2/9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0F31A-A9C3-4684-A847-A3D42D01E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5928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4A651-AB18-4FE4-B450-9964AC3B24C4}" type="datetimeFigureOut">
              <a:rPr lang="zh-TW" altLang="en-US" smtClean="0"/>
              <a:t>2022/2/9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0F31A-A9C3-4684-A847-A3D42D01EB1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8424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27D4A651-AB18-4FE4-B450-9964AC3B24C4}" type="datetimeFigureOut">
              <a:rPr lang="zh-TW" altLang="en-US" smtClean="0"/>
              <a:t>2022/2/9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1010F31A-A9C3-4684-A847-A3D42D01EB1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4120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4A651-AB18-4FE4-B450-9964AC3B24C4}" type="datetimeFigureOut">
              <a:rPr lang="zh-TW" altLang="en-US" smtClean="0"/>
              <a:t>2022/2/9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0F31A-A9C3-4684-A847-A3D42D01EB1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6042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4A651-AB18-4FE4-B450-9964AC3B24C4}" type="datetimeFigureOut">
              <a:rPr lang="zh-TW" altLang="en-US" smtClean="0"/>
              <a:t>2022/2/9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0F31A-A9C3-4684-A847-A3D42D01EB1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5022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404157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4A651-AB18-4FE4-B450-9964AC3B24C4}" type="datetimeFigureOut">
              <a:rPr lang="zh-TW" altLang="en-US" smtClean="0"/>
              <a:t>2022/2/9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010F31A-A9C3-4684-A847-A3D42D01E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5767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369A5F-8256-433C-8D6C-661E6882D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3800" dirty="0"/>
              <a:t>Data preprocessing of numerical data</a:t>
            </a:r>
            <a:endParaRPr lang="zh-TW" altLang="en-US" sz="38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F96ABA4-014B-4B42-91AE-3086923CBC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05420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Data Science Experiment Flow</a:t>
            </a:r>
          </a:p>
        </p:txBody>
      </p:sp>
      <p:grpSp>
        <p:nvGrpSpPr>
          <p:cNvPr id="43" name="그룹 28">
            <a:extLst>
              <a:ext uri="{FF2B5EF4-FFF2-40B4-BE49-F238E27FC236}">
                <a16:creationId xmlns:a16="http://schemas.microsoft.com/office/drawing/2014/main" id="{37121E49-502D-465E-B544-7B4466E8CAF8}"/>
              </a:ext>
            </a:extLst>
          </p:cNvPr>
          <p:cNvGrpSpPr/>
          <p:nvPr/>
        </p:nvGrpSpPr>
        <p:grpSpPr>
          <a:xfrm>
            <a:off x="1167602" y="3414558"/>
            <a:ext cx="1923380" cy="1010203"/>
            <a:chOff x="721754" y="3414556"/>
            <a:chExt cx="1923380" cy="1010203"/>
          </a:xfrm>
        </p:grpSpPr>
        <p:sp>
          <p:nvSpPr>
            <p:cNvPr id="44" name="Oval 26">
              <a:extLst>
                <a:ext uri="{FF2B5EF4-FFF2-40B4-BE49-F238E27FC236}">
                  <a16:creationId xmlns:a16="http://schemas.microsoft.com/office/drawing/2014/main" id="{4C95BF9D-0313-466A-9E32-9E1E241AB664}"/>
                </a:ext>
              </a:extLst>
            </p:cNvPr>
            <p:cNvSpPr/>
            <p:nvPr/>
          </p:nvSpPr>
          <p:spPr>
            <a:xfrm>
              <a:off x="721754" y="3414556"/>
              <a:ext cx="1923380" cy="1010203"/>
            </a:xfrm>
            <a:custGeom>
              <a:avLst/>
              <a:gdLst/>
              <a:ahLst/>
              <a:cxnLst/>
              <a:rect l="l" t="t" r="r" b="b"/>
              <a:pathLst>
                <a:path w="1923380" h="1010203">
                  <a:moveTo>
                    <a:pt x="1418278" y="0"/>
                  </a:moveTo>
                  <a:lnTo>
                    <a:pt x="1923380" y="505102"/>
                  </a:lnTo>
                  <a:lnTo>
                    <a:pt x="1418278" y="1010203"/>
                  </a:lnTo>
                  <a:lnTo>
                    <a:pt x="1418278" y="757652"/>
                  </a:lnTo>
                  <a:lnTo>
                    <a:pt x="736602" y="757652"/>
                  </a:lnTo>
                  <a:cubicBezTo>
                    <a:pt x="662474" y="855460"/>
                    <a:pt x="544780" y="917660"/>
                    <a:pt x="412559" y="917660"/>
                  </a:cubicBezTo>
                  <a:cubicBezTo>
                    <a:pt x="184709" y="917660"/>
                    <a:pt x="0" y="732951"/>
                    <a:pt x="0" y="505101"/>
                  </a:cubicBezTo>
                  <a:cubicBezTo>
                    <a:pt x="0" y="277251"/>
                    <a:pt x="184709" y="92542"/>
                    <a:pt x="412559" y="92542"/>
                  </a:cubicBezTo>
                  <a:cubicBezTo>
                    <a:pt x="544781" y="92542"/>
                    <a:pt x="662474" y="154743"/>
                    <a:pt x="736603" y="252551"/>
                  </a:cubicBezTo>
                  <a:lnTo>
                    <a:pt x="1418278" y="252551"/>
                  </a:lnTo>
                  <a:close/>
                </a:path>
              </a:pathLst>
            </a:custGeom>
            <a:solidFill>
              <a:schemeClr val="bg1"/>
            </a:solidFill>
            <a:ln w="635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4FD7F50-EF99-4B97-8B5B-92E282B796AF}"/>
                </a:ext>
              </a:extLst>
            </p:cNvPr>
            <p:cNvSpPr/>
            <p:nvPr/>
          </p:nvSpPr>
          <p:spPr>
            <a:xfrm>
              <a:off x="804223" y="3577657"/>
              <a:ext cx="684000" cy="684000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2" name="그룹 32">
            <a:extLst>
              <a:ext uri="{FF2B5EF4-FFF2-40B4-BE49-F238E27FC236}">
                <a16:creationId xmlns:a16="http://schemas.microsoft.com/office/drawing/2014/main" id="{42E597FD-03E6-4B77-8C47-4E5AE28383F3}"/>
              </a:ext>
            </a:extLst>
          </p:cNvPr>
          <p:cNvGrpSpPr/>
          <p:nvPr/>
        </p:nvGrpSpPr>
        <p:grpSpPr>
          <a:xfrm>
            <a:off x="7120201" y="3414558"/>
            <a:ext cx="1923380" cy="1010203"/>
            <a:chOff x="6518705" y="3377968"/>
            <a:chExt cx="1923380" cy="1010203"/>
          </a:xfrm>
        </p:grpSpPr>
        <p:sp>
          <p:nvSpPr>
            <p:cNvPr id="53" name="Oval 26">
              <a:extLst>
                <a:ext uri="{FF2B5EF4-FFF2-40B4-BE49-F238E27FC236}">
                  <a16:creationId xmlns:a16="http://schemas.microsoft.com/office/drawing/2014/main" id="{70584F16-AF7C-4EE2-B479-0A4EC949B74B}"/>
                </a:ext>
              </a:extLst>
            </p:cNvPr>
            <p:cNvSpPr/>
            <p:nvPr/>
          </p:nvSpPr>
          <p:spPr>
            <a:xfrm>
              <a:off x="6518705" y="3377968"/>
              <a:ext cx="1923380" cy="1010203"/>
            </a:xfrm>
            <a:custGeom>
              <a:avLst/>
              <a:gdLst/>
              <a:ahLst/>
              <a:cxnLst/>
              <a:rect l="l" t="t" r="r" b="b"/>
              <a:pathLst>
                <a:path w="1923380" h="1010203">
                  <a:moveTo>
                    <a:pt x="1418278" y="0"/>
                  </a:moveTo>
                  <a:lnTo>
                    <a:pt x="1923380" y="505102"/>
                  </a:lnTo>
                  <a:lnTo>
                    <a:pt x="1418278" y="1010203"/>
                  </a:lnTo>
                  <a:lnTo>
                    <a:pt x="1418278" y="757652"/>
                  </a:lnTo>
                  <a:lnTo>
                    <a:pt x="736602" y="757652"/>
                  </a:lnTo>
                  <a:cubicBezTo>
                    <a:pt x="662474" y="855460"/>
                    <a:pt x="544780" y="917660"/>
                    <a:pt x="412559" y="917660"/>
                  </a:cubicBezTo>
                  <a:cubicBezTo>
                    <a:pt x="184709" y="917660"/>
                    <a:pt x="0" y="732951"/>
                    <a:pt x="0" y="505101"/>
                  </a:cubicBezTo>
                  <a:cubicBezTo>
                    <a:pt x="0" y="277251"/>
                    <a:pt x="184709" y="92542"/>
                    <a:pt x="412559" y="92542"/>
                  </a:cubicBezTo>
                  <a:cubicBezTo>
                    <a:pt x="544781" y="92542"/>
                    <a:pt x="662474" y="154743"/>
                    <a:pt x="736603" y="252551"/>
                  </a:cubicBezTo>
                  <a:lnTo>
                    <a:pt x="1418278" y="252551"/>
                  </a:lnTo>
                  <a:close/>
                </a:path>
              </a:pathLst>
            </a:custGeom>
            <a:solidFill>
              <a:schemeClr val="bg1"/>
            </a:solidFill>
            <a:ln w="63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96205940-A500-4A6E-B4C4-9897FDD2BF66}"/>
                </a:ext>
              </a:extLst>
            </p:cNvPr>
            <p:cNvSpPr/>
            <p:nvPr/>
          </p:nvSpPr>
          <p:spPr>
            <a:xfrm>
              <a:off x="6587901" y="3541069"/>
              <a:ext cx="684000" cy="684000"/>
            </a:xfrm>
            <a:prstGeom prst="ellipse">
              <a:avLst/>
            </a:prstGeom>
            <a:solidFill>
              <a:schemeClr val="accent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6DB0068A-4F15-435F-8538-746F04F64805}"/>
              </a:ext>
            </a:extLst>
          </p:cNvPr>
          <p:cNvSpPr txBox="1"/>
          <p:nvPr/>
        </p:nvSpPr>
        <p:spPr>
          <a:xfrm>
            <a:off x="969265" y="4708383"/>
            <a:ext cx="206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Data Collection 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71" name="그룹 37">
            <a:extLst>
              <a:ext uri="{FF2B5EF4-FFF2-40B4-BE49-F238E27FC236}">
                <a16:creationId xmlns:a16="http://schemas.microsoft.com/office/drawing/2014/main" id="{A7B0712F-586A-4EC0-A4AA-9AE5ADCF2574}"/>
              </a:ext>
            </a:extLst>
          </p:cNvPr>
          <p:cNvGrpSpPr/>
          <p:nvPr/>
        </p:nvGrpSpPr>
        <p:grpSpPr>
          <a:xfrm>
            <a:off x="9104400" y="3414558"/>
            <a:ext cx="1923380" cy="1010203"/>
            <a:chOff x="4586388" y="3390164"/>
            <a:chExt cx="1923380" cy="1010203"/>
          </a:xfrm>
        </p:grpSpPr>
        <p:sp>
          <p:nvSpPr>
            <p:cNvPr id="72" name="Oval 26">
              <a:extLst>
                <a:ext uri="{FF2B5EF4-FFF2-40B4-BE49-F238E27FC236}">
                  <a16:creationId xmlns:a16="http://schemas.microsoft.com/office/drawing/2014/main" id="{0D9CCDCB-3EE8-4C9D-9264-1F442F8A8C45}"/>
                </a:ext>
              </a:extLst>
            </p:cNvPr>
            <p:cNvSpPr/>
            <p:nvPr/>
          </p:nvSpPr>
          <p:spPr>
            <a:xfrm>
              <a:off x="4586388" y="3390164"/>
              <a:ext cx="1923380" cy="1010203"/>
            </a:xfrm>
            <a:custGeom>
              <a:avLst/>
              <a:gdLst/>
              <a:ahLst/>
              <a:cxnLst/>
              <a:rect l="l" t="t" r="r" b="b"/>
              <a:pathLst>
                <a:path w="1923380" h="1010203">
                  <a:moveTo>
                    <a:pt x="1418278" y="0"/>
                  </a:moveTo>
                  <a:lnTo>
                    <a:pt x="1923380" y="505102"/>
                  </a:lnTo>
                  <a:lnTo>
                    <a:pt x="1418278" y="1010203"/>
                  </a:lnTo>
                  <a:lnTo>
                    <a:pt x="1418278" y="757652"/>
                  </a:lnTo>
                  <a:lnTo>
                    <a:pt x="736602" y="757652"/>
                  </a:lnTo>
                  <a:cubicBezTo>
                    <a:pt x="662474" y="855460"/>
                    <a:pt x="544780" y="917660"/>
                    <a:pt x="412559" y="917660"/>
                  </a:cubicBezTo>
                  <a:cubicBezTo>
                    <a:pt x="184709" y="917660"/>
                    <a:pt x="0" y="732951"/>
                    <a:pt x="0" y="505101"/>
                  </a:cubicBezTo>
                  <a:cubicBezTo>
                    <a:pt x="0" y="277251"/>
                    <a:pt x="184709" y="92542"/>
                    <a:pt x="412559" y="92542"/>
                  </a:cubicBezTo>
                  <a:cubicBezTo>
                    <a:pt x="544781" y="92542"/>
                    <a:pt x="662474" y="154743"/>
                    <a:pt x="736603" y="252551"/>
                  </a:cubicBezTo>
                  <a:lnTo>
                    <a:pt x="1418278" y="252551"/>
                  </a:lnTo>
                  <a:close/>
                </a:path>
              </a:pathLst>
            </a:custGeom>
            <a:solidFill>
              <a:schemeClr val="bg1"/>
            </a:solidFill>
            <a:ln w="635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73" name="Oval 9">
              <a:extLst>
                <a:ext uri="{FF2B5EF4-FFF2-40B4-BE49-F238E27FC236}">
                  <a16:creationId xmlns:a16="http://schemas.microsoft.com/office/drawing/2014/main" id="{9C847472-CAAA-4275-86A9-04BA881B6704}"/>
                </a:ext>
              </a:extLst>
            </p:cNvPr>
            <p:cNvSpPr/>
            <p:nvPr/>
          </p:nvSpPr>
          <p:spPr>
            <a:xfrm>
              <a:off x="4655584" y="3553265"/>
              <a:ext cx="684000" cy="684000"/>
            </a:xfrm>
            <a:prstGeom prst="ellipse">
              <a:avLst/>
            </a:prstGeom>
            <a:solidFill>
              <a:schemeClr val="accent4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85" name="TextBox 68">
            <a:extLst>
              <a:ext uri="{FF2B5EF4-FFF2-40B4-BE49-F238E27FC236}">
                <a16:creationId xmlns:a16="http://schemas.microsoft.com/office/drawing/2014/main" id="{B6AE6680-02AA-4BD2-9F57-212FAF941FA7}"/>
              </a:ext>
            </a:extLst>
          </p:cNvPr>
          <p:cNvSpPr txBox="1"/>
          <p:nvPr/>
        </p:nvSpPr>
        <p:spPr>
          <a:xfrm>
            <a:off x="6899029" y="2884099"/>
            <a:ext cx="2231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Testing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6" name="TextBox 68">
            <a:extLst>
              <a:ext uri="{FF2B5EF4-FFF2-40B4-BE49-F238E27FC236}">
                <a16:creationId xmlns:a16="http://schemas.microsoft.com/office/drawing/2014/main" id="{A36F8F49-3186-4B24-AF7A-35688A607F36}"/>
              </a:ext>
            </a:extLst>
          </p:cNvPr>
          <p:cNvSpPr txBox="1"/>
          <p:nvPr/>
        </p:nvSpPr>
        <p:spPr>
          <a:xfrm>
            <a:off x="9104400" y="4893049"/>
            <a:ext cx="2231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Result Analysis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BEDAFF43-0437-406D-8E3A-CB7965483DD6}"/>
              </a:ext>
            </a:extLst>
          </p:cNvPr>
          <p:cNvGrpSpPr/>
          <p:nvPr/>
        </p:nvGrpSpPr>
        <p:grpSpPr>
          <a:xfrm>
            <a:off x="3151802" y="3414558"/>
            <a:ext cx="4154777" cy="2135912"/>
            <a:chOff x="3151802" y="3414558"/>
            <a:chExt cx="4154777" cy="2135912"/>
          </a:xfrm>
        </p:grpSpPr>
        <p:grpSp>
          <p:nvGrpSpPr>
            <p:cNvPr id="46" name="그룹 29">
              <a:extLst>
                <a:ext uri="{FF2B5EF4-FFF2-40B4-BE49-F238E27FC236}">
                  <a16:creationId xmlns:a16="http://schemas.microsoft.com/office/drawing/2014/main" id="{37FB55E5-0965-4130-ABEF-235F31B4A9D4}"/>
                </a:ext>
              </a:extLst>
            </p:cNvPr>
            <p:cNvGrpSpPr/>
            <p:nvPr/>
          </p:nvGrpSpPr>
          <p:grpSpPr>
            <a:xfrm>
              <a:off x="3151802" y="3414558"/>
              <a:ext cx="1923380" cy="1010203"/>
              <a:chOff x="2654071" y="3402360"/>
              <a:chExt cx="1923380" cy="1010203"/>
            </a:xfrm>
          </p:grpSpPr>
          <p:sp>
            <p:nvSpPr>
              <p:cNvPr id="47" name="Oval 26">
                <a:extLst>
                  <a:ext uri="{FF2B5EF4-FFF2-40B4-BE49-F238E27FC236}">
                    <a16:creationId xmlns:a16="http://schemas.microsoft.com/office/drawing/2014/main" id="{7401B149-7644-4E35-AA57-DE30B1058329}"/>
                  </a:ext>
                </a:extLst>
              </p:cNvPr>
              <p:cNvSpPr/>
              <p:nvPr/>
            </p:nvSpPr>
            <p:spPr>
              <a:xfrm>
                <a:off x="2654071" y="3402360"/>
                <a:ext cx="1923380" cy="1010203"/>
              </a:xfrm>
              <a:custGeom>
                <a:avLst/>
                <a:gdLst/>
                <a:ahLst/>
                <a:cxnLst/>
                <a:rect l="l" t="t" r="r" b="b"/>
                <a:pathLst>
                  <a:path w="1923380" h="1010203">
                    <a:moveTo>
                      <a:pt x="1418278" y="0"/>
                    </a:moveTo>
                    <a:lnTo>
                      <a:pt x="1923380" y="505102"/>
                    </a:lnTo>
                    <a:lnTo>
                      <a:pt x="1418278" y="1010203"/>
                    </a:lnTo>
                    <a:lnTo>
                      <a:pt x="1418278" y="757652"/>
                    </a:lnTo>
                    <a:lnTo>
                      <a:pt x="736602" y="757652"/>
                    </a:lnTo>
                    <a:cubicBezTo>
                      <a:pt x="662474" y="855460"/>
                      <a:pt x="544780" y="917660"/>
                      <a:pt x="412559" y="917660"/>
                    </a:cubicBezTo>
                    <a:cubicBezTo>
                      <a:pt x="184709" y="917660"/>
                      <a:pt x="0" y="732951"/>
                      <a:pt x="0" y="505101"/>
                    </a:cubicBezTo>
                    <a:cubicBezTo>
                      <a:pt x="0" y="277251"/>
                      <a:pt x="184709" y="92542"/>
                      <a:pt x="412559" y="92542"/>
                    </a:cubicBezTo>
                    <a:cubicBezTo>
                      <a:pt x="544781" y="92542"/>
                      <a:pt x="662474" y="154743"/>
                      <a:pt x="736603" y="252551"/>
                    </a:cubicBezTo>
                    <a:lnTo>
                      <a:pt x="1418278" y="252551"/>
                    </a:lnTo>
                    <a:close/>
                  </a:path>
                </a:pathLst>
              </a:custGeom>
              <a:solidFill>
                <a:schemeClr val="bg1"/>
              </a:solidFill>
              <a:ln w="635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8F0BC5B7-D13D-4176-8DCD-85277E2D762C}"/>
                  </a:ext>
                </a:extLst>
              </p:cNvPr>
              <p:cNvSpPr/>
              <p:nvPr/>
            </p:nvSpPr>
            <p:spPr>
              <a:xfrm>
                <a:off x="2723267" y="3565461"/>
                <a:ext cx="684000" cy="684000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D6C6DE64-F16B-49B1-9E3E-8DCD20D5CD4B}"/>
                </a:ext>
              </a:extLst>
            </p:cNvPr>
            <p:cNvGrpSpPr/>
            <p:nvPr/>
          </p:nvGrpSpPr>
          <p:grpSpPr>
            <a:xfrm>
              <a:off x="4994428" y="3414558"/>
              <a:ext cx="2312151" cy="2135912"/>
              <a:chOff x="4994428" y="3414558"/>
              <a:chExt cx="2312151" cy="2135912"/>
            </a:xfrm>
          </p:grpSpPr>
          <p:grpSp>
            <p:nvGrpSpPr>
              <p:cNvPr id="49" name="그룹 31">
                <a:extLst>
                  <a:ext uri="{FF2B5EF4-FFF2-40B4-BE49-F238E27FC236}">
                    <a16:creationId xmlns:a16="http://schemas.microsoft.com/office/drawing/2014/main" id="{6A268A89-30BF-45D0-AB91-625D61693BFF}"/>
                  </a:ext>
                </a:extLst>
              </p:cNvPr>
              <p:cNvGrpSpPr/>
              <p:nvPr/>
            </p:nvGrpSpPr>
            <p:grpSpPr>
              <a:xfrm>
                <a:off x="5136002" y="3414558"/>
                <a:ext cx="1923380" cy="1010203"/>
                <a:chOff x="4586388" y="3390164"/>
                <a:chExt cx="1923380" cy="1010203"/>
              </a:xfrm>
            </p:grpSpPr>
            <p:sp>
              <p:nvSpPr>
                <p:cNvPr id="50" name="Oval 26">
                  <a:extLst>
                    <a:ext uri="{FF2B5EF4-FFF2-40B4-BE49-F238E27FC236}">
                      <a16:creationId xmlns:a16="http://schemas.microsoft.com/office/drawing/2014/main" id="{05DEC28E-E86F-4200-A0A2-2A9FE37202B5}"/>
                    </a:ext>
                  </a:extLst>
                </p:cNvPr>
                <p:cNvSpPr/>
                <p:nvPr/>
              </p:nvSpPr>
              <p:spPr>
                <a:xfrm>
                  <a:off x="4586388" y="3390164"/>
                  <a:ext cx="1923380" cy="1010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3380" h="1010203">
                      <a:moveTo>
                        <a:pt x="1418278" y="0"/>
                      </a:moveTo>
                      <a:lnTo>
                        <a:pt x="1923380" y="505102"/>
                      </a:lnTo>
                      <a:lnTo>
                        <a:pt x="1418278" y="1010203"/>
                      </a:lnTo>
                      <a:lnTo>
                        <a:pt x="1418278" y="757652"/>
                      </a:lnTo>
                      <a:lnTo>
                        <a:pt x="736602" y="757652"/>
                      </a:lnTo>
                      <a:cubicBezTo>
                        <a:pt x="662474" y="855460"/>
                        <a:pt x="544780" y="917660"/>
                        <a:pt x="412559" y="917660"/>
                      </a:cubicBezTo>
                      <a:cubicBezTo>
                        <a:pt x="184709" y="917660"/>
                        <a:pt x="0" y="732951"/>
                        <a:pt x="0" y="505101"/>
                      </a:cubicBezTo>
                      <a:cubicBezTo>
                        <a:pt x="0" y="277251"/>
                        <a:pt x="184709" y="92542"/>
                        <a:pt x="412559" y="92542"/>
                      </a:cubicBezTo>
                      <a:cubicBezTo>
                        <a:pt x="544781" y="92542"/>
                        <a:pt x="662474" y="154743"/>
                        <a:pt x="736603" y="252551"/>
                      </a:cubicBezTo>
                      <a:lnTo>
                        <a:pt x="1418278" y="2525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635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軟正黑體" panose="020B0604030504040204" pitchFamily="34" charset="-12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7FC9A5D9-11F1-4BE4-A805-6B20275AD423}"/>
                    </a:ext>
                  </a:extLst>
                </p:cNvPr>
                <p:cNvSpPr/>
                <p:nvPr/>
              </p:nvSpPr>
              <p:spPr>
                <a:xfrm>
                  <a:off x="4655584" y="3553265"/>
                  <a:ext cx="684000" cy="684000"/>
                </a:xfrm>
                <a:prstGeom prst="ellipse">
                  <a:avLst/>
                </a:prstGeom>
                <a:solidFill>
                  <a:schemeClr val="accent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軟正黑體" panose="020B0604030504040204" pitchFamily="34" charset="-12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84" name="TextBox 68">
                <a:extLst>
                  <a:ext uri="{FF2B5EF4-FFF2-40B4-BE49-F238E27FC236}">
                    <a16:creationId xmlns:a16="http://schemas.microsoft.com/office/drawing/2014/main" id="{C1B4BA73-2C94-4EDC-A43D-E1075436BD63}"/>
                  </a:ext>
                </a:extLst>
              </p:cNvPr>
              <p:cNvSpPr txBox="1"/>
              <p:nvPr/>
            </p:nvSpPr>
            <p:spPr>
              <a:xfrm>
                <a:off x="4994428" y="4781028"/>
                <a:ext cx="22313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altLang="zh-TW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Training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TextBox 68">
                <a:extLst>
                  <a:ext uri="{FF2B5EF4-FFF2-40B4-BE49-F238E27FC236}">
                    <a16:creationId xmlns:a16="http://schemas.microsoft.com/office/drawing/2014/main" id="{3E53E3D5-BAE3-47DF-8FDA-7EEE4667D646}"/>
                  </a:ext>
                </a:extLst>
              </p:cNvPr>
              <p:cNvSpPr txBox="1"/>
              <p:nvPr/>
            </p:nvSpPr>
            <p:spPr>
              <a:xfrm>
                <a:off x="5075182" y="5150360"/>
                <a:ext cx="22313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altLang="zh-TW" sz="2000" dirty="0">
                    <a:latin typeface="Times New Roman" panose="02020603050405020304" pitchFamily="18" charset="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Regression</a:t>
                </a:r>
                <a:r>
                  <a:rPr lang="en-US" altLang="zh-TW" sz="2000" b="1" dirty="0">
                    <a:latin typeface="Times New Roman" panose="02020603050405020304" pitchFamily="18" charset="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endParaRPr lang="ko-KR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D5210CF-6993-4220-AE42-0F29AD1C8EE4}"/>
              </a:ext>
            </a:extLst>
          </p:cNvPr>
          <p:cNvSpPr/>
          <p:nvPr/>
        </p:nvSpPr>
        <p:spPr>
          <a:xfrm>
            <a:off x="2835773" y="2296190"/>
            <a:ext cx="2555438" cy="101020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Pre-processing</a:t>
            </a:r>
          </a:p>
        </p:txBody>
      </p:sp>
    </p:spTree>
    <p:extLst>
      <p:ext uri="{BB962C8B-B14F-4D97-AF65-F5344CB8AC3E}">
        <p14:creationId xmlns:p14="http://schemas.microsoft.com/office/powerpoint/2010/main" val="796841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EE182D-831F-46EF-BD7A-3654DD614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Task Introduce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43AD6A-788B-493E-8D7D-063235258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 factory machine efficiency analysis problem.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Without any label data and reasonable operation range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Target : analyze data to find out the cause.</a:t>
            </a:r>
          </a:p>
          <a:p>
            <a:pPr marL="0" indent="0"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3117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1C10C2-9EE3-45F6-9C52-DC3BCBA5C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</p:spPr>
        <p:txBody>
          <a:bodyPr/>
          <a:lstStyle/>
          <a:p>
            <a:pPr algn="ctr"/>
            <a:r>
              <a:rPr lang="en-US" altLang="zh-TW" dirty="0"/>
              <a:t>Task Introduce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5D2C7E-7D9C-428E-A527-C52D8B026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But! Before starting to analyze, we know that outliers is largely influence the regression result. 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It is obvious that hand-pick outlier not a good option, so we use some machine learning algorithm to find outliers. 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6598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5DF6899-4609-4A06-A49C-46994F1C8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564997"/>
              </p:ext>
            </p:extLst>
          </p:nvPr>
        </p:nvGraphicFramePr>
        <p:xfrm>
          <a:off x="2938509" y="1918151"/>
          <a:ext cx="5521910" cy="290256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19109">
                  <a:extLst>
                    <a:ext uri="{9D8B030D-6E8A-4147-A177-3AD203B41FA5}">
                      <a16:colId xmlns:a16="http://schemas.microsoft.com/office/drawing/2014/main" val="2378344233"/>
                    </a:ext>
                  </a:extLst>
                </a:gridCol>
                <a:gridCol w="2602801">
                  <a:extLst>
                    <a:ext uri="{9D8B030D-6E8A-4147-A177-3AD203B41FA5}">
                      <a16:colId xmlns:a16="http://schemas.microsoft.com/office/drawing/2014/main" val="389028334"/>
                    </a:ext>
                  </a:extLst>
                </a:gridCol>
              </a:tblGrid>
              <a:tr h="48376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 A</a:t>
                      </a:r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lgorithm</a:t>
                      </a:r>
                      <a:endParaRPr lang="zh-TW" sz="18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Base on 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6847340"/>
                  </a:ext>
                </a:extLst>
              </a:tr>
              <a:tr h="48376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Box</a:t>
                      </a:r>
                      <a:endParaRPr lang="zh-TW" sz="18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Statistics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22958324"/>
                  </a:ext>
                </a:extLst>
              </a:tr>
              <a:tr h="48376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ABOD</a:t>
                      </a:r>
                      <a:endParaRPr lang="zh-TW" sz="18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Angle-base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58109709"/>
                  </a:ext>
                </a:extLst>
              </a:tr>
              <a:tr h="48376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CBLOF</a:t>
                      </a:r>
                      <a:endParaRPr lang="zh-TW" sz="18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Clustering-based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43319148"/>
                  </a:ext>
                </a:extLst>
              </a:tr>
              <a:tr h="48376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IForest</a:t>
                      </a:r>
                      <a:endParaRPr lang="zh-TW" sz="1800" kern="10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Ensemble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55772704"/>
                  </a:ext>
                </a:extLst>
              </a:tr>
              <a:tr h="48376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Feature</a:t>
                      </a:r>
                      <a:r>
                        <a:rPr lang="zh-TW" altLang="en-US" sz="1800" kern="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 </a:t>
                      </a:r>
                      <a:r>
                        <a:rPr lang="en-US" sz="1800" kern="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Bagging</a:t>
                      </a:r>
                      <a:endParaRPr lang="zh-TW" sz="180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TW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Ensemble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9517572"/>
                  </a:ext>
                </a:extLst>
              </a:tr>
            </a:tbl>
          </a:graphicData>
        </a:graphic>
      </p:graphicFrame>
      <p:sp>
        <p:nvSpPr>
          <p:cNvPr id="5" name="矩形: 圓角 4">
            <a:extLst>
              <a:ext uri="{FF2B5EF4-FFF2-40B4-BE49-F238E27FC236}">
                <a16:creationId xmlns:a16="http://schemas.microsoft.com/office/drawing/2014/main" id="{57A71F94-4437-4DC8-9D73-50697B86B367}"/>
              </a:ext>
            </a:extLst>
          </p:cNvPr>
          <p:cNvSpPr/>
          <p:nvPr/>
        </p:nvSpPr>
        <p:spPr>
          <a:xfrm>
            <a:off x="5699464" y="3858011"/>
            <a:ext cx="1624614" cy="878889"/>
          </a:xfrm>
          <a:prstGeom prst="roundRect">
            <a:avLst/>
          </a:prstGeom>
          <a:noFill/>
          <a:ln w="5715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F5ED8380-EFAF-4829-833F-35E6AFAFFC60}"/>
              </a:ext>
            </a:extLst>
          </p:cNvPr>
          <p:cNvSpPr/>
          <p:nvPr/>
        </p:nvSpPr>
        <p:spPr>
          <a:xfrm>
            <a:off x="5584769" y="4859775"/>
            <a:ext cx="3126912" cy="5637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some weak classifier to become a strong classifier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814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BDA253-4B35-4EB4-88D0-3BC45FDDF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Box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6B141C6-3C87-4589-AB40-4B833CE854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1−1.5×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𝐼𝑄𝑅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3+1.5×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𝐼𝑄𝑅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𝑜𝑢𝑡𝑙𝑖𝑒𝑟</m:t>
                    </m:r>
                  </m:oMath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𝐼𝑄𝑅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3−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TW" b="0" dirty="0"/>
              </a:p>
              <a:p>
                <a:endParaRPr lang="en-US" altLang="zh-TW" b="0" dirty="0"/>
              </a:p>
              <a:p>
                <a:endParaRPr lang="en-US" altLang="zh-TW" b="0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6B141C6-3C87-4589-AB40-4B833CE854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Understanding Boxplots. The image above is a boxplot. A boxplot… | by  Michael Galarnyk | Towards Data Science">
            <a:extLst>
              <a:ext uri="{FF2B5EF4-FFF2-40B4-BE49-F238E27FC236}">
                <a16:creationId xmlns:a16="http://schemas.microsoft.com/office/drawing/2014/main" id="{9C90574B-053D-48EC-B774-A5C825A7F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575" y="2641255"/>
            <a:ext cx="6970450" cy="3485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0115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13FA3A-EC45-46D0-9D09-283883726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kern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ABOD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2710ED-5FC7-4669-8F4E-97F87715E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1600200"/>
            <a:ext cx="9603275" cy="3866145"/>
          </a:xfrm>
        </p:spPr>
        <p:txBody>
          <a:bodyPr/>
          <a:lstStyle/>
          <a:p>
            <a:r>
              <a:rPr lang="en-US" altLang="zh-TW" dirty="0"/>
              <a:t>Angle-base.</a:t>
            </a:r>
          </a:p>
          <a:p>
            <a:r>
              <a:rPr lang="en-US" altLang="zh-TW" dirty="0"/>
              <a:t>The performance is stable at high dimension. </a:t>
            </a:r>
          </a:p>
          <a:p>
            <a:r>
              <a:rPr lang="en-US" altLang="zh-TW" dirty="0"/>
              <a:t>If most of the points are in the </a:t>
            </a:r>
            <a:r>
              <a:rPr lang="en-US" altLang="zh-TW" b="1" dirty="0">
                <a:solidFill>
                  <a:schemeClr val="accent4"/>
                </a:solidFill>
              </a:rPr>
              <a:t>direction A</a:t>
            </a:r>
            <a:r>
              <a:rPr lang="en-US" altLang="zh-TW" dirty="0"/>
              <a:t> and point X deviates from the cluster in the </a:t>
            </a:r>
            <a:r>
              <a:rPr lang="en-US" altLang="zh-TW" b="1" dirty="0">
                <a:solidFill>
                  <a:srgbClr val="C00000"/>
                </a:solidFill>
              </a:rPr>
              <a:t>direction B</a:t>
            </a:r>
            <a:r>
              <a:rPr lang="en-US" altLang="zh-TW" dirty="0"/>
              <a:t>, then X is an outlier.</a:t>
            </a:r>
            <a:endParaRPr lang="zh-TW" altLang="zh-TW" dirty="0"/>
          </a:p>
          <a:p>
            <a:r>
              <a:rPr lang="en-US" altLang="zh-TW" dirty="0"/>
              <a:t>If there are many points in different directions, X is not largely different from other, so X is not an outlier.</a:t>
            </a:r>
            <a:endParaRPr lang="zh-TW" altLang="en-US" dirty="0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497B474B-CBE5-41E4-A01B-8AF8904FB1CA}"/>
              </a:ext>
            </a:extLst>
          </p:cNvPr>
          <p:cNvGrpSpPr/>
          <p:nvPr/>
        </p:nvGrpSpPr>
        <p:grpSpPr>
          <a:xfrm>
            <a:off x="4209913" y="3940058"/>
            <a:ext cx="7620047" cy="2303755"/>
            <a:chOff x="4209913" y="3940058"/>
            <a:chExt cx="7620047" cy="2303755"/>
          </a:xfrm>
        </p:grpSpPr>
        <p:pic>
          <p:nvPicPr>
            <p:cNvPr id="4" name="Picture 2" descr="https://img-blog.csdnimg.cn/20191013204814202.png?x-oss-process=image/watermark,type_ZmFuZ3poZW5naGVpdGk,shadow_10,text_aHR0cHM6Ly9ibG9nLmNzZG4ubmV0L3NoYW95dWUxMjM0,size_16,color_FFFFFF,t_70">
              <a:extLst>
                <a:ext uri="{FF2B5EF4-FFF2-40B4-BE49-F238E27FC236}">
                  <a16:creationId xmlns:a16="http://schemas.microsoft.com/office/drawing/2014/main" id="{3E21974C-360C-4D3F-9C5B-C104A68A9D5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592"/>
            <a:stretch/>
          </p:blipFill>
          <p:spPr bwMode="auto">
            <a:xfrm>
              <a:off x="4871210" y="3940058"/>
              <a:ext cx="6958750" cy="23037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直線單箭頭接點 5">
              <a:extLst>
                <a:ext uri="{FF2B5EF4-FFF2-40B4-BE49-F238E27FC236}">
                  <a16:creationId xmlns:a16="http://schemas.microsoft.com/office/drawing/2014/main" id="{8C1D0C96-02D1-44DD-AC23-169D19EB755B}"/>
                </a:ext>
              </a:extLst>
            </p:cNvPr>
            <p:cNvCxnSpPr/>
            <p:nvPr/>
          </p:nvCxnSpPr>
          <p:spPr>
            <a:xfrm flipH="1" flipV="1">
              <a:off x="5417820" y="4484654"/>
              <a:ext cx="2392680" cy="962925"/>
            </a:xfrm>
            <a:prstGeom prst="straightConnector1">
              <a:avLst/>
            </a:prstGeom>
            <a:ln w="76200">
              <a:solidFill>
                <a:srgbClr val="00B05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線單箭頭接點 6">
              <a:extLst>
                <a:ext uri="{FF2B5EF4-FFF2-40B4-BE49-F238E27FC236}">
                  <a16:creationId xmlns:a16="http://schemas.microsoft.com/office/drawing/2014/main" id="{ECB27D23-0100-4FCD-8E99-62FCA05692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8620" y="5019494"/>
              <a:ext cx="92548" cy="45447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53157A2F-CFAA-427F-BA76-85B57327F788}"/>
                </a:ext>
              </a:extLst>
            </p:cNvPr>
            <p:cNvSpPr txBox="1"/>
            <p:nvPr/>
          </p:nvSpPr>
          <p:spPr>
            <a:xfrm>
              <a:off x="4209913" y="4115322"/>
              <a:ext cx="14077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accent4"/>
                  </a:solidFill>
                </a:rPr>
                <a:t>direction A</a:t>
              </a:r>
              <a:endParaRPr lang="zh-TW" altLang="en-US" dirty="0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933A47C8-D3AC-436A-8682-4F631212FFB1}"/>
                </a:ext>
              </a:extLst>
            </p:cNvPr>
            <p:cNvSpPr txBox="1"/>
            <p:nvPr/>
          </p:nvSpPr>
          <p:spPr>
            <a:xfrm>
              <a:off x="6985409" y="4587876"/>
              <a:ext cx="14077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C00000"/>
                  </a:solidFill>
                </a:rPr>
                <a:t>direction B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63753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7C1657-A545-4166-A547-E094236FA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CBLOF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A3D743-D7E6-428B-AA80-BFC6A6DE9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Clustering Based Local Outlier Factor</a:t>
            </a:r>
          </a:p>
          <a:p>
            <a:r>
              <a:rPr lang="en-US" altLang="zh-TW" dirty="0" err="1"/>
              <a:t>kNN</a:t>
            </a:r>
            <a:r>
              <a:rPr lang="en-US" altLang="zh-TW" dirty="0"/>
              <a:t> focus on global anomalies, and CBLOF focus on local anomaly.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67736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E07D9B-621C-4532-988A-84F052333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kNN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29D87F-4E86-48BD-81F9-5932C9EE4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493" y="2109625"/>
            <a:ext cx="9603275" cy="3294576"/>
          </a:xfrm>
        </p:spPr>
        <p:txBody>
          <a:bodyPr/>
          <a:lstStyle/>
          <a:p>
            <a:r>
              <a:rPr lang="en-US" altLang="zh-TW" dirty="0"/>
              <a:t>k-nearest neighbors algorithm.</a:t>
            </a:r>
          </a:p>
          <a:p>
            <a:r>
              <a:rPr lang="en-US" altLang="zh-TW" dirty="0"/>
              <a:t>Result is determined by a "majority vote" of k neighbors.</a:t>
            </a:r>
            <a:endParaRPr lang="zh-TW" altLang="zh-TW" dirty="0"/>
          </a:p>
          <a:p>
            <a:r>
              <a:rPr lang="en-US" altLang="zh-TW" dirty="0"/>
              <a:t>Depends on the distribution of neighboring points.</a:t>
            </a:r>
            <a:endParaRPr lang="zh-TW" altLang="zh-TW" dirty="0"/>
          </a:p>
          <a:p>
            <a:r>
              <a:rPr lang="en-US" altLang="zh-TW" dirty="0"/>
              <a:t>The larger the K is, the more noise can be tolerated, while the smaller the K is, the more it is affected by the surrounding abnormal factors.</a:t>
            </a:r>
            <a:endParaRPr lang="zh-TW" altLang="en-US" dirty="0"/>
          </a:p>
        </p:txBody>
      </p:sp>
      <p:pic>
        <p:nvPicPr>
          <p:cNvPr id="4" name="Picture 2" descr="KNN Based Outlier Detection Algorithm in Large Dataset | Semantic Scholar">
            <a:extLst>
              <a:ext uri="{FF2B5EF4-FFF2-40B4-BE49-F238E27FC236}">
                <a16:creationId xmlns:a16="http://schemas.microsoft.com/office/drawing/2014/main" id="{F38B73A0-CF70-4E8E-A935-1E3D15D2E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673" y="862709"/>
            <a:ext cx="3182735" cy="2493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1921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9679C0-E2E2-47FC-ADA3-A421A36DC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Ensemble</a:t>
            </a:r>
            <a:endParaRPr lang="zh-TW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7A1666-A29B-49C3-8A18-9590D1698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Iforest</a:t>
            </a:r>
            <a:r>
              <a:rPr lang="en-US" altLang="zh-TW" dirty="0"/>
              <a:t>  </a:t>
            </a:r>
          </a:p>
          <a:p>
            <a:pPr lvl="1"/>
            <a:r>
              <a:rPr lang="en-US" altLang="zh-TW" dirty="0"/>
              <a:t>Use multiple independent trees to train. </a:t>
            </a:r>
          </a:p>
          <a:p>
            <a:pPr lvl="1"/>
            <a:r>
              <a:rPr lang="en-US" altLang="zh-TW" dirty="0"/>
              <a:t>Result use average of each tree score(distance). </a:t>
            </a:r>
          </a:p>
          <a:p>
            <a:r>
              <a:rPr lang="en-US" altLang="zh-TW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 Bagging</a:t>
            </a:r>
          </a:p>
          <a:p>
            <a:pPr lvl="1"/>
            <a:r>
              <a:rPr lang="en-US" altLang="zh-TW" dirty="0"/>
              <a:t>Randomly draw and put data back</a:t>
            </a:r>
          </a:p>
          <a:p>
            <a:pPr lvl="1"/>
            <a:r>
              <a:rPr lang="en-US" altLang="zh-TW" dirty="0"/>
              <a:t>Train each weak classifier, </a:t>
            </a:r>
          </a:p>
          <a:p>
            <a:pPr lvl="1"/>
            <a:r>
              <a:rPr lang="en-US" altLang="zh-TW" dirty="0"/>
              <a:t>Result is determine by voting.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4223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8598CD-CB7E-4303-9BB9-9C554A7D1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evaluate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E9767C-CDF3-4C02-8743-932B53303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Each of algorithm base on its rule ( XXX-base) to give their best result…</a:t>
            </a:r>
          </a:p>
          <a:p>
            <a:r>
              <a:rPr lang="en-US" altLang="zh-TW" dirty="0"/>
              <a:t>My proposal is</a:t>
            </a:r>
          </a:p>
          <a:p>
            <a:pPr marL="914400" lvl="1" indent="-457200">
              <a:buAutoNum type="arabicPeriod"/>
            </a:pPr>
            <a:r>
              <a:rPr lang="en-US" altLang="zh-TW" dirty="0"/>
              <a:t>Calculate the distance between each data </a:t>
            </a:r>
          </a:p>
          <a:p>
            <a:pPr marL="914400" lvl="1" indent="-457200">
              <a:buAutoNum type="arabicPeriod"/>
            </a:pPr>
            <a:r>
              <a:rPr lang="en-US" altLang="zh-TW" dirty="0"/>
              <a:t>Sort from small to large.</a:t>
            </a:r>
          </a:p>
          <a:p>
            <a:pPr marL="914400" lvl="1" indent="-457200">
              <a:buAutoNum type="arabicPeriod"/>
            </a:pPr>
            <a:r>
              <a:rPr lang="en-US" altLang="zh-TW" dirty="0"/>
              <a:t>Calculate the average, variance, max and min. </a:t>
            </a:r>
          </a:p>
          <a:p>
            <a:pPr marL="457200" indent="-457200">
              <a:buAutoNum type="arabicPeriod"/>
            </a:pPr>
            <a:endParaRPr lang="en-US" altLang="zh-TW" dirty="0"/>
          </a:p>
          <a:p>
            <a:pPr marL="457200" indent="-457200">
              <a:buAutoNum type="arabicPeriod"/>
            </a:pPr>
            <a:endParaRPr lang="en-US" altLang="zh-TW" dirty="0"/>
          </a:p>
          <a:p>
            <a:pPr marL="457200" indent="-457200">
              <a:buAutoNum type="arabicPeriod"/>
            </a:pP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13412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E09677-6046-49F0-B321-A3F49056F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57881A-D605-4B85-8DCB-5F252B592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10504CEE-2566-482F-B407-29947ED5A592}"/>
              </a:ext>
            </a:extLst>
          </p:cNvPr>
          <p:cNvGrpSpPr/>
          <p:nvPr/>
        </p:nvGrpSpPr>
        <p:grpSpPr>
          <a:xfrm>
            <a:off x="1809750" y="0"/>
            <a:ext cx="8572500" cy="6858000"/>
            <a:chOff x="1809750" y="0"/>
            <a:chExt cx="8572500" cy="6858000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12EA5C77-AF58-423B-AE90-90B52A90EFC6}"/>
                </a:ext>
              </a:extLst>
            </p:cNvPr>
            <p:cNvGrpSpPr/>
            <p:nvPr/>
          </p:nvGrpSpPr>
          <p:grpSpPr>
            <a:xfrm>
              <a:off x="1809750" y="0"/>
              <a:ext cx="8572500" cy="6858000"/>
              <a:chOff x="1809750" y="0"/>
              <a:chExt cx="8572500" cy="6858000"/>
            </a:xfrm>
          </p:grpSpPr>
          <p:pic>
            <p:nvPicPr>
              <p:cNvPr id="10" name="Picture 4" descr="https://raw.githubusercontent.com/yzhao062/pyod/master/examples/ALL.png">
                <a:extLst>
                  <a:ext uri="{FF2B5EF4-FFF2-40B4-BE49-F238E27FC236}">
                    <a16:creationId xmlns:a16="http://schemas.microsoft.com/office/drawing/2014/main" id="{C5D6F22E-D37E-45C1-A8B0-293C6543D6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09750" y="0"/>
                <a:ext cx="8572500" cy="685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矩形: 圓角 10">
                <a:extLst>
                  <a:ext uri="{FF2B5EF4-FFF2-40B4-BE49-F238E27FC236}">
                    <a16:creationId xmlns:a16="http://schemas.microsoft.com/office/drawing/2014/main" id="{5BB981C3-50A1-49EF-9994-BE891E176DAD}"/>
                  </a:ext>
                </a:extLst>
              </p:cNvPr>
              <p:cNvSpPr/>
              <p:nvPr/>
            </p:nvSpPr>
            <p:spPr>
              <a:xfrm>
                <a:off x="8069808" y="346229"/>
                <a:ext cx="2234214" cy="1961966"/>
              </a:xfrm>
              <a:prstGeom prst="roundRect">
                <a:avLst/>
              </a:prstGeom>
              <a:noFill/>
              <a:ln w="57150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4"/>
              </a:fontRef>
            </p:style>
            <p:txBody>
              <a:bodyPr rtlCol="0" anchor="ctr"/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12" name="矩形: 圓角 11">
                <a:extLst>
                  <a:ext uri="{FF2B5EF4-FFF2-40B4-BE49-F238E27FC236}">
                    <a16:creationId xmlns:a16="http://schemas.microsoft.com/office/drawing/2014/main" id="{29749627-6681-4B4C-83E0-67282C216B1C}"/>
                  </a:ext>
                </a:extLst>
              </p:cNvPr>
              <p:cNvSpPr/>
              <p:nvPr/>
            </p:nvSpPr>
            <p:spPr>
              <a:xfrm>
                <a:off x="3960921" y="346229"/>
                <a:ext cx="2234214" cy="1961966"/>
              </a:xfrm>
              <a:prstGeom prst="roundRect">
                <a:avLst/>
              </a:prstGeom>
              <a:noFill/>
              <a:ln w="57150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4"/>
              </a:fontRef>
            </p:style>
            <p:txBody>
              <a:bodyPr rtlCol="0" anchor="ctr"/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38BDF286-EDF2-497F-9E4D-7453E3C30C0F}"/>
                  </a:ext>
                </a:extLst>
              </p:cNvPr>
              <p:cNvSpPr/>
              <p:nvPr/>
            </p:nvSpPr>
            <p:spPr>
              <a:xfrm>
                <a:off x="1922016" y="2405848"/>
                <a:ext cx="2234214" cy="1961966"/>
              </a:xfrm>
              <a:prstGeom prst="roundRect">
                <a:avLst/>
              </a:prstGeom>
              <a:noFill/>
              <a:ln w="57150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4"/>
              </a:fontRef>
            </p:style>
            <p:txBody>
              <a:bodyPr rtlCol="0" anchor="ctr"/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14" name="矩形: 圓角 13">
                <a:extLst>
                  <a:ext uri="{FF2B5EF4-FFF2-40B4-BE49-F238E27FC236}">
                    <a16:creationId xmlns:a16="http://schemas.microsoft.com/office/drawing/2014/main" id="{8E1C4123-E27C-4C21-BF77-AEA116DDDCF0}"/>
                  </a:ext>
                </a:extLst>
              </p:cNvPr>
              <p:cNvSpPr/>
              <p:nvPr/>
            </p:nvSpPr>
            <p:spPr>
              <a:xfrm>
                <a:off x="6015365" y="346229"/>
                <a:ext cx="2234214" cy="1961966"/>
              </a:xfrm>
              <a:prstGeom prst="roundRect">
                <a:avLst/>
              </a:prstGeom>
              <a:noFill/>
              <a:ln w="57150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4"/>
              </a:fontRef>
            </p:style>
            <p:txBody>
              <a:bodyPr rtlCol="0" anchor="ctr"/>
              <a:lstStyle/>
              <a:p>
                <a:pPr algn="ctr"/>
                <a:endParaRPr lang="zh-TW" altLang="en-US" sz="2000"/>
              </a:p>
            </p:txBody>
          </p:sp>
        </p:grpSp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F6FF7DAC-34A4-4D9B-B261-D8527A6311C8}"/>
                </a:ext>
              </a:extLst>
            </p:cNvPr>
            <p:cNvSpPr/>
            <p:nvPr/>
          </p:nvSpPr>
          <p:spPr>
            <a:xfrm>
              <a:off x="4563123" y="2357022"/>
              <a:ext cx="1374744" cy="594804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/>
                <a:t>CBLOF</a:t>
              </a:r>
              <a:endParaRPr lang="zh-TW" altLang="en-US" sz="2000" dirty="0"/>
            </a:p>
          </p:txBody>
        </p:sp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238FD34C-77AE-42B9-A8D6-EB9AD56F16A9}"/>
                </a:ext>
              </a:extLst>
            </p:cNvPr>
            <p:cNvSpPr/>
            <p:nvPr/>
          </p:nvSpPr>
          <p:spPr>
            <a:xfrm>
              <a:off x="6182003" y="2370338"/>
              <a:ext cx="1860612" cy="545978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/>
                <a:t>Feature Bagging</a:t>
              </a:r>
              <a:endParaRPr lang="zh-TW" altLang="en-US" sz="2000" dirty="0"/>
            </a:p>
          </p:txBody>
        </p:sp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4943A65D-23B6-49D9-AAD6-837BEF43364E}"/>
                </a:ext>
              </a:extLst>
            </p:cNvPr>
            <p:cNvSpPr/>
            <p:nvPr/>
          </p:nvSpPr>
          <p:spPr>
            <a:xfrm>
              <a:off x="8482059" y="2370336"/>
              <a:ext cx="1374744" cy="545978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/>
                <a:t>HBOS</a:t>
              </a:r>
              <a:endParaRPr lang="zh-TW" altLang="en-US" sz="2000" dirty="0"/>
            </a:p>
          </p:txBody>
        </p: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7235EDEC-1E0D-4878-BFF6-D7C8F346A86B}"/>
                </a:ext>
              </a:extLst>
            </p:cNvPr>
            <p:cNvSpPr/>
            <p:nvPr/>
          </p:nvSpPr>
          <p:spPr>
            <a:xfrm>
              <a:off x="2418611" y="4465467"/>
              <a:ext cx="1374744" cy="479395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 err="1"/>
                <a:t>IForest</a:t>
              </a:r>
              <a:endParaRPr lang="zh-TW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87681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446DD133-87F6-4CA5-B300-05243BBFC0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8" t="8484" r="8634" b="8336"/>
          <a:stretch/>
        </p:blipFill>
        <p:spPr>
          <a:xfrm>
            <a:off x="2221119" y="848455"/>
            <a:ext cx="6732381" cy="5161090"/>
          </a:xfrm>
          <a:prstGeom prst="rect">
            <a:avLst/>
          </a:prstGeom>
        </p:spPr>
      </p:pic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93089761-CBFA-4B59-AF9A-688B7D12F9A4}"/>
              </a:ext>
            </a:extLst>
          </p:cNvPr>
          <p:cNvSpPr/>
          <p:nvPr/>
        </p:nvSpPr>
        <p:spPr>
          <a:xfrm>
            <a:off x="276114" y="1135524"/>
            <a:ext cx="988332" cy="33283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D0322479-EA1C-4F14-8781-DB1C5093D413}"/>
              </a:ext>
            </a:extLst>
          </p:cNvPr>
          <p:cNvSpPr/>
          <p:nvPr/>
        </p:nvSpPr>
        <p:spPr>
          <a:xfrm>
            <a:off x="276114" y="1527957"/>
            <a:ext cx="988332" cy="31749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Inlier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A71EF844-60A6-4D91-A006-6B23452CCB28}"/>
              </a:ext>
            </a:extLst>
          </p:cNvPr>
          <p:cNvSpPr/>
          <p:nvPr/>
        </p:nvSpPr>
        <p:spPr>
          <a:xfrm>
            <a:off x="3506994" y="1845449"/>
            <a:ext cx="2589006" cy="60540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of  Distance for all point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接點: 弧形 37">
            <a:extLst>
              <a:ext uri="{FF2B5EF4-FFF2-40B4-BE49-F238E27FC236}">
                <a16:creationId xmlns:a16="http://schemas.microsoft.com/office/drawing/2014/main" id="{EEE243D4-67E1-484C-AC29-976E5DA41C3C}"/>
              </a:ext>
            </a:extLst>
          </p:cNvPr>
          <p:cNvCxnSpPr>
            <a:cxnSpLocks/>
          </p:cNvCxnSpPr>
          <p:nvPr/>
        </p:nvCxnSpPr>
        <p:spPr>
          <a:xfrm>
            <a:off x="4773712" y="2460952"/>
            <a:ext cx="1627088" cy="101284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80112758-8A2D-4017-A9B9-97FF8E850FB9}"/>
              </a:ext>
            </a:extLst>
          </p:cNvPr>
          <p:cNvSpPr/>
          <p:nvPr/>
        </p:nvSpPr>
        <p:spPr>
          <a:xfrm>
            <a:off x="5221746" y="5177776"/>
            <a:ext cx="2589006" cy="60580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of  Distance for all point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接點: 弧形 40">
            <a:extLst>
              <a:ext uri="{FF2B5EF4-FFF2-40B4-BE49-F238E27FC236}">
                <a16:creationId xmlns:a16="http://schemas.microsoft.com/office/drawing/2014/main" id="{F0A7F89D-FA63-422C-B6C5-93CF621876F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395498" y="4078045"/>
            <a:ext cx="1223333" cy="98183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E24F2F7D-41D1-4E31-8CB5-045C752179EE}"/>
              </a:ext>
            </a:extLst>
          </p:cNvPr>
          <p:cNvCxnSpPr>
            <a:cxnSpLocks/>
          </p:cNvCxnSpPr>
          <p:nvPr/>
        </p:nvCxnSpPr>
        <p:spPr>
          <a:xfrm>
            <a:off x="3581400" y="2514600"/>
            <a:ext cx="0" cy="3214716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073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446DD133-87F6-4CA5-B300-05243BBFC0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8" t="8484" r="8634" b="8336"/>
          <a:stretch/>
        </p:blipFill>
        <p:spPr>
          <a:xfrm>
            <a:off x="2221119" y="848455"/>
            <a:ext cx="6732381" cy="5161090"/>
          </a:xfrm>
          <a:prstGeom prst="rect">
            <a:avLst/>
          </a:prstGeom>
        </p:spPr>
      </p:pic>
      <p:cxnSp>
        <p:nvCxnSpPr>
          <p:cNvPr id="9" name="接點: 弧形 8">
            <a:extLst>
              <a:ext uri="{FF2B5EF4-FFF2-40B4-BE49-F238E27FC236}">
                <a16:creationId xmlns:a16="http://schemas.microsoft.com/office/drawing/2014/main" id="{32FD1061-B9A8-4D74-8B66-6BFE8D6444B1}"/>
              </a:ext>
            </a:extLst>
          </p:cNvPr>
          <p:cNvCxnSpPr>
            <a:cxnSpLocks/>
            <a:stCxn id="32" idx="1"/>
          </p:cNvCxnSpPr>
          <p:nvPr/>
        </p:nvCxnSpPr>
        <p:spPr>
          <a:xfrm rot="10800000">
            <a:off x="7543800" y="4428521"/>
            <a:ext cx="1569062" cy="86510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1A7D1F0-0D58-48BD-A785-CBDB1A216D86}"/>
              </a:ext>
            </a:extLst>
          </p:cNvPr>
          <p:cNvSpPr/>
          <p:nvPr/>
        </p:nvSpPr>
        <p:spPr>
          <a:xfrm>
            <a:off x="193906" y="2647834"/>
            <a:ext cx="2589006" cy="59066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Distance to each point for outlier point.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接點: 弧形 15">
            <a:extLst>
              <a:ext uri="{FF2B5EF4-FFF2-40B4-BE49-F238E27FC236}">
                <a16:creationId xmlns:a16="http://schemas.microsoft.com/office/drawing/2014/main" id="{37BAD4B5-5A1C-4F38-AE35-46C19EB0D23B}"/>
              </a:ext>
            </a:extLst>
          </p:cNvPr>
          <p:cNvCxnSpPr>
            <a:cxnSpLocks/>
          </p:cNvCxnSpPr>
          <p:nvPr/>
        </p:nvCxnSpPr>
        <p:spPr>
          <a:xfrm rot="10800000">
            <a:off x="7876154" y="2943167"/>
            <a:ext cx="1236708" cy="122562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93089761-CBFA-4B59-AF9A-688B7D12F9A4}"/>
              </a:ext>
            </a:extLst>
          </p:cNvPr>
          <p:cNvSpPr/>
          <p:nvPr/>
        </p:nvSpPr>
        <p:spPr>
          <a:xfrm>
            <a:off x="8560662" y="1592557"/>
            <a:ext cx="988332" cy="33283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D0322479-EA1C-4F14-8781-DB1C5093D413}"/>
              </a:ext>
            </a:extLst>
          </p:cNvPr>
          <p:cNvSpPr/>
          <p:nvPr/>
        </p:nvSpPr>
        <p:spPr>
          <a:xfrm>
            <a:off x="8580650" y="2784421"/>
            <a:ext cx="988332" cy="31749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Inlier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431B9B0D-372E-487F-BE1F-E516F533A113}"/>
              </a:ext>
            </a:extLst>
          </p:cNvPr>
          <p:cNvCxnSpPr>
            <a:cxnSpLocks/>
          </p:cNvCxnSpPr>
          <p:nvPr/>
        </p:nvCxnSpPr>
        <p:spPr>
          <a:xfrm>
            <a:off x="11132820" y="972344"/>
            <a:ext cx="0" cy="322840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接點: 弧形 22">
            <a:extLst>
              <a:ext uri="{FF2B5EF4-FFF2-40B4-BE49-F238E27FC236}">
                <a16:creationId xmlns:a16="http://schemas.microsoft.com/office/drawing/2014/main" id="{201680DE-E0A3-44C2-9C56-AFB9A114A94C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51328" y="2811128"/>
            <a:ext cx="694641" cy="159769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B578218C-5B3D-4960-9834-6AEEE572F864}"/>
              </a:ext>
            </a:extLst>
          </p:cNvPr>
          <p:cNvSpPr/>
          <p:nvPr/>
        </p:nvSpPr>
        <p:spPr>
          <a:xfrm>
            <a:off x="124190" y="3905419"/>
            <a:ext cx="2589006" cy="59066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 Distance to each point for outlier point.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接點: 弧形 28">
            <a:extLst>
              <a:ext uri="{FF2B5EF4-FFF2-40B4-BE49-F238E27FC236}">
                <a16:creationId xmlns:a16="http://schemas.microsoft.com/office/drawing/2014/main" id="{57038456-BD04-45E3-AAB6-64B806830CA2}"/>
              </a:ext>
            </a:extLst>
          </p:cNvPr>
          <p:cNvCxnSpPr>
            <a:cxnSpLocks/>
          </p:cNvCxnSpPr>
          <p:nvPr/>
        </p:nvCxnSpPr>
        <p:spPr>
          <a:xfrm>
            <a:off x="2221121" y="4496087"/>
            <a:ext cx="1701332" cy="362574"/>
          </a:xfrm>
          <a:prstGeom prst="curvedConnector3">
            <a:avLst>
              <a:gd name="adj1" fmla="val -419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80B7C5EE-1E37-4B99-B6C2-D509E5274EAA}"/>
              </a:ext>
            </a:extLst>
          </p:cNvPr>
          <p:cNvSpPr/>
          <p:nvPr/>
        </p:nvSpPr>
        <p:spPr>
          <a:xfrm>
            <a:off x="9112862" y="3873456"/>
            <a:ext cx="2589006" cy="59066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Distance to each point for inlier point.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D1A7BCC2-3DD4-4A84-8219-949460D2AD51}"/>
              </a:ext>
            </a:extLst>
          </p:cNvPr>
          <p:cNvSpPr/>
          <p:nvPr/>
        </p:nvSpPr>
        <p:spPr>
          <a:xfrm>
            <a:off x="9112862" y="4998290"/>
            <a:ext cx="2589006" cy="59066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 Distance to each point for inlier point.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A71EF844-60A6-4D91-A006-6B23452CCB28}"/>
              </a:ext>
            </a:extLst>
          </p:cNvPr>
          <p:cNvSpPr/>
          <p:nvPr/>
        </p:nvSpPr>
        <p:spPr>
          <a:xfrm>
            <a:off x="3506994" y="1756207"/>
            <a:ext cx="2589006" cy="69464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of  Distance</a:t>
            </a:r>
          </a:p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(Dark shadow)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接點: 弧形 37">
            <a:extLst>
              <a:ext uri="{FF2B5EF4-FFF2-40B4-BE49-F238E27FC236}">
                <a16:creationId xmlns:a16="http://schemas.microsoft.com/office/drawing/2014/main" id="{EEE243D4-67E1-484C-AC29-976E5DA41C3C}"/>
              </a:ext>
            </a:extLst>
          </p:cNvPr>
          <p:cNvCxnSpPr>
            <a:cxnSpLocks/>
          </p:cNvCxnSpPr>
          <p:nvPr/>
        </p:nvCxnSpPr>
        <p:spPr>
          <a:xfrm>
            <a:off x="4773712" y="2460952"/>
            <a:ext cx="1627088" cy="101284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80112758-8A2D-4017-A9B9-97FF8E850FB9}"/>
              </a:ext>
            </a:extLst>
          </p:cNvPr>
          <p:cNvSpPr/>
          <p:nvPr/>
        </p:nvSpPr>
        <p:spPr>
          <a:xfrm>
            <a:off x="4697019" y="5430210"/>
            <a:ext cx="2589006" cy="69464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of  Distance</a:t>
            </a:r>
          </a:p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(Dark shadow)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接點: 弧形 40">
            <a:extLst>
              <a:ext uri="{FF2B5EF4-FFF2-40B4-BE49-F238E27FC236}">
                <a16:creationId xmlns:a16="http://schemas.microsoft.com/office/drawing/2014/main" id="{F0A7F89D-FA63-422C-B6C5-93CF621876F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961158" y="4310467"/>
            <a:ext cx="1223333" cy="98183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367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D7EC8D-1072-4129-BC3E-36B6DD9C0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Analysis : Outliers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4496D6-3405-4CD1-A8C3-38B64C121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Outliers have low variance and high average than inlier.</a:t>
            </a:r>
          </a:p>
          <a:p>
            <a:pPr lvl="1"/>
            <a:r>
              <a:rPr lang="en-US" altLang="zh-TW" dirty="0">
                <a:sym typeface="Wingdings" panose="05000000000000000000" pitchFamily="2" charset="2"/>
              </a:rPr>
              <a:t>Outliers are scattered or just some small clusters and far from inlier.</a:t>
            </a:r>
          </a:p>
          <a:p>
            <a:pPr lvl="1"/>
            <a:r>
              <a:rPr lang="en-US" altLang="zh-TW" dirty="0">
                <a:sym typeface="Wingdings" panose="05000000000000000000" pitchFamily="2" charset="2"/>
              </a:rPr>
              <a:t>So each of outliers has a large distance which make average high and </a:t>
            </a:r>
            <a:r>
              <a:rPr lang="en-US" altLang="zh-TW" dirty="0"/>
              <a:t>low variance.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34855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3CCF27-4FF4-4B81-B2A6-ABE272EB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Analysis : Inliers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F44C0A-79F9-4813-9996-DAE422C93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Average of inlier is far from outlier, that is good. </a:t>
            </a:r>
          </a:p>
          <a:p>
            <a:r>
              <a:rPr lang="en-US" altLang="zh-TW" dirty="0"/>
              <a:t>Max of distance of inlier is lower than average of outlier</a:t>
            </a:r>
          </a:p>
          <a:p>
            <a:pPr marL="0" indent="0">
              <a:buNone/>
            </a:pPr>
            <a:r>
              <a:rPr lang="en-US" altLang="zh-TW" dirty="0"/>
              <a:t>   </a:t>
            </a:r>
            <a:r>
              <a:rPr lang="en-US" altLang="zh-TW" dirty="0">
                <a:sym typeface="Wingdings" panose="05000000000000000000" pitchFamily="2" charset="2"/>
              </a:rPr>
              <a:t> Inlier and outlier is very separate. </a:t>
            </a:r>
          </a:p>
          <a:p>
            <a:pPr marL="0" indent="0">
              <a:buNone/>
            </a:pPr>
            <a:r>
              <a:rPr lang="en-US" altLang="zh-TW" dirty="0"/>
              <a:t> 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64926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1A2DB-B45B-4F9F-A0A7-C76D8A060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Compare</a:t>
            </a:r>
            <a:endParaRPr lang="zh-TW" altLang="en-US" dirty="0"/>
          </a:p>
        </p:txBody>
      </p:sp>
      <p:pic>
        <p:nvPicPr>
          <p:cNvPr id="4" name="內容版面配置區 4">
            <a:extLst>
              <a:ext uri="{FF2B5EF4-FFF2-40B4-BE49-F238E27FC236}">
                <a16:creationId xmlns:a16="http://schemas.microsoft.com/office/drawing/2014/main" id="{626D683C-4681-4D65-AF9B-E4E17FFFCD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6" t="8484" r="8945" b="8336"/>
          <a:stretch/>
        </p:blipFill>
        <p:spPr>
          <a:xfrm>
            <a:off x="3986074" y="2138773"/>
            <a:ext cx="3906175" cy="299450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EC8874C-EB1D-403A-B28B-17CDD3B64B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1" t="9326" r="9189" b="8410"/>
          <a:stretch/>
        </p:blipFill>
        <p:spPr>
          <a:xfrm>
            <a:off x="7892249" y="2138773"/>
            <a:ext cx="3906175" cy="296150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6499274-9121-4B18-A163-D0129AF861F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8" t="8484" r="8634" b="8336"/>
          <a:stretch/>
        </p:blipFill>
        <p:spPr>
          <a:xfrm>
            <a:off x="79899" y="2138773"/>
            <a:ext cx="3906175" cy="2994501"/>
          </a:xfrm>
          <a:prstGeom prst="rect">
            <a:avLst/>
          </a:prstGeo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3480C4C0-E075-4072-A4A6-4A8181DF9CF7}"/>
              </a:ext>
            </a:extLst>
          </p:cNvPr>
          <p:cNvSpPr/>
          <p:nvPr/>
        </p:nvSpPr>
        <p:spPr>
          <a:xfrm>
            <a:off x="623409" y="5110181"/>
            <a:ext cx="3126912" cy="56373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IForest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2EC91A6E-F1BD-4C4E-946A-4B377AF14D71}"/>
              </a:ext>
            </a:extLst>
          </p:cNvPr>
          <p:cNvSpPr/>
          <p:nvPr/>
        </p:nvSpPr>
        <p:spPr>
          <a:xfrm>
            <a:off x="4532544" y="5133274"/>
            <a:ext cx="3126912" cy="5637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6E2DD90-B0F3-4BD7-9092-AB847C5D93B5}"/>
              </a:ext>
            </a:extLst>
          </p:cNvPr>
          <p:cNvSpPr/>
          <p:nvPr/>
        </p:nvSpPr>
        <p:spPr>
          <a:xfrm>
            <a:off x="8438719" y="5110181"/>
            <a:ext cx="3126912" cy="5637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CBLOF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601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0BE8FF-8380-4AA1-B299-4687E74C5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2698812"/>
            <a:ext cx="9603275" cy="153107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altLang="zh-TW" sz="3600" b="1" i="1" dirty="0">
                <a:solidFill>
                  <a:srgbClr val="0070C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listening.</a:t>
            </a:r>
          </a:p>
          <a:p>
            <a:pPr marL="0" indent="0" algn="ctr">
              <a:buNone/>
            </a:pPr>
            <a:r>
              <a:rPr lang="en-US" altLang="zh-TW" sz="3600" b="1" i="1" dirty="0">
                <a:solidFill>
                  <a:srgbClr val="0070C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Hope my report is helpful to you!</a:t>
            </a:r>
            <a:endParaRPr lang="zh-TW" altLang="en-US" sz="3600" b="1" i="1" dirty="0">
              <a:solidFill>
                <a:srgbClr val="0070C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279785"/>
      </p:ext>
    </p:extLst>
  </p:cSld>
  <p:clrMapOvr>
    <a:masterClrMapping/>
  </p:clrMapOvr>
</p:sld>
</file>

<file path=ppt/theme/theme1.xml><?xml version="1.0" encoding="utf-8"?>
<a:theme xmlns:a="http://schemas.openxmlformats.org/drawingml/2006/main" name="圖庫">
  <a:themeElements>
    <a:clrScheme name="圖庫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圖庫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圖庫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144</TotalTime>
  <Words>528</Words>
  <Application>Microsoft Office PowerPoint</Application>
  <PresentationFormat>Widescreen</PresentationFormat>
  <Paragraphs>97</Paragraphs>
  <Slides>18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標楷體</vt:lpstr>
      <vt:lpstr>맑은 고딕</vt:lpstr>
      <vt:lpstr>微軟正黑體</vt:lpstr>
      <vt:lpstr>新細明體</vt:lpstr>
      <vt:lpstr>Arial</vt:lpstr>
      <vt:lpstr>Cambria Math</vt:lpstr>
      <vt:lpstr>Century Gothic</vt:lpstr>
      <vt:lpstr>Times New Roman</vt:lpstr>
      <vt:lpstr>Wingdings</vt:lpstr>
      <vt:lpstr>圖庫</vt:lpstr>
      <vt:lpstr>Data preprocessing of numerical data</vt:lpstr>
      <vt:lpstr>PowerPoint Presentation</vt:lpstr>
      <vt:lpstr>Task Introduce</vt:lpstr>
      <vt:lpstr>Task Introduce</vt:lpstr>
      <vt:lpstr>PowerPoint Presentation</vt:lpstr>
      <vt:lpstr>Box</vt:lpstr>
      <vt:lpstr>ABOD</vt:lpstr>
      <vt:lpstr>CBLOF</vt:lpstr>
      <vt:lpstr>kNN</vt:lpstr>
      <vt:lpstr>Ensemble</vt:lpstr>
      <vt:lpstr>How to evaluate</vt:lpstr>
      <vt:lpstr>PowerPoint Presentation</vt:lpstr>
      <vt:lpstr>PowerPoint Presentation</vt:lpstr>
      <vt:lpstr>PowerPoint Presentation</vt:lpstr>
      <vt:lpstr>Analysis : Outliers</vt:lpstr>
      <vt:lpstr>Analysis : Inliers</vt:lpstr>
      <vt:lpstr>Compare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Asyrofa Rahmi</cp:lastModifiedBy>
  <cp:revision>22</cp:revision>
  <dcterms:created xsi:type="dcterms:W3CDTF">2021-06-17T13:09:08Z</dcterms:created>
  <dcterms:modified xsi:type="dcterms:W3CDTF">2022-02-09T06:39:00Z</dcterms:modified>
</cp:coreProperties>
</file>