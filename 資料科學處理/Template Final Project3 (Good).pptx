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sldIdLst>
    <p:sldId id="256" r:id="rId2"/>
    <p:sldId id="314" r:id="rId3"/>
    <p:sldId id="257" r:id="rId4"/>
    <p:sldId id="330" r:id="rId5"/>
    <p:sldId id="329" r:id="rId6"/>
    <p:sldId id="320" r:id="rId7"/>
    <p:sldId id="263" r:id="rId8"/>
    <p:sldId id="332" r:id="rId9"/>
    <p:sldId id="331" r:id="rId10"/>
    <p:sldId id="258" r:id="rId11"/>
    <p:sldId id="321" r:id="rId12"/>
    <p:sldId id="276" r:id="rId13"/>
    <p:sldId id="326" r:id="rId14"/>
    <p:sldId id="327" r:id="rId15"/>
    <p:sldId id="324" r:id="rId16"/>
    <p:sldId id="315" r:id="rId17"/>
    <p:sldId id="316" r:id="rId18"/>
    <p:sldId id="317" r:id="rId19"/>
    <p:sldId id="318" r:id="rId20"/>
    <p:sldId id="323" r:id="rId21"/>
    <p:sldId id="322" r:id="rId22"/>
    <p:sldId id="31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70" autoAdjust="0"/>
  </p:normalViewPr>
  <p:slideViewPr>
    <p:cSldViewPr snapToGrid="0">
      <p:cViewPr varScale="1">
        <p:scale>
          <a:sx n="57" d="100"/>
          <a:sy n="57" d="100"/>
        </p:scale>
        <p:origin x="102"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E2E092-9572-4057-A397-219ABAA5CD49}" type="doc">
      <dgm:prSet loTypeId="urn:microsoft.com/office/officeart/2005/8/layout/process2" loCatId="process" qsTypeId="urn:microsoft.com/office/officeart/2005/8/quickstyle/simple1" qsCatId="simple" csTypeId="urn:microsoft.com/office/officeart/2005/8/colors/accent1_2" csCatId="accent1" phldr="1"/>
      <dgm:spPr/>
    </dgm:pt>
    <dgm:pt modelId="{40F40B8E-A2D7-40C0-830C-334D4B75D894}">
      <dgm:prSet phldrT="[文字]"/>
      <dgm:spPr>
        <a:noFill/>
        <a:ln w="38100">
          <a:noFill/>
        </a:ln>
      </dgm:spPr>
      <dgm:t>
        <a:bodyPr/>
        <a:lstStyle/>
        <a:p>
          <a:r>
            <a:rPr lang="en-US" altLang="zh-TW" dirty="0">
              <a:solidFill>
                <a:schemeClr val="tx1"/>
              </a:solidFill>
            </a:rPr>
            <a:t>ICA</a:t>
          </a:r>
        </a:p>
      </dgm:t>
    </dgm:pt>
    <dgm:pt modelId="{335D3C5B-CC67-4F21-9620-163A89B49363}" type="parTrans" cxnId="{76AB91AB-4787-4FFB-9F03-985267CF75CA}">
      <dgm:prSet/>
      <dgm:spPr/>
      <dgm:t>
        <a:bodyPr/>
        <a:lstStyle/>
        <a:p>
          <a:endParaRPr lang="zh-TW" altLang="en-US"/>
        </a:p>
      </dgm:t>
    </dgm:pt>
    <dgm:pt modelId="{D7AE9CA7-04CF-4CB5-A587-3F0E07551674}" type="sibTrans" cxnId="{76AB91AB-4787-4FFB-9F03-985267CF75CA}">
      <dgm:prSet/>
      <dgm:spPr/>
      <dgm:t>
        <a:bodyPr/>
        <a:lstStyle/>
        <a:p>
          <a:endParaRPr lang="zh-TW" altLang="en-US"/>
        </a:p>
      </dgm:t>
    </dgm:pt>
    <dgm:pt modelId="{86FBD200-F867-4D53-A5FD-C21015452BE3}">
      <dgm:prSet phldrT="[文字]" phldr="1"/>
      <dgm:spPr>
        <a:noFill/>
        <a:ln w="38100">
          <a:noFill/>
        </a:ln>
      </dgm:spPr>
      <dgm:t>
        <a:bodyPr/>
        <a:lstStyle/>
        <a:p>
          <a:endParaRPr lang="zh-TW" altLang="en-US" dirty="0"/>
        </a:p>
      </dgm:t>
    </dgm:pt>
    <dgm:pt modelId="{D4D7AB69-D617-470F-A2B2-C2597405EEB7}" type="parTrans" cxnId="{DBD62901-7E47-430D-B898-7D183F945D2A}">
      <dgm:prSet/>
      <dgm:spPr/>
      <dgm:t>
        <a:bodyPr/>
        <a:lstStyle/>
        <a:p>
          <a:endParaRPr lang="zh-TW" altLang="en-US"/>
        </a:p>
      </dgm:t>
    </dgm:pt>
    <dgm:pt modelId="{8D51565A-1C4B-4536-BBC9-78BF2069E3AF}" type="sibTrans" cxnId="{DBD62901-7E47-430D-B898-7D183F945D2A}">
      <dgm:prSet/>
      <dgm:spPr/>
      <dgm:t>
        <a:bodyPr/>
        <a:lstStyle/>
        <a:p>
          <a:endParaRPr lang="zh-TW" altLang="en-US"/>
        </a:p>
      </dgm:t>
    </dgm:pt>
    <dgm:pt modelId="{59E106B8-4B1C-4379-8A3B-E54E30D7F25D}">
      <dgm:prSet phldrT="[文字]" phldr="1"/>
      <dgm:spPr>
        <a:noFill/>
        <a:ln w="38100">
          <a:noFill/>
        </a:ln>
      </dgm:spPr>
      <dgm:t>
        <a:bodyPr/>
        <a:lstStyle/>
        <a:p>
          <a:endParaRPr lang="zh-TW" altLang="en-US" dirty="0"/>
        </a:p>
      </dgm:t>
    </dgm:pt>
    <dgm:pt modelId="{575D7640-1D4F-4DD4-87CC-689103F0AFB6}" type="sibTrans" cxnId="{2D4B606A-A79D-4970-A027-53CE8291EACD}">
      <dgm:prSet/>
      <dgm:spPr/>
      <dgm:t>
        <a:bodyPr/>
        <a:lstStyle/>
        <a:p>
          <a:endParaRPr lang="zh-TW" altLang="en-US"/>
        </a:p>
      </dgm:t>
    </dgm:pt>
    <dgm:pt modelId="{92A3F319-4BBA-4C8B-AD23-E55A638E875B}" type="parTrans" cxnId="{2D4B606A-A79D-4970-A027-53CE8291EACD}">
      <dgm:prSet/>
      <dgm:spPr/>
      <dgm:t>
        <a:bodyPr/>
        <a:lstStyle/>
        <a:p>
          <a:endParaRPr lang="zh-TW" altLang="en-US"/>
        </a:p>
      </dgm:t>
    </dgm:pt>
    <dgm:pt modelId="{943824E8-F5AA-4088-A5B7-C20D59CE4C11}" type="pres">
      <dgm:prSet presAssocID="{0EE2E092-9572-4057-A397-219ABAA5CD49}" presName="linearFlow" presStyleCnt="0">
        <dgm:presLayoutVars>
          <dgm:resizeHandles val="exact"/>
        </dgm:presLayoutVars>
      </dgm:prSet>
      <dgm:spPr/>
    </dgm:pt>
    <dgm:pt modelId="{6106C450-C51E-45DF-A6DA-9D030A462E7F}" type="pres">
      <dgm:prSet presAssocID="{59E106B8-4B1C-4379-8A3B-E54E30D7F25D}" presName="node" presStyleLbl="node1" presStyleIdx="0" presStyleCnt="3">
        <dgm:presLayoutVars>
          <dgm:bulletEnabled val="1"/>
        </dgm:presLayoutVars>
      </dgm:prSet>
      <dgm:spPr/>
      <dgm:t>
        <a:bodyPr/>
        <a:lstStyle/>
        <a:p>
          <a:endParaRPr lang="en-US"/>
        </a:p>
      </dgm:t>
    </dgm:pt>
    <dgm:pt modelId="{2785A91C-9AB8-49BB-B961-669BBF6ADBC3}" type="pres">
      <dgm:prSet presAssocID="{575D7640-1D4F-4DD4-87CC-689103F0AFB6}" presName="sibTrans" presStyleLbl="sibTrans2D1" presStyleIdx="0" presStyleCnt="2"/>
      <dgm:spPr/>
      <dgm:t>
        <a:bodyPr/>
        <a:lstStyle/>
        <a:p>
          <a:endParaRPr lang="en-US"/>
        </a:p>
      </dgm:t>
    </dgm:pt>
    <dgm:pt modelId="{5906823F-EED3-48D2-8D0D-FEF89011B055}" type="pres">
      <dgm:prSet presAssocID="{575D7640-1D4F-4DD4-87CC-689103F0AFB6}" presName="connectorText" presStyleLbl="sibTrans2D1" presStyleIdx="0" presStyleCnt="2"/>
      <dgm:spPr/>
      <dgm:t>
        <a:bodyPr/>
        <a:lstStyle/>
        <a:p>
          <a:endParaRPr lang="en-US"/>
        </a:p>
      </dgm:t>
    </dgm:pt>
    <dgm:pt modelId="{B6AB035B-8A08-45D6-9794-AE8F4AE873AB}" type="pres">
      <dgm:prSet presAssocID="{40F40B8E-A2D7-40C0-830C-334D4B75D894}" presName="node" presStyleLbl="node1" presStyleIdx="1" presStyleCnt="3">
        <dgm:presLayoutVars>
          <dgm:bulletEnabled val="1"/>
        </dgm:presLayoutVars>
      </dgm:prSet>
      <dgm:spPr/>
      <dgm:t>
        <a:bodyPr/>
        <a:lstStyle/>
        <a:p>
          <a:endParaRPr lang="en-US"/>
        </a:p>
      </dgm:t>
    </dgm:pt>
    <dgm:pt modelId="{B4C00641-A8D2-485A-9BF2-91474C22F1D7}" type="pres">
      <dgm:prSet presAssocID="{D7AE9CA7-04CF-4CB5-A587-3F0E07551674}" presName="sibTrans" presStyleLbl="sibTrans2D1" presStyleIdx="1" presStyleCnt="2"/>
      <dgm:spPr/>
      <dgm:t>
        <a:bodyPr/>
        <a:lstStyle/>
        <a:p>
          <a:endParaRPr lang="en-US"/>
        </a:p>
      </dgm:t>
    </dgm:pt>
    <dgm:pt modelId="{206A43EE-179C-4D9C-9930-EF510FD3BA0D}" type="pres">
      <dgm:prSet presAssocID="{D7AE9CA7-04CF-4CB5-A587-3F0E07551674}" presName="connectorText" presStyleLbl="sibTrans2D1" presStyleIdx="1" presStyleCnt="2"/>
      <dgm:spPr/>
      <dgm:t>
        <a:bodyPr/>
        <a:lstStyle/>
        <a:p>
          <a:endParaRPr lang="en-US"/>
        </a:p>
      </dgm:t>
    </dgm:pt>
    <dgm:pt modelId="{2316B9ED-4E3B-42A6-B96C-77261B2F430A}" type="pres">
      <dgm:prSet presAssocID="{86FBD200-F867-4D53-A5FD-C21015452BE3}" presName="node" presStyleLbl="node1" presStyleIdx="2" presStyleCnt="3">
        <dgm:presLayoutVars>
          <dgm:bulletEnabled val="1"/>
        </dgm:presLayoutVars>
      </dgm:prSet>
      <dgm:spPr/>
      <dgm:t>
        <a:bodyPr/>
        <a:lstStyle/>
        <a:p>
          <a:endParaRPr lang="en-US"/>
        </a:p>
      </dgm:t>
    </dgm:pt>
  </dgm:ptLst>
  <dgm:cxnLst>
    <dgm:cxn modelId="{FB1989D1-F8AE-4464-B771-8F3FBF3D2C1A}" type="presOf" srcId="{D7AE9CA7-04CF-4CB5-A587-3F0E07551674}" destId="{B4C00641-A8D2-485A-9BF2-91474C22F1D7}" srcOrd="0" destOrd="0" presId="urn:microsoft.com/office/officeart/2005/8/layout/process2"/>
    <dgm:cxn modelId="{76AB91AB-4787-4FFB-9F03-985267CF75CA}" srcId="{0EE2E092-9572-4057-A397-219ABAA5CD49}" destId="{40F40B8E-A2D7-40C0-830C-334D4B75D894}" srcOrd="1" destOrd="0" parTransId="{335D3C5B-CC67-4F21-9620-163A89B49363}" sibTransId="{D7AE9CA7-04CF-4CB5-A587-3F0E07551674}"/>
    <dgm:cxn modelId="{DBD62901-7E47-430D-B898-7D183F945D2A}" srcId="{0EE2E092-9572-4057-A397-219ABAA5CD49}" destId="{86FBD200-F867-4D53-A5FD-C21015452BE3}" srcOrd="2" destOrd="0" parTransId="{D4D7AB69-D617-470F-A2B2-C2597405EEB7}" sibTransId="{8D51565A-1C4B-4536-BBC9-78BF2069E3AF}"/>
    <dgm:cxn modelId="{957AC3F7-8DC2-4F48-A245-C0A83A5634FB}" type="presOf" srcId="{D7AE9CA7-04CF-4CB5-A587-3F0E07551674}" destId="{206A43EE-179C-4D9C-9930-EF510FD3BA0D}" srcOrd="1" destOrd="0" presId="urn:microsoft.com/office/officeart/2005/8/layout/process2"/>
    <dgm:cxn modelId="{FAFD958C-814E-47AD-8E48-A95248A197D0}" type="presOf" srcId="{40F40B8E-A2D7-40C0-830C-334D4B75D894}" destId="{B6AB035B-8A08-45D6-9794-AE8F4AE873AB}" srcOrd="0" destOrd="0" presId="urn:microsoft.com/office/officeart/2005/8/layout/process2"/>
    <dgm:cxn modelId="{AD8B7A90-869C-46CF-9606-1293F23F18CD}" type="presOf" srcId="{0EE2E092-9572-4057-A397-219ABAA5CD49}" destId="{943824E8-F5AA-4088-A5B7-C20D59CE4C11}" srcOrd="0" destOrd="0" presId="urn:microsoft.com/office/officeart/2005/8/layout/process2"/>
    <dgm:cxn modelId="{2D4B606A-A79D-4970-A027-53CE8291EACD}" srcId="{0EE2E092-9572-4057-A397-219ABAA5CD49}" destId="{59E106B8-4B1C-4379-8A3B-E54E30D7F25D}" srcOrd="0" destOrd="0" parTransId="{92A3F319-4BBA-4C8B-AD23-E55A638E875B}" sibTransId="{575D7640-1D4F-4DD4-87CC-689103F0AFB6}"/>
    <dgm:cxn modelId="{4962FF01-5AF2-492C-9C66-E89EBA133DEA}" type="presOf" srcId="{575D7640-1D4F-4DD4-87CC-689103F0AFB6}" destId="{5906823F-EED3-48D2-8D0D-FEF89011B055}" srcOrd="1" destOrd="0" presId="urn:microsoft.com/office/officeart/2005/8/layout/process2"/>
    <dgm:cxn modelId="{6B39EA34-3046-40AD-A165-D0AE893E84A8}" type="presOf" srcId="{575D7640-1D4F-4DD4-87CC-689103F0AFB6}" destId="{2785A91C-9AB8-49BB-B961-669BBF6ADBC3}" srcOrd="0" destOrd="0" presId="urn:microsoft.com/office/officeart/2005/8/layout/process2"/>
    <dgm:cxn modelId="{08A91D51-EF74-4A64-AE3F-240EA8600D10}" type="presOf" srcId="{59E106B8-4B1C-4379-8A3B-E54E30D7F25D}" destId="{6106C450-C51E-45DF-A6DA-9D030A462E7F}" srcOrd="0" destOrd="0" presId="urn:microsoft.com/office/officeart/2005/8/layout/process2"/>
    <dgm:cxn modelId="{4BA6F3F3-38C1-45A2-AF32-D4A479815274}" type="presOf" srcId="{86FBD200-F867-4D53-A5FD-C21015452BE3}" destId="{2316B9ED-4E3B-42A6-B96C-77261B2F430A}" srcOrd="0" destOrd="0" presId="urn:microsoft.com/office/officeart/2005/8/layout/process2"/>
    <dgm:cxn modelId="{94CFCBC5-D7CA-45EB-AF62-A3DB97E01064}" type="presParOf" srcId="{943824E8-F5AA-4088-A5B7-C20D59CE4C11}" destId="{6106C450-C51E-45DF-A6DA-9D030A462E7F}" srcOrd="0" destOrd="0" presId="urn:microsoft.com/office/officeart/2005/8/layout/process2"/>
    <dgm:cxn modelId="{D45AA7A0-7A80-497C-BE28-5D10135EB923}" type="presParOf" srcId="{943824E8-F5AA-4088-A5B7-C20D59CE4C11}" destId="{2785A91C-9AB8-49BB-B961-669BBF6ADBC3}" srcOrd="1" destOrd="0" presId="urn:microsoft.com/office/officeart/2005/8/layout/process2"/>
    <dgm:cxn modelId="{D87BB9CF-9176-4941-B4E3-677F24AC3D0C}" type="presParOf" srcId="{2785A91C-9AB8-49BB-B961-669BBF6ADBC3}" destId="{5906823F-EED3-48D2-8D0D-FEF89011B055}" srcOrd="0" destOrd="0" presId="urn:microsoft.com/office/officeart/2005/8/layout/process2"/>
    <dgm:cxn modelId="{708941AE-D03B-4940-993A-846CA0D966CE}" type="presParOf" srcId="{943824E8-F5AA-4088-A5B7-C20D59CE4C11}" destId="{B6AB035B-8A08-45D6-9794-AE8F4AE873AB}" srcOrd="2" destOrd="0" presId="urn:microsoft.com/office/officeart/2005/8/layout/process2"/>
    <dgm:cxn modelId="{3EB150E5-CB0E-4584-9A0A-22E1E903FADB}" type="presParOf" srcId="{943824E8-F5AA-4088-A5B7-C20D59CE4C11}" destId="{B4C00641-A8D2-485A-9BF2-91474C22F1D7}" srcOrd="3" destOrd="0" presId="urn:microsoft.com/office/officeart/2005/8/layout/process2"/>
    <dgm:cxn modelId="{886A1A69-49FD-47FC-AE45-C0F9E2A6B9DE}" type="presParOf" srcId="{B4C00641-A8D2-485A-9BF2-91474C22F1D7}" destId="{206A43EE-179C-4D9C-9930-EF510FD3BA0D}" srcOrd="0" destOrd="0" presId="urn:microsoft.com/office/officeart/2005/8/layout/process2"/>
    <dgm:cxn modelId="{21A0C36D-9409-490A-9EBB-5F84705D07DE}" type="presParOf" srcId="{943824E8-F5AA-4088-A5B7-C20D59CE4C11}" destId="{2316B9ED-4E3B-42A6-B96C-77261B2F430A}" srcOrd="4"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6C450-C51E-45DF-A6DA-9D030A462E7F}">
      <dsp:nvSpPr>
        <dsp:cNvPr id="0" name=""/>
        <dsp:cNvSpPr/>
      </dsp:nvSpPr>
      <dsp:spPr>
        <a:xfrm>
          <a:off x="479388" y="0"/>
          <a:ext cx="2246950" cy="1248305"/>
        </a:xfrm>
        <a:prstGeom prst="roundRect">
          <a:avLst>
            <a:gd name="adj" fmla="val 10000"/>
          </a:avLst>
        </a:prstGeom>
        <a:noFill/>
        <a:ln w="381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lvl="0" algn="ctr" defTabSz="2266950">
            <a:lnSpc>
              <a:spcPct val="90000"/>
            </a:lnSpc>
            <a:spcBef>
              <a:spcPct val="0"/>
            </a:spcBef>
            <a:spcAft>
              <a:spcPct val="35000"/>
            </a:spcAft>
          </a:pPr>
          <a:endParaRPr lang="zh-TW" altLang="en-US" sz="5100" kern="1200" dirty="0"/>
        </a:p>
      </dsp:txBody>
      <dsp:txXfrm>
        <a:off x="515950" y="36562"/>
        <a:ext cx="2173826" cy="1175181"/>
      </dsp:txXfrm>
    </dsp:sp>
    <dsp:sp modelId="{2785A91C-9AB8-49BB-B961-669BBF6ADBC3}">
      <dsp:nvSpPr>
        <dsp:cNvPr id="0" name=""/>
        <dsp:cNvSpPr/>
      </dsp:nvSpPr>
      <dsp:spPr>
        <a:xfrm rot="5400000">
          <a:off x="1368806" y="1279513"/>
          <a:ext cx="468114" cy="5617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zh-TW" altLang="en-US" sz="2500" kern="1200"/>
        </a:p>
      </dsp:txBody>
      <dsp:txXfrm rot="-5400000">
        <a:off x="1434342" y="1326324"/>
        <a:ext cx="337043" cy="327680"/>
      </dsp:txXfrm>
    </dsp:sp>
    <dsp:sp modelId="{B6AB035B-8A08-45D6-9794-AE8F4AE873AB}">
      <dsp:nvSpPr>
        <dsp:cNvPr id="0" name=""/>
        <dsp:cNvSpPr/>
      </dsp:nvSpPr>
      <dsp:spPr>
        <a:xfrm>
          <a:off x="479388" y="1872458"/>
          <a:ext cx="2246950" cy="1248305"/>
        </a:xfrm>
        <a:prstGeom prst="roundRect">
          <a:avLst>
            <a:gd name="adj" fmla="val 10000"/>
          </a:avLst>
        </a:prstGeom>
        <a:noFill/>
        <a:ln w="381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lvl="0" algn="ctr" defTabSz="2533650">
            <a:lnSpc>
              <a:spcPct val="90000"/>
            </a:lnSpc>
            <a:spcBef>
              <a:spcPct val="0"/>
            </a:spcBef>
            <a:spcAft>
              <a:spcPct val="35000"/>
            </a:spcAft>
          </a:pPr>
          <a:r>
            <a:rPr lang="en-US" altLang="zh-TW" sz="5700" kern="1200" dirty="0">
              <a:solidFill>
                <a:schemeClr val="tx1"/>
              </a:solidFill>
            </a:rPr>
            <a:t>ICA</a:t>
          </a:r>
        </a:p>
      </dsp:txBody>
      <dsp:txXfrm>
        <a:off x="515950" y="1909020"/>
        <a:ext cx="2173826" cy="1175181"/>
      </dsp:txXfrm>
    </dsp:sp>
    <dsp:sp modelId="{B4C00641-A8D2-485A-9BF2-91474C22F1D7}">
      <dsp:nvSpPr>
        <dsp:cNvPr id="0" name=""/>
        <dsp:cNvSpPr/>
      </dsp:nvSpPr>
      <dsp:spPr>
        <a:xfrm rot="5400000">
          <a:off x="1368806" y="3151972"/>
          <a:ext cx="468114" cy="5617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zh-TW" altLang="en-US" sz="2500" kern="1200"/>
        </a:p>
      </dsp:txBody>
      <dsp:txXfrm rot="-5400000">
        <a:off x="1434342" y="3198783"/>
        <a:ext cx="337043" cy="327680"/>
      </dsp:txXfrm>
    </dsp:sp>
    <dsp:sp modelId="{2316B9ED-4E3B-42A6-B96C-77261B2F430A}">
      <dsp:nvSpPr>
        <dsp:cNvPr id="0" name=""/>
        <dsp:cNvSpPr/>
      </dsp:nvSpPr>
      <dsp:spPr>
        <a:xfrm>
          <a:off x="479388" y="3744917"/>
          <a:ext cx="2246950" cy="1248305"/>
        </a:xfrm>
        <a:prstGeom prst="roundRect">
          <a:avLst>
            <a:gd name="adj" fmla="val 10000"/>
          </a:avLst>
        </a:prstGeom>
        <a:noFill/>
        <a:ln w="381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lvl="0" algn="ctr" defTabSz="2266950">
            <a:lnSpc>
              <a:spcPct val="90000"/>
            </a:lnSpc>
            <a:spcBef>
              <a:spcPct val="0"/>
            </a:spcBef>
            <a:spcAft>
              <a:spcPct val="35000"/>
            </a:spcAft>
          </a:pPr>
          <a:endParaRPr lang="zh-TW" altLang="en-US" sz="5100" kern="1200" dirty="0"/>
        </a:p>
      </dsp:txBody>
      <dsp:txXfrm>
        <a:off x="515950" y="3781479"/>
        <a:ext cx="2173826" cy="11751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106D4A-0A33-47F6-BD3F-52358B80626C}" type="datetimeFigureOut">
              <a:rPr lang="zh-TW" altLang="en-US" smtClean="0"/>
              <a:t>2022/3/28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EB8763-3CE3-4E24-8BE3-4831601BC903}" type="slidenum">
              <a:rPr lang="zh-TW" altLang="en-US" smtClean="0"/>
              <a:t>‹#›</a:t>
            </a:fld>
            <a:endParaRPr lang="zh-TW" altLang="en-US"/>
          </a:p>
        </p:txBody>
      </p:sp>
    </p:spTree>
    <p:extLst>
      <p:ext uri="{BB962C8B-B14F-4D97-AF65-F5344CB8AC3E}">
        <p14:creationId xmlns:p14="http://schemas.microsoft.com/office/powerpoint/2010/main" val="81005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5558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identify safe/unsafe behavior (drunk and so on) --&gt; need real driving behavior signal data --&gt; dangerous --&gt; need synthesis to generate data that similar to real data from existing signal data --&gt; current generation method (</a:t>
            </a:r>
            <a:r>
              <a:rPr lang="en-US" altLang="zh-TW" dirty="0" err="1"/>
              <a:t>eg</a:t>
            </a:r>
            <a:r>
              <a:rPr lang="en-US" altLang="zh-TW" dirty="0"/>
              <a:t>: GAN) still need a small number of real data --&gt; our ide is to decompose the signal (environment and behavior) and then combine it according to the signal we desired.</a:t>
            </a:r>
            <a:endParaRPr lang="zh-TW" altLang="en-US" dirty="0"/>
          </a:p>
        </p:txBody>
      </p:sp>
      <p:sp>
        <p:nvSpPr>
          <p:cNvPr id="4" name="投影片編號版面配置區 3"/>
          <p:cNvSpPr>
            <a:spLocks noGrp="1"/>
          </p:cNvSpPr>
          <p:nvPr>
            <p:ph type="sldNum" sz="quarter" idx="5"/>
          </p:nvPr>
        </p:nvSpPr>
        <p:spPr/>
        <p:txBody>
          <a:bodyPr/>
          <a:lstStyle/>
          <a:p>
            <a:fld id="{F9803668-BBA8-4C65-9294-0F4758048FC8}" type="slidenum">
              <a:rPr lang="zh-TW" altLang="en-US" smtClean="0"/>
              <a:t>7</a:t>
            </a:fld>
            <a:endParaRPr lang="zh-TW" altLang="en-US"/>
          </a:p>
        </p:txBody>
      </p:sp>
    </p:spTree>
    <p:extLst>
      <p:ext uri="{BB962C8B-B14F-4D97-AF65-F5344CB8AC3E}">
        <p14:creationId xmlns:p14="http://schemas.microsoft.com/office/powerpoint/2010/main" val="3042805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a:t>
            </a:r>
            <a:r>
              <a:rPr lang="en-US" sz="1200" b="1" i="0" kern="1200" dirty="0">
                <a:solidFill>
                  <a:schemeClr val="tx1"/>
                </a:solidFill>
                <a:effectLst/>
                <a:latin typeface="+mn-lt"/>
                <a:ea typeface="+mn-ea"/>
                <a:cs typeface="+mn-cs"/>
              </a:rPr>
              <a:t>two key assumptions</a:t>
            </a:r>
            <a:r>
              <a:rPr lang="en-US" sz="1200" b="0" i="0" kern="1200" dirty="0">
                <a:solidFill>
                  <a:schemeClr val="tx1"/>
                </a:solidFill>
                <a:effectLst/>
                <a:latin typeface="+mn-lt"/>
                <a:ea typeface="+mn-ea"/>
                <a:cs typeface="+mn-cs"/>
              </a:rPr>
              <a:t> made in ICA. The hidden independent components we are trying to uncover must be one, </a:t>
            </a:r>
            <a:r>
              <a:rPr lang="en-US" sz="1200" b="1" i="0" kern="1200" dirty="0">
                <a:solidFill>
                  <a:schemeClr val="tx1"/>
                </a:solidFill>
                <a:effectLst/>
                <a:latin typeface="+mn-lt"/>
                <a:ea typeface="+mn-ea"/>
                <a:cs typeface="+mn-cs"/>
              </a:rPr>
              <a:t>statistically independent</a:t>
            </a:r>
            <a:r>
              <a:rPr lang="en-US" sz="1200" b="0" i="0" kern="1200" dirty="0">
                <a:solidFill>
                  <a:schemeClr val="tx1"/>
                </a:solidFill>
                <a:effectLst/>
                <a:latin typeface="+mn-lt"/>
                <a:ea typeface="+mn-ea"/>
                <a:cs typeface="+mn-cs"/>
              </a:rPr>
              <a:t>, and two, </a:t>
            </a:r>
            <a:r>
              <a:rPr lang="en-US" sz="1200" b="1" i="0" kern="1200" dirty="0">
                <a:solidFill>
                  <a:schemeClr val="tx1"/>
                </a:solidFill>
                <a:effectLst/>
                <a:latin typeface="+mn-lt"/>
                <a:ea typeface="+mn-ea"/>
                <a:cs typeface="+mn-cs"/>
              </a:rPr>
              <a:t>non-Gaussian</a:t>
            </a:r>
            <a:r>
              <a:rPr lang="en-US" sz="1200" b="0" i="0" kern="1200" dirty="0">
                <a:solidFill>
                  <a:schemeClr val="tx1"/>
                </a:solidFill>
                <a:effectLst/>
                <a:latin typeface="+mn-lt"/>
                <a:ea typeface="+mn-ea"/>
                <a:cs typeface="+mn-cs"/>
              </a:rPr>
              <a:t>. Semantically, by independent I mean information about </a:t>
            </a:r>
            <a:r>
              <a:rPr lang="en-US" sz="1200" b="1" i="0" kern="1200" dirty="0">
                <a:solidFill>
                  <a:schemeClr val="tx1"/>
                </a:solidFill>
                <a:effectLst/>
                <a:latin typeface="+mn-lt"/>
                <a:ea typeface="+mn-ea"/>
                <a:cs typeface="+mn-cs"/>
              </a:rPr>
              <a:t>x </a:t>
            </a:r>
            <a:r>
              <a:rPr lang="en-US" sz="1200" b="0" i="0" kern="1200" dirty="0">
                <a:solidFill>
                  <a:schemeClr val="tx1"/>
                </a:solidFill>
                <a:effectLst/>
                <a:latin typeface="+mn-lt"/>
                <a:ea typeface="+mn-ea"/>
                <a:cs typeface="+mn-cs"/>
              </a:rPr>
              <a:t>does not give you information about </a:t>
            </a:r>
            <a:r>
              <a:rPr lang="en-US" sz="1200" b="1" i="0"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and vice versa. Mathematically, this translates to,</a:t>
            </a:r>
            <a:endParaRPr lang="en-US" dirty="0"/>
          </a:p>
        </p:txBody>
      </p:sp>
      <p:sp>
        <p:nvSpPr>
          <p:cNvPr id="4" name="Slide Number Placeholder 3"/>
          <p:cNvSpPr>
            <a:spLocks noGrp="1"/>
          </p:cNvSpPr>
          <p:nvPr>
            <p:ph type="sldNum" sz="quarter" idx="5"/>
          </p:nvPr>
        </p:nvSpPr>
        <p:spPr/>
        <p:txBody>
          <a:bodyPr/>
          <a:lstStyle/>
          <a:p>
            <a:fld id="{4E211691-20BA-4AA4-B814-CFCC1D1F4CA9}" type="slidenum">
              <a:rPr lang="en-US" smtClean="0"/>
              <a:t>12</a:t>
            </a:fld>
            <a:endParaRPr lang="en-US"/>
          </a:p>
        </p:txBody>
      </p:sp>
    </p:spTree>
    <p:extLst>
      <p:ext uri="{BB962C8B-B14F-4D97-AF65-F5344CB8AC3E}">
        <p14:creationId xmlns:p14="http://schemas.microsoft.com/office/powerpoint/2010/main" val="3835790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6FCC04D-5E73-4300-924B-382CA6FCF644}" type="datetime1">
              <a:rPr lang="zh-TW" altLang="en-US" smtClean="0"/>
              <a:t>2022/3/28</a:t>
            </a:fld>
            <a:endParaRPr lang="zh-TW" altLang="en-US"/>
          </a:p>
        </p:txBody>
      </p:sp>
      <p:sp>
        <p:nvSpPr>
          <p:cNvPr id="5" name="Footer Placeholder 4"/>
          <p:cNvSpPr>
            <a:spLocks noGrp="1"/>
          </p:cNvSpPr>
          <p:nvPr>
            <p:ph type="ftr" sz="quarter" idx="11"/>
          </p:nvPr>
        </p:nvSpPr>
        <p:spPr>
          <a:xfrm>
            <a:off x="2692397" y="5037663"/>
            <a:ext cx="5214635" cy="279400"/>
          </a:xfrm>
        </p:spPr>
        <p:txBody>
          <a:bodyPr/>
          <a:lstStyle/>
          <a:p>
            <a:endParaRPr lang="zh-TW" altLang="en-US"/>
          </a:p>
        </p:txBody>
      </p:sp>
      <p:sp>
        <p:nvSpPr>
          <p:cNvPr id="6" name="Slide Number Placeholder 5"/>
          <p:cNvSpPr>
            <a:spLocks noGrp="1"/>
          </p:cNvSpPr>
          <p:nvPr>
            <p:ph type="sldNum" sz="quarter" idx="12"/>
          </p:nvPr>
        </p:nvSpPr>
        <p:spPr>
          <a:xfrm>
            <a:off x="8956900" y="5037663"/>
            <a:ext cx="551167" cy="279400"/>
          </a:xfrm>
        </p:spPr>
        <p:txBody>
          <a:bodyPr/>
          <a:lstStyle/>
          <a:p>
            <a:fld id="{FB360B71-4E68-4442-B60A-3C093988BE4E}" type="slidenum">
              <a:rPr lang="zh-TW" altLang="en-US" smtClean="0"/>
              <a:t>‹#›</a:t>
            </a:fld>
            <a:endParaRPr lang="zh-TW" alt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209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B3F1D98-2873-4DE2-A4E7-D628DB7BFCCA}"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dirty="0"/>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dirty="0"/>
          </a:p>
        </p:txBody>
      </p:sp>
    </p:spTree>
    <p:extLst>
      <p:ext uri="{BB962C8B-B14F-4D97-AF65-F5344CB8AC3E}">
        <p14:creationId xmlns:p14="http://schemas.microsoft.com/office/powerpoint/2010/main" val="311486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16D3CBD-8B71-4277-83CB-BC14E2B6C7D7}"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8003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3F365F17-C0EC-4DFC-BD9A-AB8C49AE61B3}" type="datetime1">
              <a:rPr lang="zh-TW" altLang="en-US" smtClean="0"/>
              <a:t>2022/3/28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B360B71-4E68-4442-B60A-3C093988BE4E}" type="slidenum">
              <a:rPr lang="zh-TW" altLang="en-US" smtClean="0"/>
              <a:t>‹#›</a:t>
            </a:fld>
            <a:endParaRPr lang="zh-TW" altLang="en-US"/>
          </a:p>
        </p:txBody>
      </p:sp>
    </p:spTree>
    <p:extLst>
      <p:ext uri="{BB962C8B-B14F-4D97-AF65-F5344CB8AC3E}">
        <p14:creationId xmlns:p14="http://schemas.microsoft.com/office/powerpoint/2010/main" val="772592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5552025-0C6C-4931-B093-5299F0376242}" type="datetime1">
              <a:rPr lang="zh-TW" altLang="en-US" smtClean="0"/>
              <a:t>2022/3/28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2475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2298471-61D3-4812-92B8-2FDE8F4E4374}" type="datetime1">
              <a:rPr lang="zh-TW" altLang="en-US" smtClean="0"/>
              <a:t>2022/3/28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7373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CCA0FB-58F9-4397-8202-76CAE3C1A78C}" type="datetime1">
              <a:rPr lang="zh-TW" altLang="en-US" smtClean="0"/>
              <a:t>2022/3/28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a:xfrm>
            <a:off x="10353901" y="5969000"/>
            <a:ext cx="542697" cy="279400"/>
          </a:xfrm>
        </p:spPr>
        <p:txBody>
          <a:bodyPr/>
          <a:lstStyle>
            <a:lvl1pPr>
              <a:defRPr sz="1800"/>
            </a:lvl1pPr>
          </a:lstStyle>
          <a:p>
            <a:fld id="{FB360B71-4E68-4442-B60A-3C093988BE4E}" type="slidenum">
              <a:rPr lang="zh-TW" altLang="en-US" smtClean="0"/>
              <a:pPr/>
              <a:t>‹#›</a:t>
            </a:fld>
            <a:endParaRPr lang="zh-TW" altLang="en-US" dirty="0"/>
          </a:p>
        </p:txBody>
      </p:sp>
    </p:spTree>
    <p:extLst>
      <p:ext uri="{BB962C8B-B14F-4D97-AF65-F5344CB8AC3E}">
        <p14:creationId xmlns:p14="http://schemas.microsoft.com/office/powerpoint/2010/main" val="1063652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TW" altLang="en-US"/>
              <a:t>按一下以編輯母片標題樣式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3F5210EC-500F-49B5-BFA1-FDA86A6C4B96}" type="datetime1">
              <a:rPr lang="zh-TW" altLang="en-US" smtClean="0"/>
              <a:t>2022/3/28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lvl1pPr>
              <a:defRPr sz="1800"/>
            </a:lvl1pPr>
          </a:lstStyle>
          <a:p>
            <a:fld id="{FB360B71-4E68-4442-B60A-3C093988BE4E}" type="slidenum">
              <a:rPr lang="zh-TW" altLang="en-US" smtClean="0"/>
              <a:pPr/>
              <a:t>‹#›</a:t>
            </a:fld>
            <a:endParaRPr lang="zh-TW" alt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7079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TW" altLang="en-US"/>
              <a:t>按一下以編輯母片標題樣式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79F35619-2D74-46F2-B300-3E8FD6AA51B3}" type="datetime1">
              <a:rPr lang="zh-TW" altLang="en-US" smtClean="0"/>
              <a:t>2022/3/28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B360B71-4E68-4442-B60A-3C093988BE4E}" type="slidenum">
              <a:rPr lang="zh-TW" altLang="en-US" smtClean="0"/>
              <a:t>‹#›</a:t>
            </a:fld>
            <a:endParaRPr lang="zh-TW" altLang="en-US"/>
          </a:p>
        </p:txBody>
      </p:sp>
    </p:spTree>
    <p:extLst>
      <p:ext uri="{BB962C8B-B14F-4D97-AF65-F5344CB8AC3E}">
        <p14:creationId xmlns:p14="http://schemas.microsoft.com/office/powerpoint/2010/main" val="94335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CEDD8E26-288F-4AA6-8235-9BA100609FD1}" type="datetime1">
              <a:rPr lang="zh-TW" altLang="en-US" smtClean="0"/>
              <a:t>2022/3/28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B360B71-4E68-4442-B60A-3C093988BE4E}" type="slidenum">
              <a:rPr lang="zh-TW" altLang="en-US" smtClean="0"/>
              <a:t>‹#›</a:t>
            </a:fld>
            <a:endParaRPr lang="zh-TW" altLang="en-US"/>
          </a:p>
        </p:txBody>
      </p:sp>
    </p:spTree>
    <p:extLst>
      <p:ext uri="{BB962C8B-B14F-4D97-AF65-F5344CB8AC3E}">
        <p14:creationId xmlns:p14="http://schemas.microsoft.com/office/powerpoint/2010/main" val="2020962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D6453B37-8DFE-41D2-88B2-379A2A0B5479}"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1549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TW" altLang="en-US"/>
              <a:t>按一下以編輯母片標題樣式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9C41000D-D3CF-4EC5-B313-9A40D62F5580}"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5250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468E9E09-98C3-4821-BD48-53A476C8E10F}"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spTree>
    <p:extLst>
      <p:ext uri="{BB962C8B-B14F-4D97-AF65-F5344CB8AC3E}">
        <p14:creationId xmlns:p14="http://schemas.microsoft.com/office/powerpoint/2010/main" val="269835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TW" altLang="en-US"/>
              <a:t>按一下以編輯母片標題樣式</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543DDB1-40F5-4ABF-B086-7136B33AB2A2}"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1691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TW" altLang="en-US"/>
              <a:t>按一下以編輯母片標題樣式</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158AFCF2-7E6F-4F46-814B-89F120DA9096}"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5757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4869B7-7BAE-4D2C-9136-52AB64E8B544}"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5869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3B18BEF-EFF3-44EB-B7D7-A8B966704D6C}" type="datetime1">
              <a:rPr lang="zh-TW" altLang="en-US" smtClean="0"/>
              <a:t>2022/3/28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B360B71-4E68-4442-B60A-3C093988BE4E}" type="slidenum">
              <a:rPr lang="zh-TW" altLang="en-US" smtClean="0"/>
              <a:t>‹#›</a:t>
            </a:fld>
            <a:endParaRPr lang="zh-TW" alt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7253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EDC325C-E868-473E-96D3-F9D1FC16FE4E}" type="datetime1">
              <a:rPr lang="zh-TW" altLang="en-US" smtClean="0"/>
              <a:t>2022/3/28</a:t>
            </a:fld>
            <a:endParaRPr lang="zh-TW" alt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zh-TW" alt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800" b="0" i="0">
                <a:solidFill>
                  <a:srgbClr val="002060"/>
                </a:solidFill>
                <a:effectLst/>
                <a:latin typeface="+mn-lt"/>
              </a:defRPr>
            </a:lvl1pPr>
          </a:lstStyle>
          <a:p>
            <a:fld id="{FB360B71-4E68-4442-B60A-3C093988BE4E}" type="slidenum">
              <a:rPr lang="zh-TW" altLang="en-US" smtClean="0"/>
              <a:pPr/>
              <a:t>‹#›</a:t>
            </a:fld>
            <a:endParaRPr lang="zh-TW" altLang="en-US" dirty="0"/>
          </a:p>
        </p:txBody>
      </p:sp>
    </p:spTree>
    <p:extLst>
      <p:ext uri="{BB962C8B-B14F-4D97-AF65-F5344CB8AC3E}">
        <p14:creationId xmlns:p14="http://schemas.microsoft.com/office/powerpoint/2010/main" val="19321530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diagramData" Target="../diagrams/data1.xml"/><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jpg"/><Relationship Id="rId11" Type="http://schemas.microsoft.com/office/2007/relationships/diagramDrawing" Target="../diagrams/drawing1.xml"/><Relationship Id="rId5" Type="http://schemas.openxmlformats.org/officeDocument/2006/relationships/image" Target="../media/image9.jpeg"/><Relationship Id="rId10" Type="http://schemas.openxmlformats.org/officeDocument/2006/relationships/diagramColors" Target="../diagrams/colors1.xml"/><Relationship Id="rId4" Type="http://schemas.openxmlformats.org/officeDocument/2006/relationships/image" Target="../media/image8.png"/><Relationship Id="rId9"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83D139-BBFF-4BC5-9F66-3CF3C1B84D5C}"/>
              </a:ext>
            </a:extLst>
          </p:cNvPr>
          <p:cNvSpPr>
            <a:spLocks noGrp="1"/>
          </p:cNvSpPr>
          <p:nvPr>
            <p:ph type="ctrTitle"/>
          </p:nvPr>
        </p:nvSpPr>
        <p:spPr/>
        <p:txBody>
          <a:bodyPr/>
          <a:lstStyle/>
          <a:p>
            <a:r>
              <a:rPr lang="en-US" altLang="zh-TW" dirty="0"/>
              <a:t>DRIVING FEATURE EXTRACTION</a:t>
            </a:r>
            <a:endParaRPr lang="zh-TW" altLang="en-US" dirty="0"/>
          </a:p>
        </p:txBody>
      </p:sp>
      <p:sp>
        <p:nvSpPr>
          <p:cNvPr id="3" name="副標題 2">
            <a:extLst>
              <a:ext uri="{FF2B5EF4-FFF2-40B4-BE49-F238E27FC236}">
                <a16:creationId xmlns:a16="http://schemas.microsoft.com/office/drawing/2014/main" id="{AC69CC7E-1398-40E3-801C-F86706DB1257}"/>
              </a:ext>
            </a:extLst>
          </p:cNvPr>
          <p:cNvSpPr>
            <a:spLocks noGrp="1"/>
          </p:cNvSpPr>
          <p:nvPr>
            <p:ph type="subTitle" idx="1"/>
          </p:nvPr>
        </p:nvSpPr>
        <p:spPr/>
        <p:txBody>
          <a:bodyPr/>
          <a:lstStyle/>
          <a:p>
            <a:endParaRPr lang="zh-TW" altLang="en-US" dirty="0"/>
          </a:p>
        </p:txBody>
      </p:sp>
    </p:spTree>
    <p:extLst>
      <p:ext uri="{BB962C8B-B14F-4D97-AF65-F5344CB8AC3E}">
        <p14:creationId xmlns:p14="http://schemas.microsoft.com/office/powerpoint/2010/main" val="8540195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5" name="TextBox 14"/>
          <p:cNvSpPr txBox="1"/>
          <p:nvPr/>
        </p:nvSpPr>
        <p:spPr>
          <a:xfrm>
            <a:off x="4366141" y="361542"/>
            <a:ext cx="38481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Data Science Flow</a:t>
            </a:r>
          </a:p>
        </p:txBody>
      </p:sp>
      <p:sp>
        <p:nvSpPr>
          <p:cNvPr id="16" name="TextBox 15"/>
          <p:cNvSpPr txBox="1"/>
          <p:nvPr/>
        </p:nvSpPr>
        <p:spPr>
          <a:xfrm>
            <a:off x="4366141" y="789639"/>
            <a:ext cx="3848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85000"/>
                    <a:lumOff val="15000"/>
                  </a:prstClr>
                </a:solidFill>
                <a:effectLst/>
                <a:uLnTx/>
                <a:uFillTx/>
                <a:latin typeface="Lato Black" panose="020F0A02020204030203" pitchFamily="34" charset="0"/>
                <a:ea typeface="+mn-ea"/>
                <a:cs typeface="Lato Black" panose="020F0A02020204030203" pitchFamily="34" charset="0"/>
              </a:rPr>
              <a:t>Let`s start!</a:t>
            </a:r>
          </a:p>
        </p:txBody>
      </p:sp>
      <p:sp>
        <p:nvSpPr>
          <p:cNvPr id="22" name="Rectangle 21"/>
          <p:cNvSpPr/>
          <p:nvPr/>
        </p:nvSpPr>
        <p:spPr>
          <a:xfrm>
            <a:off x="5987217" y="1205547"/>
            <a:ext cx="646331" cy="45719"/>
          </a:xfrm>
          <a:prstGeom prst="rect">
            <a:avLst/>
          </a:prstGeom>
          <a:solidFill>
            <a:srgbClr val="008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p:cNvCxnSpPr>
            <a:stCxn id="22" idx="2"/>
          </p:cNvCxnSpPr>
          <p:nvPr/>
        </p:nvCxnSpPr>
        <p:spPr>
          <a:xfrm flipH="1">
            <a:off x="6310381" y="1251264"/>
            <a:ext cx="3" cy="420624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5572471" y="1599080"/>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Teardrop 8"/>
          <p:cNvSpPr/>
          <p:nvPr/>
        </p:nvSpPr>
        <p:spPr>
          <a:xfrm rot="2700000">
            <a:off x="4919606" y="1366720"/>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p:cNvSpPr/>
          <p:nvPr/>
        </p:nvSpPr>
        <p:spPr>
          <a:xfrm>
            <a:off x="6243999" y="1523702"/>
            <a:ext cx="150756" cy="150756"/>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Connector 10"/>
          <p:cNvCxnSpPr>
            <a:cxnSpLocks/>
          </p:cNvCxnSpPr>
          <p:nvPr/>
        </p:nvCxnSpPr>
        <p:spPr>
          <a:xfrm>
            <a:off x="6453994" y="2222044"/>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Teardrop 12"/>
          <p:cNvSpPr/>
          <p:nvPr/>
        </p:nvSpPr>
        <p:spPr>
          <a:xfrm rot="13500000">
            <a:off x="7264583" y="1993444"/>
            <a:ext cx="457200" cy="457200"/>
          </a:xfrm>
          <a:prstGeom prst="teardrop">
            <a:avLst/>
          </a:prstGeom>
          <a:noFill/>
          <a:ln w="57150">
            <a:solidFill>
              <a:srgbClr val="FF8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p:cNvSpPr/>
          <p:nvPr/>
        </p:nvSpPr>
        <p:spPr>
          <a:xfrm>
            <a:off x="6236715" y="2146666"/>
            <a:ext cx="150756" cy="150756"/>
          </a:xfrm>
          <a:prstGeom prst="ellipse">
            <a:avLst/>
          </a:prstGeom>
          <a:solidFill>
            <a:srgbClr val="FF86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Connector 16"/>
          <p:cNvCxnSpPr>
            <a:cxnSpLocks/>
          </p:cNvCxnSpPr>
          <p:nvPr/>
        </p:nvCxnSpPr>
        <p:spPr>
          <a:xfrm>
            <a:off x="5570507" y="2891160"/>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Teardrop 17"/>
          <p:cNvSpPr/>
          <p:nvPr/>
        </p:nvSpPr>
        <p:spPr>
          <a:xfrm rot="2700000">
            <a:off x="4919606" y="2666276"/>
            <a:ext cx="457200" cy="457200"/>
          </a:xfrm>
          <a:prstGeom prst="teardrop">
            <a:avLst/>
          </a:prstGeom>
          <a:noFill/>
          <a:ln w="57150">
            <a:solidFill>
              <a:srgbClr val="A1BB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p:cNvSpPr/>
          <p:nvPr/>
        </p:nvSpPr>
        <p:spPr>
          <a:xfrm>
            <a:off x="6242035" y="2815782"/>
            <a:ext cx="150756" cy="150756"/>
          </a:xfrm>
          <a:prstGeom prst="ellipse">
            <a:avLst/>
          </a:prstGeom>
          <a:solidFill>
            <a:srgbClr val="A1BB2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Connector 19"/>
          <p:cNvCxnSpPr>
            <a:cxnSpLocks/>
          </p:cNvCxnSpPr>
          <p:nvPr/>
        </p:nvCxnSpPr>
        <p:spPr>
          <a:xfrm>
            <a:off x="6453994" y="3534417"/>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1" name="Teardrop 20"/>
          <p:cNvSpPr/>
          <p:nvPr/>
        </p:nvSpPr>
        <p:spPr>
          <a:xfrm rot="13500000">
            <a:off x="7264583" y="3300704"/>
            <a:ext cx="457200" cy="457200"/>
          </a:xfrm>
          <a:prstGeom prst="teardrop">
            <a:avLst/>
          </a:prstGeom>
          <a:noFill/>
          <a:ln w="57150">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p:cNvSpPr/>
          <p:nvPr/>
        </p:nvSpPr>
        <p:spPr>
          <a:xfrm>
            <a:off x="6246239" y="3459040"/>
            <a:ext cx="150756" cy="150756"/>
          </a:xfrm>
          <a:prstGeom prst="ellipse">
            <a:avLst/>
          </a:prstGeom>
          <a:solidFill>
            <a:srgbClr val="01264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6432646" y="1205099"/>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rPr>
              <a:t>1</a:t>
            </a:r>
          </a:p>
        </p:txBody>
      </p:sp>
      <p:sp>
        <p:nvSpPr>
          <p:cNvPr id="26" name="TextBox 25"/>
          <p:cNvSpPr txBox="1"/>
          <p:nvPr/>
        </p:nvSpPr>
        <p:spPr>
          <a:xfrm>
            <a:off x="5746289" y="1794242"/>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rPr>
              <a:t>2</a:t>
            </a:r>
          </a:p>
        </p:txBody>
      </p:sp>
      <p:sp>
        <p:nvSpPr>
          <p:cNvPr id="27" name="TextBox 26"/>
          <p:cNvSpPr txBox="1"/>
          <p:nvPr/>
        </p:nvSpPr>
        <p:spPr>
          <a:xfrm>
            <a:off x="6432645" y="2510155"/>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rPr>
              <a:t>3</a:t>
            </a:r>
          </a:p>
        </p:txBody>
      </p:sp>
      <p:sp>
        <p:nvSpPr>
          <p:cNvPr id="28" name="TextBox 27"/>
          <p:cNvSpPr txBox="1"/>
          <p:nvPr/>
        </p:nvSpPr>
        <p:spPr>
          <a:xfrm>
            <a:off x="5750125" y="3144583"/>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rPr>
              <a:t>4</a:t>
            </a:r>
          </a:p>
        </p:txBody>
      </p:sp>
      <p:sp>
        <p:nvSpPr>
          <p:cNvPr id="29" name="TextBox 28"/>
          <p:cNvSpPr txBox="1"/>
          <p:nvPr/>
        </p:nvSpPr>
        <p:spPr>
          <a:xfrm>
            <a:off x="6797420" y="1351771"/>
            <a:ext cx="38481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Data Collection</a:t>
            </a:r>
          </a:p>
        </p:txBody>
      </p:sp>
      <p:sp>
        <p:nvSpPr>
          <p:cNvPr id="31" name="TextBox 30"/>
          <p:cNvSpPr txBox="1"/>
          <p:nvPr/>
        </p:nvSpPr>
        <p:spPr>
          <a:xfrm>
            <a:off x="3817521" y="1887788"/>
            <a:ext cx="2005639"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Data Preprocessing</a:t>
            </a:r>
          </a:p>
        </p:txBody>
      </p:sp>
      <p:sp>
        <p:nvSpPr>
          <p:cNvPr id="33" name="TextBox 32"/>
          <p:cNvSpPr txBox="1"/>
          <p:nvPr/>
        </p:nvSpPr>
        <p:spPr>
          <a:xfrm>
            <a:off x="6791143" y="2629661"/>
            <a:ext cx="384810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Feature Extraction</a:t>
            </a:r>
          </a:p>
        </p:txBody>
      </p:sp>
      <p:sp>
        <p:nvSpPr>
          <p:cNvPr id="35" name="TextBox 34"/>
          <p:cNvSpPr txBox="1"/>
          <p:nvPr/>
        </p:nvSpPr>
        <p:spPr>
          <a:xfrm>
            <a:off x="3813687" y="3240465"/>
            <a:ext cx="2005639"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Transformation</a:t>
            </a:r>
          </a:p>
        </p:txBody>
      </p:sp>
      <p:cxnSp>
        <p:nvCxnSpPr>
          <p:cNvPr id="52" name="Straight Connector 51"/>
          <p:cNvCxnSpPr>
            <a:cxnSpLocks/>
          </p:cNvCxnSpPr>
          <p:nvPr/>
        </p:nvCxnSpPr>
        <p:spPr>
          <a:xfrm>
            <a:off x="5563476" y="4173609"/>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3" name="Teardrop 52"/>
          <p:cNvSpPr/>
          <p:nvPr/>
        </p:nvSpPr>
        <p:spPr>
          <a:xfrm rot="2700000">
            <a:off x="4916330" y="3945008"/>
            <a:ext cx="457200" cy="457200"/>
          </a:xfrm>
          <a:prstGeom prst="teardrop">
            <a:avLst/>
          </a:prstGeom>
          <a:noFill/>
          <a:ln w="57150">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Oval 53"/>
          <p:cNvSpPr/>
          <p:nvPr/>
        </p:nvSpPr>
        <p:spPr>
          <a:xfrm>
            <a:off x="6244943" y="4098232"/>
            <a:ext cx="150756" cy="150756"/>
          </a:xfrm>
          <a:prstGeom prst="ellipse">
            <a:avLst/>
          </a:prstGeom>
          <a:solidFill>
            <a:srgbClr val="3DBF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5" name="Straight Connector 54"/>
          <p:cNvCxnSpPr>
            <a:cxnSpLocks/>
          </p:cNvCxnSpPr>
          <p:nvPr/>
        </p:nvCxnSpPr>
        <p:spPr>
          <a:xfrm>
            <a:off x="6449788" y="4834058"/>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6" name="Teardrop 55"/>
          <p:cNvSpPr/>
          <p:nvPr/>
        </p:nvSpPr>
        <p:spPr>
          <a:xfrm rot="13500000">
            <a:off x="7260379" y="4612640"/>
            <a:ext cx="457200" cy="457200"/>
          </a:xfrm>
          <a:prstGeom prst="teardrop">
            <a:avLst/>
          </a:prstGeom>
          <a:noFill/>
          <a:ln w="57150">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 name="Oval 56"/>
          <p:cNvSpPr/>
          <p:nvPr/>
        </p:nvSpPr>
        <p:spPr>
          <a:xfrm>
            <a:off x="6242035" y="4758680"/>
            <a:ext cx="150756" cy="150756"/>
          </a:xfrm>
          <a:prstGeom prst="ellipse">
            <a:avLst/>
          </a:prstGeom>
          <a:solidFill>
            <a:srgbClr val="D43E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Teardrop 57"/>
          <p:cNvSpPr/>
          <p:nvPr/>
        </p:nvSpPr>
        <p:spPr>
          <a:xfrm rot="18900000">
            <a:off x="6079286" y="5571369"/>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 name="TextBox 58"/>
          <p:cNvSpPr txBox="1"/>
          <p:nvPr/>
        </p:nvSpPr>
        <p:spPr>
          <a:xfrm>
            <a:off x="6427827" y="3796642"/>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rPr>
              <a:t>5</a:t>
            </a:r>
          </a:p>
        </p:txBody>
      </p:sp>
      <p:sp>
        <p:nvSpPr>
          <p:cNvPr id="60" name="TextBox 59"/>
          <p:cNvSpPr txBox="1"/>
          <p:nvPr/>
        </p:nvSpPr>
        <p:spPr>
          <a:xfrm>
            <a:off x="5749737" y="4436901"/>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rPr>
              <a:t>6</a:t>
            </a:r>
          </a:p>
        </p:txBody>
      </p:sp>
      <p:sp>
        <p:nvSpPr>
          <p:cNvPr id="62" name="TextBox 61"/>
          <p:cNvSpPr txBox="1"/>
          <p:nvPr/>
        </p:nvSpPr>
        <p:spPr>
          <a:xfrm>
            <a:off x="3813687" y="4524852"/>
            <a:ext cx="1936049"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Experiment Design</a:t>
            </a:r>
          </a:p>
        </p:txBody>
      </p:sp>
      <p:sp>
        <p:nvSpPr>
          <p:cNvPr id="63" name="TextBox 62"/>
          <p:cNvSpPr txBox="1"/>
          <p:nvPr/>
        </p:nvSpPr>
        <p:spPr>
          <a:xfrm>
            <a:off x="3813687" y="4789652"/>
            <a:ext cx="1936049"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65000"/>
                  </a:prstClr>
                </a:solidFill>
                <a:effectLst/>
                <a:uLnTx/>
                <a:uFillTx/>
                <a:latin typeface="Lato Light" panose="020F0402020204030203" pitchFamily="34" charset="0"/>
                <a:ea typeface="+mn-ea"/>
                <a:cs typeface="Lato Light" panose="020F0402020204030203" pitchFamily="34" charset="0"/>
              </a:rPr>
              <a:t>Cross Validation</a:t>
            </a:r>
          </a:p>
        </p:txBody>
      </p:sp>
      <p:sp>
        <p:nvSpPr>
          <p:cNvPr id="64" name="TextBox 63"/>
          <p:cNvSpPr txBox="1"/>
          <p:nvPr/>
        </p:nvSpPr>
        <p:spPr>
          <a:xfrm>
            <a:off x="4366141" y="6083168"/>
            <a:ext cx="38481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Result Analysis</a:t>
            </a:r>
            <a:endParaRPr kumimoji="0" lang="en-US" sz="14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endParaRPr>
          </a:p>
        </p:txBody>
      </p:sp>
      <p:sp>
        <p:nvSpPr>
          <p:cNvPr id="66" name="TextBox 65"/>
          <p:cNvSpPr txBox="1"/>
          <p:nvPr/>
        </p:nvSpPr>
        <p:spPr>
          <a:xfrm>
            <a:off x="6791144" y="3909898"/>
            <a:ext cx="459835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Lato" panose="020F0502020204030203" pitchFamily="34" charset="0"/>
                <a:ea typeface="+mn-ea"/>
                <a:cs typeface="Lato" panose="020F0502020204030203" pitchFamily="34" charset="0"/>
              </a:rPr>
              <a:t>Feature Selection</a:t>
            </a:r>
          </a:p>
        </p:txBody>
      </p:sp>
      <p:sp>
        <p:nvSpPr>
          <p:cNvPr id="47" name="Oval 46"/>
          <p:cNvSpPr/>
          <p:nvPr/>
        </p:nvSpPr>
        <p:spPr>
          <a:xfrm>
            <a:off x="5012238" y="1457816"/>
            <a:ext cx="274320" cy="274320"/>
          </a:xfrm>
          <a:prstGeom prst="ellipse">
            <a:avLst/>
          </a:prstGeom>
          <a:solidFill>
            <a:srgbClr val="2A9BB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AFD6C168-B869-4797-B359-60A3F7FC80E8}"/>
              </a:ext>
            </a:extLst>
          </p:cNvPr>
          <p:cNvGrpSpPr/>
          <p:nvPr/>
        </p:nvGrpSpPr>
        <p:grpSpPr>
          <a:xfrm>
            <a:off x="8057605" y="2482667"/>
            <a:ext cx="4290434" cy="570768"/>
            <a:chOff x="4403634" y="3254597"/>
            <a:chExt cx="3217825" cy="428076"/>
          </a:xfrm>
        </p:grpSpPr>
        <p:sp>
          <p:nvSpPr>
            <p:cNvPr id="49" name="Google Shape;72;p2">
              <a:extLst>
                <a:ext uri="{FF2B5EF4-FFF2-40B4-BE49-F238E27FC236}">
                  <a16:creationId xmlns:a16="http://schemas.microsoft.com/office/drawing/2014/main" id="{AD0025FE-6247-490D-BCDA-0AE6A8DAA63A}"/>
                </a:ext>
              </a:extLst>
            </p:cNvPr>
            <p:cNvSpPr txBox="1"/>
            <p:nvPr/>
          </p:nvSpPr>
          <p:spPr>
            <a:xfrm>
              <a:off x="4403634" y="3254597"/>
              <a:ext cx="3217825" cy="4012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GB" sz="2400" b="0" i="0" u="none" strike="noStrike" kern="1200" cap="none" spc="0" normalizeH="0" baseline="0" noProof="0" dirty="0">
                  <a:ln>
                    <a:noFill/>
                  </a:ln>
                  <a:solidFill>
                    <a:srgbClr val="434343"/>
                  </a:solidFill>
                  <a:effectLst/>
                  <a:uLnTx/>
                  <a:uFillTx/>
                  <a:latin typeface="Arial"/>
                  <a:cs typeface="Arial"/>
                  <a:sym typeface="Arial"/>
                </a:rPr>
                <a:t>This project</a:t>
              </a:r>
              <a:endParaRPr kumimoji="0" sz="2400" b="0" i="0" u="none" strike="noStrike" kern="1200" cap="none" spc="0" normalizeH="0" baseline="0" noProof="0" dirty="0">
                <a:ln>
                  <a:noFill/>
                </a:ln>
                <a:solidFill>
                  <a:srgbClr val="434343"/>
                </a:solidFill>
                <a:effectLst/>
                <a:uLnTx/>
                <a:uFillTx/>
                <a:latin typeface="Arial"/>
                <a:cs typeface="Arial"/>
                <a:sym typeface="Arial"/>
              </a:endParaRPr>
            </a:p>
          </p:txBody>
        </p:sp>
        <p:sp>
          <p:nvSpPr>
            <p:cNvPr id="50" name="Google Shape;73;p2">
              <a:extLst>
                <a:ext uri="{FF2B5EF4-FFF2-40B4-BE49-F238E27FC236}">
                  <a16:creationId xmlns:a16="http://schemas.microsoft.com/office/drawing/2014/main" id="{203509F0-D03A-412D-8874-37B3CD6C7C6D}"/>
                </a:ext>
              </a:extLst>
            </p:cNvPr>
            <p:cNvSpPr/>
            <p:nvPr/>
          </p:nvSpPr>
          <p:spPr>
            <a:xfrm rot="16200000" flipV="1">
              <a:off x="4780507" y="3250807"/>
              <a:ext cx="378798" cy="484934"/>
            </a:xfrm>
            <a:prstGeom prst="downArrow">
              <a:avLst>
                <a:gd name="adj1" fmla="val 50000"/>
                <a:gd name="adj2" fmla="val 50000"/>
              </a:avLst>
            </a:prstGeom>
            <a:solidFill>
              <a:srgbClr val="F9CB9C"/>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67" b="0" i="0" u="none" strike="noStrike" kern="1200" cap="none" spc="0" normalizeH="0" baseline="0" noProof="0">
                <a:ln>
                  <a:noFill/>
                </a:ln>
                <a:solidFill>
                  <a:srgbClr val="000000"/>
                </a:solidFill>
                <a:effectLst/>
                <a:uLnTx/>
                <a:uFillTx/>
                <a:latin typeface="Arial"/>
                <a:cs typeface="Arial"/>
                <a:sym typeface="Arial"/>
              </a:endParaRPr>
            </a:p>
          </p:txBody>
        </p:sp>
      </p:grpSp>
      <p:sp>
        <p:nvSpPr>
          <p:cNvPr id="75" name="Google Shape;57;p1">
            <a:extLst>
              <a:ext uri="{FF2B5EF4-FFF2-40B4-BE49-F238E27FC236}">
                <a16:creationId xmlns:a16="http://schemas.microsoft.com/office/drawing/2014/main" id="{BDDCC49C-90C1-41F5-A5C1-996ADCC03A1A}"/>
              </a:ext>
            </a:extLst>
          </p:cNvPr>
          <p:cNvSpPr txBox="1">
            <a:spLocks noGrp="1"/>
          </p:cNvSpPr>
          <p:nvPr>
            <p:ph type="sldNum" sz="quarter" idx="12"/>
          </p:nvPr>
        </p:nvSpPr>
        <p:spPr>
          <a:xfrm>
            <a:off x="10353901" y="5969000"/>
            <a:ext cx="542697" cy="279400"/>
          </a:xfrm>
          <a:prstGeom prst="rect">
            <a:avLst/>
          </a:prstGeom>
          <a:noFill/>
          <a:ln>
            <a:noFill/>
          </a:ln>
        </p:spPr>
        <p:txBody>
          <a:bodyPr spcFirstLastPara="1" vert="horz" wrap="square" lIns="121900" tIns="121900" rIns="121900" bIns="121900" rtlCol="0" anchor="ctr" anchorCtr="0">
            <a:noAutofit/>
          </a:bodyPr>
          <a:lstStyle/>
          <a:p>
            <a:pPr marL="0" marR="0" lvl="0" indent="0" algn="r" defTabSz="9144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GB" b="0" i="0" u="none" strike="noStrike" kern="1200" cap="none" spc="0" normalizeH="0" baseline="0" noProof="0">
                <a:ln>
                  <a:noFill/>
                </a:ln>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Pts val="1000"/>
                <a:buFontTx/>
                <a:buNone/>
                <a:tabLst/>
                <a:defRPr/>
              </a:pPr>
              <a:t>2</a:t>
            </a:fld>
            <a:endParaRPr kumimoji="0" b="0" i="0" u="none" strike="noStrike" kern="1200" cap="none" spc="0" normalizeH="0" baseline="0" noProof="0" dirty="0">
              <a:ln>
                <a:noFill/>
              </a:ln>
              <a:effectLst/>
              <a:uLnTx/>
              <a:uFillTx/>
              <a:latin typeface="Calibri" panose="020F0502020204030204"/>
              <a:ea typeface="+mn-ea"/>
              <a:cs typeface="+mn-cs"/>
            </a:endParaRPr>
          </a:p>
        </p:txBody>
      </p:sp>
      <p:sp>
        <p:nvSpPr>
          <p:cNvPr id="44" name="TextBox 43"/>
          <p:cNvSpPr txBox="1"/>
          <p:nvPr/>
        </p:nvSpPr>
        <p:spPr>
          <a:xfrm>
            <a:off x="6612578" y="5415248"/>
            <a:ext cx="49611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400" dirty="0">
                <a:solidFill>
                  <a:prstClr val="white">
                    <a:lumMod val="85000"/>
                  </a:prstClr>
                </a:solidFill>
                <a:latin typeface="Lato Light" panose="020F0402020204030203" pitchFamily="34" charset="0"/>
                <a:cs typeface="Lato Light" panose="020F0402020204030203" pitchFamily="34" charset="0"/>
              </a:rPr>
              <a:t>7</a:t>
            </a:r>
            <a:endParaRPr kumimoji="0" lang="en-US" sz="4400" b="0" i="0" u="none" strike="noStrike" kern="1200" cap="none" spc="0" normalizeH="0" baseline="0" noProof="0" dirty="0">
              <a:ln>
                <a:noFill/>
              </a:ln>
              <a:solidFill>
                <a:prstClr val="white">
                  <a:lumMod val="85000"/>
                </a:prstClr>
              </a:solidFill>
              <a:effectLst/>
              <a:uLnTx/>
              <a:uFillTx/>
              <a:latin typeface="Lato Light" panose="020F0402020204030203" pitchFamily="34" charset="0"/>
              <a:ea typeface="+mn-ea"/>
              <a:cs typeface="Lato Light" panose="020F0402020204030203" pitchFamily="34" charset="0"/>
            </a:endParaRPr>
          </a:p>
        </p:txBody>
      </p:sp>
    </p:spTree>
    <p:extLst>
      <p:ext uri="{BB962C8B-B14F-4D97-AF65-F5344CB8AC3E}">
        <p14:creationId xmlns:p14="http://schemas.microsoft.com/office/powerpoint/2010/main" val="24968221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50"/>
                                        <p:tgtEl>
                                          <p:spTgt spid="29"/>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250"/>
                                        <p:tgtEl>
                                          <p:spTgt spid="31"/>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250"/>
                                        <p:tgtEl>
                                          <p:spTgt spid="33"/>
                                        </p:tgtEl>
                                      </p:cBhvr>
                                    </p:animEffect>
                                  </p:childTnLst>
                                </p:cTn>
                              </p:par>
                              <p:par>
                                <p:cTn id="14" presetID="10" presetClass="entr" presetSubtype="0" fill="hold" grpId="0" nodeType="withEffect">
                                  <p:stCondLst>
                                    <p:cond delay="125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250"/>
                                        <p:tgtEl>
                                          <p:spTgt spid="66"/>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250"/>
                                        <p:tgtEl>
                                          <p:spTgt spid="35"/>
                                        </p:tgtEl>
                                      </p:cBhvr>
                                    </p:animEffect>
                                  </p:childTnLst>
                                </p:cTn>
                              </p:par>
                              <p:par>
                                <p:cTn id="20" presetID="10" presetClass="entr" presetSubtype="0" fill="hold" grpId="0" nodeType="withEffect">
                                  <p:stCondLst>
                                    <p:cond delay="300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grpId="0" nodeType="withEffect">
                                  <p:stCondLst>
                                    <p:cond delay="1500"/>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250"/>
                                        <p:tgtEl>
                                          <p:spTgt spid="62"/>
                                        </p:tgtEl>
                                      </p:cBhvr>
                                    </p:animEffect>
                                  </p:childTnLst>
                                </p:cTn>
                              </p:par>
                              <p:par>
                                <p:cTn id="26" presetID="10" presetClass="entr" presetSubtype="0" fill="hold" nodeType="withEffect">
                                  <p:stCondLst>
                                    <p:cond delay="175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3" grpId="0"/>
      <p:bldP spid="35" grpId="0"/>
      <p:bldP spid="62" grpId="0"/>
      <p:bldP spid="63" grpId="0"/>
      <p:bldP spid="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DB7FC8-411A-4AE3-8AF7-19799D16C8D0}"/>
              </a:ext>
            </a:extLst>
          </p:cNvPr>
          <p:cNvSpPr>
            <a:spLocks noGrp="1"/>
          </p:cNvSpPr>
          <p:nvPr>
            <p:ph type="title"/>
          </p:nvPr>
        </p:nvSpPr>
        <p:spPr/>
        <p:txBody>
          <a:bodyPr/>
          <a:lstStyle/>
          <a:p>
            <a:r>
              <a:rPr lang="en-US" altLang="zh-TW" dirty="0"/>
              <a:t>topic</a:t>
            </a:r>
            <a:endParaRPr lang="zh-TW" altLang="en-US" dirty="0"/>
          </a:p>
        </p:txBody>
      </p:sp>
      <p:sp>
        <p:nvSpPr>
          <p:cNvPr id="3" name="內容版面配置區 2">
            <a:extLst>
              <a:ext uri="{FF2B5EF4-FFF2-40B4-BE49-F238E27FC236}">
                <a16:creationId xmlns:a16="http://schemas.microsoft.com/office/drawing/2014/main" id="{C7360B0D-742D-44D4-BA99-235F61C3CBDD}"/>
              </a:ext>
            </a:extLst>
          </p:cNvPr>
          <p:cNvSpPr>
            <a:spLocks noGrp="1"/>
          </p:cNvSpPr>
          <p:nvPr>
            <p:ph idx="1"/>
          </p:nvPr>
        </p:nvSpPr>
        <p:spPr/>
        <p:txBody>
          <a:bodyPr/>
          <a:lstStyle/>
          <a:p>
            <a:r>
              <a:rPr lang="en-US" altLang="zh-TW" dirty="0"/>
              <a:t>What you can learn							p.4</a:t>
            </a:r>
          </a:p>
          <a:p>
            <a:r>
              <a:rPr lang="en-US" altLang="zh-TW" dirty="0"/>
              <a:t>Problem definition							p.6</a:t>
            </a:r>
          </a:p>
          <a:p>
            <a:r>
              <a:rPr lang="en-US" altLang="zh-TW" dirty="0"/>
              <a:t>ICA											p.10</a:t>
            </a:r>
          </a:p>
          <a:p>
            <a:r>
              <a:rPr lang="en-US" altLang="zh-TW" dirty="0"/>
              <a:t>Experiment									p.14</a:t>
            </a:r>
          </a:p>
          <a:p>
            <a:r>
              <a:rPr lang="en-US" altLang="zh-TW" dirty="0"/>
              <a:t>Conclusion									p.19</a:t>
            </a:r>
          </a:p>
          <a:p>
            <a:endParaRPr lang="zh-TW" altLang="en-US" dirty="0"/>
          </a:p>
        </p:txBody>
      </p:sp>
      <p:sp>
        <p:nvSpPr>
          <p:cNvPr id="4" name="投影片編號版面配置區 3">
            <a:extLst>
              <a:ext uri="{FF2B5EF4-FFF2-40B4-BE49-F238E27FC236}">
                <a16:creationId xmlns:a16="http://schemas.microsoft.com/office/drawing/2014/main" id="{7017C36F-F51D-448C-BB7E-CF39F6CD3970}"/>
              </a:ext>
            </a:extLst>
          </p:cNvPr>
          <p:cNvSpPr>
            <a:spLocks noGrp="1"/>
          </p:cNvSpPr>
          <p:nvPr>
            <p:ph type="sldNum" sz="quarter" idx="12"/>
          </p:nvPr>
        </p:nvSpPr>
        <p:spPr/>
        <p:txBody>
          <a:bodyPr/>
          <a:lstStyle/>
          <a:p>
            <a:fld id="{FB360B71-4E68-4442-B60A-3C093988BE4E}" type="slidenum">
              <a:rPr lang="zh-TW" altLang="en-US" smtClean="0"/>
              <a:t>3</a:t>
            </a:fld>
            <a:endParaRPr lang="zh-TW" altLang="en-US" dirty="0"/>
          </a:p>
        </p:txBody>
      </p:sp>
    </p:spTree>
    <p:extLst>
      <p:ext uri="{BB962C8B-B14F-4D97-AF65-F5344CB8AC3E}">
        <p14:creationId xmlns:p14="http://schemas.microsoft.com/office/powerpoint/2010/main" val="27721373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49E2CDFE-D68E-4C5D-8C34-138A40656AF3}"/>
              </a:ext>
            </a:extLst>
          </p:cNvPr>
          <p:cNvSpPr>
            <a:spLocks noGrp="1"/>
          </p:cNvSpPr>
          <p:nvPr>
            <p:ph type="title"/>
          </p:nvPr>
        </p:nvSpPr>
        <p:spPr/>
        <p:txBody>
          <a:bodyPr/>
          <a:lstStyle/>
          <a:p>
            <a:r>
              <a:rPr lang="en-US" altLang="zh-TW" dirty="0"/>
              <a:t>What you can learn</a:t>
            </a:r>
            <a:endParaRPr lang="zh-TW" altLang="en-US" dirty="0"/>
          </a:p>
        </p:txBody>
      </p:sp>
      <p:sp>
        <p:nvSpPr>
          <p:cNvPr id="5" name="文字版面配置區 4">
            <a:extLst>
              <a:ext uri="{FF2B5EF4-FFF2-40B4-BE49-F238E27FC236}">
                <a16:creationId xmlns:a16="http://schemas.microsoft.com/office/drawing/2014/main" id="{555FAADA-AB86-4E2F-A337-6D4EE595F961}"/>
              </a:ext>
            </a:extLst>
          </p:cNvPr>
          <p:cNvSpPr>
            <a:spLocks noGrp="1"/>
          </p:cNvSpPr>
          <p:nvPr>
            <p:ph type="body" idx="1"/>
          </p:nvPr>
        </p:nvSpPr>
        <p:spPr/>
        <p:txBody>
          <a:bodyPr/>
          <a:lstStyle/>
          <a:p>
            <a:endParaRPr lang="zh-TW" altLang="en-US"/>
          </a:p>
        </p:txBody>
      </p:sp>
      <p:sp>
        <p:nvSpPr>
          <p:cNvPr id="2" name="投影片編號版面配置區 1">
            <a:extLst>
              <a:ext uri="{FF2B5EF4-FFF2-40B4-BE49-F238E27FC236}">
                <a16:creationId xmlns:a16="http://schemas.microsoft.com/office/drawing/2014/main" id="{37E0E949-B639-4CCC-AE5F-0ADC75FA6B14}"/>
              </a:ext>
            </a:extLst>
          </p:cNvPr>
          <p:cNvSpPr>
            <a:spLocks noGrp="1"/>
          </p:cNvSpPr>
          <p:nvPr>
            <p:ph type="sldNum" sz="quarter" idx="12"/>
          </p:nvPr>
        </p:nvSpPr>
        <p:spPr/>
        <p:txBody>
          <a:bodyPr/>
          <a:lstStyle/>
          <a:p>
            <a:fld id="{FB360B71-4E68-4442-B60A-3C093988BE4E}" type="slidenum">
              <a:rPr lang="zh-TW" altLang="en-US" smtClean="0"/>
              <a:t>4</a:t>
            </a:fld>
            <a:endParaRPr lang="zh-TW" altLang="en-US"/>
          </a:p>
        </p:txBody>
      </p:sp>
    </p:spTree>
    <p:extLst>
      <p:ext uri="{BB962C8B-B14F-4D97-AF65-F5344CB8AC3E}">
        <p14:creationId xmlns:p14="http://schemas.microsoft.com/office/powerpoint/2010/main" val="225012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83CA7E-049E-46BC-A637-F5EB45A1B7C9}"/>
              </a:ext>
            </a:extLst>
          </p:cNvPr>
          <p:cNvSpPr>
            <a:spLocks noGrp="1"/>
          </p:cNvSpPr>
          <p:nvPr>
            <p:ph type="title"/>
          </p:nvPr>
        </p:nvSpPr>
        <p:spPr/>
        <p:txBody>
          <a:bodyPr>
            <a:normAutofit/>
          </a:bodyPr>
          <a:lstStyle/>
          <a:p>
            <a:r>
              <a:rPr lang="en-US" altLang="zh-TW" dirty="0"/>
              <a:t>What you can learn</a:t>
            </a:r>
            <a:endParaRPr lang="zh-TW" altLang="en-US" dirty="0"/>
          </a:p>
        </p:txBody>
      </p:sp>
      <p:sp>
        <p:nvSpPr>
          <p:cNvPr id="3" name="內容版面配置區 2">
            <a:extLst>
              <a:ext uri="{FF2B5EF4-FFF2-40B4-BE49-F238E27FC236}">
                <a16:creationId xmlns:a16="http://schemas.microsoft.com/office/drawing/2014/main" id="{73121F28-55A1-4FD1-9936-5BC1781CA9D3}"/>
              </a:ext>
            </a:extLst>
          </p:cNvPr>
          <p:cNvSpPr>
            <a:spLocks noGrp="1"/>
          </p:cNvSpPr>
          <p:nvPr>
            <p:ph idx="1"/>
          </p:nvPr>
        </p:nvSpPr>
        <p:spPr/>
        <p:txBody>
          <a:bodyPr/>
          <a:lstStyle/>
          <a:p>
            <a:r>
              <a:rPr lang="en-US" altLang="zh-TW" dirty="0"/>
              <a:t>1. independent component analysis : theory, intuition, suitable condition.</a:t>
            </a:r>
          </a:p>
          <a:p>
            <a:r>
              <a:rPr lang="en-US" altLang="zh-TW" dirty="0"/>
              <a:t>2. decompose signal data</a:t>
            </a:r>
            <a:endParaRPr lang="zh-TW" altLang="en-US" dirty="0"/>
          </a:p>
        </p:txBody>
      </p:sp>
      <p:sp>
        <p:nvSpPr>
          <p:cNvPr id="4" name="投影片編號版面配置區 3">
            <a:extLst>
              <a:ext uri="{FF2B5EF4-FFF2-40B4-BE49-F238E27FC236}">
                <a16:creationId xmlns:a16="http://schemas.microsoft.com/office/drawing/2014/main" id="{B3D42ECF-9273-4108-A80B-ACE3C9DCF11E}"/>
              </a:ext>
            </a:extLst>
          </p:cNvPr>
          <p:cNvSpPr>
            <a:spLocks noGrp="1"/>
          </p:cNvSpPr>
          <p:nvPr>
            <p:ph type="sldNum" sz="quarter" idx="12"/>
          </p:nvPr>
        </p:nvSpPr>
        <p:spPr/>
        <p:txBody>
          <a:bodyPr/>
          <a:lstStyle/>
          <a:p>
            <a:fld id="{FB360B71-4E68-4442-B60A-3C093988BE4E}" type="slidenum">
              <a:rPr lang="zh-TW" altLang="en-US" smtClean="0"/>
              <a:t>5</a:t>
            </a:fld>
            <a:endParaRPr lang="zh-TW" altLang="en-US" dirty="0"/>
          </a:p>
        </p:txBody>
      </p:sp>
    </p:spTree>
    <p:extLst>
      <p:ext uri="{BB962C8B-B14F-4D97-AF65-F5344CB8AC3E}">
        <p14:creationId xmlns:p14="http://schemas.microsoft.com/office/powerpoint/2010/main" val="1902437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28FC9D51-7B8C-4BFD-8FCA-B5C9A530BBAD}"/>
              </a:ext>
            </a:extLst>
          </p:cNvPr>
          <p:cNvSpPr>
            <a:spLocks noGrp="1"/>
          </p:cNvSpPr>
          <p:nvPr>
            <p:ph type="title"/>
          </p:nvPr>
        </p:nvSpPr>
        <p:spPr/>
        <p:txBody>
          <a:bodyPr/>
          <a:lstStyle/>
          <a:p>
            <a:r>
              <a:rPr lang="en-US" altLang="zh-TW" dirty="0"/>
              <a:t>Problem definition</a:t>
            </a:r>
            <a:endParaRPr lang="zh-TW" altLang="en-US" dirty="0"/>
          </a:p>
        </p:txBody>
      </p:sp>
      <p:sp>
        <p:nvSpPr>
          <p:cNvPr id="5" name="文字版面配置區 4">
            <a:extLst>
              <a:ext uri="{FF2B5EF4-FFF2-40B4-BE49-F238E27FC236}">
                <a16:creationId xmlns:a16="http://schemas.microsoft.com/office/drawing/2014/main" id="{4E26A8D9-260C-4482-97C3-ADB3B1232F7B}"/>
              </a:ext>
            </a:extLst>
          </p:cNvPr>
          <p:cNvSpPr>
            <a:spLocks noGrp="1"/>
          </p:cNvSpPr>
          <p:nvPr>
            <p:ph type="body" idx="1"/>
          </p:nvPr>
        </p:nvSpPr>
        <p:spPr/>
        <p:txBody>
          <a:bodyPr/>
          <a:lstStyle/>
          <a:p>
            <a:endParaRPr lang="zh-TW" altLang="en-US"/>
          </a:p>
        </p:txBody>
      </p:sp>
      <p:sp>
        <p:nvSpPr>
          <p:cNvPr id="2" name="投影片編號版面配置區 1">
            <a:extLst>
              <a:ext uri="{FF2B5EF4-FFF2-40B4-BE49-F238E27FC236}">
                <a16:creationId xmlns:a16="http://schemas.microsoft.com/office/drawing/2014/main" id="{B4054EE9-1A5F-48C2-BCBE-36853CDC11FE}"/>
              </a:ext>
            </a:extLst>
          </p:cNvPr>
          <p:cNvSpPr>
            <a:spLocks noGrp="1"/>
          </p:cNvSpPr>
          <p:nvPr>
            <p:ph type="sldNum" sz="quarter" idx="12"/>
          </p:nvPr>
        </p:nvSpPr>
        <p:spPr/>
        <p:txBody>
          <a:bodyPr/>
          <a:lstStyle/>
          <a:p>
            <a:fld id="{FB360B71-4E68-4442-B60A-3C093988BE4E}" type="slidenum">
              <a:rPr lang="zh-TW" altLang="en-US" smtClean="0"/>
              <a:t>6</a:t>
            </a:fld>
            <a:endParaRPr lang="zh-TW" altLang="en-US"/>
          </a:p>
        </p:txBody>
      </p:sp>
    </p:spTree>
    <p:extLst>
      <p:ext uri="{BB962C8B-B14F-4D97-AF65-F5344CB8AC3E}">
        <p14:creationId xmlns:p14="http://schemas.microsoft.com/office/powerpoint/2010/main" val="15385020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圓角 29">
            <a:extLst>
              <a:ext uri="{FF2B5EF4-FFF2-40B4-BE49-F238E27FC236}">
                <a16:creationId xmlns:a16="http://schemas.microsoft.com/office/drawing/2014/main" id="{11751139-9A67-483A-A1C5-5237FA2A72C6}"/>
              </a:ext>
            </a:extLst>
          </p:cNvPr>
          <p:cNvSpPr/>
          <p:nvPr/>
        </p:nvSpPr>
        <p:spPr>
          <a:xfrm>
            <a:off x="8751728" y="746388"/>
            <a:ext cx="2853115" cy="5610366"/>
          </a:xfrm>
          <a:prstGeom prst="roundRect">
            <a:avLst/>
          </a:prstGeom>
          <a:solidFill>
            <a:schemeClr val="accent3">
              <a:lumMod val="20000"/>
              <a:lumOff val="80000"/>
            </a:schemeClr>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矩形: 圓角 28">
            <a:extLst>
              <a:ext uri="{FF2B5EF4-FFF2-40B4-BE49-F238E27FC236}">
                <a16:creationId xmlns:a16="http://schemas.microsoft.com/office/drawing/2014/main" id="{F556B6C7-F127-4D64-A662-04050C427B37}"/>
              </a:ext>
            </a:extLst>
          </p:cNvPr>
          <p:cNvSpPr/>
          <p:nvPr/>
        </p:nvSpPr>
        <p:spPr>
          <a:xfrm>
            <a:off x="5792639" y="1899795"/>
            <a:ext cx="2871079" cy="4487092"/>
          </a:xfrm>
          <a:prstGeom prst="roundRect">
            <a:avLst/>
          </a:prstGeom>
          <a:solidFill>
            <a:schemeClr val="accent3">
              <a:lumMod val="20000"/>
              <a:lumOff val="80000"/>
            </a:schemeClr>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圓角 27">
            <a:extLst>
              <a:ext uri="{FF2B5EF4-FFF2-40B4-BE49-F238E27FC236}">
                <a16:creationId xmlns:a16="http://schemas.microsoft.com/office/drawing/2014/main" id="{C2F95359-DBFC-4C4C-A423-B6C856CB85E8}"/>
              </a:ext>
            </a:extLst>
          </p:cNvPr>
          <p:cNvSpPr/>
          <p:nvPr/>
        </p:nvSpPr>
        <p:spPr>
          <a:xfrm>
            <a:off x="683653" y="1513809"/>
            <a:ext cx="5004041" cy="4856495"/>
          </a:xfrm>
          <a:prstGeom prst="roundRect">
            <a:avLst/>
          </a:prstGeom>
          <a:solidFill>
            <a:schemeClr val="accent3">
              <a:lumMod val="20000"/>
              <a:lumOff val="80000"/>
            </a:schemeClr>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 name="標題 1">
            <a:extLst>
              <a:ext uri="{FF2B5EF4-FFF2-40B4-BE49-F238E27FC236}">
                <a16:creationId xmlns:a16="http://schemas.microsoft.com/office/drawing/2014/main" id="{7D131FD1-4CEE-430F-B3FB-7C9774BA29B1}"/>
              </a:ext>
            </a:extLst>
          </p:cNvPr>
          <p:cNvSpPr>
            <a:spLocks noGrp="1"/>
          </p:cNvSpPr>
          <p:nvPr>
            <p:ph type="title" idx="4294967295"/>
          </p:nvPr>
        </p:nvSpPr>
        <p:spPr>
          <a:xfrm>
            <a:off x="0" y="625475"/>
            <a:ext cx="9601200" cy="852488"/>
          </a:xfrm>
        </p:spPr>
        <p:txBody>
          <a:bodyPr/>
          <a:lstStyle/>
          <a:p>
            <a:r>
              <a:rPr lang="en-US" altLang="zh-TW" dirty="0"/>
              <a:t>Problem definition</a:t>
            </a:r>
            <a:endParaRPr lang="zh-TW" altLang="en-US" dirty="0"/>
          </a:p>
        </p:txBody>
      </p:sp>
      <p:pic>
        <p:nvPicPr>
          <p:cNvPr id="5" name="內容版面配置區 4">
            <a:extLst>
              <a:ext uri="{FF2B5EF4-FFF2-40B4-BE49-F238E27FC236}">
                <a16:creationId xmlns:a16="http://schemas.microsoft.com/office/drawing/2014/main" id="{221BF17A-A10A-41B8-B92C-F5BC22E16B8D}"/>
              </a:ext>
            </a:extLst>
          </p:cNvPr>
          <p:cNvPicPr>
            <a:picLocks noGrp="1" noChangeAspect="1"/>
          </p:cNvPicPr>
          <p:nvPr>
            <p:ph idx="4294967295"/>
          </p:nvPr>
        </p:nvPicPr>
        <p:blipFill>
          <a:blip r:embed="rId3" cstate="hqprint">
            <a:extLst>
              <a:ext uri="{28A0092B-C50C-407E-A947-70E740481C1C}">
                <a14:useLocalDpi xmlns:a14="http://schemas.microsoft.com/office/drawing/2010/main" val="0"/>
              </a:ext>
            </a:extLst>
          </a:blip>
          <a:stretch>
            <a:fillRect/>
          </a:stretch>
        </p:blipFill>
        <p:spPr>
          <a:xfrm>
            <a:off x="792145" y="4860997"/>
            <a:ext cx="2332342" cy="658491"/>
          </a:xfrm>
        </p:spPr>
      </p:pic>
      <p:pic>
        <p:nvPicPr>
          <p:cNvPr id="7" name="圖片 6">
            <a:extLst>
              <a:ext uri="{FF2B5EF4-FFF2-40B4-BE49-F238E27FC236}">
                <a16:creationId xmlns:a16="http://schemas.microsoft.com/office/drawing/2014/main" id="{BBEB2BE9-DF03-4C37-A955-282F628BA90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316294" y="4844480"/>
            <a:ext cx="2332342" cy="659377"/>
          </a:xfrm>
          <a:prstGeom prst="rect">
            <a:avLst/>
          </a:prstGeom>
        </p:spPr>
      </p:pic>
      <p:sp>
        <p:nvSpPr>
          <p:cNvPr id="14" name="箭號: 向下 13">
            <a:extLst>
              <a:ext uri="{FF2B5EF4-FFF2-40B4-BE49-F238E27FC236}">
                <a16:creationId xmlns:a16="http://schemas.microsoft.com/office/drawing/2014/main" id="{3C7B20A3-3BF8-48EA-9E37-A2D53B1B4B5F}"/>
              </a:ext>
            </a:extLst>
          </p:cNvPr>
          <p:cNvSpPr/>
          <p:nvPr/>
        </p:nvSpPr>
        <p:spPr>
          <a:xfrm rot="18670524">
            <a:off x="3570282" y="3875976"/>
            <a:ext cx="348850" cy="7599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9" name="圖片 8">
            <a:extLst>
              <a:ext uri="{FF2B5EF4-FFF2-40B4-BE49-F238E27FC236}">
                <a16:creationId xmlns:a16="http://schemas.microsoft.com/office/drawing/2014/main" id="{26753408-4CAD-477E-8C43-CE358279FF5D}"/>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11971" y="2055984"/>
            <a:ext cx="1846388" cy="1582283"/>
          </a:xfrm>
          <a:prstGeom prst="rect">
            <a:avLst/>
          </a:prstGeom>
        </p:spPr>
      </p:pic>
      <p:pic>
        <p:nvPicPr>
          <p:cNvPr id="11" name="圖片 10">
            <a:extLst>
              <a:ext uri="{FF2B5EF4-FFF2-40B4-BE49-F238E27FC236}">
                <a16:creationId xmlns:a16="http://schemas.microsoft.com/office/drawing/2014/main" id="{588DBA01-25DA-4D67-AE37-B37B454801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4255" y="2085149"/>
            <a:ext cx="2190779" cy="1582282"/>
          </a:xfrm>
          <a:prstGeom prst="rect">
            <a:avLst/>
          </a:prstGeom>
        </p:spPr>
      </p:pic>
      <p:sp>
        <p:nvSpPr>
          <p:cNvPr id="17" name="加號 16">
            <a:extLst>
              <a:ext uri="{FF2B5EF4-FFF2-40B4-BE49-F238E27FC236}">
                <a16:creationId xmlns:a16="http://schemas.microsoft.com/office/drawing/2014/main" id="{AFF65D3E-C7B2-4E63-9667-5378371598C5}"/>
              </a:ext>
            </a:extLst>
          </p:cNvPr>
          <p:cNvSpPr/>
          <p:nvPr/>
        </p:nvSpPr>
        <p:spPr>
          <a:xfrm>
            <a:off x="2823189" y="2578110"/>
            <a:ext cx="506697" cy="592776"/>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箭號: 向下 18">
            <a:extLst>
              <a:ext uri="{FF2B5EF4-FFF2-40B4-BE49-F238E27FC236}">
                <a16:creationId xmlns:a16="http://schemas.microsoft.com/office/drawing/2014/main" id="{0A373B8D-1314-4A33-A077-09071990C173}"/>
              </a:ext>
            </a:extLst>
          </p:cNvPr>
          <p:cNvSpPr/>
          <p:nvPr/>
        </p:nvSpPr>
        <p:spPr>
          <a:xfrm rot="2542360">
            <a:off x="2316326" y="3869652"/>
            <a:ext cx="348850" cy="7599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aphicFrame>
        <p:nvGraphicFramePr>
          <p:cNvPr id="24" name="資料庫圖表 23">
            <a:extLst>
              <a:ext uri="{FF2B5EF4-FFF2-40B4-BE49-F238E27FC236}">
                <a16:creationId xmlns:a16="http://schemas.microsoft.com/office/drawing/2014/main" id="{B64F8437-D5A7-497D-BADF-511C1E1D134C}"/>
              </a:ext>
            </a:extLst>
          </p:cNvPr>
          <p:cNvGraphicFramePr/>
          <p:nvPr>
            <p:extLst>
              <p:ext uri="{D42A27DB-BD31-4B8C-83A1-F6EECF244321}">
                <p14:modId xmlns:p14="http://schemas.microsoft.com/office/powerpoint/2010/main" val="939652361"/>
              </p:ext>
            </p:extLst>
          </p:nvPr>
        </p:nvGraphicFramePr>
        <p:xfrm>
          <a:off x="8663718" y="1305024"/>
          <a:ext cx="3205727" cy="49932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0" name="圖片 19">
            <a:extLst>
              <a:ext uri="{FF2B5EF4-FFF2-40B4-BE49-F238E27FC236}">
                <a16:creationId xmlns:a16="http://schemas.microsoft.com/office/drawing/2014/main" id="{B6767EBC-5E23-4082-A875-245CACFEDF1C}"/>
              </a:ext>
            </a:extLst>
          </p:cNvPr>
          <p:cNvPicPr>
            <a:picLocks noChangeAspect="1"/>
          </p:cNvPicPr>
          <p:nvPr/>
        </p:nvPicPr>
        <p:blipFill>
          <a:blip r:embed="rId12"/>
          <a:stretch>
            <a:fillRect/>
          </a:stretch>
        </p:blipFill>
        <p:spPr>
          <a:xfrm>
            <a:off x="9051799" y="1305024"/>
            <a:ext cx="2350082" cy="1072432"/>
          </a:xfrm>
          <a:prstGeom prst="rect">
            <a:avLst/>
          </a:prstGeom>
        </p:spPr>
      </p:pic>
      <p:pic>
        <p:nvPicPr>
          <p:cNvPr id="25" name="圖片 24">
            <a:extLst>
              <a:ext uri="{FF2B5EF4-FFF2-40B4-BE49-F238E27FC236}">
                <a16:creationId xmlns:a16="http://schemas.microsoft.com/office/drawing/2014/main" id="{32E763F7-EE6D-4813-9A85-6D5A3DFB4174}"/>
              </a:ext>
            </a:extLst>
          </p:cNvPr>
          <p:cNvPicPr>
            <a:picLocks noChangeAspect="1"/>
          </p:cNvPicPr>
          <p:nvPr/>
        </p:nvPicPr>
        <p:blipFill>
          <a:blip r:embed="rId13"/>
          <a:stretch>
            <a:fillRect/>
          </a:stretch>
        </p:blipFill>
        <p:spPr>
          <a:xfrm>
            <a:off x="9102263" y="5263387"/>
            <a:ext cx="2350081" cy="758458"/>
          </a:xfrm>
          <a:prstGeom prst="rect">
            <a:avLst/>
          </a:prstGeom>
        </p:spPr>
      </p:pic>
      <p:graphicFrame>
        <p:nvGraphicFramePr>
          <p:cNvPr id="27" name="內容版面配置區 3">
            <a:extLst>
              <a:ext uri="{FF2B5EF4-FFF2-40B4-BE49-F238E27FC236}">
                <a16:creationId xmlns:a16="http://schemas.microsoft.com/office/drawing/2014/main" id="{94EC0D30-5FF7-4E55-A4C3-9476350C9E17}"/>
              </a:ext>
            </a:extLst>
          </p:cNvPr>
          <p:cNvGraphicFramePr>
            <a:graphicFrameLocks/>
          </p:cNvGraphicFramePr>
          <p:nvPr>
            <p:extLst>
              <p:ext uri="{D42A27DB-BD31-4B8C-83A1-F6EECF244321}">
                <p14:modId xmlns:p14="http://schemas.microsoft.com/office/powerpoint/2010/main" val="4280411167"/>
              </p:ext>
            </p:extLst>
          </p:nvPr>
        </p:nvGraphicFramePr>
        <p:xfrm>
          <a:off x="5887378" y="2838666"/>
          <a:ext cx="2681600" cy="2206779"/>
        </p:xfrm>
        <a:graphic>
          <a:graphicData uri="http://schemas.openxmlformats.org/drawingml/2006/table">
            <a:tbl>
              <a:tblPr firstRow="1" bandRow="1">
                <a:tableStyleId>{5C22544A-7EE6-4342-B048-85BDC9FD1C3A}</a:tableStyleId>
              </a:tblPr>
              <a:tblGrid>
                <a:gridCol w="986795">
                  <a:extLst>
                    <a:ext uri="{9D8B030D-6E8A-4147-A177-3AD203B41FA5}">
                      <a16:colId xmlns:a16="http://schemas.microsoft.com/office/drawing/2014/main" val="263354108"/>
                    </a:ext>
                  </a:extLst>
                </a:gridCol>
                <a:gridCol w="1039170">
                  <a:extLst>
                    <a:ext uri="{9D8B030D-6E8A-4147-A177-3AD203B41FA5}">
                      <a16:colId xmlns:a16="http://schemas.microsoft.com/office/drawing/2014/main" val="418547380"/>
                    </a:ext>
                  </a:extLst>
                </a:gridCol>
                <a:gridCol w="655635">
                  <a:extLst>
                    <a:ext uri="{9D8B030D-6E8A-4147-A177-3AD203B41FA5}">
                      <a16:colId xmlns:a16="http://schemas.microsoft.com/office/drawing/2014/main" val="1063195487"/>
                    </a:ext>
                  </a:extLst>
                </a:gridCol>
              </a:tblGrid>
              <a:tr h="704227">
                <a:tc>
                  <a:txBody>
                    <a:bodyPr/>
                    <a:lstStyle/>
                    <a:p>
                      <a:endParaRPr lang="zh-TW" altLang="en-US" dirty="0"/>
                    </a:p>
                  </a:txBody>
                  <a:tcPr/>
                </a:tc>
                <a:tc>
                  <a:txBody>
                    <a:bodyPr/>
                    <a:lstStyle/>
                    <a:p>
                      <a:r>
                        <a:rPr lang="en-US" altLang="zh-TW" dirty="0" err="1"/>
                        <a:t>Simula</a:t>
                      </a:r>
                      <a:r>
                        <a:rPr lang="en-US" altLang="zh-TW" dirty="0"/>
                        <a:t>-</a:t>
                      </a:r>
                    </a:p>
                    <a:p>
                      <a:r>
                        <a:rPr lang="en-US" altLang="zh-TW" dirty="0" err="1"/>
                        <a:t>tion</a:t>
                      </a:r>
                      <a:endParaRPr lang="zh-TW" altLang="en-US" dirty="0"/>
                    </a:p>
                  </a:txBody>
                  <a:tcPr/>
                </a:tc>
                <a:tc>
                  <a:txBody>
                    <a:bodyPr/>
                    <a:lstStyle/>
                    <a:p>
                      <a:r>
                        <a:rPr lang="en-US" altLang="zh-TW" dirty="0"/>
                        <a:t>Real</a:t>
                      </a:r>
                      <a:endParaRPr lang="zh-TW" altLang="en-US" dirty="0"/>
                    </a:p>
                  </a:txBody>
                  <a:tcPr/>
                </a:tc>
                <a:extLst>
                  <a:ext uri="{0D108BD9-81ED-4DB2-BD59-A6C34878D82A}">
                    <a16:rowId xmlns:a16="http://schemas.microsoft.com/office/drawing/2014/main" val="3418063237"/>
                  </a:ext>
                </a:extLst>
              </a:tr>
              <a:tr h="751276">
                <a:tc>
                  <a:txBody>
                    <a:bodyPr/>
                    <a:lstStyle/>
                    <a:p>
                      <a:r>
                        <a:rPr lang="en-US" altLang="zh-TW" dirty="0"/>
                        <a:t>Normal</a:t>
                      </a:r>
                      <a:endParaRPr lang="zh-TW" altLang="en-US" dirty="0"/>
                    </a:p>
                  </a:txBody>
                  <a:tcPr/>
                </a:tc>
                <a:tc>
                  <a:txBody>
                    <a:bodyPr/>
                    <a:lstStyle/>
                    <a:p>
                      <a:r>
                        <a:rPr lang="en-US" altLang="zh-TW" dirty="0"/>
                        <a:t>SN</a:t>
                      </a:r>
                      <a:endParaRPr lang="zh-TW" altLang="en-US" dirty="0"/>
                    </a:p>
                  </a:txBody>
                  <a:tcPr/>
                </a:tc>
                <a:tc>
                  <a:txBody>
                    <a:bodyPr/>
                    <a:lstStyle/>
                    <a:p>
                      <a:r>
                        <a:rPr lang="en-US" altLang="zh-TW" dirty="0"/>
                        <a:t>RN</a:t>
                      </a:r>
                      <a:endParaRPr lang="zh-TW" altLang="en-US" dirty="0"/>
                    </a:p>
                  </a:txBody>
                  <a:tcPr/>
                </a:tc>
                <a:extLst>
                  <a:ext uri="{0D108BD9-81ED-4DB2-BD59-A6C34878D82A}">
                    <a16:rowId xmlns:a16="http://schemas.microsoft.com/office/drawing/2014/main" val="2096066153"/>
                  </a:ext>
                </a:extLst>
              </a:tr>
              <a:tr h="751276">
                <a:tc>
                  <a:txBody>
                    <a:bodyPr/>
                    <a:lstStyle/>
                    <a:p>
                      <a:r>
                        <a:rPr lang="en-US" altLang="zh-TW" dirty="0"/>
                        <a:t>weaving</a:t>
                      </a:r>
                      <a:endParaRPr lang="zh-TW" altLang="en-US" dirty="0"/>
                    </a:p>
                  </a:txBody>
                  <a:tcPr/>
                </a:tc>
                <a:tc>
                  <a:txBody>
                    <a:bodyPr/>
                    <a:lstStyle/>
                    <a:p>
                      <a:r>
                        <a:rPr lang="en-US" altLang="zh-TW" dirty="0"/>
                        <a:t>SW</a:t>
                      </a:r>
                      <a:endParaRPr lang="zh-TW" altLang="en-US" dirty="0"/>
                    </a:p>
                  </a:txBody>
                  <a:tcPr/>
                </a:tc>
                <a:tc>
                  <a:txBody>
                    <a:bodyPr/>
                    <a:lstStyle/>
                    <a:p>
                      <a:r>
                        <a:rPr lang="en-US" altLang="zh-TW" dirty="0"/>
                        <a:t>RW</a:t>
                      </a:r>
                      <a:endParaRPr lang="zh-TW" altLang="en-US" dirty="0"/>
                    </a:p>
                  </a:txBody>
                  <a:tcPr/>
                </a:tc>
                <a:extLst>
                  <a:ext uri="{0D108BD9-81ED-4DB2-BD59-A6C34878D82A}">
                    <a16:rowId xmlns:a16="http://schemas.microsoft.com/office/drawing/2014/main" val="4022956872"/>
                  </a:ext>
                </a:extLst>
              </a:tr>
            </a:tbl>
          </a:graphicData>
        </a:graphic>
      </p:graphicFrame>
      <p:sp>
        <p:nvSpPr>
          <p:cNvPr id="3" name="投影片編號版面配置區 2">
            <a:extLst>
              <a:ext uri="{FF2B5EF4-FFF2-40B4-BE49-F238E27FC236}">
                <a16:creationId xmlns:a16="http://schemas.microsoft.com/office/drawing/2014/main" id="{6B1E1E7C-7FBB-43EA-9A8D-E2E65885B150}"/>
              </a:ext>
            </a:extLst>
          </p:cNvPr>
          <p:cNvSpPr>
            <a:spLocks noGrp="1"/>
          </p:cNvSpPr>
          <p:nvPr>
            <p:ph type="sldNum" sz="quarter" idx="12"/>
          </p:nvPr>
        </p:nvSpPr>
        <p:spPr/>
        <p:txBody>
          <a:bodyPr/>
          <a:lstStyle/>
          <a:p>
            <a:fld id="{FB360B71-4E68-4442-B60A-3C093988BE4E}" type="slidenum">
              <a:rPr lang="zh-TW" altLang="en-US" smtClean="0"/>
              <a:t>7</a:t>
            </a:fld>
            <a:endParaRPr lang="zh-TW" altLang="en-US"/>
          </a:p>
        </p:txBody>
      </p:sp>
    </p:spTree>
    <p:extLst>
      <p:ext uri="{BB962C8B-B14F-4D97-AF65-F5344CB8AC3E}">
        <p14:creationId xmlns:p14="http://schemas.microsoft.com/office/powerpoint/2010/main" val="4148523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85F2B16-71E6-4CCA-B37F-735F8CA29499}"/>
              </a:ext>
            </a:extLst>
          </p:cNvPr>
          <p:cNvSpPr>
            <a:spLocks noGrp="1"/>
          </p:cNvSpPr>
          <p:nvPr>
            <p:ph type="sldNum" sz="quarter" idx="12"/>
          </p:nvPr>
        </p:nvSpPr>
        <p:spPr/>
        <p:txBody>
          <a:bodyPr/>
          <a:lstStyle/>
          <a:p>
            <a:fld id="{FB360B71-4E68-4442-B60A-3C093988BE4E}" type="slidenum">
              <a:rPr lang="zh-TW" altLang="en-US" smtClean="0"/>
              <a:t>8</a:t>
            </a:fld>
            <a:endParaRPr lang="zh-TW" altLang="en-US" dirty="0"/>
          </a:p>
        </p:txBody>
      </p:sp>
      <p:pic>
        <p:nvPicPr>
          <p:cNvPr id="5" name="圖片 4">
            <a:extLst>
              <a:ext uri="{FF2B5EF4-FFF2-40B4-BE49-F238E27FC236}">
                <a16:creationId xmlns:a16="http://schemas.microsoft.com/office/drawing/2014/main" id="{135FC74B-72FE-4934-A6A4-19A99490FEF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96475" y="1246362"/>
            <a:ext cx="1963472" cy="1682620"/>
          </a:xfrm>
          <a:prstGeom prst="rect">
            <a:avLst/>
          </a:prstGeom>
        </p:spPr>
      </p:pic>
      <p:pic>
        <p:nvPicPr>
          <p:cNvPr id="6" name="圖片 5">
            <a:extLst>
              <a:ext uri="{FF2B5EF4-FFF2-40B4-BE49-F238E27FC236}">
                <a16:creationId xmlns:a16="http://schemas.microsoft.com/office/drawing/2014/main" id="{12D03954-97CD-475C-91BD-FEDE3FC9B3D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596475" y="4049795"/>
            <a:ext cx="1963472" cy="1418111"/>
          </a:xfrm>
          <a:prstGeom prst="rect">
            <a:avLst/>
          </a:prstGeom>
        </p:spPr>
      </p:pic>
      <p:sp>
        <p:nvSpPr>
          <p:cNvPr id="9" name="矩形: 圓角 8">
            <a:extLst>
              <a:ext uri="{FF2B5EF4-FFF2-40B4-BE49-F238E27FC236}">
                <a16:creationId xmlns:a16="http://schemas.microsoft.com/office/drawing/2014/main" id="{D0A31389-7664-4274-AF0B-2A9CC1090785}"/>
              </a:ext>
            </a:extLst>
          </p:cNvPr>
          <p:cNvSpPr/>
          <p:nvPr/>
        </p:nvSpPr>
        <p:spPr>
          <a:xfrm>
            <a:off x="7538620" y="975593"/>
            <a:ext cx="1472214" cy="541538"/>
          </a:xfrm>
          <a:prstGeom prst="roundRect">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behavior</a:t>
            </a:r>
            <a:endParaRPr lang="zh-TW" altLang="en-US" dirty="0">
              <a:solidFill>
                <a:srgbClr val="FF0000"/>
              </a:solidFill>
            </a:endParaRPr>
          </a:p>
        </p:txBody>
      </p:sp>
      <p:sp>
        <p:nvSpPr>
          <p:cNvPr id="10" name="矩形: 圓角 9">
            <a:extLst>
              <a:ext uri="{FF2B5EF4-FFF2-40B4-BE49-F238E27FC236}">
                <a16:creationId xmlns:a16="http://schemas.microsoft.com/office/drawing/2014/main" id="{BD89C3A6-A9A9-4203-84BB-0EA724878B97}"/>
              </a:ext>
            </a:extLst>
          </p:cNvPr>
          <p:cNvSpPr/>
          <p:nvPr/>
        </p:nvSpPr>
        <p:spPr>
          <a:xfrm>
            <a:off x="7538620" y="1607836"/>
            <a:ext cx="1472214" cy="541538"/>
          </a:xfrm>
          <a:prstGeom prst="roundRect">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7030A0"/>
                </a:solidFill>
              </a:rPr>
              <a:t>environment</a:t>
            </a:r>
            <a:endParaRPr lang="zh-TW" altLang="en-US" dirty="0">
              <a:solidFill>
                <a:srgbClr val="7030A0"/>
              </a:solidFill>
            </a:endParaRPr>
          </a:p>
        </p:txBody>
      </p:sp>
      <p:sp>
        <p:nvSpPr>
          <p:cNvPr id="11" name="矩形: 圓角 10">
            <a:extLst>
              <a:ext uri="{FF2B5EF4-FFF2-40B4-BE49-F238E27FC236}">
                <a16:creationId xmlns:a16="http://schemas.microsoft.com/office/drawing/2014/main" id="{33BB5116-7471-41FC-9A02-82783E61D468}"/>
              </a:ext>
            </a:extLst>
          </p:cNvPr>
          <p:cNvSpPr/>
          <p:nvPr/>
        </p:nvSpPr>
        <p:spPr>
          <a:xfrm>
            <a:off x="7538620" y="2231228"/>
            <a:ext cx="1472214" cy="541538"/>
          </a:xfrm>
          <a:prstGeom prst="roundRect">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noise</a:t>
            </a:r>
            <a:endParaRPr lang="zh-TW" altLang="en-US" dirty="0">
              <a:solidFill>
                <a:schemeClr val="tx1"/>
              </a:solidFill>
            </a:endParaRPr>
          </a:p>
        </p:txBody>
      </p:sp>
      <p:cxnSp>
        <p:nvCxnSpPr>
          <p:cNvPr id="16" name="直線單箭頭接點 15">
            <a:extLst>
              <a:ext uri="{FF2B5EF4-FFF2-40B4-BE49-F238E27FC236}">
                <a16:creationId xmlns:a16="http://schemas.microsoft.com/office/drawing/2014/main" id="{37BD058C-0DF4-4048-9BC6-F35B37D81D79}"/>
              </a:ext>
            </a:extLst>
          </p:cNvPr>
          <p:cNvCxnSpPr>
            <a:cxnSpLocks/>
            <a:endCxn id="9" idx="1"/>
          </p:cNvCxnSpPr>
          <p:nvPr/>
        </p:nvCxnSpPr>
        <p:spPr>
          <a:xfrm flipV="1">
            <a:off x="5495278" y="1246362"/>
            <a:ext cx="2043342" cy="850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8E9DCD27-BB3D-4963-AC35-8C5F7ECAA309}"/>
              </a:ext>
            </a:extLst>
          </p:cNvPr>
          <p:cNvCxnSpPr>
            <a:cxnSpLocks/>
            <a:endCxn id="10" idx="1"/>
          </p:cNvCxnSpPr>
          <p:nvPr/>
        </p:nvCxnSpPr>
        <p:spPr>
          <a:xfrm flipV="1">
            <a:off x="5495278" y="1878605"/>
            <a:ext cx="2043342" cy="217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602EDCC4-08AA-4258-B30D-E251B1212992}"/>
              </a:ext>
            </a:extLst>
          </p:cNvPr>
          <p:cNvCxnSpPr>
            <a:cxnSpLocks/>
            <a:endCxn id="11" idx="1"/>
          </p:cNvCxnSpPr>
          <p:nvPr/>
        </p:nvCxnSpPr>
        <p:spPr>
          <a:xfrm>
            <a:off x="5495278" y="2096523"/>
            <a:ext cx="2043342" cy="405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圓角 28">
            <a:extLst>
              <a:ext uri="{FF2B5EF4-FFF2-40B4-BE49-F238E27FC236}">
                <a16:creationId xmlns:a16="http://schemas.microsoft.com/office/drawing/2014/main" id="{6DBFD92E-5E8B-45E3-A740-7FC328E64112}"/>
              </a:ext>
            </a:extLst>
          </p:cNvPr>
          <p:cNvSpPr/>
          <p:nvPr/>
        </p:nvSpPr>
        <p:spPr>
          <a:xfrm>
            <a:off x="7538621" y="3670733"/>
            <a:ext cx="1472214" cy="541538"/>
          </a:xfrm>
          <a:prstGeom prst="roundRect">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behavior</a:t>
            </a:r>
            <a:endParaRPr lang="zh-TW" altLang="en-US" dirty="0">
              <a:solidFill>
                <a:srgbClr val="FF0000"/>
              </a:solidFill>
            </a:endParaRPr>
          </a:p>
        </p:txBody>
      </p:sp>
      <p:sp>
        <p:nvSpPr>
          <p:cNvPr id="30" name="矩形: 圓角 29">
            <a:extLst>
              <a:ext uri="{FF2B5EF4-FFF2-40B4-BE49-F238E27FC236}">
                <a16:creationId xmlns:a16="http://schemas.microsoft.com/office/drawing/2014/main" id="{019B8AF8-388B-4A07-9868-1DB9B03991BE}"/>
              </a:ext>
            </a:extLst>
          </p:cNvPr>
          <p:cNvSpPr/>
          <p:nvPr/>
        </p:nvSpPr>
        <p:spPr>
          <a:xfrm>
            <a:off x="7538621" y="4302976"/>
            <a:ext cx="1472214" cy="541538"/>
          </a:xfrm>
          <a:prstGeom prst="roundRect">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7030A0"/>
                </a:solidFill>
              </a:rPr>
              <a:t>environment</a:t>
            </a:r>
            <a:endParaRPr lang="zh-TW" altLang="en-US" dirty="0">
              <a:solidFill>
                <a:srgbClr val="7030A0"/>
              </a:solidFill>
            </a:endParaRPr>
          </a:p>
        </p:txBody>
      </p:sp>
      <p:sp>
        <p:nvSpPr>
          <p:cNvPr id="31" name="矩形: 圓角 30">
            <a:extLst>
              <a:ext uri="{FF2B5EF4-FFF2-40B4-BE49-F238E27FC236}">
                <a16:creationId xmlns:a16="http://schemas.microsoft.com/office/drawing/2014/main" id="{7916B40C-D8D6-417D-AB33-9C650775A585}"/>
              </a:ext>
            </a:extLst>
          </p:cNvPr>
          <p:cNvSpPr/>
          <p:nvPr/>
        </p:nvSpPr>
        <p:spPr>
          <a:xfrm>
            <a:off x="7538621" y="4926368"/>
            <a:ext cx="1472214" cy="541538"/>
          </a:xfrm>
          <a:prstGeom prst="roundRect">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noise</a:t>
            </a:r>
            <a:endParaRPr lang="zh-TW" altLang="en-US" dirty="0">
              <a:solidFill>
                <a:schemeClr val="tx1"/>
              </a:solidFill>
            </a:endParaRPr>
          </a:p>
        </p:txBody>
      </p:sp>
      <p:cxnSp>
        <p:nvCxnSpPr>
          <p:cNvPr id="32" name="直線單箭頭接點 31">
            <a:extLst>
              <a:ext uri="{FF2B5EF4-FFF2-40B4-BE49-F238E27FC236}">
                <a16:creationId xmlns:a16="http://schemas.microsoft.com/office/drawing/2014/main" id="{67B54A66-1786-43A3-B20D-65498AC6C145}"/>
              </a:ext>
            </a:extLst>
          </p:cNvPr>
          <p:cNvCxnSpPr>
            <a:endCxn id="29" idx="1"/>
          </p:cNvCxnSpPr>
          <p:nvPr/>
        </p:nvCxnSpPr>
        <p:spPr>
          <a:xfrm flipV="1">
            <a:off x="5495279" y="3941502"/>
            <a:ext cx="2043342" cy="850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7CD3C4B5-F263-428B-ADA0-86D82581F8F0}"/>
              </a:ext>
            </a:extLst>
          </p:cNvPr>
          <p:cNvCxnSpPr>
            <a:cxnSpLocks/>
            <a:endCxn id="30" idx="1"/>
          </p:cNvCxnSpPr>
          <p:nvPr/>
        </p:nvCxnSpPr>
        <p:spPr>
          <a:xfrm flipV="1">
            <a:off x="5495279" y="4573745"/>
            <a:ext cx="2043342" cy="217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97367A28-94D4-4E71-A858-58A5177234DA}"/>
              </a:ext>
            </a:extLst>
          </p:cNvPr>
          <p:cNvCxnSpPr>
            <a:cxnSpLocks/>
            <a:endCxn id="31" idx="1"/>
          </p:cNvCxnSpPr>
          <p:nvPr/>
        </p:nvCxnSpPr>
        <p:spPr>
          <a:xfrm>
            <a:off x="5495279" y="4791663"/>
            <a:ext cx="2043342" cy="405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19207CFA-785D-4755-9DAB-AFB99CA596B2}"/>
              </a:ext>
            </a:extLst>
          </p:cNvPr>
          <p:cNvSpPr/>
          <p:nvPr/>
        </p:nvSpPr>
        <p:spPr>
          <a:xfrm>
            <a:off x="4261281" y="1563436"/>
            <a:ext cx="1233997" cy="1048472"/>
          </a:xfrm>
          <a:prstGeom prst="rect">
            <a:avLst/>
          </a:prstGeom>
          <a:solidFill>
            <a:schemeClr val="accent1">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ICA</a:t>
            </a:r>
            <a:endParaRPr lang="zh-TW" altLang="en-US" dirty="0">
              <a:solidFill>
                <a:schemeClr val="tx1"/>
              </a:solidFill>
            </a:endParaRPr>
          </a:p>
        </p:txBody>
      </p:sp>
      <p:sp>
        <p:nvSpPr>
          <p:cNvPr id="36" name="矩形 35">
            <a:extLst>
              <a:ext uri="{FF2B5EF4-FFF2-40B4-BE49-F238E27FC236}">
                <a16:creationId xmlns:a16="http://schemas.microsoft.com/office/drawing/2014/main" id="{2FCBAE50-BE0A-4754-9228-BE5328C0BB12}"/>
              </a:ext>
            </a:extLst>
          </p:cNvPr>
          <p:cNvSpPr/>
          <p:nvPr/>
        </p:nvSpPr>
        <p:spPr>
          <a:xfrm>
            <a:off x="4261281" y="4234614"/>
            <a:ext cx="1233997" cy="1048472"/>
          </a:xfrm>
          <a:prstGeom prst="rect">
            <a:avLst/>
          </a:prstGeom>
          <a:solidFill>
            <a:schemeClr val="accent1">
              <a:lumMod val="20000"/>
              <a:lumOff val="8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ICA</a:t>
            </a:r>
            <a:endParaRPr lang="zh-TW" altLang="en-US" dirty="0">
              <a:solidFill>
                <a:schemeClr val="tx1"/>
              </a:solidFill>
            </a:endParaRPr>
          </a:p>
        </p:txBody>
      </p:sp>
      <p:cxnSp>
        <p:nvCxnSpPr>
          <p:cNvPr id="38" name="直線單箭頭接點 37">
            <a:extLst>
              <a:ext uri="{FF2B5EF4-FFF2-40B4-BE49-F238E27FC236}">
                <a16:creationId xmlns:a16="http://schemas.microsoft.com/office/drawing/2014/main" id="{CC768E83-803B-45D5-B924-DAAE84E36103}"/>
              </a:ext>
            </a:extLst>
          </p:cNvPr>
          <p:cNvCxnSpPr>
            <a:stCxn id="5" idx="3"/>
            <a:endCxn id="35" idx="1"/>
          </p:cNvCxnSpPr>
          <p:nvPr/>
        </p:nvCxnSpPr>
        <p:spPr>
          <a:xfrm>
            <a:off x="3559947" y="2087672"/>
            <a:ext cx="701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D6064AD7-DC47-4C58-81D7-A7D93288A8FB}"/>
              </a:ext>
            </a:extLst>
          </p:cNvPr>
          <p:cNvCxnSpPr>
            <a:stCxn id="6" idx="3"/>
            <a:endCxn id="36" idx="1"/>
          </p:cNvCxnSpPr>
          <p:nvPr/>
        </p:nvCxnSpPr>
        <p:spPr>
          <a:xfrm flipV="1">
            <a:off x="3559947" y="4758850"/>
            <a:ext cx="70133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2011B56E-D31E-48E5-B0A1-C6454F9B2EC6}"/>
              </a:ext>
            </a:extLst>
          </p:cNvPr>
          <p:cNvSpPr/>
          <p:nvPr/>
        </p:nvSpPr>
        <p:spPr>
          <a:xfrm>
            <a:off x="2041864" y="816746"/>
            <a:ext cx="1136342" cy="3373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simulation</a:t>
            </a:r>
            <a:endParaRPr lang="zh-TW" altLang="en-US" dirty="0"/>
          </a:p>
        </p:txBody>
      </p:sp>
      <p:sp>
        <p:nvSpPr>
          <p:cNvPr id="43" name="矩形 42">
            <a:extLst>
              <a:ext uri="{FF2B5EF4-FFF2-40B4-BE49-F238E27FC236}">
                <a16:creationId xmlns:a16="http://schemas.microsoft.com/office/drawing/2014/main" id="{FCA5F3B5-C7B9-4A47-A3DB-4603E28B5B7D}"/>
              </a:ext>
            </a:extLst>
          </p:cNvPr>
          <p:cNvSpPr/>
          <p:nvPr/>
        </p:nvSpPr>
        <p:spPr>
          <a:xfrm>
            <a:off x="2041864" y="3670733"/>
            <a:ext cx="1003177" cy="2767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real</a:t>
            </a:r>
            <a:endParaRPr lang="zh-TW" altLang="en-US" dirty="0"/>
          </a:p>
        </p:txBody>
      </p:sp>
      <p:sp>
        <p:nvSpPr>
          <p:cNvPr id="44" name="橢圓 43">
            <a:extLst>
              <a:ext uri="{FF2B5EF4-FFF2-40B4-BE49-F238E27FC236}">
                <a16:creationId xmlns:a16="http://schemas.microsoft.com/office/drawing/2014/main" id="{9A5C39C4-6CF1-4337-93C5-4BDF16A5F51C}"/>
              </a:ext>
            </a:extLst>
          </p:cNvPr>
          <p:cNvSpPr/>
          <p:nvPr/>
        </p:nvSpPr>
        <p:spPr>
          <a:xfrm>
            <a:off x="9894189" y="2772766"/>
            <a:ext cx="1402672" cy="89796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a:t>compare</a:t>
            </a:r>
            <a:endParaRPr lang="zh-TW" altLang="en-US" dirty="0"/>
          </a:p>
        </p:txBody>
      </p:sp>
      <p:cxnSp>
        <p:nvCxnSpPr>
          <p:cNvPr id="46" name="接點: 肘形 45">
            <a:extLst>
              <a:ext uri="{FF2B5EF4-FFF2-40B4-BE49-F238E27FC236}">
                <a16:creationId xmlns:a16="http://schemas.microsoft.com/office/drawing/2014/main" id="{A28918DA-8416-45C2-B0BD-E2BBF1E6FB15}"/>
              </a:ext>
            </a:extLst>
          </p:cNvPr>
          <p:cNvCxnSpPr>
            <a:stCxn id="9" idx="3"/>
            <a:endCxn id="44" idx="2"/>
          </p:cNvCxnSpPr>
          <p:nvPr/>
        </p:nvCxnSpPr>
        <p:spPr>
          <a:xfrm>
            <a:off x="9010834" y="1246362"/>
            <a:ext cx="883355" cy="19753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接點: 肘形 47">
            <a:extLst>
              <a:ext uri="{FF2B5EF4-FFF2-40B4-BE49-F238E27FC236}">
                <a16:creationId xmlns:a16="http://schemas.microsoft.com/office/drawing/2014/main" id="{CB29A9B9-2169-429A-AA95-26A47EAF32F1}"/>
              </a:ext>
            </a:extLst>
          </p:cNvPr>
          <p:cNvCxnSpPr>
            <a:stCxn id="29" idx="3"/>
            <a:endCxn id="44" idx="2"/>
          </p:cNvCxnSpPr>
          <p:nvPr/>
        </p:nvCxnSpPr>
        <p:spPr>
          <a:xfrm flipV="1">
            <a:off x="9010835" y="3221750"/>
            <a:ext cx="883354" cy="7197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55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39A24D-B81F-4EFA-8331-075795BE5A07}"/>
              </a:ext>
            </a:extLst>
          </p:cNvPr>
          <p:cNvSpPr>
            <a:spLocks noGrp="1"/>
          </p:cNvSpPr>
          <p:nvPr>
            <p:ph type="title"/>
          </p:nvPr>
        </p:nvSpPr>
        <p:spPr/>
        <p:txBody>
          <a:bodyPr/>
          <a:lstStyle/>
          <a:p>
            <a:r>
              <a:rPr lang="en-US" altLang="zh-TW" dirty="0"/>
              <a:t>Background + reason to use ICA</a:t>
            </a:r>
            <a:endParaRPr lang="zh-TW" altLang="en-US" dirty="0"/>
          </a:p>
        </p:txBody>
      </p:sp>
      <p:sp>
        <p:nvSpPr>
          <p:cNvPr id="3" name="內容版面配置區 2">
            <a:extLst>
              <a:ext uri="{FF2B5EF4-FFF2-40B4-BE49-F238E27FC236}">
                <a16:creationId xmlns:a16="http://schemas.microsoft.com/office/drawing/2014/main" id="{E9B46D4C-FAE2-4C96-ABE7-6CC3FCDA5D31}"/>
              </a:ext>
            </a:extLst>
          </p:cNvPr>
          <p:cNvSpPr>
            <a:spLocks noGrp="1"/>
          </p:cNvSpPr>
          <p:nvPr>
            <p:ph idx="1"/>
          </p:nvPr>
        </p:nvSpPr>
        <p:spPr/>
        <p:txBody>
          <a:bodyPr/>
          <a:lstStyle/>
          <a:p>
            <a:r>
              <a:rPr lang="en-US" altLang="zh-TW" dirty="0"/>
              <a:t>ICA work on the situation that data contain several source signals. In our case, when we collect the smartwatch data, it contain the driver’s behavior and the vibration from the car’s engine.</a:t>
            </a:r>
          </a:p>
          <a:p>
            <a:r>
              <a:rPr lang="en-US" altLang="zh-TW" dirty="0"/>
              <a:t>ICA can decompose the sequentially signal. In our case, the data is sequentially signal, the data length is between 600 ~ 1300.  </a:t>
            </a:r>
            <a:endParaRPr lang="zh-TW" altLang="en-US" dirty="0"/>
          </a:p>
        </p:txBody>
      </p:sp>
      <p:sp>
        <p:nvSpPr>
          <p:cNvPr id="4" name="投影片編號版面配置區 3">
            <a:extLst>
              <a:ext uri="{FF2B5EF4-FFF2-40B4-BE49-F238E27FC236}">
                <a16:creationId xmlns:a16="http://schemas.microsoft.com/office/drawing/2014/main" id="{34125A70-6EB9-49DC-83EB-7AB39216F833}"/>
              </a:ext>
            </a:extLst>
          </p:cNvPr>
          <p:cNvSpPr>
            <a:spLocks noGrp="1"/>
          </p:cNvSpPr>
          <p:nvPr>
            <p:ph type="sldNum" sz="quarter" idx="12"/>
          </p:nvPr>
        </p:nvSpPr>
        <p:spPr/>
        <p:txBody>
          <a:bodyPr/>
          <a:lstStyle/>
          <a:p>
            <a:fld id="{FB360B71-4E68-4442-B60A-3C093988BE4E}" type="slidenum">
              <a:rPr lang="zh-TW" altLang="en-US" smtClean="0"/>
              <a:t>9</a:t>
            </a:fld>
            <a:endParaRPr lang="zh-TW" altLang="en-US" dirty="0"/>
          </a:p>
        </p:txBody>
      </p:sp>
    </p:spTree>
    <p:extLst>
      <p:ext uri="{BB962C8B-B14F-4D97-AF65-F5344CB8AC3E}">
        <p14:creationId xmlns:p14="http://schemas.microsoft.com/office/powerpoint/2010/main" val="1221396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556295-5496-4EDF-B005-80420271F05D}"/>
              </a:ext>
            </a:extLst>
          </p:cNvPr>
          <p:cNvSpPr>
            <a:spLocks noGrp="1"/>
          </p:cNvSpPr>
          <p:nvPr>
            <p:ph type="title"/>
          </p:nvPr>
        </p:nvSpPr>
        <p:spPr/>
        <p:txBody>
          <a:bodyPr/>
          <a:lstStyle/>
          <a:p>
            <a:r>
              <a:rPr lang="en-US" altLang="zh-TW" dirty="0"/>
              <a:t>Problem definition</a:t>
            </a:r>
            <a:endParaRPr lang="zh-TW" altLang="en-US" dirty="0"/>
          </a:p>
        </p:txBody>
      </p:sp>
      <p:sp>
        <p:nvSpPr>
          <p:cNvPr id="3" name="內容版面配置區 2">
            <a:extLst>
              <a:ext uri="{FF2B5EF4-FFF2-40B4-BE49-F238E27FC236}">
                <a16:creationId xmlns:a16="http://schemas.microsoft.com/office/drawing/2014/main" id="{880D2E25-7A81-46B0-9579-3CCFDFD5DF70}"/>
              </a:ext>
            </a:extLst>
          </p:cNvPr>
          <p:cNvSpPr>
            <a:spLocks noGrp="1"/>
          </p:cNvSpPr>
          <p:nvPr>
            <p:ph idx="1"/>
          </p:nvPr>
        </p:nvSpPr>
        <p:spPr/>
        <p:txBody>
          <a:bodyPr>
            <a:normAutofit lnSpcReduction="10000"/>
          </a:bodyPr>
          <a:lstStyle/>
          <a:p>
            <a:r>
              <a:rPr lang="en-US" altLang="zh-TW" dirty="0"/>
              <a:t>The final goal is to use smartwatch to identify whether the driver is drunk driving or not.</a:t>
            </a:r>
          </a:p>
          <a:p>
            <a:r>
              <a:rPr lang="en-US" altLang="zh-TW" dirty="0"/>
              <a:t>In order to do this, the first step is to have drunk driver’s behavior.</a:t>
            </a:r>
          </a:p>
          <a:p>
            <a:r>
              <a:rPr lang="en-US" altLang="zh-TW" dirty="0"/>
              <a:t>But it is nearly impossible to get this data</a:t>
            </a:r>
            <a:r>
              <a:rPr lang="zh-TW" altLang="en-US" dirty="0"/>
              <a:t> </a:t>
            </a:r>
            <a:r>
              <a:rPr lang="en-US" altLang="zh-TW" dirty="0"/>
              <a:t>in real environment. So we do it in simulation environment. </a:t>
            </a:r>
          </a:p>
          <a:p>
            <a:r>
              <a:rPr lang="en-US" altLang="zh-TW" dirty="0"/>
              <a:t>To make it more realistic, </a:t>
            </a:r>
            <a:r>
              <a:rPr lang="en-US" altLang="zh-TW" b="1" dirty="0">
                <a:solidFill>
                  <a:srgbClr val="FF0000"/>
                </a:solidFill>
              </a:rPr>
              <a:t>we decompose the environment’s feature and behavior’s feature.</a:t>
            </a:r>
            <a:r>
              <a:rPr lang="en-US" altLang="zh-TW" dirty="0"/>
              <a:t> And combine the real environment’s feature and weaving(drunk) behavior’s feature. </a:t>
            </a:r>
            <a:endParaRPr lang="zh-TW" altLang="en-US" dirty="0"/>
          </a:p>
        </p:txBody>
      </p:sp>
      <p:sp>
        <p:nvSpPr>
          <p:cNvPr id="4" name="投影片編號版面配置區 3">
            <a:extLst>
              <a:ext uri="{FF2B5EF4-FFF2-40B4-BE49-F238E27FC236}">
                <a16:creationId xmlns:a16="http://schemas.microsoft.com/office/drawing/2014/main" id="{2D83972E-A472-4E88-855A-B8C2F857D8D9}"/>
              </a:ext>
            </a:extLst>
          </p:cNvPr>
          <p:cNvSpPr>
            <a:spLocks noGrp="1"/>
          </p:cNvSpPr>
          <p:nvPr>
            <p:ph type="sldNum" sz="quarter" idx="12"/>
          </p:nvPr>
        </p:nvSpPr>
        <p:spPr/>
        <p:txBody>
          <a:bodyPr/>
          <a:lstStyle/>
          <a:p>
            <a:fld id="{FB360B71-4E68-4442-B60A-3C093988BE4E}" type="slidenum">
              <a:rPr lang="zh-TW" altLang="en-US" smtClean="0"/>
              <a:t>10</a:t>
            </a:fld>
            <a:endParaRPr lang="zh-TW" altLang="en-US" dirty="0"/>
          </a:p>
        </p:txBody>
      </p:sp>
    </p:spTree>
    <p:extLst>
      <p:ext uri="{BB962C8B-B14F-4D97-AF65-F5344CB8AC3E}">
        <p14:creationId xmlns:p14="http://schemas.microsoft.com/office/powerpoint/2010/main" val="13066772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2D6EB4F-6797-48AA-B97C-B203FFE6C133}"/>
              </a:ext>
            </a:extLst>
          </p:cNvPr>
          <p:cNvSpPr>
            <a:spLocks noGrp="1"/>
          </p:cNvSpPr>
          <p:nvPr>
            <p:ph type="title"/>
          </p:nvPr>
        </p:nvSpPr>
        <p:spPr/>
        <p:txBody>
          <a:bodyPr/>
          <a:lstStyle/>
          <a:p>
            <a:r>
              <a:rPr lang="en-US" altLang="zh-TW" dirty="0"/>
              <a:t>ICA</a:t>
            </a:r>
            <a:endParaRPr lang="zh-TW" altLang="en-US" dirty="0"/>
          </a:p>
        </p:txBody>
      </p:sp>
      <p:sp>
        <p:nvSpPr>
          <p:cNvPr id="5" name="文字版面配置區 4">
            <a:extLst>
              <a:ext uri="{FF2B5EF4-FFF2-40B4-BE49-F238E27FC236}">
                <a16:creationId xmlns:a16="http://schemas.microsoft.com/office/drawing/2014/main" id="{CF748283-BE14-43DD-B1CA-0A8E96D3AAEF}"/>
              </a:ext>
            </a:extLst>
          </p:cNvPr>
          <p:cNvSpPr>
            <a:spLocks noGrp="1"/>
          </p:cNvSpPr>
          <p:nvPr>
            <p:ph type="body" idx="1"/>
          </p:nvPr>
        </p:nvSpPr>
        <p:spPr/>
        <p:txBody>
          <a:bodyPr/>
          <a:lstStyle/>
          <a:p>
            <a:endParaRPr lang="zh-TW" altLang="en-US"/>
          </a:p>
        </p:txBody>
      </p:sp>
      <p:sp>
        <p:nvSpPr>
          <p:cNvPr id="2" name="投影片編號版面配置區 1">
            <a:extLst>
              <a:ext uri="{FF2B5EF4-FFF2-40B4-BE49-F238E27FC236}">
                <a16:creationId xmlns:a16="http://schemas.microsoft.com/office/drawing/2014/main" id="{3B14EE4E-C5EA-48D1-AF4A-2495F89970D0}"/>
              </a:ext>
            </a:extLst>
          </p:cNvPr>
          <p:cNvSpPr>
            <a:spLocks noGrp="1"/>
          </p:cNvSpPr>
          <p:nvPr>
            <p:ph type="sldNum" sz="quarter" idx="12"/>
          </p:nvPr>
        </p:nvSpPr>
        <p:spPr/>
        <p:txBody>
          <a:bodyPr/>
          <a:lstStyle/>
          <a:p>
            <a:fld id="{FB360B71-4E68-4442-B60A-3C093988BE4E}" type="slidenum">
              <a:rPr lang="zh-TW" altLang="en-US" smtClean="0"/>
              <a:t>11</a:t>
            </a:fld>
            <a:endParaRPr lang="zh-TW" altLang="en-US"/>
          </a:p>
        </p:txBody>
      </p:sp>
    </p:spTree>
    <p:extLst>
      <p:ext uri="{BB962C8B-B14F-4D97-AF65-F5344CB8AC3E}">
        <p14:creationId xmlns:p14="http://schemas.microsoft.com/office/powerpoint/2010/main" val="24341562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E959968-D4EE-4D32-ABF0-F8EECD8EE325}"/>
              </a:ext>
            </a:extLst>
          </p:cNvPr>
          <p:cNvSpPr/>
          <p:nvPr/>
        </p:nvSpPr>
        <p:spPr>
          <a:xfrm>
            <a:off x="2006180" y="708437"/>
            <a:ext cx="1143168" cy="5621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DECOMPOSING COMBINING &amp; SIGNALS </a:t>
            </a:r>
          </a:p>
        </p:txBody>
      </p:sp>
      <p:sp>
        <p:nvSpPr>
          <p:cNvPr id="7" name="Rectangle: Rounded Corners 6">
            <a:extLst>
              <a:ext uri="{FF2B5EF4-FFF2-40B4-BE49-F238E27FC236}">
                <a16:creationId xmlns:a16="http://schemas.microsoft.com/office/drawing/2014/main" id="{A362501A-F55B-4043-AEAF-C1C55D40D66E}"/>
              </a:ext>
            </a:extLst>
          </p:cNvPr>
          <p:cNvSpPr/>
          <p:nvPr/>
        </p:nvSpPr>
        <p:spPr>
          <a:xfrm>
            <a:off x="3047548" y="2087837"/>
            <a:ext cx="769001" cy="3527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ICA</a:t>
            </a:r>
          </a:p>
        </p:txBody>
      </p:sp>
      <p:pic>
        <p:nvPicPr>
          <p:cNvPr id="9" name="Picture 8">
            <a:extLst>
              <a:ext uri="{FF2B5EF4-FFF2-40B4-BE49-F238E27FC236}">
                <a16:creationId xmlns:a16="http://schemas.microsoft.com/office/drawing/2014/main" id="{CD2762D3-0445-47BF-8322-17AB1C7433AF}"/>
              </a:ext>
            </a:extLst>
          </p:cNvPr>
          <p:cNvPicPr>
            <a:picLocks noChangeAspect="1"/>
          </p:cNvPicPr>
          <p:nvPr/>
        </p:nvPicPr>
        <p:blipFill>
          <a:blip r:embed="rId3"/>
          <a:stretch>
            <a:fillRect/>
          </a:stretch>
        </p:blipFill>
        <p:spPr>
          <a:xfrm>
            <a:off x="6989887" y="1092613"/>
            <a:ext cx="1346078" cy="577813"/>
          </a:xfrm>
          <a:prstGeom prst="rect">
            <a:avLst/>
          </a:prstGeom>
        </p:spPr>
      </p:pic>
      <p:pic>
        <p:nvPicPr>
          <p:cNvPr id="11" name="Picture 10">
            <a:extLst>
              <a:ext uri="{FF2B5EF4-FFF2-40B4-BE49-F238E27FC236}">
                <a16:creationId xmlns:a16="http://schemas.microsoft.com/office/drawing/2014/main" id="{ACC3D360-5E05-4971-85B3-3782782686B0}"/>
              </a:ext>
            </a:extLst>
          </p:cNvPr>
          <p:cNvPicPr>
            <a:picLocks noChangeAspect="1"/>
          </p:cNvPicPr>
          <p:nvPr/>
        </p:nvPicPr>
        <p:blipFill>
          <a:blip r:embed="rId4"/>
          <a:stretch>
            <a:fillRect/>
          </a:stretch>
        </p:blipFill>
        <p:spPr>
          <a:xfrm>
            <a:off x="6894856" y="1749473"/>
            <a:ext cx="2251181" cy="1119103"/>
          </a:xfrm>
          <a:prstGeom prst="rect">
            <a:avLst/>
          </a:prstGeom>
        </p:spPr>
      </p:pic>
      <p:sp>
        <p:nvSpPr>
          <p:cNvPr id="12" name="Rectangle 11">
            <a:extLst>
              <a:ext uri="{FF2B5EF4-FFF2-40B4-BE49-F238E27FC236}">
                <a16:creationId xmlns:a16="http://schemas.microsoft.com/office/drawing/2014/main" id="{79C633B9-D683-4E43-AAC4-7695F708E9AB}"/>
              </a:ext>
            </a:extLst>
          </p:cNvPr>
          <p:cNvSpPr/>
          <p:nvPr/>
        </p:nvSpPr>
        <p:spPr>
          <a:xfrm>
            <a:off x="8066317" y="1153675"/>
            <a:ext cx="222584" cy="2338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sp>
        <p:nvSpPr>
          <p:cNvPr id="13" name="Rectangle 12">
            <a:extLst>
              <a:ext uri="{FF2B5EF4-FFF2-40B4-BE49-F238E27FC236}">
                <a16:creationId xmlns:a16="http://schemas.microsoft.com/office/drawing/2014/main" id="{F697F164-7071-4175-B241-0ADA66549C3E}"/>
              </a:ext>
            </a:extLst>
          </p:cNvPr>
          <p:cNvSpPr/>
          <p:nvPr/>
        </p:nvSpPr>
        <p:spPr>
          <a:xfrm>
            <a:off x="8066317" y="1387536"/>
            <a:ext cx="222584" cy="2165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sp>
        <p:nvSpPr>
          <p:cNvPr id="14" name="TextBox 13">
            <a:extLst>
              <a:ext uri="{FF2B5EF4-FFF2-40B4-BE49-F238E27FC236}">
                <a16:creationId xmlns:a16="http://schemas.microsoft.com/office/drawing/2014/main" id="{00E59988-DD4D-4DDC-9772-E7C98F9A0DC5}"/>
              </a:ext>
            </a:extLst>
          </p:cNvPr>
          <p:cNvSpPr txBox="1"/>
          <p:nvPr/>
        </p:nvSpPr>
        <p:spPr>
          <a:xfrm>
            <a:off x="7455380" y="989346"/>
            <a:ext cx="415089" cy="225959"/>
          </a:xfrm>
          <a:prstGeom prst="rect">
            <a:avLst/>
          </a:prstGeom>
          <a:noFill/>
        </p:spPr>
        <p:txBody>
          <a:bodyPr wrap="square" rtlCol="0">
            <a:spAutoFit/>
          </a:bodyPr>
          <a:lstStyle/>
          <a:p>
            <a:r>
              <a:rPr lang="en-US" sz="434" dirty="0"/>
              <a:t>Environment</a:t>
            </a:r>
          </a:p>
        </p:txBody>
      </p:sp>
      <p:sp>
        <p:nvSpPr>
          <p:cNvPr id="15" name="TextBox 14">
            <a:extLst>
              <a:ext uri="{FF2B5EF4-FFF2-40B4-BE49-F238E27FC236}">
                <a16:creationId xmlns:a16="http://schemas.microsoft.com/office/drawing/2014/main" id="{32B1F565-642A-476C-A249-EEA4D5F0F7A1}"/>
              </a:ext>
            </a:extLst>
          </p:cNvPr>
          <p:cNvSpPr txBox="1"/>
          <p:nvPr/>
        </p:nvSpPr>
        <p:spPr>
          <a:xfrm>
            <a:off x="7519857" y="1709087"/>
            <a:ext cx="397866" cy="159146"/>
          </a:xfrm>
          <a:prstGeom prst="rect">
            <a:avLst/>
          </a:prstGeom>
          <a:noFill/>
        </p:spPr>
        <p:txBody>
          <a:bodyPr wrap="none" rtlCol="0">
            <a:spAutoFit/>
          </a:bodyPr>
          <a:lstStyle/>
          <a:p>
            <a:r>
              <a:rPr lang="en-US" sz="434" dirty="0"/>
              <a:t>Behavior </a:t>
            </a:r>
          </a:p>
        </p:txBody>
      </p:sp>
      <p:cxnSp>
        <p:nvCxnSpPr>
          <p:cNvPr id="17" name="Straight Arrow Connector 16">
            <a:extLst>
              <a:ext uri="{FF2B5EF4-FFF2-40B4-BE49-F238E27FC236}">
                <a16:creationId xmlns:a16="http://schemas.microsoft.com/office/drawing/2014/main" id="{290D7890-DB92-463B-97B3-3B792138AF47}"/>
              </a:ext>
            </a:extLst>
          </p:cNvPr>
          <p:cNvCxnSpPr>
            <a:cxnSpLocks/>
            <a:stCxn id="14" idx="2"/>
            <a:endCxn id="12" idx="1"/>
          </p:cNvCxnSpPr>
          <p:nvPr/>
        </p:nvCxnSpPr>
        <p:spPr>
          <a:xfrm>
            <a:off x="7662925" y="1092613"/>
            <a:ext cx="403392" cy="177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071AC2F-9C52-4C9F-9A88-36FA38455529}"/>
              </a:ext>
            </a:extLst>
          </p:cNvPr>
          <p:cNvCxnSpPr>
            <a:cxnSpLocks/>
            <a:stCxn id="15" idx="0"/>
            <a:endCxn id="13" idx="1"/>
          </p:cNvCxnSpPr>
          <p:nvPr/>
        </p:nvCxnSpPr>
        <p:spPr>
          <a:xfrm flipV="1">
            <a:off x="7662925" y="1495821"/>
            <a:ext cx="403392" cy="21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5DDEF4C-4305-4A68-BFBB-38F1EF665480}"/>
              </a:ext>
            </a:extLst>
          </p:cNvPr>
          <p:cNvCxnSpPr>
            <a:cxnSpLocks/>
            <a:stCxn id="9" idx="0"/>
          </p:cNvCxnSpPr>
          <p:nvPr/>
        </p:nvCxnSpPr>
        <p:spPr>
          <a:xfrm flipH="1">
            <a:off x="7359731" y="1092614"/>
            <a:ext cx="303194" cy="97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13614B7-D210-4451-A8BD-E634B1D50F0A}"/>
              </a:ext>
            </a:extLst>
          </p:cNvPr>
          <p:cNvCxnSpPr>
            <a:cxnSpLocks/>
            <a:stCxn id="15" idx="0"/>
          </p:cNvCxnSpPr>
          <p:nvPr/>
        </p:nvCxnSpPr>
        <p:spPr>
          <a:xfrm flipH="1" flipV="1">
            <a:off x="7389905" y="1604105"/>
            <a:ext cx="273020" cy="104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CB0C6AE-EEC5-49A9-9950-B92A718DE05E}"/>
              </a:ext>
            </a:extLst>
          </p:cNvPr>
          <p:cNvSpPr txBox="1"/>
          <p:nvPr/>
        </p:nvSpPr>
        <p:spPr>
          <a:xfrm>
            <a:off x="7236936" y="1303020"/>
            <a:ext cx="415089" cy="140936"/>
          </a:xfrm>
          <a:prstGeom prst="rect">
            <a:avLst/>
          </a:prstGeom>
          <a:noFill/>
        </p:spPr>
        <p:txBody>
          <a:bodyPr wrap="square" rtlCol="0">
            <a:spAutoFit/>
          </a:bodyPr>
          <a:lstStyle/>
          <a:p>
            <a:r>
              <a:rPr lang="en-US" sz="316" dirty="0"/>
              <a:t>Smartphone</a:t>
            </a:r>
          </a:p>
        </p:txBody>
      </p:sp>
      <p:sp>
        <p:nvSpPr>
          <p:cNvPr id="39" name="TextBox 38">
            <a:extLst>
              <a:ext uri="{FF2B5EF4-FFF2-40B4-BE49-F238E27FC236}">
                <a16:creationId xmlns:a16="http://schemas.microsoft.com/office/drawing/2014/main" id="{0553DEDE-51BE-4D64-B5D5-CE25F40EBFA6}"/>
              </a:ext>
            </a:extLst>
          </p:cNvPr>
          <p:cNvSpPr txBox="1"/>
          <p:nvPr/>
        </p:nvSpPr>
        <p:spPr>
          <a:xfrm>
            <a:off x="7239044" y="1513544"/>
            <a:ext cx="415089" cy="140936"/>
          </a:xfrm>
          <a:prstGeom prst="rect">
            <a:avLst/>
          </a:prstGeom>
          <a:noFill/>
        </p:spPr>
        <p:txBody>
          <a:bodyPr wrap="square" rtlCol="0">
            <a:spAutoFit/>
          </a:bodyPr>
          <a:lstStyle/>
          <a:p>
            <a:r>
              <a:rPr lang="en-US" sz="316" dirty="0"/>
              <a:t>Smartwatch</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F9355AA-E2A3-4341-A01C-91AEC1D5EBBF}"/>
                  </a:ext>
                </a:extLst>
              </p:cNvPr>
              <p:cNvSpPr txBox="1"/>
              <p:nvPr/>
            </p:nvSpPr>
            <p:spPr>
              <a:xfrm>
                <a:off x="7660036" y="1919083"/>
                <a:ext cx="477021" cy="48603"/>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16" i="1">
                          <a:latin typeface="Cambria Math" panose="02040503050406030204" pitchFamily="18" charset="0"/>
                        </a:rPr>
                        <m:t>𝑝</m:t>
                      </m:r>
                      <m:d>
                        <m:dPr>
                          <m:ctrlPr>
                            <a:rPr lang="en-US" sz="316" i="1">
                              <a:latin typeface="Cambria Math" panose="02040503050406030204" pitchFamily="18" charset="0"/>
                            </a:rPr>
                          </m:ctrlPr>
                        </m:dPr>
                        <m:e>
                          <m:r>
                            <a:rPr lang="en-US" sz="316" i="1">
                              <a:latin typeface="Cambria Math" panose="02040503050406030204" pitchFamily="18" charset="0"/>
                            </a:rPr>
                            <m:t>𝑥</m:t>
                          </m:r>
                          <m:r>
                            <a:rPr lang="en-US" sz="316" i="1">
                              <a:latin typeface="Cambria Math" panose="02040503050406030204" pitchFamily="18" charset="0"/>
                            </a:rPr>
                            <m:t>1,</m:t>
                          </m:r>
                          <m:r>
                            <a:rPr lang="en-US" sz="316" i="1">
                              <a:latin typeface="Cambria Math" panose="02040503050406030204" pitchFamily="18" charset="0"/>
                            </a:rPr>
                            <m:t>𝑥</m:t>
                          </m:r>
                          <m:r>
                            <a:rPr lang="en-US" sz="316" i="1">
                              <a:latin typeface="Cambria Math" panose="02040503050406030204" pitchFamily="18" charset="0"/>
                            </a:rPr>
                            <m:t>2</m:t>
                          </m:r>
                        </m:e>
                      </m:d>
                      <m:r>
                        <a:rPr lang="en-US" sz="316" i="1">
                          <a:latin typeface="Cambria Math" panose="02040503050406030204" pitchFamily="18" charset="0"/>
                        </a:rPr>
                        <m:t>=</m:t>
                      </m:r>
                      <m:r>
                        <a:rPr lang="en-US" sz="316" i="1">
                          <a:latin typeface="Cambria Math" panose="02040503050406030204" pitchFamily="18" charset="0"/>
                        </a:rPr>
                        <m:t>𝑝</m:t>
                      </m:r>
                      <m:d>
                        <m:dPr>
                          <m:ctrlPr>
                            <a:rPr lang="en-US" sz="316" i="1">
                              <a:latin typeface="Cambria Math" panose="02040503050406030204" pitchFamily="18" charset="0"/>
                            </a:rPr>
                          </m:ctrlPr>
                        </m:dPr>
                        <m:e>
                          <m:r>
                            <a:rPr lang="en-US" sz="316" i="1">
                              <a:latin typeface="Cambria Math" panose="02040503050406030204" pitchFamily="18" charset="0"/>
                            </a:rPr>
                            <m:t>𝑥</m:t>
                          </m:r>
                          <m:r>
                            <a:rPr lang="en-US" sz="316" i="1">
                              <a:latin typeface="Cambria Math" panose="02040503050406030204" pitchFamily="18" charset="0"/>
                            </a:rPr>
                            <m:t>1</m:t>
                          </m:r>
                        </m:e>
                      </m:d>
                      <m:r>
                        <a:rPr lang="en-US" sz="316" i="1">
                          <a:latin typeface="Cambria Math" panose="02040503050406030204" pitchFamily="18" charset="0"/>
                        </a:rPr>
                        <m:t>𝑝</m:t>
                      </m:r>
                      <m:r>
                        <a:rPr lang="en-US" sz="316" i="1">
                          <a:latin typeface="Cambria Math" panose="02040503050406030204" pitchFamily="18" charset="0"/>
                        </a:rPr>
                        <m:t>(</m:t>
                      </m:r>
                      <m:r>
                        <a:rPr lang="en-US" sz="316" i="1">
                          <a:latin typeface="Cambria Math" panose="02040503050406030204" pitchFamily="18" charset="0"/>
                        </a:rPr>
                        <m:t>𝑥</m:t>
                      </m:r>
                      <m:r>
                        <a:rPr lang="en-US" sz="316" i="1">
                          <a:latin typeface="Cambria Math" panose="02040503050406030204" pitchFamily="18" charset="0"/>
                        </a:rPr>
                        <m:t>2)</m:t>
                      </m:r>
                    </m:oMath>
                  </m:oMathPara>
                </a14:m>
                <a:endParaRPr lang="en-US" sz="316" dirty="0"/>
              </a:p>
            </p:txBody>
          </p:sp>
        </mc:Choice>
        <mc:Fallback xmlns="">
          <p:sp>
            <p:nvSpPr>
              <p:cNvPr id="41" name="TextBox 40">
                <a:extLst>
                  <a:ext uri="{FF2B5EF4-FFF2-40B4-BE49-F238E27FC236}">
                    <a16:creationId xmlns:a16="http://schemas.microsoft.com/office/drawing/2014/main" id="{6F9355AA-E2A3-4341-A01C-91AEC1D5EBBF}"/>
                  </a:ext>
                </a:extLst>
              </p:cNvPr>
              <p:cNvSpPr txBox="1">
                <a:spLocks noRot="1" noChangeAspect="1" noMove="1" noResize="1" noEditPoints="1" noAdjustHandles="1" noChangeArrowheads="1" noChangeShapeType="1" noTextEdit="1"/>
              </p:cNvSpPr>
              <p:nvPr/>
            </p:nvSpPr>
            <p:spPr>
              <a:xfrm>
                <a:off x="7660036" y="1919083"/>
                <a:ext cx="477021" cy="48603"/>
              </a:xfrm>
              <a:prstGeom prst="rect">
                <a:avLst/>
              </a:prstGeom>
              <a:blipFill>
                <a:blip r:embed="rId5"/>
                <a:stretch>
                  <a:fillRect t="-12500" b="-50000"/>
                </a:stretch>
              </a:blipFill>
            </p:spPr>
            <p:txBody>
              <a:bodyPr/>
              <a:lstStyle/>
              <a:p>
                <a:r>
                  <a:rPr lang="zh-TW" altLang="en-US">
                    <a:noFill/>
                  </a:rPr>
                  <a:t> </a:t>
                </a:r>
              </a:p>
            </p:txBody>
          </p:sp>
        </mc:Fallback>
      </mc:AlternateContent>
      <p:sp>
        <p:nvSpPr>
          <p:cNvPr id="49" name="Rectangle: Rounded Corners 48">
            <a:extLst>
              <a:ext uri="{FF2B5EF4-FFF2-40B4-BE49-F238E27FC236}">
                <a16:creationId xmlns:a16="http://schemas.microsoft.com/office/drawing/2014/main" id="{153B93C7-2225-4057-8DFD-2E2BD00FE749}"/>
              </a:ext>
            </a:extLst>
          </p:cNvPr>
          <p:cNvSpPr/>
          <p:nvPr/>
        </p:nvSpPr>
        <p:spPr>
          <a:xfrm>
            <a:off x="2981156" y="1394960"/>
            <a:ext cx="915288" cy="5526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DECOMPOSING SIGNALS</a:t>
            </a:r>
          </a:p>
        </p:txBody>
      </p:sp>
      <p:sp>
        <p:nvSpPr>
          <p:cNvPr id="50" name="Rectangle: Rounded Corners 49">
            <a:extLst>
              <a:ext uri="{FF2B5EF4-FFF2-40B4-BE49-F238E27FC236}">
                <a16:creationId xmlns:a16="http://schemas.microsoft.com/office/drawing/2014/main" id="{93842B74-A5D3-4BA4-9680-DF89C2AF416E}"/>
              </a:ext>
            </a:extLst>
          </p:cNvPr>
          <p:cNvSpPr/>
          <p:nvPr/>
        </p:nvSpPr>
        <p:spPr>
          <a:xfrm>
            <a:off x="1275175" y="1376204"/>
            <a:ext cx="918442" cy="5267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COMBINING SIGNALS</a:t>
            </a:r>
          </a:p>
        </p:txBody>
      </p:sp>
      <p:sp>
        <p:nvSpPr>
          <p:cNvPr id="51" name="Rectangle: Rounded Corners 50">
            <a:extLst>
              <a:ext uri="{FF2B5EF4-FFF2-40B4-BE49-F238E27FC236}">
                <a16:creationId xmlns:a16="http://schemas.microsoft.com/office/drawing/2014/main" id="{B8DE40FF-6C96-4796-AD58-057003BD39D3}"/>
              </a:ext>
            </a:extLst>
          </p:cNvPr>
          <p:cNvSpPr/>
          <p:nvPr/>
        </p:nvSpPr>
        <p:spPr>
          <a:xfrm>
            <a:off x="3639610" y="2692366"/>
            <a:ext cx="571461" cy="260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STEPS</a:t>
            </a:r>
          </a:p>
        </p:txBody>
      </p:sp>
      <p:sp>
        <p:nvSpPr>
          <p:cNvPr id="52" name="Rectangle: Rounded Corners 51">
            <a:extLst>
              <a:ext uri="{FF2B5EF4-FFF2-40B4-BE49-F238E27FC236}">
                <a16:creationId xmlns:a16="http://schemas.microsoft.com/office/drawing/2014/main" id="{01902B1D-F7A1-404C-91E9-FF2D9F8B893F}"/>
              </a:ext>
            </a:extLst>
          </p:cNvPr>
          <p:cNvSpPr/>
          <p:nvPr/>
        </p:nvSpPr>
        <p:spPr>
          <a:xfrm>
            <a:off x="2434972" y="2688004"/>
            <a:ext cx="818577" cy="6638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RELATED WORKS</a:t>
            </a:r>
          </a:p>
        </p:txBody>
      </p:sp>
      <p:cxnSp>
        <p:nvCxnSpPr>
          <p:cNvPr id="58" name="Straight Arrow Connector 57">
            <a:extLst>
              <a:ext uri="{FF2B5EF4-FFF2-40B4-BE49-F238E27FC236}">
                <a16:creationId xmlns:a16="http://schemas.microsoft.com/office/drawing/2014/main" id="{3EF4A85B-43AA-46C8-96B7-2F81E53908D7}"/>
              </a:ext>
            </a:extLst>
          </p:cNvPr>
          <p:cNvCxnSpPr>
            <a:cxnSpLocks/>
            <a:stCxn id="6" idx="2"/>
            <a:endCxn id="50" idx="0"/>
          </p:cNvCxnSpPr>
          <p:nvPr/>
        </p:nvCxnSpPr>
        <p:spPr>
          <a:xfrm flipH="1">
            <a:off x="1734396" y="1270604"/>
            <a:ext cx="843368" cy="10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817A3E3-4701-40ED-A696-3A729A4C4587}"/>
              </a:ext>
            </a:extLst>
          </p:cNvPr>
          <p:cNvCxnSpPr>
            <a:cxnSpLocks/>
            <a:stCxn id="6" idx="2"/>
            <a:endCxn id="49" idx="0"/>
          </p:cNvCxnSpPr>
          <p:nvPr/>
        </p:nvCxnSpPr>
        <p:spPr>
          <a:xfrm>
            <a:off x="2577764" y="1270604"/>
            <a:ext cx="861036" cy="124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30F466C-29D6-4C9F-92EF-72537917B41F}"/>
              </a:ext>
            </a:extLst>
          </p:cNvPr>
          <p:cNvCxnSpPr>
            <a:cxnSpLocks/>
            <a:stCxn id="49" idx="2"/>
            <a:endCxn id="7" idx="0"/>
          </p:cNvCxnSpPr>
          <p:nvPr/>
        </p:nvCxnSpPr>
        <p:spPr>
          <a:xfrm flipH="1">
            <a:off x="3432049" y="1947563"/>
            <a:ext cx="6751" cy="140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Rectangle: Rounded Corners 66">
            <a:extLst>
              <a:ext uri="{FF2B5EF4-FFF2-40B4-BE49-F238E27FC236}">
                <a16:creationId xmlns:a16="http://schemas.microsoft.com/office/drawing/2014/main" id="{28326767-D9C4-4E05-9EE0-9FE413B89B74}"/>
              </a:ext>
            </a:extLst>
          </p:cNvPr>
          <p:cNvSpPr/>
          <p:nvPr/>
        </p:nvSpPr>
        <p:spPr>
          <a:xfrm>
            <a:off x="3639610" y="3063700"/>
            <a:ext cx="666094" cy="271238"/>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START</a:t>
            </a:r>
          </a:p>
        </p:txBody>
      </p:sp>
      <p:sp>
        <p:nvSpPr>
          <p:cNvPr id="68" name="Flowchart: Data 67">
            <a:extLst>
              <a:ext uri="{FF2B5EF4-FFF2-40B4-BE49-F238E27FC236}">
                <a16:creationId xmlns:a16="http://schemas.microsoft.com/office/drawing/2014/main" id="{8F50522B-5B49-4E17-9A41-7D14ADB6DB0A}"/>
              </a:ext>
            </a:extLst>
          </p:cNvPr>
          <p:cNvSpPr/>
          <p:nvPr/>
        </p:nvSpPr>
        <p:spPr>
          <a:xfrm>
            <a:off x="3560786" y="3461683"/>
            <a:ext cx="837142" cy="455289"/>
          </a:xfrm>
          <a:prstGeom prst="flowChartInputOutpu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Mixed Signals</a:t>
            </a:r>
          </a:p>
        </p:txBody>
      </p:sp>
      <p:cxnSp>
        <p:nvCxnSpPr>
          <p:cNvPr id="70" name="Straight Arrow Connector 69">
            <a:extLst>
              <a:ext uri="{FF2B5EF4-FFF2-40B4-BE49-F238E27FC236}">
                <a16:creationId xmlns:a16="http://schemas.microsoft.com/office/drawing/2014/main" id="{B16AAFE6-B528-4007-90BD-3A75F9D7F078}"/>
              </a:ext>
            </a:extLst>
          </p:cNvPr>
          <p:cNvCxnSpPr>
            <a:cxnSpLocks/>
            <a:stCxn id="67" idx="2"/>
            <a:endCxn id="68" idx="1"/>
          </p:cNvCxnSpPr>
          <p:nvPr/>
        </p:nvCxnSpPr>
        <p:spPr>
          <a:xfrm>
            <a:off x="3972657" y="3334938"/>
            <a:ext cx="6700" cy="12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Flowchart: Process 71">
            <a:extLst>
              <a:ext uri="{FF2B5EF4-FFF2-40B4-BE49-F238E27FC236}">
                <a16:creationId xmlns:a16="http://schemas.microsoft.com/office/drawing/2014/main" id="{440EC915-145B-41B3-A96E-2AF5E0974F65}"/>
              </a:ext>
            </a:extLst>
          </p:cNvPr>
          <p:cNvSpPr/>
          <p:nvPr/>
        </p:nvSpPr>
        <p:spPr>
          <a:xfrm>
            <a:off x="3619078" y="4063072"/>
            <a:ext cx="730225" cy="475532"/>
          </a:xfrm>
          <a:prstGeom prst="flowChartProcess">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Ensuring the Data</a:t>
            </a:r>
          </a:p>
        </p:txBody>
      </p:sp>
      <p:sp>
        <p:nvSpPr>
          <p:cNvPr id="73" name="Flowchart: Process 72">
            <a:extLst>
              <a:ext uri="{FF2B5EF4-FFF2-40B4-BE49-F238E27FC236}">
                <a16:creationId xmlns:a16="http://schemas.microsoft.com/office/drawing/2014/main" id="{D77F24A2-03D5-4131-BE55-00358BEDD241}"/>
              </a:ext>
            </a:extLst>
          </p:cNvPr>
          <p:cNvSpPr/>
          <p:nvPr/>
        </p:nvSpPr>
        <p:spPr>
          <a:xfrm>
            <a:off x="3560786" y="4687089"/>
            <a:ext cx="850899" cy="356186"/>
          </a:xfrm>
          <a:prstGeom prst="flowChartProcess">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Preprocessing</a:t>
            </a:r>
          </a:p>
        </p:txBody>
      </p:sp>
      <p:sp>
        <p:nvSpPr>
          <p:cNvPr id="74" name="Flowchart: Process 73">
            <a:extLst>
              <a:ext uri="{FF2B5EF4-FFF2-40B4-BE49-F238E27FC236}">
                <a16:creationId xmlns:a16="http://schemas.microsoft.com/office/drawing/2014/main" id="{218F3322-4080-4D06-95BF-D7F68668ECAA}"/>
              </a:ext>
            </a:extLst>
          </p:cNvPr>
          <p:cNvSpPr/>
          <p:nvPr/>
        </p:nvSpPr>
        <p:spPr>
          <a:xfrm>
            <a:off x="3511463" y="5169901"/>
            <a:ext cx="949544" cy="426858"/>
          </a:xfrm>
          <a:prstGeom prst="flowChartProcess">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ICA Signals decomposition</a:t>
            </a:r>
          </a:p>
        </p:txBody>
      </p:sp>
      <p:sp>
        <p:nvSpPr>
          <p:cNvPr id="75" name="Flowchart: Data 74">
            <a:extLst>
              <a:ext uri="{FF2B5EF4-FFF2-40B4-BE49-F238E27FC236}">
                <a16:creationId xmlns:a16="http://schemas.microsoft.com/office/drawing/2014/main" id="{ED971D4A-0CA0-40F2-A08D-453480839DDA}"/>
              </a:ext>
            </a:extLst>
          </p:cNvPr>
          <p:cNvSpPr/>
          <p:nvPr/>
        </p:nvSpPr>
        <p:spPr>
          <a:xfrm>
            <a:off x="3432048" y="5698069"/>
            <a:ext cx="1362106" cy="340895"/>
          </a:xfrm>
          <a:prstGeom prst="flowChartInputOutpu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Independent Components</a:t>
            </a:r>
          </a:p>
        </p:txBody>
      </p:sp>
      <p:sp>
        <p:nvSpPr>
          <p:cNvPr id="76" name="Rectangle: Rounded Corners 75">
            <a:extLst>
              <a:ext uri="{FF2B5EF4-FFF2-40B4-BE49-F238E27FC236}">
                <a16:creationId xmlns:a16="http://schemas.microsoft.com/office/drawing/2014/main" id="{5A63AA60-802D-4BAC-BF79-1BE21A7B9A37}"/>
              </a:ext>
            </a:extLst>
          </p:cNvPr>
          <p:cNvSpPr/>
          <p:nvPr/>
        </p:nvSpPr>
        <p:spPr>
          <a:xfrm>
            <a:off x="3896444" y="6143446"/>
            <a:ext cx="447045" cy="198687"/>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END</a:t>
            </a:r>
          </a:p>
        </p:txBody>
      </p:sp>
      <p:cxnSp>
        <p:nvCxnSpPr>
          <p:cNvPr id="77" name="Straight Arrow Connector 76">
            <a:extLst>
              <a:ext uri="{FF2B5EF4-FFF2-40B4-BE49-F238E27FC236}">
                <a16:creationId xmlns:a16="http://schemas.microsoft.com/office/drawing/2014/main" id="{24DC2BDF-94B6-4704-8BB7-38DC65A7A749}"/>
              </a:ext>
            </a:extLst>
          </p:cNvPr>
          <p:cNvCxnSpPr>
            <a:cxnSpLocks/>
            <a:stCxn id="7" idx="2"/>
            <a:endCxn id="52" idx="0"/>
          </p:cNvCxnSpPr>
          <p:nvPr/>
        </p:nvCxnSpPr>
        <p:spPr>
          <a:xfrm flipH="1">
            <a:off x="2844261" y="2440609"/>
            <a:ext cx="587788" cy="247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214F0C9-A48C-4E12-B75A-47A86584C237}"/>
              </a:ext>
            </a:extLst>
          </p:cNvPr>
          <p:cNvCxnSpPr>
            <a:cxnSpLocks/>
            <a:stCxn id="7" idx="2"/>
            <a:endCxn id="51" idx="0"/>
          </p:cNvCxnSpPr>
          <p:nvPr/>
        </p:nvCxnSpPr>
        <p:spPr>
          <a:xfrm>
            <a:off x="3432049" y="2440609"/>
            <a:ext cx="493292" cy="25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9A936284-4DC3-4F61-BD4F-D9824D37053A}"/>
              </a:ext>
            </a:extLst>
          </p:cNvPr>
          <p:cNvSpPr/>
          <p:nvPr/>
        </p:nvSpPr>
        <p:spPr>
          <a:xfrm>
            <a:off x="2364273" y="2544156"/>
            <a:ext cx="934197" cy="3799493"/>
          </a:xfrm>
          <a:prstGeom prst="rect">
            <a:avLst/>
          </a:prstGeom>
          <a:noFill/>
          <a:ln w="635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sp>
        <p:nvSpPr>
          <p:cNvPr id="84" name="Rectangle 83">
            <a:extLst>
              <a:ext uri="{FF2B5EF4-FFF2-40B4-BE49-F238E27FC236}">
                <a16:creationId xmlns:a16="http://schemas.microsoft.com/office/drawing/2014/main" id="{ED470ED2-A7CB-498B-9610-428F13AD6AD7}"/>
              </a:ext>
            </a:extLst>
          </p:cNvPr>
          <p:cNvSpPr/>
          <p:nvPr/>
        </p:nvSpPr>
        <p:spPr>
          <a:xfrm>
            <a:off x="3324246" y="2544156"/>
            <a:ext cx="1547533" cy="3799493"/>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sp>
        <p:nvSpPr>
          <p:cNvPr id="85" name="Rectangle 84">
            <a:extLst>
              <a:ext uri="{FF2B5EF4-FFF2-40B4-BE49-F238E27FC236}">
                <a16:creationId xmlns:a16="http://schemas.microsoft.com/office/drawing/2014/main" id="{35C4DC7D-B6BA-4341-B3C3-C8E5DD1873DE}"/>
              </a:ext>
            </a:extLst>
          </p:cNvPr>
          <p:cNvSpPr/>
          <p:nvPr/>
        </p:nvSpPr>
        <p:spPr>
          <a:xfrm>
            <a:off x="4794154" y="694883"/>
            <a:ext cx="4426158" cy="2253506"/>
          </a:xfrm>
          <a:prstGeom prst="rect">
            <a:avLst/>
          </a:prstGeom>
          <a:noFill/>
          <a:ln w="635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cxnSp>
        <p:nvCxnSpPr>
          <p:cNvPr id="94" name="Connector: Elbow 93">
            <a:extLst>
              <a:ext uri="{FF2B5EF4-FFF2-40B4-BE49-F238E27FC236}">
                <a16:creationId xmlns:a16="http://schemas.microsoft.com/office/drawing/2014/main" id="{A942E41C-B10E-40EF-822F-1D84B387C420}"/>
              </a:ext>
            </a:extLst>
          </p:cNvPr>
          <p:cNvCxnSpPr>
            <a:cxnSpLocks/>
            <a:stCxn id="72" idx="3"/>
            <a:endCxn id="85" idx="1"/>
          </p:cNvCxnSpPr>
          <p:nvPr/>
        </p:nvCxnSpPr>
        <p:spPr>
          <a:xfrm flipV="1">
            <a:off x="4349303" y="1821636"/>
            <a:ext cx="444851" cy="2479202"/>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01" name="Picture 100">
            <a:extLst>
              <a:ext uri="{FF2B5EF4-FFF2-40B4-BE49-F238E27FC236}">
                <a16:creationId xmlns:a16="http://schemas.microsoft.com/office/drawing/2014/main" id="{49C805D6-1A4F-4296-A4D1-A61A618F9F86}"/>
              </a:ext>
            </a:extLst>
          </p:cNvPr>
          <p:cNvPicPr>
            <a:picLocks noChangeAspect="1"/>
          </p:cNvPicPr>
          <p:nvPr/>
        </p:nvPicPr>
        <p:blipFill>
          <a:blip r:embed="rId3"/>
          <a:stretch>
            <a:fillRect/>
          </a:stretch>
        </p:blipFill>
        <p:spPr>
          <a:xfrm>
            <a:off x="5011698" y="1305270"/>
            <a:ext cx="1346078" cy="577813"/>
          </a:xfrm>
          <a:prstGeom prst="rect">
            <a:avLst/>
          </a:prstGeom>
        </p:spPr>
      </p:pic>
      <p:sp>
        <p:nvSpPr>
          <p:cNvPr id="103" name="TextBox 102">
            <a:extLst>
              <a:ext uri="{FF2B5EF4-FFF2-40B4-BE49-F238E27FC236}">
                <a16:creationId xmlns:a16="http://schemas.microsoft.com/office/drawing/2014/main" id="{D068D623-7076-4E2F-A7E9-35BC79A7E05D}"/>
              </a:ext>
            </a:extLst>
          </p:cNvPr>
          <p:cNvSpPr txBox="1"/>
          <p:nvPr/>
        </p:nvSpPr>
        <p:spPr>
          <a:xfrm>
            <a:off x="5229994" y="1163020"/>
            <a:ext cx="1024639" cy="201594"/>
          </a:xfrm>
          <a:prstGeom prst="rect">
            <a:avLst/>
          </a:prstGeom>
          <a:noFill/>
        </p:spPr>
        <p:txBody>
          <a:bodyPr wrap="none" rtlCol="0">
            <a:spAutoFit/>
          </a:bodyPr>
          <a:lstStyle/>
          <a:p>
            <a:r>
              <a:rPr lang="en-US" sz="710" dirty="0"/>
              <a:t>Cocktail Party Problem</a:t>
            </a:r>
          </a:p>
        </p:txBody>
      </p:sp>
      <p:sp>
        <p:nvSpPr>
          <p:cNvPr id="106" name="TextBox 105">
            <a:extLst>
              <a:ext uri="{FF2B5EF4-FFF2-40B4-BE49-F238E27FC236}">
                <a16:creationId xmlns:a16="http://schemas.microsoft.com/office/drawing/2014/main" id="{59ED3413-D60D-4820-854C-A4A7DB9ED2BA}"/>
              </a:ext>
            </a:extLst>
          </p:cNvPr>
          <p:cNvSpPr txBox="1"/>
          <p:nvPr/>
        </p:nvSpPr>
        <p:spPr>
          <a:xfrm>
            <a:off x="5229994" y="747413"/>
            <a:ext cx="1169680" cy="310854"/>
          </a:xfrm>
          <a:prstGeom prst="rect">
            <a:avLst/>
          </a:prstGeom>
          <a:noFill/>
          <a:ln>
            <a:solidFill>
              <a:schemeClr val="accent1"/>
            </a:solidFill>
          </a:ln>
        </p:spPr>
        <p:txBody>
          <a:bodyPr wrap="none" rtlCol="0">
            <a:spAutoFit/>
          </a:bodyPr>
          <a:lstStyle/>
          <a:p>
            <a:r>
              <a:rPr lang="en-US" sz="710" dirty="0"/>
              <a:t>General Case that can be</a:t>
            </a:r>
          </a:p>
          <a:p>
            <a:pPr algn="ctr"/>
            <a:r>
              <a:rPr lang="en-US" sz="710" dirty="0"/>
              <a:t>Solved using ICA</a:t>
            </a:r>
          </a:p>
        </p:txBody>
      </p:sp>
      <p:cxnSp>
        <p:nvCxnSpPr>
          <p:cNvPr id="108" name="Straight Connector 107">
            <a:extLst>
              <a:ext uri="{FF2B5EF4-FFF2-40B4-BE49-F238E27FC236}">
                <a16:creationId xmlns:a16="http://schemas.microsoft.com/office/drawing/2014/main" id="{932277EC-D761-45D9-89E1-CBA28DF6C780}"/>
              </a:ext>
            </a:extLst>
          </p:cNvPr>
          <p:cNvCxnSpPr>
            <a:cxnSpLocks/>
          </p:cNvCxnSpPr>
          <p:nvPr/>
        </p:nvCxnSpPr>
        <p:spPr>
          <a:xfrm>
            <a:off x="6816918" y="694883"/>
            <a:ext cx="0" cy="2253505"/>
          </a:xfrm>
          <a:prstGeom prst="line">
            <a:avLst/>
          </a:prstGeom>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AAE0D57C-4BA4-4984-A992-160A0F39B4B2}"/>
              </a:ext>
            </a:extLst>
          </p:cNvPr>
          <p:cNvSpPr txBox="1"/>
          <p:nvPr/>
        </p:nvSpPr>
        <p:spPr>
          <a:xfrm>
            <a:off x="7669314" y="772778"/>
            <a:ext cx="518091" cy="201594"/>
          </a:xfrm>
          <a:prstGeom prst="rect">
            <a:avLst/>
          </a:prstGeom>
          <a:noFill/>
          <a:ln>
            <a:solidFill>
              <a:schemeClr val="accent1"/>
            </a:solidFill>
          </a:ln>
        </p:spPr>
        <p:txBody>
          <a:bodyPr wrap="none" rtlCol="0">
            <a:spAutoFit/>
          </a:bodyPr>
          <a:lstStyle/>
          <a:p>
            <a:r>
              <a:rPr lang="en-US" sz="710" dirty="0"/>
              <a:t>Our Case</a:t>
            </a:r>
          </a:p>
        </p:txBody>
      </p:sp>
      <p:sp>
        <p:nvSpPr>
          <p:cNvPr id="125" name="Rectangle 124">
            <a:extLst>
              <a:ext uri="{FF2B5EF4-FFF2-40B4-BE49-F238E27FC236}">
                <a16:creationId xmlns:a16="http://schemas.microsoft.com/office/drawing/2014/main" id="{E1008A9A-2095-40A1-A9D8-BB4723844672}"/>
              </a:ext>
            </a:extLst>
          </p:cNvPr>
          <p:cNvSpPr/>
          <p:nvPr/>
        </p:nvSpPr>
        <p:spPr>
          <a:xfrm>
            <a:off x="772629" y="2590074"/>
            <a:ext cx="1419933" cy="3339302"/>
          </a:xfrm>
          <a:prstGeom prst="rect">
            <a:avLst/>
          </a:prstGeom>
          <a:noFill/>
          <a:ln w="635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1100"/>
          </a:p>
        </p:txBody>
      </p:sp>
      <p:sp>
        <p:nvSpPr>
          <p:cNvPr id="126" name="Rectangle: Rounded Corners 125">
            <a:extLst>
              <a:ext uri="{FF2B5EF4-FFF2-40B4-BE49-F238E27FC236}">
                <a16:creationId xmlns:a16="http://schemas.microsoft.com/office/drawing/2014/main" id="{1D9ADED5-B552-40DE-9F14-55D219C8592C}"/>
              </a:ext>
            </a:extLst>
          </p:cNvPr>
          <p:cNvSpPr/>
          <p:nvPr/>
        </p:nvSpPr>
        <p:spPr>
          <a:xfrm>
            <a:off x="1643864" y="2872133"/>
            <a:ext cx="511039" cy="4349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STEPS</a:t>
            </a:r>
          </a:p>
        </p:txBody>
      </p:sp>
      <p:sp>
        <p:nvSpPr>
          <p:cNvPr id="127" name="Rectangle: Rounded Corners 126">
            <a:extLst>
              <a:ext uri="{FF2B5EF4-FFF2-40B4-BE49-F238E27FC236}">
                <a16:creationId xmlns:a16="http://schemas.microsoft.com/office/drawing/2014/main" id="{D35C35B3-D9A8-4D65-BD96-E5B89D1177BF}"/>
              </a:ext>
            </a:extLst>
          </p:cNvPr>
          <p:cNvSpPr/>
          <p:nvPr/>
        </p:nvSpPr>
        <p:spPr>
          <a:xfrm>
            <a:off x="816633" y="2835249"/>
            <a:ext cx="804452" cy="7683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RELATED WORKS</a:t>
            </a:r>
          </a:p>
        </p:txBody>
      </p:sp>
      <p:sp>
        <p:nvSpPr>
          <p:cNvPr id="130" name="Rectangle: Rounded Corners 129">
            <a:extLst>
              <a:ext uri="{FF2B5EF4-FFF2-40B4-BE49-F238E27FC236}">
                <a16:creationId xmlns:a16="http://schemas.microsoft.com/office/drawing/2014/main" id="{14EEF07E-FE85-4A6A-8C1F-96A41E5FB1D4}"/>
              </a:ext>
            </a:extLst>
          </p:cNvPr>
          <p:cNvSpPr/>
          <p:nvPr/>
        </p:nvSpPr>
        <p:spPr>
          <a:xfrm>
            <a:off x="1382057" y="2044698"/>
            <a:ext cx="711203" cy="3527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r>
              <a:rPr lang="en-US" sz="1100" dirty="0"/>
              <a:t>STEPS</a:t>
            </a:r>
          </a:p>
        </p:txBody>
      </p:sp>
      <p:cxnSp>
        <p:nvCxnSpPr>
          <p:cNvPr id="132" name="Connector: Elbow 131">
            <a:extLst>
              <a:ext uri="{FF2B5EF4-FFF2-40B4-BE49-F238E27FC236}">
                <a16:creationId xmlns:a16="http://schemas.microsoft.com/office/drawing/2014/main" id="{7A88EACE-B412-40CF-A944-4EBD35B6A46E}"/>
              </a:ext>
            </a:extLst>
          </p:cNvPr>
          <p:cNvCxnSpPr>
            <a:cxnSpLocks/>
            <a:stCxn id="50" idx="2"/>
            <a:endCxn id="130" idx="0"/>
          </p:cNvCxnSpPr>
          <p:nvPr/>
        </p:nvCxnSpPr>
        <p:spPr>
          <a:xfrm rot="16200000" flipH="1">
            <a:off x="1665143" y="1972181"/>
            <a:ext cx="141769" cy="3263"/>
          </a:xfrm>
          <a:prstGeom prst="bentConnector3">
            <a:avLst>
              <a:gd name="adj1" fmla="val 50000"/>
            </a:avLst>
          </a:prstGeom>
          <a:ln w="6350">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3CA0C2C-0DF4-4927-833B-752F9953B1E8}"/>
              </a:ext>
            </a:extLst>
          </p:cNvPr>
          <p:cNvCxnSpPr>
            <a:cxnSpLocks/>
            <a:stCxn id="130" idx="2"/>
            <a:endCxn id="127" idx="0"/>
          </p:cNvCxnSpPr>
          <p:nvPr/>
        </p:nvCxnSpPr>
        <p:spPr>
          <a:xfrm flipH="1">
            <a:off x="1218859" y="2397497"/>
            <a:ext cx="518800" cy="437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702E58C3-D826-4FF5-9DA8-7077D62ED4E8}"/>
              </a:ext>
            </a:extLst>
          </p:cNvPr>
          <p:cNvCxnSpPr>
            <a:cxnSpLocks/>
            <a:stCxn id="130" idx="2"/>
            <a:endCxn id="126" idx="0"/>
          </p:cNvCxnSpPr>
          <p:nvPr/>
        </p:nvCxnSpPr>
        <p:spPr>
          <a:xfrm>
            <a:off x="1737659" y="2397497"/>
            <a:ext cx="161725" cy="474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1D395098-C0B7-430C-BEA7-B370821C4D10}"/>
              </a:ext>
            </a:extLst>
          </p:cNvPr>
          <p:cNvCxnSpPr>
            <a:cxnSpLocks/>
            <a:stCxn id="68" idx="4"/>
            <a:endCxn id="72" idx="0"/>
          </p:cNvCxnSpPr>
          <p:nvPr/>
        </p:nvCxnSpPr>
        <p:spPr>
          <a:xfrm>
            <a:off x="3979357" y="3916972"/>
            <a:ext cx="4834" cy="146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12A15179-35AD-4B18-A9B6-12AC1C1CC7FA}"/>
              </a:ext>
            </a:extLst>
          </p:cNvPr>
          <p:cNvCxnSpPr>
            <a:cxnSpLocks/>
            <a:stCxn id="72" idx="2"/>
            <a:endCxn id="73" idx="0"/>
          </p:cNvCxnSpPr>
          <p:nvPr/>
        </p:nvCxnSpPr>
        <p:spPr>
          <a:xfrm>
            <a:off x="3984191" y="4538604"/>
            <a:ext cx="2045" cy="148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D2E8645B-BDC9-400B-979B-E4C8C4FAA128}"/>
              </a:ext>
            </a:extLst>
          </p:cNvPr>
          <p:cNvCxnSpPr>
            <a:cxnSpLocks/>
            <a:stCxn id="73" idx="2"/>
            <a:endCxn id="74" idx="0"/>
          </p:cNvCxnSpPr>
          <p:nvPr/>
        </p:nvCxnSpPr>
        <p:spPr>
          <a:xfrm flipH="1">
            <a:off x="3986235" y="5043275"/>
            <a:ext cx="1" cy="126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4BB0197B-07B6-4295-B081-B4F042F3104F}"/>
              </a:ext>
            </a:extLst>
          </p:cNvPr>
          <p:cNvCxnSpPr>
            <a:cxnSpLocks/>
            <a:stCxn id="74" idx="2"/>
          </p:cNvCxnSpPr>
          <p:nvPr/>
        </p:nvCxnSpPr>
        <p:spPr>
          <a:xfrm>
            <a:off x="3986235" y="5596759"/>
            <a:ext cx="0" cy="101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F31D1366-90E6-41B0-8CD7-02CC6BB8FF43}"/>
              </a:ext>
            </a:extLst>
          </p:cNvPr>
          <p:cNvCxnSpPr>
            <a:cxnSpLocks/>
            <a:stCxn id="75" idx="4"/>
            <a:endCxn id="76" idx="0"/>
          </p:cNvCxnSpPr>
          <p:nvPr/>
        </p:nvCxnSpPr>
        <p:spPr>
          <a:xfrm>
            <a:off x="4113101" y="6038964"/>
            <a:ext cx="6866" cy="104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FC796CD0-4E4D-4778-AE0F-26D3CCC85D48}"/>
              </a:ext>
            </a:extLst>
          </p:cNvPr>
          <p:cNvSpPr/>
          <p:nvPr/>
        </p:nvSpPr>
        <p:spPr>
          <a:xfrm>
            <a:off x="8692360" y="3179739"/>
            <a:ext cx="2403397" cy="1760237"/>
          </a:xfrm>
          <a:prstGeom prst="rect">
            <a:avLst/>
          </a:prstGeom>
          <a:noFill/>
          <a:ln w="635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pic>
        <p:nvPicPr>
          <p:cNvPr id="204" name="Picture 203">
            <a:extLst>
              <a:ext uri="{FF2B5EF4-FFF2-40B4-BE49-F238E27FC236}">
                <a16:creationId xmlns:a16="http://schemas.microsoft.com/office/drawing/2014/main" id="{96EEB6C8-1625-4838-A22C-09478177D480}"/>
              </a:ext>
            </a:extLst>
          </p:cNvPr>
          <p:cNvPicPr>
            <a:picLocks noChangeAspect="1"/>
          </p:cNvPicPr>
          <p:nvPr/>
        </p:nvPicPr>
        <p:blipFill>
          <a:blip r:embed="rId6"/>
          <a:stretch>
            <a:fillRect/>
          </a:stretch>
        </p:blipFill>
        <p:spPr>
          <a:xfrm>
            <a:off x="8770301" y="3222167"/>
            <a:ext cx="2174071" cy="715256"/>
          </a:xfrm>
          <a:prstGeom prst="rect">
            <a:avLst/>
          </a:prstGeom>
        </p:spPr>
      </p:pic>
      <p:sp>
        <p:nvSpPr>
          <p:cNvPr id="205" name="TextBox 204">
            <a:extLst>
              <a:ext uri="{FF2B5EF4-FFF2-40B4-BE49-F238E27FC236}">
                <a16:creationId xmlns:a16="http://schemas.microsoft.com/office/drawing/2014/main" id="{250C1E75-9F14-45A8-A717-AD6D7EBF56DD}"/>
              </a:ext>
            </a:extLst>
          </p:cNvPr>
          <p:cNvSpPr txBox="1"/>
          <p:nvPr/>
        </p:nvSpPr>
        <p:spPr>
          <a:xfrm>
            <a:off x="8840206" y="3948363"/>
            <a:ext cx="412292" cy="159146"/>
          </a:xfrm>
          <a:prstGeom prst="rect">
            <a:avLst/>
          </a:prstGeom>
          <a:noFill/>
          <a:ln>
            <a:solidFill>
              <a:srgbClr val="00B0F0"/>
            </a:solidFill>
          </a:ln>
        </p:spPr>
        <p:txBody>
          <a:bodyPr wrap="none" rtlCol="0">
            <a:spAutoFit/>
          </a:bodyPr>
          <a:lstStyle/>
          <a:p>
            <a:r>
              <a:rPr lang="en-US" sz="434" dirty="0"/>
              <a:t>Sine wave</a:t>
            </a:r>
          </a:p>
        </p:txBody>
      </p:sp>
      <p:sp>
        <p:nvSpPr>
          <p:cNvPr id="206" name="TextBox 205">
            <a:extLst>
              <a:ext uri="{FF2B5EF4-FFF2-40B4-BE49-F238E27FC236}">
                <a16:creationId xmlns:a16="http://schemas.microsoft.com/office/drawing/2014/main" id="{3784F829-4F87-4A69-98E6-3D70925F7D6B}"/>
              </a:ext>
            </a:extLst>
          </p:cNvPr>
          <p:cNvSpPr txBox="1"/>
          <p:nvPr/>
        </p:nvSpPr>
        <p:spPr>
          <a:xfrm>
            <a:off x="9250454" y="3948363"/>
            <a:ext cx="562975" cy="159146"/>
          </a:xfrm>
          <a:prstGeom prst="rect">
            <a:avLst/>
          </a:prstGeom>
          <a:noFill/>
          <a:ln>
            <a:solidFill>
              <a:srgbClr val="00B0F0"/>
            </a:solidFill>
          </a:ln>
        </p:spPr>
        <p:txBody>
          <a:bodyPr wrap="none" rtlCol="0">
            <a:spAutoFit/>
          </a:bodyPr>
          <a:lstStyle/>
          <a:p>
            <a:r>
              <a:rPr lang="en-US" sz="434" dirty="0"/>
              <a:t>Saw-tooth signal</a:t>
            </a:r>
          </a:p>
        </p:txBody>
      </p:sp>
      <p:sp>
        <p:nvSpPr>
          <p:cNvPr id="207" name="TextBox 206">
            <a:extLst>
              <a:ext uri="{FF2B5EF4-FFF2-40B4-BE49-F238E27FC236}">
                <a16:creationId xmlns:a16="http://schemas.microsoft.com/office/drawing/2014/main" id="{4197B13D-23CC-4DF4-93B0-0C313123088E}"/>
              </a:ext>
            </a:extLst>
          </p:cNvPr>
          <p:cNvSpPr txBox="1"/>
          <p:nvPr/>
        </p:nvSpPr>
        <p:spPr>
          <a:xfrm>
            <a:off x="10020147" y="3904042"/>
            <a:ext cx="649537" cy="159146"/>
          </a:xfrm>
          <a:prstGeom prst="rect">
            <a:avLst/>
          </a:prstGeom>
          <a:noFill/>
          <a:ln>
            <a:solidFill>
              <a:srgbClr val="00B0F0"/>
            </a:solidFill>
          </a:ln>
        </p:spPr>
        <p:txBody>
          <a:bodyPr wrap="none" rtlCol="0">
            <a:spAutoFit/>
          </a:bodyPr>
          <a:lstStyle/>
          <a:p>
            <a:r>
              <a:rPr lang="en-US" sz="434" dirty="0"/>
              <a:t>Random noise signal</a:t>
            </a:r>
          </a:p>
        </p:txBody>
      </p:sp>
      <p:cxnSp>
        <p:nvCxnSpPr>
          <p:cNvPr id="209" name="Straight Arrow Connector 208">
            <a:extLst>
              <a:ext uri="{FF2B5EF4-FFF2-40B4-BE49-F238E27FC236}">
                <a16:creationId xmlns:a16="http://schemas.microsoft.com/office/drawing/2014/main" id="{525B2DA9-BCD8-4A88-8510-D7B787A50897}"/>
              </a:ext>
            </a:extLst>
          </p:cNvPr>
          <p:cNvCxnSpPr>
            <a:cxnSpLocks/>
            <a:stCxn id="205" idx="0"/>
          </p:cNvCxnSpPr>
          <p:nvPr/>
        </p:nvCxnSpPr>
        <p:spPr>
          <a:xfrm flipV="1">
            <a:off x="8990234" y="3834290"/>
            <a:ext cx="68733" cy="114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76328D04-3A80-468F-BB92-6D44AACB0D0A}"/>
              </a:ext>
            </a:extLst>
          </p:cNvPr>
          <p:cNvCxnSpPr>
            <a:cxnSpLocks/>
            <a:stCxn id="206" idx="0"/>
          </p:cNvCxnSpPr>
          <p:nvPr/>
        </p:nvCxnSpPr>
        <p:spPr>
          <a:xfrm flipV="1">
            <a:off x="9473884" y="3834290"/>
            <a:ext cx="53586" cy="114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7E4C51A1-83F8-42CC-B234-153FAACBCDE3}"/>
              </a:ext>
            </a:extLst>
          </p:cNvPr>
          <p:cNvCxnSpPr>
            <a:cxnSpLocks/>
            <a:stCxn id="207" idx="0"/>
          </p:cNvCxnSpPr>
          <p:nvPr/>
        </p:nvCxnSpPr>
        <p:spPr>
          <a:xfrm flipV="1">
            <a:off x="10287870" y="3512668"/>
            <a:ext cx="0" cy="391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png">
            <a:extLst>
              <a:ext uri="{FF2B5EF4-FFF2-40B4-BE49-F238E27FC236}">
                <a16:creationId xmlns:a16="http://schemas.microsoft.com/office/drawing/2014/main" id="{51E21BA1-31A9-40B3-8FB5-BB3C8CB92B4E}"/>
              </a:ext>
            </a:extLst>
          </p:cNvPr>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773050" y="4130414"/>
            <a:ext cx="2184359" cy="744238"/>
          </a:xfrm>
          <a:prstGeom prst="rect">
            <a:avLst/>
          </a:prstGeom>
          <a:noFill/>
          <a:extLst>
            <a:ext uri="{909E8E84-426E-40DD-AFC4-6F175D3DCCD1}">
              <a14:hiddenFill xmlns:a14="http://schemas.microsoft.com/office/drawing/2010/main">
                <a:solidFill>
                  <a:srgbClr val="FFFFFF"/>
                </a:solidFill>
              </a14:hiddenFill>
            </a:ext>
          </a:extLst>
        </p:spPr>
      </p:pic>
      <p:cxnSp>
        <p:nvCxnSpPr>
          <p:cNvPr id="219" name="Straight Arrow Connector 218">
            <a:extLst>
              <a:ext uri="{FF2B5EF4-FFF2-40B4-BE49-F238E27FC236}">
                <a16:creationId xmlns:a16="http://schemas.microsoft.com/office/drawing/2014/main" id="{81ABF404-7B56-4561-969F-20FAAE4A87B7}"/>
              </a:ext>
            </a:extLst>
          </p:cNvPr>
          <p:cNvCxnSpPr>
            <a:cxnSpLocks/>
          </p:cNvCxnSpPr>
          <p:nvPr/>
        </p:nvCxnSpPr>
        <p:spPr>
          <a:xfrm>
            <a:off x="8932745" y="1940092"/>
            <a:ext cx="187894" cy="681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7" name="Connector: Elbow 226">
            <a:extLst>
              <a:ext uri="{FF2B5EF4-FFF2-40B4-BE49-F238E27FC236}">
                <a16:creationId xmlns:a16="http://schemas.microsoft.com/office/drawing/2014/main" id="{707A62CE-059C-4F67-849D-FF6A40D79B17}"/>
              </a:ext>
            </a:extLst>
          </p:cNvPr>
          <p:cNvCxnSpPr>
            <a:cxnSpLocks/>
            <a:endCxn id="1026" idx="1"/>
          </p:cNvCxnSpPr>
          <p:nvPr/>
        </p:nvCxnSpPr>
        <p:spPr>
          <a:xfrm rot="16200000" flipH="1">
            <a:off x="7058492" y="2787975"/>
            <a:ext cx="2034718" cy="13943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9" name="Rectangle 238">
            <a:extLst>
              <a:ext uri="{FF2B5EF4-FFF2-40B4-BE49-F238E27FC236}">
                <a16:creationId xmlns:a16="http://schemas.microsoft.com/office/drawing/2014/main" id="{F8F8F4C2-30DB-4A5E-BCDA-771B59C2F17B}"/>
              </a:ext>
            </a:extLst>
          </p:cNvPr>
          <p:cNvSpPr/>
          <p:nvPr/>
        </p:nvSpPr>
        <p:spPr>
          <a:xfrm>
            <a:off x="5317668" y="3892243"/>
            <a:ext cx="2164011" cy="2197381"/>
          </a:xfrm>
          <a:prstGeom prst="rect">
            <a:avLst/>
          </a:prstGeom>
          <a:noFill/>
          <a:ln w="635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95" tIns="18047" rIns="36095" bIns="18047" numCol="1" spcCol="0" rtlCol="0" fromWordArt="0" anchor="ctr" anchorCtr="0" forceAA="0" compatLnSpc="1">
            <a:prstTxWarp prst="textNoShape">
              <a:avLst/>
            </a:prstTxWarp>
            <a:noAutofit/>
          </a:bodyPr>
          <a:lstStyle/>
          <a:p>
            <a:pPr algn="ctr"/>
            <a:endParaRPr lang="en-US" sz="710"/>
          </a:p>
        </p:txBody>
      </p:sp>
      <p:cxnSp>
        <p:nvCxnSpPr>
          <p:cNvPr id="240" name="Connector: Elbow 239">
            <a:extLst>
              <a:ext uri="{FF2B5EF4-FFF2-40B4-BE49-F238E27FC236}">
                <a16:creationId xmlns:a16="http://schemas.microsoft.com/office/drawing/2014/main" id="{9C6C6ED7-083C-4DAF-AC7A-604151563647}"/>
              </a:ext>
            </a:extLst>
          </p:cNvPr>
          <p:cNvCxnSpPr>
            <a:cxnSpLocks/>
            <a:stCxn id="75" idx="5"/>
            <a:endCxn id="239" idx="0"/>
          </p:cNvCxnSpPr>
          <p:nvPr/>
        </p:nvCxnSpPr>
        <p:spPr>
          <a:xfrm flipV="1">
            <a:off x="4657943" y="3892243"/>
            <a:ext cx="1741731" cy="1976274"/>
          </a:xfrm>
          <a:prstGeom prst="bentConnector4">
            <a:avLst>
              <a:gd name="adj1" fmla="val 20771"/>
              <a:gd name="adj2" fmla="val 111567"/>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42" name="Picture 241">
            <a:extLst>
              <a:ext uri="{FF2B5EF4-FFF2-40B4-BE49-F238E27FC236}">
                <a16:creationId xmlns:a16="http://schemas.microsoft.com/office/drawing/2014/main" id="{F2C867B2-2A53-4711-9A3E-3C2B1E0AFE16}"/>
              </a:ext>
            </a:extLst>
          </p:cNvPr>
          <p:cNvPicPr>
            <a:picLocks noChangeAspect="1"/>
          </p:cNvPicPr>
          <p:nvPr/>
        </p:nvPicPr>
        <p:blipFill>
          <a:blip r:embed="rId8"/>
          <a:stretch>
            <a:fillRect/>
          </a:stretch>
        </p:blipFill>
        <p:spPr>
          <a:xfrm>
            <a:off x="5369977" y="3913811"/>
            <a:ext cx="2017208" cy="617460"/>
          </a:xfrm>
          <a:prstGeom prst="rect">
            <a:avLst/>
          </a:prstGeom>
        </p:spPr>
      </p:pic>
      <p:pic>
        <p:nvPicPr>
          <p:cNvPr id="244" name="Picture 2" descr="png">
            <a:extLst>
              <a:ext uri="{FF2B5EF4-FFF2-40B4-BE49-F238E27FC236}">
                <a16:creationId xmlns:a16="http://schemas.microsoft.com/office/drawing/2014/main" id="{A77302B6-FC30-4DDF-8D5F-64075931AC4C}"/>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5389052" y="4603268"/>
            <a:ext cx="1976494" cy="673416"/>
          </a:xfrm>
          <a:prstGeom prst="rect">
            <a:avLst/>
          </a:prstGeom>
          <a:noFill/>
          <a:extLst>
            <a:ext uri="{909E8E84-426E-40DD-AFC4-6F175D3DCCD1}">
              <a14:hiddenFill xmlns:a14="http://schemas.microsoft.com/office/drawing/2010/main">
                <a:solidFill>
                  <a:srgbClr val="FFFFFF"/>
                </a:solidFill>
              </a14:hiddenFill>
            </a:ext>
          </a:extLst>
        </p:spPr>
      </p:pic>
      <p:pic>
        <p:nvPicPr>
          <p:cNvPr id="246" name="Picture 245">
            <a:extLst>
              <a:ext uri="{FF2B5EF4-FFF2-40B4-BE49-F238E27FC236}">
                <a16:creationId xmlns:a16="http://schemas.microsoft.com/office/drawing/2014/main" id="{E2783D93-1502-4AE3-B07A-3B51BFC90ED8}"/>
              </a:ext>
            </a:extLst>
          </p:cNvPr>
          <p:cNvPicPr>
            <a:picLocks noChangeAspect="1"/>
          </p:cNvPicPr>
          <p:nvPr/>
        </p:nvPicPr>
        <p:blipFill>
          <a:blip r:embed="rId10"/>
          <a:stretch>
            <a:fillRect/>
          </a:stretch>
        </p:blipFill>
        <p:spPr>
          <a:xfrm>
            <a:off x="5377796" y="5348681"/>
            <a:ext cx="2009389" cy="675815"/>
          </a:xfrm>
          <a:prstGeom prst="rect">
            <a:avLst/>
          </a:prstGeom>
        </p:spPr>
      </p:pic>
      <p:sp>
        <p:nvSpPr>
          <p:cNvPr id="2" name="Rectangle 1">
            <a:extLst>
              <a:ext uri="{FF2B5EF4-FFF2-40B4-BE49-F238E27FC236}">
                <a16:creationId xmlns:a16="http://schemas.microsoft.com/office/drawing/2014/main" id="{BD8EA571-6224-E141-96B6-38516C5F56AD}"/>
              </a:ext>
            </a:extLst>
          </p:cNvPr>
          <p:cNvSpPr/>
          <p:nvPr/>
        </p:nvSpPr>
        <p:spPr>
          <a:xfrm>
            <a:off x="5295226" y="6547603"/>
            <a:ext cx="3951723" cy="201594"/>
          </a:xfrm>
          <a:prstGeom prst="rect">
            <a:avLst/>
          </a:prstGeom>
        </p:spPr>
        <p:txBody>
          <a:bodyPr wrap="none">
            <a:spAutoFit/>
          </a:bodyPr>
          <a:lstStyle/>
          <a:p>
            <a:r>
              <a:rPr lang="en-US" sz="710" dirty="0"/>
              <a:t>https://scikit-</a:t>
            </a:r>
            <a:r>
              <a:rPr lang="en-US" sz="710" dirty="0" err="1"/>
              <a:t>learn.org</a:t>
            </a:r>
            <a:r>
              <a:rPr lang="en-US" sz="710" dirty="0"/>
              <a:t>/stable/</a:t>
            </a:r>
            <a:r>
              <a:rPr lang="en-US" sz="710" dirty="0" err="1"/>
              <a:t>auto_examples</a:t>
            </a:r>
            <a:r>
              <a:rPr lang="en-US" sz="710" dirty="0"/>
              <a:t>/decomposition/</a:t>
            </a:r>
            <a:r>
              <a:rPr lang="en-US" sz="710" dirty="0" err="1"/>
              <a:t>plot_ica_blind_source_separation.html</a:t>
            </a:r>
            <a:endParaRPr lang="en-US" sz="710" dirty="0"/>
          </a:p>
        </p:txBody>
      </p:sp>
      <p:sp>
        <p:nvSpPr>
          <p:cNvPr id="3" name="投影片編號版面配置區 2">
            <a:extLst>
              <a:ext uri="{FF2B5EF4-FFF2-40B4-BE49-F238E27FC236}">
                <a16:creationId xmlns:a16="http://schemas.microsoft.com/office/drawing/2014/main" id="{D241774E-DED8-4794-9D69-88F69A32025D}"/>
              </a:ext>
            </a:extLst>
          </p:cNvPr>
          <p:cNvSpPr>
            <a:spLocks noGrp="1"/>
          </p:cNvSpPr>
          <p:nvPr>
            <p:ph type="sldNum" sz="quarter" idx="12"/>
          </p:nvPr>
        </p:nvSpPr>
        <p:spPr/>
        <p:txBody>
          <a:bodyPr/>
          <a:lstStyle/>
          <a:p>
            <a:fld id="{FB360B71-4E68-4442-B60A-3C093988BE4E}" type="slidenum">
              <a:rPr lang="zh-TW" altLang="en-US" smtClean="0"/>
              <a:t>12</a:t>
            </a:fld>
            <a:endParaRPr lang="zh-TW" altLang="en-US"/>
          </a:p>
        </p:txBody>
      </p:sp>
    </p:spTree>
    <p:extLst>
      <p:ext uri="{BB962C8B-B14F-4D97-AF65-F5344CB8AC3E}">
        <p14:creationId xmlns:p14="http://schemas.microsoft.com/office/powerpoint/2010/main" val="273740106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78D0C7FE-2627-478D-A7ED-3A85BE49980B}"/>
              </a:ext>
            </a:extLst>
          </p:cNvPr>
          <p:cNvPicPr>
            <a:picLocks noChangeAspect="1"/>
          </p:cNvPicPr>
          <p:nvPr/>
        </p:nvPicPr>
        <p:blipFill>
          <a:blip r:embed="rId2"/>
          <a:stretch>
            <a:fillRect/>
          </a:stretch>
        </p:blipFill>
        <p:spPr>
          <a:xfrm>
            <a:off x="2311587" y="1234979"/>
            <a:ext cx="7568825" cy="4712270"/>
          </a:xfrm>
          <a:prstGeom prst="rect">
            <a:avLst/>
          </a:prstGeom>
        </p:spPr>
      </p:pic>
      <p:sp>
        <p:nvSpPr>
          <p:cNvPr id="3" name="投影片編號版面配置區 2">
            <a:extLst>
              <a:ext uri="{FF2B5EF4-FFF2-40B4-BE49-F238E27FC236}">
                <a16:creationId xmlns:a16="http://schemas.microsoft.com/office/drawing/2014/main" id="{9BEC8742-905D-4220-B779-C31C0465218B}"/>
              </a:ext>
            </a:extLst>
          </p:cNvPr>
          <p:cNvSpPr>
            <a:spLocks noGrp="1"/>
          </p:cNvSpPr>
          <p:nvPr>
            <p:ph type="sldNum" sz="quarter" idx="12"/>
          </p:nvPr>
        </p:nvSpPr>
        <p:spPr/>
        <p:txBody>
          <a:bodyPr/>
          <a:lstStyle/>
          <a:p>
            <a:fld id="{FB360B71-4E68-4442-B60A-3C093988BE4E}" type="slidenum">
              <a:rPr lang="zh-TW" altLang="en-US" smtClean="0"/>
              <a:t>13</a:t>
            </a:fld>
            <a:endParaRPr lang="zh-TW" altLang="en-US"/>
          </a:p>
        </p:txBody>
      </p:sp>
    </p:spTree>
    <p:extLst>
      <p:ext uri="{BB962C8B-B14F-4D97-AF65-F5344CB8AC3E}">
        <p14:creationId xmlns:p14="http://schemas.microsoft.com/office/powerpoint/2010/main" val="23369029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左大括弧 1">
            <a:extLst>
              <a:ext uri="{FF2B5EF4-FFF2-40B4-BE49-F238E27FC236}">
                <a16:creationId xmlns:a16="http://schemas.microsoft.com/office/drawing/2014/main" id="{D7EB7980-2CC4-498C-A22F-2E0F33707AA1}"/>
              </a:ext>
            </a:extLst>
          </p:cNvPr>
          <p:cNvSpPr/>
          <p:nvPr/>
        </p:nvSpPr>
        <p:spPr>
          <a:xfrm>
            <a:off x="2382472" y="1291905"/>
            <a:ext cx="511730" cy="85567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9B81D632-842D-465C-9EBD-78AC9A539B93}"/>
              </a:ext>
            </a:extLst>
          </p:cNvPr>
          <p:cNvSpPr txBox="1"/>
          <p:nvPr/>
        </p:nvSpPr>
        <p:spPr>
          <a:xfrm>
            <a:off x="3112316" y="1400961"/>
            <a:ext cx="1478290" cy="646331"/>
          </a:xfrm>
          <a:prstGeom prst="rect">
            <a:avLst/>
          </a:prstGeom>
          <a:noFill/>
        </p:spPr>
        <p:txBody>
          <a:bodyPr wrap="none" rtlCol="0">
            <a:spAutoFit/>
          </a:bodyPr>
          <a:lstStyle/>
          <a:p>
            <a:r>
              <a:rPr lang="en-US" altLang="zh-TW" dirty="0"/>
              <a:t>3 X + 2 Y = 7</a:t>
            </a:r>
          </a:p>
          <a:p>
            <a:r>
              <a:rPr lang="en-US" altLang="zh-TW" dirty="0"/>
              <a:t>X + Y   	 = 3</a:t>
            </a:r>
            <a:endParaRPr lang="zh-TW" altLang="en-US" dirty="0"/>
          </a:p>
        </p:txBody>
      </p:sp>
      <p:sp>
        <p:nvSpPr>
          <p:cNvPr id="4" name="箭號: 向下 3">
            <a:extLst>
              <a:ext uri="{FF2B5EF4-FFF2-40B4-BE49-F238E27FC236}">
                <a16:creationId xmlns:a16="http://schemas.microsoft.com/office/drawing/2014/main" id="{76449DE7-3B25-4E44-AE5E-33FA1443F0B3}"/>
              </a:ext>
            </a:extLst>
          </p:cNvPr>
          <p:cNvSpPr/>
          <p:nvPr/>
        </p:nvSpPr>
        <p:spPr>
          <a:xfrm>
            <a:off x="3531765" y="2474752"/>
            <a:ext cx="285226" cy="4026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47F9C93-839A-4B08-AF24-F35BFD1C7C94}"/>
                  </a:ext>
                </a:extLst>
              </p:cNvPr>
              <p:cNvSpPr txBox="1"/>
              <p:nvPr/>
            </p:nvSpPr>
            <p:spPr>
              <a:xfrm>
                <a:off x="2894202" y="3198937"/>
                <a:ext cx="713657"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m>
                            <m:mPr>
                              <m:mcs>
                                <m:mc>
                                  <m:mcPr>
                                    <m:count m:val="2"/>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3</m:t>
                                </m:r>
                              </m:e>
                              <m:e>
                                <m:r>
                                  <a:rPr lang="en-US" altLang="zh-TW" b="0" i="1" smtClean="0">
                                    <a:latin typeface="Cambria Math" panose="02040503050406030204" pitchFamily="18" charset="0"/>
                                  </a:rPr>
                                  <m:t>2</m:t>
                                </m:r>
                              </m:e>
                            </m:mr>
                            <m:mr>
                              <m:e>
                                <m:r>
                                  <a:rPr lang="en-US" altLang="zh-TW" b="0" i="1" smtClean="0">
                                    <a:latin typeface="Cambria Math" panose="02040503050406030204" pitchFamily="18" charset="0"/>
                                  </a:rPr>
                                  <m:t>1</m:t>
                                </m:r>
                              </m:e>
                              <m:e>
                                <m:r>
                                  <a:rPr lang="en-US" altLang="zh-TW" b="0" i="1" smtClean="0">
                                    <a:latin typeface="Cambria Math" panose="02040503050406030204" pitchFamily="18" charset="0"/>
                                  </a:rPr>
                                  <m:t>1</m:t>
                                </m:r>
                              </m:e>
                            </m:mr>
                          </m:m>
                        </m:e>
                      </m:d>
                    </m:oMath>
                  </m:oMathPara>
                </a14:m>
                <a:endParaRPr lang="zh-TW" altLang="en-US" dirty="0"/>
              </a:p>
            </p:txBody>
          </p:sp>
        </mc:Choice>
        <mc:Fallback xmlns="">
          <p:sp>
            <p:nvSpPr>
              <p:cNvPr id="6" name="文字方塊 5">
                <a:extLst>
                  <a:ext uri="{FF2B5EF4-FFF2-40B4-BE49-F238E27FC236}">
                    <a16:creationId xmlns:a16="http://schemas.microsoft.com/office/drawing/2014/main" id="{247F9C93-839A-4B08-AF24-F35BFD1C7C94}"/>
                  </a:ext>
                </a:extLst>
              </p:cNvPr>
              <p:cNvSpPr txBox="1">
                <a:spLocks noRot="1" noChangeAspect="1" noMove="1" noResize="1" noEditPoints="1" noAdjustHandles="1" noChangeArrowheads="1" noChangeShapeType="1" noTextEdit="1"/>
              </p:cNvSpPr>
              <p:nvPr/>
            </p:nvSpPr>
            <p:spPr>
              <a:xfrm>
                <a:off x="2894202" y="3198937"/>
                <a:ext cx="713657" cy="460126"/>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0DC45190-BC8E-4304-843B-9C7635ADEDB7}"/>
                  </a:ext>
                </a:extLst>
              </p:cNvPr>
              <p:cNvSpPr txBox="1"/>
              <p:nvPr/>
            </p:nvSpPr>
            <p:spPr>
              <a:xfrm>
                <a:off x="3674378" y="3198937"/>
                <a:ext cx="381066" cy="4582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b="0" i="1" smtClean="0">
                                  <a:latin typeface="Cambria Math" panose="02040503050406030204" pitchFamily="18" charset="0"/>
                                </a:rPr>
                                <m:t>𝑋</m:t>
                              </m:r>
                            </m:e>
                            <m:e>
                              <m:r>
                                <a:rPr lang="en-US" altLang="zh-TW" b="0" i="1" smtClean="0">
                                  <a:latin typeface="Cambria Math" panose="02040503050406030204" pitchFamily="18" charset="0"/>
                                </a:rPr>
                                <m:t>𝑌</m:t>
                              </m:r>
                            </m:e>
                          </m:eqArr>
                        </m:e>
                      </m:d>
                    </m:oMath>
                  </m:oMathPara>
                </a14:m>
                <a:endParaRPr lang="zh-TW" altLang="en-US" dirty="0"/>
              </a:p>
            </p:txBody>
          </p:sp>
        </mc:Choice>
        <mc:Fallback xmlns="">
          <p:sp>
            <p:nvSpPr>
              <p:cNvPr id="7" name="文字方塊 6">
                <a:extLst>
                  <a:ext uri="{FF2B5EF4-FFF2-40B4-BE49-F238E27FC236}">
                    <a16:creationId xmlns:a16="http://schemas.microsoft.com/office/drawing/2014/main" id="{0DC45190-BC8E-4304-843B-9C7635ADEDB7}"/>
                  </a:ext>
                </a:extLst>
              </p:cNvPr>
              <p:cNvSpPr txBox="1">
                <a:spLocks noRot="1" noChangeAspect="1" noMove="1" noResize="1" noEditPoints="1" noAdjustHandles="1" noChangeArrowheads="1" noChangeShapeType="1" noTextEdit="1"/>
              </p:cNvSpPr>
              <p:nvPr/>
            </p:nvSpPr>
            <p:spPr>
              <a:xfrm>
                <a:off x="3674378" y="3198937"/>
                <a:ext cx="381066" cy="45826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6BFE734A-FAD0-44B8-99A0-B2B98FA64D7B}"/>
                  </a:ext>
                </a:extLst>
              </p:cNvPr>
              <p:cNvSpPr txBox="1"/>
              <p:nvPr/>
            </p:nvSpPr>
            <p:spPr>
              <a:xfrm>
                <a:off x="4423374" y="3186080"/>
                <a:ext cx="354584" cy="4600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b="0" i="1" smtClean="0">
                                  <a:latin typeface="Cambria Math" panose="02040503050406030204" pitchFamily="18" charset="0"/>
                                </a:rPr>
                                <m:t>7</m:t>
                              </m:r>
                            </m:e>
                            <m:e>
                              <m:r>
                                <a:rPr lang="en-US" altLang="zh-TW" b="0" i="1" smtClean="0">
                                  <a:latin typeface="Cambria Math" panose="02040503050406030204" pitchFamily="18" charset="0"/>
                                </a:rPr>
                                <m:t>3</m:t>
                              </m:r>
                            </m:e>
                          </m:eqArr>
                        </m:e>
                      </m:d>
                    </m:oMath>
                  </m:oMathPara>
                </a14:m>
                <a:endParaRPr lang="zh-TW" altLang="en-US" dirty="0"/>
              </a:p>
            </p:txBody>
          </p:sp>
        </mc:Choice>
        <mc:Fallback xmlns="">
          <p:sp>
            <p:nvSpPr>
              <p:cNvPr id="8" name="文字方塊 7">
                <a:extLst>
                  <a:ext uri="{FF2B5EF4-FFF2-40B4-BE49-F238E27FC236}">
                    <a16:creationId xmlns:a16="http://schemas.microsoft.com/office/drawing/2014/main" id="{6BFE734A-FAD0-44B8-99A0-B2B98FA64D7B}"/>
                  </a:ext>
                </a:extLst>
              </p:cNvPr>
              <p:cNvSpPr txBox="1">
                <a:spLocks noRot="1" noChangeAspect="1" noMove="1" noResize="1" noEditPoints="1" noAdjustHandles="1" noChangeArrowheads="1" noChangeShapeType="1" noTextEdit="1"/>
              </p:cNvSpPr>
              <p:nvPr/>
            </p:nvSpPr>
            <p:spPr>
              <a:xfrm>
                <a:off x="4423374" y="3186080"/>
                <a:ext cx="354584" cy="46006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F71640C1-5A3C-4405-B441-EF5B314B8C8B}"/>
                  </a:ext>
                </a:extLst>
              </p:cNvPr>
              <p:cNvSpPr txBox="1"/>
              <p:nvPr/>
            </p:nvSpPr>
            <p:spPr>
              <a:xfrm flipH="1" flipV="1">
                <a:off x="4121963" y="3290500"/>
                <a:ext cx="23489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9" name="文字方塊 8">
                <a:extLst>
                  <a:ext uri="{FF2B5EF4-FFF2-40B4-BE49-F238E27FC236}">
                    <a16:creationId xmlns:a16="http://schemas.microsoft.com/office/drawing/2014/main" id="{F71640C1-5A3C-4405-B441-EF5B314B8C8B}"/>
                  </a:ext>
                </a:extLst>
              </p:cNvPr>
              <p:cNvSpPr txBox="1">
                <a:spLocks noRot="1" noChangeAspect="1" noMove="1" noResize="1" noEditPoints="1" noAdjustHandles="1" noChangeArrowheads="1" noChangeShapeType="1" noTextEdit="1"/>
              </p:cNvSpPr>
              <p:nvPr/>
            </p:nvSpPr>
            <p:spPr>
              <a:xfrm flipH="1" flipV="1">
                <a:off x="4121963" y="3290500"/>
                <a:ext cx="234892" cy="276999"/>
              </a:xfrm>
              <a:prstGeom prst="rect">
                <a:avLst/>
              </a:prstGeom>
              <a:blipFill>
                <a:blip r:embed="rId5"/>
                <a:stretch>
                  <a:fillRect l="-7692" r="-76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A2ED23B2-77CB-4C54-975B-1BC239D5EC3A}"/>
                  </a:ext>
                </a:extLst>
              </p:cNvPr>
              <p:cNvSpPr txBox="1"/>
              <p:nvPr/>
            </p:nvSpPr>
            <p:spPr>
              <a:xfrm>
                <a:off x="3643198" y="4060141"/>
                <a:ext cx="713657"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m>
                            <m:mPr>
                              <m:mcs>
                                <m:mc>
                                  <m:mcPr>
                                    <m:count m:val="2"/>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3</m:t>
                                </m:r>
                              </m:e>
                              <m:e>
                                <m:r>
                                  <a:rPr lang="en-US" altLang="zh-TW" b="0" i="1" smtClean="0">
                                    <a:latin typeface="Cambria Math" panose="02040503050406030204" pitchFamily="18" charset="0"/>
                                  </a:rPr>
                                  <m:t>2</m:t>
                                </m:r>
                              </m:e>
                            </m:mr>
                            <m:mr>
                              <m:e>
                                <m:r>
                                  <a:rPr lang="en-US" altLang="zh-TW" b="0" i="1" smtClean="0">
                                    <a:latin typeface="Cambria Math" panose="02040503050406030204" pitchFamily="18" charset="0"/>
                                  </a:rPr>
                                  <m:t>1</m:t>
                                </m:r>
                              </m:e>
                              <m:e>
                                <m:r>
                                  <a:rPr lang="en-US" altLang="zh-TW" b="0" i="1" smtClean="0">
                                    <a:latin typeface="Cambria Math" panose="02040503050406030204" pitchFamily="18" charset="0"/>
                                  </a:rPr>
                                  <m:t>1</m:t>
                                </m:r>
                              </m:e>
                            </m:mr>
                          </m:m>
                        </m:e>
                      </m:d>
                    </m:oMath>
                  </m:oMathPara>
                </a14:m>
                <a:endParaRPr lang="zh-TW" altLang="en-US" dirty="0"/>
              </a:p>
            </p:txBody>
          </p:sp>
        </mc:Choice>
        <mc:Fallback xmlns="">
          <p:sp>
            <p:nvSpPr>
              <p:cNvPr id="11" name="文字方塊 10">
                <a:extLst>
                  <a:ext uri="{FF2B5EF4-FFF2-40B4-BE49-F238E27FC236}">
                    <a16:creationId xmlns:a16="http://schemas.microsoft.com/office/drawing/2014/main" id="{A2ED23B2-77CB-4C54-975B-1BC239D5EC3A}"/>
                  </a:ext>
                </a:extLst>
              </p:cNvPr>
              <p:cNvSpPr txBox="1">
                <a:spLocks noRot="1" noChangeAspect="1" noMove="1" noResize="1" noEditPoints="1" noAdjustHandles="1" noChangeArrowheads="1" noChangeShapeType="1" noTextEdit="1"/>
              </p:cNvSpPr>
              <p:nvPr/>
            </p:nvSpPr>
            <p:spPr>
              <a:xfrm>
                <a:off x="3643198" y="4060141"/>
                <a:ext cx="713657" cy="46012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B024613B-7374-45F7-B107-1E01D83D3CAA}"/>
                  </a:ext>
                </a:extLst>
              </p:cNvPr>
              <p:cNvSpPr txBox="1"/>
              <p:nvPr/>
            </p:nvSpPr>
            <p:spPr>
              <a:xfrm>
                <a:off x="2921783" y="4056012"/>
                <a:ext cx="381066" cy="4582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b="0" i="1" smtClean="0">
                                  <a:latin typeface="Cambria Math" panose="02040503050406030204" pitchFamily="18" charset="0"/>
                                </a:rPr>
                                <m:t>𝑋</m:t>
                              </m:r>
                            </m:e>
                            <m:e>
                              <m:r>
                                <a:rPr lang="en-US" altLang="zh-TW" b="0" i="1" smtClean="0">
                                  <a:latin typeface="Cambria Math" panose="02040503050406030204" pitchFamily="18" charset="0"/>
                                </a:rPr>
                                <m:t>𝑌</m:t>
                              </m:r>
                            </m:e>
                          </m:eqArr>
                        </m:e>
                      </m:d>
                    </m:oMath>
                  </m:oMathPara>
                </a14:m>
                <a:endParaRPr lang="zh-TW" altLang="en-US" dirty="0"/>
              </a:p>
            </p:txBody>
          </p:sp>
        </mc:Choice>
        <mc:Fallback xmlns="">
          <p:sp>
            <p:nvSpPr>
              <p:cNvPr id="12" name="文字方塊 11">
                <a:extLst>
                  <a:ext uri="{FF2B5EF4-FFF2-40B4-BE49-F238E27FC236}">
                    <a16:creationId xmlns:a16="http://schemas.microsoft.com/office/drawing/2014/main" id="{B024613B-7374-45F7-B107-1E01D83D3CAA}"/>
                  </a:ext>
                </a:extLst>
              </p:cNvPr>
              <p:cNvSpPr txBox="1">
                <a:spLocks noRot="1" noChangeAspect="1" noMove="1" noResize="1" noEditPoints="1" noAdjustHandles="1" noChangeArrowheads="1" noChangeShapeType="1" noTextEdit="1"/>
              </p:cNvSpPr>
              <p:nvPr/>
            </p:nvSpPr>
            <p:spPr>
              <a:xfrm>
                <a:off x="2921783" y="4056012"/>
                <a:ext cx="381066" cy="45826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7B4C7C8-7807-446D-8448-1DA737AFF577}"/>
                  </a:ext>
                </a:extLst>
              </p:cNvPr>
              <p:cNvSpPr txBox="1"/>
              <p:nvPr/>
            </p:nvSpPr>
            <p:spPr>
              <a:xfrm flipH="1" flipV="1">
                <a:off x="3372967" y="4146645"/>
                <a:ext cx="23489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13" name="文字方塊 12">
                <a:extLst>
                  <a:ext uri="{FF2B5EF4-FFF2-40B4-BE49-F238E27FC236}">
                    <a16:creationId xmlns:a16="http://schemas.microsoft.com/office/drawing/2014/main" id="{67B4C7C8-7807-446D-8448-1DA737AFF577}"/>
                  </a:ext>
                </a:extLst>
              </p:cNvPr>
              <p:cNvSpPr txBox="1">
                <a:spLocks noRot="1" noChangeAspect="1" noMove="1" noResize="1" noEditPoints="1" noAdjustHandles="1" noChangeArrowheads="1" noChangeShapeType="1" noTextEdit="1"/>
              </p:cNvSpPr>
              <p:nvPr/>
            </p:nvSpPr>
            <p:spPr>
              <a:xfrm flipH="1" flipV="1">
                <a:off x="3372967" y="4146645"/>
                <a:ext cx="234892" cy="276999"/>
              </a:xfrm>
              <a:prstGeom prst="rect">
                <a:avLst/>
              </a:prstGeom>
              <a:blipFill>
                <a:blip r:embed="rId8"/>
                <a:stretch>
                  <a:fillRect l="-7692" r="-76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EBC6B921-A570-43A0-A80F-AA9CD85F9A1D}"/>
                  </a:ext>
                </a:extLst>
              </p:cNvPr>
              <p:cNvSpPr txBox="1"/>
              <p:nvPr/>
            </p:nvSpPr>
            <p:spPr>
              <a:xfrm>
                <a:off x="4502072" y="4056012"/>
                <a:ext cx="354584" cy="4600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b="0" i="1" smtClean="0">
                                  <a:latin typeface="Cambria Math" panose="02040503050406030204" pitchFamily="18" charset="0"/>
                                </a:rPr>
                                <m:t>7</m:t>
                              </m:r>
                            </m:e>
                            <m:e>
                              <m:r>
                                <a:rPr lang="en-US" altLang="zh-TW" b="0" i="1" smtClean="0">
                                  <a:latin typeface="Cambria Math" panose="02040503050406030204" pitchFamily="18" charset="0"/>
                                </a:rPr>
                                <m:t>3</m:t>
                              </m:r>
                            </m:e>
                          </m:eqArr>
                        </m:e>
                      </m:d>
                    </m:oMath>
                  </m:oMathPara>
                </a14:m>
                <a:endParaRPr lang="zh-TW" altLang="en-US" dirty="0"/>
              </a:p>
            </p:txBody>
          </p:sp>
        </mc:Choice>
        <mc:Fallback xmlns="">
          <p:sp>
            <p:nvSpPr>
              <p:cNvPr id="14" name="文字方塊 13">
                <a:extLst>
                  <a:ext uri="{FF2B5EF4-FFF2-40B4-BE49-F238E27FC236}">
                    <a16:creationId xmlns:a16="http://schemas.microsoft.com/office/drawing/2014/main" id="{EBC6B921-A570-43A0-A80F-AA9CD85F9A1D}"/>
                  </a:ext>
                </a:extLst>
              </p:cNvPr>
              <p:cNvSpPr txBox="1">
                <a:spLocks noRot="1" noChangeAspect="1" noMove="1" noResize="1" noEditPoints="1" noAdjustHandles="1" noChangeArrowheads="1" noChangeShapeType="1" noTextEdit="1"/>
              </p:cNvSpPr>
              <p:nvPr/>
            </p:nvSpPr>
            <p:spPr>
              <a:xfrm>
                <a:off x="4502072" y="4056012"/>
                <a:ext cx="354584" cy="460062"/>
              </a:xfrm>
              <a:prstGeom prst="rect">
                <a:avLst/>
              </a:prstGeom>
              <a:blipFill>
                <a:blip r:embed="rId9"/>
                <a:stretch>
                  <a:fillRect/>
                </a:stretch>
              </a:blipFill>
            </p:spPr>
            <p:txBody>
              <a:bodyPr/>
              <a:lstStyle/>
              <a:p>
                <a:r>
                  <a:rPr lang="zh-TW" altLang="en-US">
                    <a:noFill/>
                  </a:rPr>
                  <a:t> </a:t>
                </a:r>
              </a:p>
            </p:txBody>
          </p:sp>
        </mc:Fallback>
      </mc:AlternateContent>
      <p:sp>
        <p:nvSpPr>
          <p:cNvPr id="16" name="文字方塊 15">
            <a:extLst>
              <a:ext uri="{FF2B5EF4-FFF2-40B4-BE49-F238E27FC236}">
                <a16:creationId xmlns:a16="http://schemas.microsoft.com/office/drawing/2014/main" id="{B8C4C720-7B36-4D2C-BC84-D5536BB4A6D1}"/>
              </a:ext>
            </a:extLst>
          </p:cNvPr>
          <p:cNvSpPr txBox="1"/>
          <p:nvPr/>
        </p:nvSpPr>
        <p:spPr>
          <a:xfrm>
            <a:off x="4209218" y="3925207"/>
            <a:ext cx="295274" cy="261610"/>
          </a:xfrm>
          <a:prstGeom prst="rect">
            <a:avLst/>
          </a:prstGeom>
          <a:noFill/>
        </p:spPr>
        <p:txBody>
          <a:bodyPr wrap="none" rtlCol="0">
            <a:spAutoFit/>
          </a:bodyPr>
          <a:lstStyle/>
          <a:p>
            <a:r>
              <a:rPr lang="en-US" altLang="zh-TW" sz="1100" dirty="0"/>
              <a:t>-1</a:t>
            </a:r>
            <a:endParaRPr lang="zh-TW" altLang="en-US" sz="1100" dirty="0"/>
          </a:p>
        </p:txBody>
      </p:sp>
      <p:sp>
        <p:nvSpPr>
          <p:cNvPr id="5" name="投影片編號版面配置區 4">
            <a:extLst>
              <a:ext uri="{FF2B5EF4-FFF2-40B4-BE49-F238E27FC236}">
                <a16:creationId xmlns:a16="http://schemas.microsoft.com/office/drawing/2014/main" id="{3CB3ED02-F664-4DF8-8CEF-B0979BEC4A86}"/>
              </a:ext>
            </a:extLst>
          </p:cNvPr>
          <p:cNvSpPr>
            <a:spLocks noGrp="1"/>
          </p:cNvSpPr>
          <p:nvPr>
            <p:ph type="sldNum" sz="quarter" idx="12"/>
          </p:nvPr>
        </p:nvSpPr>
        <p:spPr/>
        <p:txBody>
          <a:bodyPr/>
          <a:lstStyle/>
          <a:p>
            <a:fld id="{FB360B71-4E68-4442-B60A-3C093988BE4E}" type="slidenum">
              <a:rPr lang="zh-TW" altLang="en-US" smtClean="0"/>
              <a:t>14</a:t>
            </a:fld>
            <a:endParaRPr lang="zh-TW" altLang="en-US"/>
          </a:p>
        </p:txBody>
      </p:sp>
    </p:spTree>
    <p:extLst>
      <p:ext uri="{BB962C8B-B14F-4D97-AF65-F5344CB8AC3E}">
        <p14:creationId xmlns:p14="http://schemas.microsoft.com/office/powerpoint/2010/main" val="30321288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ppt_x"/>
                                          </p:val>
                                        </p:tav>
                                        <p:tav tm="100000">
                                          <p:val>
                                            <p:strVal val="#ppt_x"/>
                                          </p:val>
                                        </p:tav>
                                      </p:tavLst>
                                    </p:anim>
                                    <p:anim calcmode="lin" valueType="num">
                                      <p:cBhvr additive="base">
                                        <p:cTn id="43" dur="500" fill="hold"/>
                                        <p:tgtEl>
                                          <p:spTgt spid="13"/>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ppt_x"/>
                                          </p:val>
                                        </p:tav>
                                        <p:tav tm="100000">
                                          <p:val>
                                            <p:strVal val="#ppt_x"/>
                                          </p:val>
                                        </p:tav>
                                      </p:tavLst>
                                    </p:anim>
                                    <p:anim calcmode="lin" valueType="num">
                                      <p:cBhvr additive="base">
                                        <p:cTn id="5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P spid="9" grpId="0"/>
      <p:bldP spid="11" grpId="0"/>
      <p:bldP spid="12" grpId="0"/>
      <p:bldP spid="13" grpId="0"/>
      <p:bldP spid="14"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TW" dirty="0"/>
              <a:t>Experiment</a:t>
            </a:r>
            <a:endParaRPr lang="en-US" dirty="0"/>
          </a:p>
        </p:txBody>
      </p:sp>
      <p:sp>
        <p:nvSpPr>
          <p:cNvPr id="5" name="Text Placeholder 4"/>
          <p:cNvSpPr>
            <a:spLocks noGrp="1"/>
          </p:cNvSpPr>
          <p:nvPr>
            <p:ph type="body" idx="1"/>
          </p:nvPr>
        </p:nvSpPr>
        <p:spPr/>
        <p:txBody>
          <a:bodyPr/>
          <a:lstStyle/>
          <a:p>
            <a:endParaRPr lang="en-US"/>
          </a:p>
        </p:txBody>
      </p:sp>
      <p:sp>
        <p:nvSpPr>
          <p:cNvPr id="2" name="投影片編號版面配置區 1">
            <a:extLst>
              <a:ext uri="{FF2B5EF4-FFF2-40B4-BE49-F238E27FC236}">
                <a16:creationId xmlns:a16="http://schemas.microsoft.com/office/drawing/2014/main" id="{027E91E9-04EA-472E-BCED-447CC25F9836}"/>
              </a:ext>
            </a:extLst>
          </p:cNvPr>
          <p:cNvSpPr>
            <a:spLocks noGrp="1"/>
          </p:cNvSpPr>
          <p:nvPr>
            <p:ph type="sldNum" sz="quarter" idx="12"/>
          </p:nvPr>
        </p:nvSpPr>
        <p:spPr/>
        <p:txBody>
          <a:bodyPr/>
          <a:lstStyle/>
          <a:p>
            <a:fld id="{FB360B71-4E68-4442-B60A-3C093988BE4E}" type="slidenum">
              <a:rPr lang="zh-TW" altLang="en-US" smtClean="0"/>
              <a:t>15</a:t>
            </a:fld>
            <a:endParaRPr lang="zh-TW" altLang="en-US"/>
          </a:p>
        </p:txBody>
      </p:sp>
    </p:spTree>
    <p:extLst>
      <p:ext uri="{BB962C8B-B14F-4D97-AF65-F5344CB8AC3E}">
        <p14:creationId xmlns:p14="http://schemas.microsoft.com/office/powerpoint/2010/main" val="38264018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AF108E-C49A-4676-A49E-82C2E0C7A4FB}"/>
              </a:ext>
            </a:extLst>
          </p:cNvPr>
          <p:cNvSpPr>
            <a:spLocks noGrp="1"/>
          </p:cNvSpPr>
          <p:nvPr>
            <p:ph type="title"/>
          </p:nvPr>
        </p:nvSpPr>
        <p:spPr/>
        <p:txBody>
          <a:bodyPr/>
          <a:lstStyle/>
          <a:p>
            <a:r>
              <a:rPr lang="en-US" altLang="zh-TW" dirty="0"/>
              <a:t>Experiment</a:t>
            </a:r>
            <a:endParaRPr lang="zh-TW" altLang="en-US" dirty="0"/>
          </a:p>
        </p:txBody>
      </p:sp>
      <p:sp>
        <p:nvSpPr>
          <p:cNvPr id="3" name="內容版面配置區 2">
            <a:extLst>
              <a:ext uri="{FF2B5EF4-FFF2-40B4-BE49-F238E27FC236}">
                <a16:creationId xmlns:a16="http://schemas.microsoft.com/office/drawing/2014/main" id="{75B25119-8AAF-4430-9763-976A9CF0396D}"/>
              </a:ext>
            </a:extLst>
          </p:cNvPr>
          <p:cNvSpPr>
            <a:spLocks noGrp="1"/>
          </p:cNvSpPr>
          <p:nvPr>
            <p:ph idx="1"/>
          </p:nvPr>
        </p:nvSpPr>
        <p:spPr>
          <a:xfrm>
            <a:off x="1295401" y="2556932"/>
            <a:ext cx="9601196" cy="3318936"/>
          </a:xfrm>
        </p:spPr>
        <p:txBody>
          <a:bodyPr/>
          <a:lstStyle/>
          <a:p>
            <a:r>
              <a:rPr lang="en-US" altLang="zh-TW" dirty="0"/>
              <a:t>Our data contain three driver driving in simulation environment and real environment with weaving behavior and normal behavior.</a:t>
            </a:r>
          </a:p>
          <a:p>
            <a:r>
              <a:rPr lang="en-US" altLang="zh-TW" dirty="0"/>
              <a:t>Ex.</a:t>
            </a:r>
            <a:endParaRPr lang="zh-TW" altLang="en-US" dirty="0"/>
          </a:p>
        </p:txBody>
      </p:sp>
      <p:pic>
        <p:nvPicPr>
          <p:cNvPr id="4" name="Picture 3">
            <a:extLst>
              <a:ext uri="{FF2B5EF4-FFF2-40B4-BE49-F238E27FC236}">
                <a16:creationId xmlns:a16="http://schemas.microsoft.com/office/drawing/2014/main" id="{E26E4E66-BDBB-4684-AD91-C1D6A2961D49}"/>
              </a:ext>
            </a:extLst>
          </p:cNvPr>
          <p:cNvPicPr>
            <a:picLocks noChangeAspect="1"/>
          </p:cNvPicPr>
          <p:nvPr/>
        </p:nvPicPr>
        <p:blipFill>
          <a:blip r:embed="rId2"/>
          <a:stretch>
            <a:fillRect/>
          </a:stretch>
        </p:blipFill>
        <p:spPr>
          <a:xfrm>
            <a:off x="863293" y="3878345"/>
            <a:ext cx="6324600" cy="962025"/>
          </a:xfrm>
          <a:prstGeom prst="rect">
            <a:avLst/>
          </a:prstGeom>
        </p:spPr>
      </p:pic>
      <p:pic>
        <p:nvPicPr>
          <p:cNvPr id="5" name="Content Placeholder 5">
            <a:extLst>
              <a:ext uri="{FF2B5EF4-FFF2-40B4-BE49-F238E27FC236}">
                <a16:creationId xmlns:a16="http://schemas.microsoft.com/office/drawing/2014/main" id="{99BC3BD9-2285-4016-AB28-FF7915423904}"/>
              </a:ext>
            </a:extLst>
          </p:cNvPr>
          <p:cNvPicPr>
            <a:picLocks noChangeAspect="1"/>
          </p:cNvPicPr>
          <p:nvPr/>
        </p:nvPicPr>
        <p:blipFill>
          <a:blip r:embed="rId2"/>
          <a:stretch>
            <a:fillRect/>
          </a:stretch>
        </p:blipFill>
        <p:spPr>
          <a:xfrm>
            <a:off x="863293" y="5377101"/>
            <a:ext cx="6324600" cy="962025"/>
          </a:xfrm>
          <a:prstGeom prst="rect">
            <a:avLst/>
          </a:prstGeom>
        </p:spPr>
      </p:pic>
      <p:sp>
        <p:nvSpPr>
          <p:cNvPr id="6" name="TextBox 4">
            <a:extLst>
              <a:ext uri="{FF2B5EF4-FFF2-40B4-BE49-F238E27FC236}">
                <a16:creationId xmlns:a16="http://schemas.microsoft.com/office/drawing/2014/main" id="{A3361633-A94D-4743-9777-590B42161C5E}"/>
              </a:ext>
            </a:extLst>
          </p:cNvPr>
          <p:cNvSpPr txBox="1"/>
          <p:nvPr/>
        </p:nvSpPr>
        <p:spPr>
          <a:xfrm>
            <a:off x="2695980" y="3535680"/>
            <a:ext cx="2808515" cy="369332"/>
          </a:xfrm>
          <a:prstGeom prst="rect">
            <a:avLst/>
          </a:prstGeom>
          <a:solidFill>
            <a:schemeClr val="bg1"/>
          </a:solidFill>
        </p:spPr>
        <p:txBody>
          <a:bodyPr wrap="square" rtlCol="0">
            <a:spAutoFit/>
          </a:bodyPr>
          <a:lstStyle/>
          <a:p>
            <a:pPr algn="ctr"/>
            <a:r>
              <a:rPr lang="en-US" dirty="0"/>
              <a:t>Simulated Safe of Driver A</a:t>
            </a:r>
          </a:p>
        </p:txBody>
      </p:sp>
      <p:sp>
        <p:nvSpPr>
          <p:cNvPr id="7" name="TextBox 7">
            <a:extLst>
              <a:ext uri="{FF2B5EF4-FFF2-40B4-BE49-F238E27FC236}">
                <a16:creationId xmlns:a16="http://schemas.microsoft.com/office/drawing/2014/main" id="{BCFCBD93-8208-4970-84B8-F0590CB2B3DF}"/>
              </a:ext>
            </a:extLst>
          </p:cNvPr>
          <p:cNvSpPr txBox="1"/>
          <p:nvPr/>
        </p:nvSpPr>
        <p:spPr>
          <a:xfrm>
            <a:off x="2695980" y="5042495"/>
            <a:ext cx="2808515" cy="369332"/>
          </a:xfrm>
          <a:prstGeom prst="rect">
            <a:avLst/>
          </a:prstGeom>
          <a:solidFill>
            <a:schemeClr val="bg1"/>
          </a:solidFill>
        </p:spPr>
        <p:txBody>
          <a:bodyPr wrap="square" rtlCol="0">
            <a:spAutoFit/>
          </a:bodyPr>
          <a:lstStyle/>
          <a:p>
            <a:pPr algn="ctr"/>
            <a:r>
              <a:rPr lang="en-US" dirty="0"/>
              <a:t>Simulated Safe of Driver B</a:t>
            </a:r>
          </a:p>
        </p:txBody>
      </p:sp>
      <p:sp>
        <p:nvSpPr>
          <p:cNvPr id="8" name="TextBox 6">
            <a:extLst>
              <a:ext uri="{FF2B5EF4-FFF2-40B4-BE49-F238E27FC236}">
                <a16:creationId xmlns:a16="http://schemas.microsoft.com/office/drawing/2014/main" id="{034F937F-AD6B-4B17-B310-CB7AE5936884}"/>
              </a:ext>
            </a:extLst>
          </p:cNvPr>
          <p:cNvSpPr txBox="1"/>
          <p:nvPr/>
        </p:nvSpPr>
        <p:spPr>
          <a:xfrm>
            <a:off x="7412394" y="4812335"/>
            <a:ext cx="4335624" cy="307777"/>
          </a:xfrm>
          <a:prstGeom prst="rect">
            <a:avLst/>
          </a:prstGeom>
          <a:noFill/>
        </p:spPr>
        <p:txBody>
          <a:bodyPr wrap="square" rtlCol="0">
            <a:spAutoFit/>
          </a:bodyPr>
          <a:lstStyle/>
          <a:p>
            <a:r>
              <a:rPr lang="en-US" sz="1400" dirty="0"/>
              <a:t>Find the signal that have high similarity (..) </a:t>
            </a:r>
            <a:r>
              <a:rPr lang="en-US" sz="1400" dirty="0">
                <a:sym typeface="Wingdings" panose="05000000000000000000" pitchFamily="2" charset="2"/>
              </a:rPr>
              <a:t> behavior</a:t>
            </a:r>
            <a:endParaRPr lang="en-US" sz="1400" dirty="0"/>
          </a:p>
        </p:txBody>
      </p:sp>
      <p:sp>
        <p:nvSpPr>
          <p:cNvPr id="9" name="Right Brace 8">
            <a:extLst>
              <a:ext uri="{FF2B5EF4-FFF2-40B4-BE49-F238E27FC236}">
                <a16:creationId xmlns:a16="http://schemas.microsoft.com/office/drawing/2014/main" id="{3A68539C-FECD-4538-9E01-1184C0F1055A}"/>
              </a:ext>
            </a:extLst>
          </p:cNvPr>
          <p:cNvSpPr/>
          <p:nvPr/>
        </p:nvSpPr>
        <p:spPr>
          <a:xfrm>
            <a:off x="7187893" y="4359357"/>
            <a:ext cx="224501" cy="14987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投影片編號版面配置區 9">
            <a:extLst>
              <a:ext uri="{FF2B5EF4-FFF2-40B4-BE49-F238E27FC236}">
                <a16:creationId xmlns:a16="http://schemas.microsoft.com/office/drawing/2014/main" id="{0C6F1C9D-F024-49EA-AFD6-9CA9992B52ED}"/>
              </a:ext>
            </a:extLst>
          </p:cNvPr>
          <p:cNvSpPr>
            <a:spLocks noGrp="1"/>
          </p:cNvSpPr>
          <p:nvPr>
            <p:ph type="sldNum" sz="quarter" idx="12"/>
          </p:nvPr>
        </p:nvSpPr>
        <p:spPr/>
        <p:txBody>
          <a:bodyPr/>
          <a:lstStyle/>
          <a:p>
            <a:fld id="{FB360B71-4E68-4442-B60A-3C093988BE4E}" type="slidenum">
              <a:rPr lang="zh-TW" altLang="en-US" smtClean="0"/>
              <a:t>16</a:t>
            </a:fld>
            <a:endParaRPr lang="zh-TW" altLang="en-US" dirty="0"/>
          </a:p>
        </p:txBody>
      </p:sp>
    </p:spTree>
    <p:extLst>
      <p:ext uri="{BB962C8B-B14F-4D97-AF65-F5344CB8AC3E}">
        <p14:creationId xmlns:p14="http://schemas.microsoft.com/office/powerpoint/2010/main" val="38040820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41CAA-5B24-4F1E-A978-5ED7DB18C7B6}"/>
              </a:ext>
            </a:extLst>
          </p:cNvPr>
          <p:cNvSpPr>
            <a:spLocks noGrp="1"/>
          </p:cNvSpPr>
          <p:nvPr>
            <p:ph type="title"/>
          </p:nvPr>
        </p:nvSpPr>
        <p:spPr/>
        <p:txBody>
          <a:bodyPr/>
          <a:lstStyle/>
          <a:p>
            <a:r>
              <a:rPr lang="en-US" altLang="zh-TW" dirty="0"/>
              <a:t>Experiment: simulation normal  </a:t>
            </a:r>
            <a:endParaRPr lang="zh-TW" altLang="en-US" dirty="0"/>
          </a:p>
        </p:txBody>
      </p:sp>
      <p:sp>
        <p:nvSpPr>
          <p:cNvPr id="3" name="內容版面配置區 2">
            <a:extLst>
              <a:ext uri="{FF2B5EF4-FFF2-40B4-BE49-F238E27FC236}">
                <a16:creationId xmlns:a16="http://schemas.microsoft.com/office/drawing/2014/main" id="{813DCFA5-5699-4616-80D2-90EE1F9BDC40}"/>
              </a:ext>
            </a:extLst>
          </p:cNvPr>
          <p:cNvSpPr>
            <a:spLocks noGrp="1"/>
          </p:cNvSpPr>
          <p:nvPr>
            <p:ph idx="1"/>
          </p:nvPr>
        </p:nvSpPr>
        <p:spPr/>
        <p:txBody>
          <a:bodyPr/>
          <a:lstStyle/>
          <a:p>
            <a:r>
              <a:rPr lang="en-US" altLang="zh-TW" dirty="0"/>
              <a:t>Raw data :</a:t>
            </a:r>
            <a:endParaRPr lang="zh-TW" altLang="en-US" dirty="0"/>
          </a:p>
        </p:txBody>
      </p:sp>
      <p:pic>
        <p:nvPicPr>
          <p:cNvPr id="5" name="圖片 4">
            <a:extLst>
              <a:ext uri="{FF2B5EF4-FFF2-40B4-BE49-F238E27FC236}">
                <a16:creationId xmlns:a16="http://schemas.microsoft.com/office/drawing/2014/main" id="{B4BAF1EB-C525-48A3-A9C4-8F99900EADD3}"/>
              </a:ext>
            </a:extLst>
          </p:cNvPr>
          <p:cNvPicPr>
            <a:picLocks noChangeAspect="1"/>
          </p:cNvPicPr>
          <p:nvPr/>
        </p:nvPicPr>
        <p:blipFill>
          <a:blip r:embed="rId2"/>
          <a:stretch>
            <a:fillRect/>
          </a:stretch>
        </p:blipFill>
        <p:spPr>
          <a:xfrm>
            <a:off x="852551" y="3036163"/>
            <a:ext cx="4850667" cy="2631244"/>
          </a:xfrm>
          <a:prstGeom prst="rect">
            <a:avLst/>
          </a:prstGeom>
        </p:spPr>
      </p:pic>
      <p:pic>
        <p:nvPicPr>
          <p:cNvPr id="6" name="圖片 5">
            <a:extLst>
              <a:ext uri="{FF2B5EF4-FFF2-40B4-BE49-F238E27FC236}">
                <a16:creationId xmlns:a16="http://schemas.microsoft.com/office/drawing/2014/main" id="{A2BF34BE-43FD-46DC-A850-76DCB04CE76C}"/>
              </a:ext>
            </a:extLst>
          </p:cNvPr>
          <p:cNvPicPr>
            <a:picLocks noChangeAspect="1"/>
          </p:cNvPicPr>
          <p:nvPr/>
        </p:nvPicPr>
        <p:blipFill>
          <a:blip r:embed="rId3"/>
          <a:stretch>
            <a:fillRect/>
          </a:stretch>
        </p:blipFill>
        <p:spPr>
          <a:xfrm>
            <a:off x="6488780" y="3022987"/>
            <a:ext cx="4850667" cy="2657596"/>
          </a:xfrm>
          <a:prstGeom prst="rect">
            <a:avLst/>
          </a:prstGeom>
        </p:spPr>
      </p:pic>
      <p:sp>
        <p:nvSpPr>
          <p:cNvPr id="7" name="文字方塊 6">
            <a:extLst>
              <a:ext uri="{FF2B5EF4-FFF2-40B4-BE49-F238E27FC236}">
                <a16:creationId xmlns:a16="http://schemas.microsoft.com/office/drawing/2014/main" id="{50946026-46B7-4E05-A4A6-F4D799EA592E}"/>
              </a:ext>
            </a:extLst>
          </p:cNvPr>
          <p:cNvSpPr txBox="1"/>
          <p:nvPr/>
        </p:nvSpPr>
        <p:spPr>
          <a:xfrm>
            <a:off x="2228295" y="5875868"/>
            <a:ext cx="933845" cy="369332"/>
          </a:xfrm>
          <a:prstGeom prst="rect">
            <a:avLst/>
          </a:prstGeom>
          <a:noFill/>
        </p:spPr>
        <p:txBody>
          <a:bodyPr wrap="none" rtlCol="0">
            <a:spAutoFit/>
          </a:bodyPr>
          <a:lstStyle/>
          <a:p>
            <a:r>
              <a:rPr lang="en-US" altLang="zh-TW" dirty="0"/>
              <a:t>Driver 1</a:t>
            </a:r>
            <a:endParaRPr lang="zh-TW" altLang="en-US" dirty="0"/>
          </a:p>
        </p:txBody>
      </p:sp>
      <p:sp>
        <p:nvSpPr>
          <p:cNvPr id="8" name="文字方塊 7">
            <a:extLst>
              <a:ext uri="{FF2B5EF4-FFF2-40B4-BE49-F238E27FC236}">
                <a16:creationId xmlns:a16="http://schemas.microsoft.com/office/drawing/2014/main" id="{22A579B2-0F05-4D6B-A666-95E9DAC73730}"/>
              </a:ext>
            </a:extLst>
          </p:cNvPr>
          <p:cNvSpPr txBox="1"/>
          <p:nvPr/>
        </p:nvSpPr>
        <p:spPr>
          <a:xfrm>
            <a:off x="8407153" y="5875868"/>
            <a:ext cx="933845" cy="369332"/>
          </a:xfrm>
          <a:prstGeom prst="rect">
            <a:avLst/>
          </a:prstGeom>
          <a:noFill/>
        </p:spPr>
        <p:txBody>
          <a:bodyPr wrap="none" rtlCol="0">
            <a:spAutoFit/>
          </a:bodyPr>
          <a:lstStyle/>
          <a:p>
            <a:r>
              <a:rPr lang="en-US" altLang="zh-TW" dirty="0"/>
              <a:t>Driver 2</a:t>
            </a:r>
            <a:endParaRPr lang="zh-TW" altLang="en-US" dirty="0"/>
          </a:p>
        </p:txBody>
      </p:sp>
      <p:sp>
        <p:nvSpPr>
          <p:cNvPr id="4" name="投影片編號版面配置區 3">
            <a:extLst>
              <a:ext uri="{FF2B5EF4-FFF2-40B4-BE49-F238E27FC236}">
                <a16:creationId xmlns:a16="http://schemas.microsoft.com/office/drawing/2014/main" id="{4D75FCF0-5733-4F3F-9C3A-0F2E165DEDD7}"/>
              </a:ext>
            </a:extLst>
          </p:cNvPr>
          <p:cNvSpPr>
            <a:spLocks noGrp="1"/>
          </p:cNvSpPr>
          <p:nvPr>
            <p:ph type="sldNum" sz="quarter" idx="12"/>
          </p:nvPr>
        </p:nvSpPr>
        <p:spPr/>
        <p:txBody>
          <a:bodyPr/>
          <a:lstStyle/>
          <a:p>
            <a:fld id="{FB360B71-4E68-4442-B60A-3C093988BE4E}" type="slidenum">
              <a:rPr lang="zh-TW" altLang="en-US" smtClean="0"/>
              <a:t>17</a:t>
            </a:fld>
            <a:endParaRPr lang="zh-TW" altLang="en-US" dirty="0"/>
          </a:p>
        </p:txBody>
      </p:sp>
    </p:spTree>
    <p:extLst>
      <p:ext uri="{BB962C8B-B14F-4D97-AF65-F5344CB8AC3E}">
        <p14:creationId xmlns:p14="http://schemas.microsoft.com/office/powerpoint/2010/main" val="30110787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9ADD68-1C49-48CD-B302-5297EA65144A}"/>
              </a:ext>
            </a:extLst>
          </p:cNvPr>
          <p:cNvSpPr>
            <a:spLocks noGrp="1"/>
          </p:cNvSpPr>
          <p:nvPr>
            <p:ph type="title"/>
          </p:nvPr>
        </p:nvSpPr>
        <p:spPr/>
        <p:txBody>
          <a:bodyPr/>
          <a:lstStyle/>
          <a:p>
            <a:r>
              <a:rPr lang="en-US" altLang="zh-TW" dirty="0"/>
              <a:t>Experiment: simulation normal </a:t>
            </a:r>
            <a:endParaRPr lang="zh-TW" altLang="en-US" dirty="0"/>
          </a:p>
        </p:txBody>
      </p:sp>
      <p:sp>
        <p:nvSpPr>
          <p:cNvPr id="3" name="內容版面配置區 2">
            <a:extLst>
              <a:ext uri="{FF2B5EF4-FFF2-40B4-BE49-F238E27FC236}">
                <a16:creationId xmlns:a16="http://schemas.microsoft.com/office/drawing/2014/main" id="{42F71DA6-78DC-4C68-B146-2A3C33CD0656}"/>
              </a:ext>
            </a:extLst>
          </p:cNvPr>
          <p:cNvSpPr>
            <a:spLocks noGrp="1"/>
          </p:cNvSpPr>
          <p:nvPr>
            <p:ph idx="1"/>
          </p:nvPr>
        </p:nvSpPr>
        <p:spPr/>
        <p:txBody>
          <a:bodyPr/>
          <a:lstStyle/>
          <a:p>
            <a:r>
              <a:rPr lang="en-US" altLang="zh-TW" dirty="0"/>
              <a:t>ICA result:</a:t>
            </a:r>
            <a:endParaRPr lang="zh-TW" altLang="en-US" dirty="0"/>
          </a:p>
        </p:txBody>
      </p:sp>
      <p:pic>
        <p:nvPicPr>
          <p:cNvPr id="4" name="圖片 3">
            <a:extLst>
              <a:ext uri="{FF2B5EF4-FFF2-40B4-BE49-F238E27FC236}">
                <a16:creationId xmlns:a16="http://schemas.microsoft.com/office/drawing/2014/main" id="{6ED10158-CA6E-4E5E-86C9-72BC2F3D5CF1}"/>
              </a:ext>
            </a:extLst>
          </p:cNvPr>
          <p:cNvPicPr>
            <a:picLocks noChangeAspect="1"/>
          </p:cNvPicPr>
          <p:nvPr/>
        </p:nvPicPr>
        <p:blipFill>
          <a:blip r:embed="rId2"/>
          <a:stretch>
            <a:fillRect/>
          </a:stretch>
        </p:blipFill>
        <p:spPr>
          <a:xfrm>
            <a:off x="6291945" y="3025544"/>
            <a:ext cx="4996544" cy="2744030"/>
          </a:xfrm>
          <a:prstGeom prst="rect">
            <a:avLst/>
          </a:prstGeom>
        </p:spPr>
      </p:pic>
      <p:pic>
        <p:nvPicPr>
          <p:cNvPr id="5" name="圖片 4">
            <a:extLst>
              <a:ext uri="{FF2B5EF4-FFF2-40B4-BE49-F238E27FC236}">
                <a16:creationId xmlns:a16="http://schemas.microsoft.com/office/drawing/2014/main" id="{9978E482-51DE-47DB-B4C0-8966EE9B3DE1}"/>
              </a:ext>
            </a:extLst>
          </p:cNvPr>
          <p:cNvPicPr>
            <a:picLocks noChangeAspect="1"/>
          </p:cNvPicPr>
          <p:nvPr/>
        </p:nvPicPr>
        <p:blipFill>
          <a:blip r:embed="rId3"/>
          <a:stretch>
            <a:fillRect/>
          </a:stretch>
        </p:blipFill>
        <p:spPr>
          <a:xfrm>
            <a:off x="903509" y="3025544"/>
            <a:ext cx="4996544" cy="2739518"/>
          </a:xfrm>
          <a:prstGeom prst="rect">
            <a:avLst/>
          </a:prstGeom>
        </p:spPr>
      </p:pic>
      <p:sp>
        <p:nvSpPr>
          <p:cNvPr id="6" name="文字方塊 5">
            <a:extLst>
              <a:ext uri="{FF2B5EF4-FFF2-40B4-BE49-F238E27FC236}">
                <a16:creationId xmlns:a16="http://schemas.microsoft.com/office/drawing/2014/main" id="{57A7791A-3E5C-4A1B-985B-FB96E9AABA2E}"/>
              </a:ext>
            </a:extLst>
          </p:cNvPr>
          <p:cNvSpPr txBox="1"/>
          <p:nvPr/>
        </p:nvSpPr>
        <p:spPr>
          <a:xfrm>
            <a:off x="2228295" y="5875868"/>
            <a:ext cx="933845" cy="369332"/>
          </a:xfrm>
          <a:prstGeom prst="rect">
            <a:avLst/>
          </a:prstGeom>
          <a:noFill/>
        </p:spPr>
        <p:txBody>
          <a:bodyPr wrap="none" rtlCol="0">
            <a:spAutoFit/>
          </a:bodyPr>
          <a:lstStyle/>
          <a:p>
            <a:r>
              <a:rPr lang="en-US" altLang="zh-TW" dirty="0"/>
              <a:t>Driver 1</a:t>
            </a:r>
            <a:endParaRPr lang="zh-TW" altLang="en-US" dirty="0"/>
          </a:p>
        </p:txBody>
      </p:sp>
      <p:sp>
        <p:nvSpPr>
          <p:cNvPr id="7" name="文字方塊 6">
            <a:extLst>
              <a:ext uri="{FF2B5EF4-FFF2-40B4-BE49-F238E27FC236}">
                <a16:creationId xmlns:a16="http://schemas.microsoft.com/office/drawing/2014/main" id="{1CE398A6-9F4D-4F5B-A672-28D157C94EBB}"/>
              </a:ext>
            </a:extLst>
          </p:cNvPr>
          <p:cNvSpPr txBox="1"/>
          <p:nvPr/>
        </p:nvSpPr>
        <p:spPr>
          <a:xfrm>
            <a:off x="8407153" y="5875868"/>
            <a:ext cx="933845" cy="369332"/>
          </a:xfrm>
          <a:prstGeom prst="rect">
            <a:avLst/>
          </a:prstGeom>
          <a:noFill/>
        </p:spPr>
        <p:txBody>
          <a:bodyPr wrap="none" rtlCol="0">
            <a:spAutoFit/>
          </a:bodyPr>
          <a:lstStyle/>
          <a:p>
            <a:r>
              <a:rPr lang="en-US" altLang="zh-TW" dirty="0"/>
              <a:t>Driver 2</a:t>
            </a:r>
            <a:endParaRPr lang="zh-TW" altLang="en-US" dirty="0"/>
          </a:p>
        </p:txBody>
      </p:sp>
      <p:sp>
        <p:nvSpPr>
          <p:cNvPr id="8" name="投影片編號版面配置區 7">
            <a:extLst>
              <a:ext uri="{FF2B5EF4-FFF2-40B4-BE49-F238E27FC236}">
                <a16:creationId xmlns:a16="http://schemas.microsoft.com/office/drawing/2014/main" id="{BD18766C-D170-41EA-A756-CDD1BF2DAFBB}"/>
              </a:ext>
            </a:extLst>
          </p:cNvPr>
          <p:cNvSpPr>
            <a:spLocks noGrp="1"/>
          </p:cNvSpPr>
          <p:nvPr>
            <p:ph type="sldNum" sz="quarter" idx="12"/>
          </p:nvPr>
        </p:nvSpPr>
        <p:spPr/>
        <p:txBody>
          <a:bodyPr/>
          <a:lstStyle/>
          <a:p>
            <a:fld id="{FB360B71-4E68-4442-B60A-3C093988BE4E}" type="slidenum">
              <a:rPr lang="zh-TW" altLang="en-US" smtClean="0"/>
              <a:t>18</a:t>
            </a:fld>
            <a:endParaRPr lang="zh-TW" altLang="en-US" dirty="0"/>
          </a:p>
        </p:txBody>
      </p:sp>
    </p:spTree>
    <p:extLst>
      <p:ext uri="{BB962C8B-B14F-4D97-AF65-F5344CB8AC3E}">
        <p14:creationId xmlns:p14="http://schemas.microsoft.com/office/powerpoint/2010/main" val="3404103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C39545-C0B5-4826-8CF1-BC58C21FA481}"/>
              </a:ext>
            </a:extLst>
          </p:cNvPr>
          <p:cNvSpPr>
            <a:spLocks noGrp="1"/>
          </p:cNvSpPr>
          <p:nvPr>
            <p:ph type="title"/>
          </p:nvPr>
        </p:nvSpPr>
        <p:spPr/>
        <p:txBody>
          <a:bodyPr/>
          <a:lstStyle/>
          <a:p>
            <a:r>
              <a:rPr lang="en-US" altLang="zh-TW" dirty="0"/>
              <a:t>Experiment: simulation normal </a:t>
            </a:r>
            <a:endParaRPr lang="zh-TW" altLang="en-US" dirty="0"/>
          </a:p>
        </p:txBody>
      </p:sp>
      <p:sp>
        <p:nvSpPr>
          <p:cNvPr id="3" name="內容版面配置區 2">
            <a:extLst>
              <a:ext uri="{FF2B5EF4-FFF2-40B4-BE49-F238E27FC236}">
                <a16:creationId xmlns:a16="http://schemas.microsoft.com/office/drawing/2014/main" id="{A89CD9A7-8650-466E-9A5A-8FEE3D5E530F}"/>
              </a:ext>
            </a:extLst>
          </p:cNvPr>
          <p:cNvSpPr>
            <a:spLocks noGrp="1"/>
          </p:cNvSpPr>
          <p:nvPr>
            <p:ph idx="1"/>
          </p:nvPr>
        </p:nvSpPr>
        <p:spPr/>
        <p:txBody>
          <a:bodyPr/>
          <a:lstStyle/>
          <a:p>
            <a:r>
              <a:rPr lang="en-US" altLang="zh-TW" dirty="0"/>
              <a:t>We find several similar signal. We assume this is the feature </a:t>
            </a:r>
            <a:r>
              <a:rPr lang="en-US" altLang="zh-TW"/>
              <a:t>of behavior.</a:t>
            </a:r>
            <a:endParaRPr lang="zh-TW" altLang="en-US" dirty="0"/>
          </a:p>
        </p:txBody>
      </p:sp>
      <p:pic>
        <p:nvPicPr>
          <p:cNvPr id="4" name="圖片 3">
            <a:extLst>
              <a:ext uri="{FF2B5EF4-FFF2-40B4-BE49-F238E27FC236}">
                <a16:creationId xmlns:a16="http://schemas.microsoft.com/office/drawing/2014/main" id="{0DBEC595-3855-4189-A1E9-E48608AF681D}"/>
              </a:ext>
            </a:extLst>
          </p:cNvPr>
          <p:cNvPicPr>
            <a:picLocks noChangeAspect="1"/>
          </p:cNvPicPr>
          <p:nvPr/>
        </p:nvPicPr>
        <p:blipFill>
          <a:blip r:embed="rId2"/>
          <a:stretch>
            <a:fillRect/>
          </a:stretch>
        </p:blipFill>
        <p:spPr>
          <a:xfrm>
            <a:off x="1611314" y="3411921"/>
            <a:ext cx="3180491" cy="1452149"/>
          </a:xfrm>
          <a:prstGeom prst="rect">
            <a:avLst/>
          </a:prstGeom>
        </p:spPr>
      </p:pic>
      <p:pic>
        <p:nvPicPr>
          <p:cNvPr id="5" name="圖片 4">
            <a:extLst>
              <a:ext uri="{FF2B5EF4-FFF2-40B4-BE49-F238E27FC236}">
                <a16:creationId xmlns:a16="http://schemas.microsoft.com/office/drawing/2014/main" id="{F639E6E4-3EC1-4045-980B-5B46BA32CE62}"/>
              </a:ext>
            </a:extLst>
          </p:cNvPr>
          <p:cNvPicPr>
            <a:picLocks noChangeAspect="1"/>
          </p:cNvPicPr>
          <p:nvPr/>
        </p:nvPicPr>
        <p:blipFill>
          <a:blip r:embed="rId3"/>
          <a:stretch>
            <a:fillRect/>
          </a:stretch>
        </p:blipFill>
        <p:spPr>
          <a:xfrm>
            <a:off x="6248812" y="3411920"/>
            <a:ext cx="3185635" cy="1452149"/>
          </a:xfrm>
          <a:prstGeom prst="rect">
            <a:avLst/>
          </a:prstGeom>
        </p:spPr>
      </p:pic>
      <p:pic>
        <p:nvPicPr>
          <p:cNvPr id="6" name="圖片 5">
            <a:extLst>
              <a:ext uri="{FF2B5EF4-FFF2-40B4-BE49-F238E27FC236}">
                <a16:creationId xmlns:a16="http://schemas.microsoft.com/office/drawing/2014/main" id="{4B9B0D7D-78B6-4542-8AF8-03093290E498}"/>
              </a:ext>
            </a:extLst>
          </p:cNvPr>
          <p:cNvPicPr>
            <a:picLocks noChangeAspect="1"/>
          </p:cNvPicPr>
          <p:nvPr/>
        </p:nvPicPr>
        <p:blipFill>
          <a:blip r:embed="rId4"/>
          <a:stretch>
            <a:fillRect/>
          </a:stretch>
        </p:blipFill>
        <p:spPr>
          <a:xfrm>
            <a:off x="1611314" y="4944862"/>
            <a:ext cx="3180491" cy="1411662"/>
          </a:xfrm>
          <a:prstGeom prst="rect">
            <a:avLst/>
          </a:prstGeom>
        </p:spPr>
      </p:pic>
      <p:pic>
        <p:nvPicPr>
          <p:cNvPr id="7" name="圖片 6">
            <a:extLst>
              <a:ext uri="{FF2B5EF4-FFF2-40B4-BE49-F238E27FC236}">
                <a16:creationId xmlns:a16="http://schemas.microsoft.com/office/drawing/2014/main" id="{CFE989BA-8800-4298-954C-B130A688660C}"/>
              </a:ext>
            </a:extLst>
          </p:cNvPr>
          <p:cNvPicPr>
            <a:picLocks noChangeAspect="1"/>
          </p:cNvPicPr>
          <p:nvPr/>
        </p:nvPicPr>
        <p:blipFill>
          <a:blip r:embed="rId5"/>
          <a:stretch>
            <a:fillRect/>
          </a:stretch>
        </p:blipFill>
        <p:spPr>
          <a:xfrm>
            <a:off x="6253955" y="4935091"/>
            <a:ext cx="3180492" cy="1421433"/>
          </a:xfrm>
          <a:prstGeom prst="rect">
            <a:avLst/>
          </a:prstGeom>
        </p:spPr>
      </p:pic>
      <p:sp>
        <p:nvSpPr>
          <p:cNvPr id="8" name="投影片編號版面配置區 7">
            <a:extLst>
              <a:ext uri="{FF2B5EF4-FFF2-40B4-BE49-F238E27FC236}">
                <a16:creationId xmlns:a16="http://schemas.microsoft.com/office/drawing/2014/main" id="{7C707F47-7A1C-4605-9CA7-109C35D6B81C}"/>
              </a:ext>
            </a:extLst>
          </p:cNvPr>
          <p:cNvSpPr>
            <a:spLocks noGrp="1"/>
          </p:cNvSpPr>
          <p:nvPr>
            <p:ph type="sldNum" sz="quarter" idx="12"/>
          </p:nvPr>
        </p:nvSpPr>
        <p:spPr/>
        <p:txBody>
          <a:bodyPr/>
          <a:lstStyle/>
          <a:p>
            <a:fld id="{FB360B71-4E68-4442-B60A-3C093988BE4E}" type="slidenum">
              <a:rPr lang="zh-TW" altLang="en-US" smtClean="0"/>
              <a:t>19</a:t>
            </a:fld>
            <a:endParaRPr lang="zh-TW" altLang="en-US" dirty="0"/>
          </a:p>
        </p:txBody>
      </p:sp>
    </p:spTree>
    <p:extLst>
      <p:ext uri="{BB962C8B-B14F-4D97-AF65-F5344CB8AC3E}">
        <p14:creationId xmlns:p14="http://schemas.microsoft.com/office/powerpoint/2010/main" val="22098573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zh-TW" dirty="0"/>
              <a:t>Conclusion</a:t>
            </a:r>
            <a:endParaRPr lang="en-US" dirty="0"/>
          </a:p>
        </p:txBody>
      </p:sp>
      <p:sp>
        <p:nvSpPr>
          <p:cNvPr id="5" name="Text Placeholder 4"/>
          <p:cNvSpPr>
            <a:spLocks noGrp="1"/>
          </p:cNvSpPr>
          <p:nvPr>
            <p:ph type="body" idx="1"/>
          </p:nvPr>
        </p:nvSpPr>
        <p:spPr/>
        <p:txBody>
          <a:bodyPr/>
          <a:lstStyle/>
          <a:p>
            <a:endParaRPr lang="en-US"/>
          </a:p>
        </p:txBody>
      </p:sp>
      <p:sp>
        <p:nvSpPr>
          <p:cNvPr id="2" name="投影片編號版面配置區 1">
            <a:extLst>
              <a:ext uri="{FF2B5EF4-FFF2-40B4-BE49-F238E27FC236}">
                <a16:creationId xmlns:a16="http://schemas.microsoft.com/office/drawing/2014/main" id="{9AD6BDEF-B854-432B-8B5B-D7E721448197}"/>
              </a:ext>
            </a:extLst>
          </p:cNvPr>
          <p:cNvSpPr>
            <a:spLocks noGrp="1"/>
          </p:cNvSpPr>
          <p:nvPr>
            <p:ph type="sldNum" sz="quarter" idx="12"/>
          </p:nvPr>
        </p:nvSpPr>
        <p:spPr/>
        <p:txBody>
          <a:bodyPr/>
          <a:lstStyle/>
          <a:p>
            <a:fld id="{FB360B71-4E68-4442-B60A-3C093988BE4E}" type="slidenum">
              <a:rPr lang="zh-TW" altLang="en-US" smtClean="0"/>
              <a:t>20</a:t>
            </a:fld>
            <a:endParaRPr lang="zh-TW" altLang="en-US"/>
          </a:p>
        </p:txBody>
      </p:sp>
    </p:spTree>
    <p:extLst>
      <p:ext uri="{BB962C8B-B14F-4D97-AF65-F5344CB8AC3E}">
        <p14:creationId xmlns:p14="http://schemas.microsoft.com/office/powerpoint/2010/main" val="30734213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F4D6F8-846C-449D-846E-2AE6CF4A18C2}"/>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A373C958-DD98-4256-BAF2-98FD52C08890}"/>
              </a:ext>
            </a:extLst>
          </p:cNvPr>
          <p:cNvSpPr>
            <a:spLocks noGrp="1"/>
          </p:cNvSpPr>
          <p:nvPr>
            <p:ph idx="1"/>
          </p:nvPr>
        </p:nvSpPr>
        <p:spPr/>
        <p:txBody>
          <a:bodyPr/>
          <a:lstStyle/>
          <a:p>
            <a:r>
              <a:rPr lang="en-US" altLang="zh-TW" dirty="0"/>
              <a:t>For now, we found the signals that are 70% similar. Which proves this decomposition work.</a:t>
            </a:r>
          </a:p>
          <a:p>
            <a:r>
              <a:rPr lang="en-US" altLang="zh-TW" dirty="0"/>
              <a:t>In our assumption, it is the behavior’s feature signals. </a:t>
            </a:r>
          </a:p>
        </p:txBody>
      </p:sp>
      <p:sp>
        <p:nvSpPr>
          <p:cNvPr id="4" name="投影片編號版面配置區 3">
            <a:extLst>
              <a:ext uri="{FF2B5EF4-FFF2-40B4-BE49-F238E27FC236}">
                <a16:creationId xmlns:a16="http://schemas.microsoft.com/office/drawing/2014/main" id="{C113CAF9-6FEC-45E8-A4B1-2186C784E2AB}"/>
              </a:ext>
            </a:extLst>
          </p:cNvPr>
          <p:cNvSpPr>
            <a:spLocks noGrp="1"/>
          </p:cNvSpPr>
          <p:nvPr>
            <p:ph type="sldNum" sz="quarter" idx="12"/>
          </p:nvPr>
        </p:nvSpPr>
        <p:spPr/>
        <p:txBody>
          <a:bodyPr/>
          <a:lstStyle/>
          <a:p>
            <a:fld id="{FB360B71-4E68-4442-B60A-3C093988BE4E}" type="slidenum">
              <a:rPr lang="zh-TW" altLang="en-US" smtClean="0"/>
              <a:t>21</a:t>
            </a:fld>
            <a:endParaRPr lang="zh-TW" altLang="en-US" dirty="0"/>
          </a:p>
        </p:txBody>
      </p:sp>
    </p:spTree>
    <p:extLst>
      <p:ext uri="{BB962C8B-B14F-4D97-AF65-F5344CB8AC3E}">
        <p14:creationId xmlns:p14="http://schemas.microsoft.com/office/powerpoint/2010/main" val="166704850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id="{F3D2E6BF-03F8-4B3F-A578-AA4A6DA878DE}"/>
              </a:ext>
            </a:extLst>
          </p:cNvPr>
          <p:cNvSpPr txBox="1"/>
          <p:nvPr/>
        </p:nvSpPr>
        <p:spPr>
          <a:xfrm>
            <a:off x="5672832" y="3244334"/>
            <a:ext cx="1313180" cy="707886"/>
          </a:xfrm>
          <a:prstGeom prst="rect">
            <a:avLst/>
          </a:prstGeom>
          <a:noFill/>
        </p:spPr>
        <p:txBody>
          <a:bodyPr wrap="none" rtlCol="0">
            <a:spAutoFit/>
          </a:bodyPr>
          <a:lstStyle/>
          <a:p>
            <a:r>
              <a:rPr lang="en-US" altLang="zh-TW" sz="4000" dirty="0"/>
              <a:t>END</a:t>
            </a:r>
            <a:endParaRPr lang="zh-TW" altLang="en-US" sz="4000" dirty="0"/>
          </a:p>
        </p:txBody>
      </p:sp>
      <p:sp>
        <p:nvSpPr>
          <p:cNvPr id="2" name="投影片編號版面配置區 1">
            <a:extLst>
              <a:ext uri="{FF2B5EF4-FFF2-40B4-BE49-F238E27FC236}">
                <a16:creationId xmlns:a16="http://schemas.microsoft.com/office/drawing/2014/main" id="{C9F2C61D-32F6-43C1-898F-4CE21FBA4F37}"/>
              </a:ext>
            </a:extLst>
          </p:cNvPr>
          <p:cNvSpPr>
            <a:spLocks noGrp="1"/>
          </p:cNvSpPr>
          <p:nvPr>
            <p:ph type="sldNum" sz="quarter" idx="12"/>
          </p:nvPr>
        </p:nvSpPr>
        <p:spPr/>
        <p:txBody>
          <a:bodyPr/>
          <a:lstStyle/>
          <a:p>
            <a:fld id="{FB360B71-4E68-4442-B60A-3C093988BE4E}" type="slidenum">
              <a:rPr lang="zh-TW" altLang="en-US" smtClean="0"/>
              <a:t>22</a:t>
            </a:fld>
            <a:endParaRPr lang="zh-TW" altLang="en-US"/>
          </a:p>
        </p:txBody>
      </p:sp>
    </p:spTree>
    <p:extLst>
      <p:ext uri="{BB962C8B-B14F-4D97-AF65-F5344CB8AC3E}">
        <p14:creationId xmlns:p14="http://schemas.microsoft.com/office/powerpoint/2010/main" val="14322242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有機">
  <a:themeElements>
    <a:clrScheme name="有機">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有機">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有機">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5457</TotalTime>
  <Words>530</Words>
  <Application>Microsoft Office PowerPoint</Application>
  <PresentationFormat>Widescreen</PresentationFormat>
  <Paragraphs>149</Paragraphs>
  <Slides>22</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Lato</vt:lpstr>
      <vt:lpstr>Lato Black</vt:lpstr>
      <vt:lpstr>Lato Light</vt:lpstr>
      <vt:lpstr>微軟正黑體</vt:lpstr>
      <vt:lpstr>新細明體</vt:lpstr>
      <vt:lpstr>Arial</vt:lpstr>
      <vt:lpstr>Calibri</vt:lpstr>
      <vt:lpstr>Cambria Math</vt:lpstr>
      <vt:lpstr>Garamond</vt:lpstr>
      <vt:lpstr>Wingdings</vt:lpstr>
      <vt:lpstr>有機</vt:lpstr>
      <vt:lpstr>DRIVING FEATURE EXTRACTION</vt:lpstr>
      <vt:lpstr>PowerPoint Presentation</vt:lpstr>
      <vt:lpstr>topic</vt:lpstr>
      <vt:lpstr>What you can learn</vt:lpstr>
      <vt:lpstr>What you can learn</vt:lpstr>
      <vt:lpstr>Problem definition</vt:lpstr>
      <vt:lpstr>Problem definition</vt:lpstr>
      <vt:lpstr>PowerPoint Presentation</vt:lpstr>
      <vt:lpstr>Background + reason to use ICA</vt:lpstr>
      <vt:lpstr>Problem definition</vt:lpstr>
      <vt:lpstr>ICA</vt:lpstr>
      <vt:lpstr>PowerPoint Presentation</vt:lpstr>
      <vt:lpstr>PowerPoint Presentation</vt:lpstr>
      <vt:lpstr>PowerPoint Presentation</vt:lpstr>
      <vt:lpstr>Experiment</vt:lpstr>
      <vt:lpstr>Experiment</vt:lpstr>
      <vt:lpstr>Experiment: simulation normal  </vt:lpstr>
      <vt:lpstr>Experiment: simulation normal </vt:lpstr>
      <vt:lpstr>Experiment: simulation normal </vt:lpstr>
      <vt:lpstr>Conclusion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ICA</dc:title>
  <dc:creator>HenryLab</dc:creator>
  <cp:lastModifiedBy>dr Liang</cp:lastModifiedBy>
  <cp:revision>72</cp:revision>
  <dcterms:created xsi:type="dcterms:W3CDTF">2021-06-02T16:37:03Z</dcterms:created>
  <dcterms:modified xsi:type="dcterms:W3CDTF">2022-03-28T02:52:54Z</dcterms:modified>
</cp:coreProperties>
</file>