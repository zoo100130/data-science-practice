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hFuo98KDaHOyMCr2AMnqz9eLXN/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馬莎琳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5454E08-A82F-4A8E-9993-604A964E85C1}">
  <a:tblStyle styleId="{95454E08-A82F-4A8E-9993-604A964E85C1}" styleName="Table_0">
    <a:wholeTbl>
      <a:tcTxStyle b="off" i="off">
        <a:font>
          <a:latin typeface="Tw Cen MT"/>
          <a:ea typeface="Tw Cen MT"/>
          <a:cs typeface="Tw Cen M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A"/>
          </a:solidFill>
        </a:fill>
      </a:tcStyle>
    </a:wholeTbl>
    <a:band1H>
      <a:tcTxStyle b="off" i="off"/>
      <a:tcStyle>
        <a:fill>
          <a:solidFill>
            <a:srgbClr val="CBE2F5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BE2F5"/>
          </a:solidFill>
        </a:fill>
      </a:tcStyle>
    </a:band1V>
    <a:band2V>
      <a:tcTxStyle b="off" i="off"/>
    </a:band2V>
    <a:la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A02DE767-246D-4CB0-9A08-200F64C40181}" styleName="Table_1">
    <a:wholeTbl>
      <a:tcTxStyle b="off" i="off">
        <a:font>
          <a:latin typeface="Tw Cen MT"/>
          <a:ea typeface="Tw Cen MT"/>
          <a:cs typeface="Tw Cen M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CF5"/>
          </a:solidFill>
        </a:fill>
      </a:tcStyle>
    </a:wholeTbl>
    <a:band1H>
      <a:tcTxStyle b="off" i="off"/>
      <a:tcStyle>
        <a:fill>
          <a:solidFill>
            <a:srgbClr val="CBD8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BD8EA"/>
          </a:solidFill>
        </a:fill>
      </a:tcStyle>
    </a:band1V>
    <a:band2V>
      <a:tcTxStyle b="off" i="off"/>
    </a:band2V>
    <a:la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2"/>
          </a:solidFill>
        </a:fill>
      </a:tcStyle>
    </a:lastCol>
    <a:fir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2"/>
          </a:solidFill>
        </a:fill>
      </a:tcStyle>
    </a:firstCol>
    <a:la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2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2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3-04-23T15:40:28.756">
    <p:pos x="6000" y="0"/>
    <p:text>remove accept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t0IMCHg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/>
              <a:t>Chi-squared test is usually used to test the significant difference between the observation (O) or experiment with the expected result (E).</a:t>
            </a:r>
            <a:endParaRPr/>
          </a:p>
          <a:p>
            <a:pPr indent="-952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Does </a:t>
            </a:r>
            <a:r>
              <a:rPr b="1" lang="en-GB"/>
              <a:t>gender</a:t>
            </a:r>
            <a:r>
              <a:rPr lang="en-GB"/>
              <a:t> (feature) affect </a:t>
            </a:r>
            <a:r>
              <a:rPr b="1" lang="en-GB"/>
              <a:t>preferred holiday </a:t>
            </a:r>
            <a:r>
              <a:rPr lang="en-GB"/>
              <a:t>(GA: Beach, GB: Cruise, GC: Hiking)?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- if gender does affect preferred holiday, we say that they are dependent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8" name="Google Shape;36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7" name="Google Shape;37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2" name="Google Shape;41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2" name="Google Shape;42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3" name="Google Shape;47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7" name="Google Shape;50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9" name="Google Shape;53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9" name="Google Shape;54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6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rgbClr val="1482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6"/>
          <p:cNvSpPr/>
          <p:nvPr/>
        </p:nvSpPr>
        <p:spPr>
          <a:xfrm>
            <a:off x="-1" y="0"/>
            <a:ext cx="12192000" cy="4572001"/>
          </a:xfrm>
          <a:custGeom>
            <a:rect b="b" l="l" r="r" t="t"/>
            <a:pathLst>
              <a:path extrusionOk="0" h="4572001" w="1219200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6"/>
          <p:cNvSpPr txBox="1"/>
          <p:nvPr>
            <p:ph type="ctr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" type="subTitle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" name="Google Shape;21;p26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4" name="Google Shape;24;p26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7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rgbClr val="1D9A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8"/>
          <p:cNvSpPr/>
          <p:nvPr/>
        </p:nvSpPr>
        <p:spPr>
          <a:xfrm>
            <a:off x="-1" y="0"/>
            <a:ext cx="12192000" cy="4572001"/>
          </a:xfrm>
          <a:custGeom>
            <a:rect b="b" l="l" r="r" t="t"/>
            <a:pathLst>
              <a:path extrusionOk="0" h="4572001" w="1219200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8"/>
          <p:cNvSpPr txBox="1"/>
          <p:nvPr>
            <p:ph type="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b="0"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" type="body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28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8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9" name="Google Shape;39;p28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" type="body"/>
          </p:nvPr>
        </p:nvSpPr>
        <p:spPr>
          <a:xfrm>
            <a:off x="1024127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3" name="Google Shape;43;p29"/>
          <p:cNvSpPr txBox="1"/>
          <p:nvPr>
            <p:ph idx="2" type="body"/>
          </p:nvPr>
        </p:nvSpPr>
        <p:spPr>
          <a:xfrm>
            <a:off x="5989320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4" name="Google Shape;44;p29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9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9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0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0"/>
          <p:cNvSpPr txBox="1"/>
          <p:nvPr>
            <p:ph idx="1" type="body"/>
          </p:nvPr>
        </p:nvSpPr>
        <p:spPr>
          <a:xfrm>
            <a:off x="102412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0" sz="23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30"/>
          <p:cNvSpPr txBox="1"/>
          <p:nvPr>
            <p:ph idx="2" type="body"/>
          </p:nvPr>
        </p:nvSpPr>
        <p:spPr>
          <a:xfrm>
            <a:off x="102412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3" type="body"/>
          </p:nvPr>
        </p:nvSpPr>
        <p:spPr>
          <a:xfrm>
            <a:off x="599088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0" sz="23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30"/>
          <p:cNvSpPr txBox="1"/>
          <p:nvPr>
            <p:ph idx="4" type="body"/>
          </p:nvPr>
        </p:nvSpPr>
        <p:spPr>
          <a:xfrm>
            <a:off x="599088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0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0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1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1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2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/>
          <p:nvPr>
            <p:ph type="title"/>
          </p:nvPr>
        </p:nvSpPr>
        <p:spPr>
          <a:xfrm>
            <a:off x="1024128" y="471509"/>
            <a:ext cx="43891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 txBox="1"/>
          <p:nvPr>
            <p:ph idx="1" type="body"/>
          </p:nvPr>
        </p:nvSpPr>
        <p:spPr>
          <a:xfrm>
            <a:off x="5715000" y="822960"/>
            <a:ext cx="5678424" cy="5184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 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Char char="?"/>
              <a:defRPr sz="2000"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Char char="?"/>
              <a:defRPr sz="1600"/>
            </a:lvl9pPr>
          </a:lstStyle>
          <a:p/>
        </p:txBody>
      </p:sp>
      <p:sp>
        <p:nvSpPr>
          <p:cNvPr id="68" name="Google Shape;68;p33"/>
          <p:cNvSpPr txBox="1"/>
          <p:nvPr>
            <p:ph idx="2" type="body"/>
          </p:nvPr>
        </p:nvSpPr>
        <p:spPr>
          <a:xfrm>
            <a:off x="1024128" y="2257506"/>
            <a:ext cx="4389120" cy="3762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3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4"/>
          <p:cNvSpPr txBox="1"/>
          <p:nvPr>
            <p:ph type="title"/>
          </p:nvPr>
        </p:nvSpPr>
        <p:spPr>
          <a:xfrm>
            <a:off x="457200" y="4960138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4"/>
          <p:cNvSpPr/>
          <p:nvPr>
            <p:ph idx="2" type="pic"/>
          </p:nvPr>
        </p:nvSpPr>
        <p:spPr>
          <a:xfrm>
            <a:off x="0" y="-1"/>
            <a:ext cx="12188952" cy="4572000"/>
          </a:xfrm>
          <a:prstGeom prst="rect">
            <a:avLst/>
          </a:prstGeom>
          <a:solidFill>
            <a:srgbClr val="76CEEF"/>
          </a:solidFill>
          <a:ln>
            <a:noFill/>
          </a:ln>
        </p:spPr>
      </p:sp>
      <p:sp>
        <p:nvSpPr>
          <p:cNvPr id="75" name="Google Shape;75;p34"/>
          <p:cNvSpPr txBox="1"/>
          <p:nvPr>
            <p:ph idx="1" type="body"/>
          </p:nvPr>
        </p:nvSpPr>
        <p:spPr>
          <a:xfrm>
            <a:off x="8610600" y="4960138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34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79" name="Google Shape;79;p34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5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5"/>
          <p:cNvSpPr txBox="1"/>
          <p:nvPr>
            <p:ph idx="1" type="body"/>
          </p:nvPr>
        </p:nvSpPr>
        <p:spPr>
          <a:xfrm rot="5400000">
            <a:off x="3872485" y="-562356"/>
            <a:ext cx="4023360" cy="9720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83" name="Google Shape;83;p35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5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5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6"/>
          <p:cNvSpPr txBox="1"/>
          <p:nvPr>
            <p:ph type="title"/>
          </p:nvPr>
        </p:nvSpPr>
        <p:spPr>
          <a:xfrm rot="5400000">
            <a:off x="7334251" y="2152650"/>
            <a:ext cx="54102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5700" spcFirstLastPara="1" rIns="45700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6"/>
          <p:cNvSpPr txBox="1"/>
          <p:nvPr>
            <p:ph idx="1" type="body"/>
          </p:nvPr>
        </p:nvSpPr>
        <p:spPr>
          <a:xfrm rot="5400000">
            <a:off x="2076451" y="-323850"/>
            <a:ext cx="5410200" cy="75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89" name="Google Shape;89;p36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6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6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92" name="Google Shape;92;p36"/>
          <p:cNvCxnSpPr/>
          <p:nvPr/>
        </p:nvCxnSpPr>
        <p:spPr>
          <a:xfrm rot="10800000">
            <a:off x="10058400" y="59263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b="0" i="0" sz="5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5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Char char=" "/>
              <a:defRPr b="0" i="0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🢝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2" name="Google Shape;12;p25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5" name="Google Shape;15;p25"/>
          <p:cNvCxnSpPr/>
          <p:nvPr/>
        </p:nvCxnSpPr>
        <p:spPr>
          <a:xfrm rot="10800000">
            <a:off x="762000" y="826324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comments" Target="../comments/comment1.xml"/><Relationship Id="rId4" Type="http://schemas.openxmlformats.org/officeDocument/2006/relationships/image" Target="../media/image18.png"/><Relationship Id="rId11" Type="http://schemas.openxmlformats.org/officeDocument/2006/relationships/image" Target="../media/image1.png"/><Relationship Id="rId10" Type="http://schemas.openxmlformats.org/officeDocument/2006/relationships/image" Target="../media/image16.png"/><Relationship Id="rId9" Type="http://schemas.openxmlformats.org/officeDocument/2006/relationships/image" Target="../media/image4.jp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19.png"/><Relationship Id="rId8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"/>
          <p:cNvSpPr txBox="1"/>
          <p:nvPr>
            <p:ph type="ctr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CHI-SQUARED TEST</a:t>
            </a:r>
            <a:endParaRPr/>
          </a:p>
        </p:txBody>
      </p:sp>
      <p:sp>
        <p:nvSpPr>
          <p:cNvPr id="98" name="Google Shape;98;p1"/>
          <p:cNvSpPr txBox="1"/>
          <p:nvPr>
            <p:ph idx="1" type="subTitle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99" name="Google Shape;99;p1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OUTLINE</a:t>
            </a:r>
            <a:endParaRPr/>
          </a:p>
        </p:txBody>
      </p:sp>
      <p:sp>
        <p:nvSpPr>
          <p:cNvPr id="106" name="Google Shape;106;p2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n-GB"/>
              <a:t> Background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n-GB"/>
              <a:t> Introduction to Chi-Square Test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n-GB"/>
              <a:t> How to Perform Chi-Square Test</a:t>
            </a:r>
            <a:endParaRPr/>
          </a:p>
        </p:txBody>
      </p:sp>
      <p:sp>
        <p:nvSpPr>
          <p:cNvPr id="107" name="Google Shape;107;p2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BACKGROUND</a:t>
            </a:r>
            <a:endParaRPr/>
          </a:p>
        </p:txBody>
      </p:sp>
      <p:sp>
        <p:nvSpPr>
          <p:cNvPr id="115" name="Google Shape;115;p3"/>
          <p:cNvSpPr txBox="1"/>
          <p:nvPr>
            <p:ph idx="1" type="body"/>
          </p:nvPr>
        </p:nvSpPr>
        <p:spPr>
          <a:xfrm>
            <a:off x="1024129" y="2286000"/>
            <a:ext cx="5017442" cy="2656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 fontScale="92500"/>
          </a:bodyPr>
          <a:lstStyle/>
          <a:p>
            <a:pPr indent="-129222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GB"/>
              <a:t> In the case of classification problem where </a:t>
            </a:r>
            <a:r>
              <a:rPr b="1" lang="en-GB">
                <a:solidFill>
                  <a:schemeClr val="accent2"/>
                </a:solidFill>
              </a:rPr>
              <a:t>input</a:t>
            </a:r>
            <a:r>
              <a:rPr lang="en-GB"/>
              <a:t> variables (features) are </a:t>
            </a:r>
            <a:r>
              <a:rPr b="1" lang="en-GB"/>
              <a:t>categorical</a:t>
            </a:r>
            <a:r>
              <a:rPr lang="en-GB"/>
              <a:t>, we can use statistical test to determine whether the </a:t>
            </a:r>
            <a:r>
              <a:rPr b="1" lang="en-GB">
                <a:solidFill>
                  <a:schemeClr val="accent2"/>
                </a:solidFill>
              </a:rPr>
              <a:t>output</a:t>
            </a:r>
            <a:r>
              <a:rPr lang="en-GB"/>
              <a:t> variable is </a:t>
            </a:r>
            <a:r>
              <a:rPr b="1" lang="en-GB"/>
              <a:t>dependent</a:t>
            </a:r>
            <a:r>
              <a:rPr lang="en-GB"/>
              <a:t> or </a:t>
            </a:r>
            <a:r>
              <a:rPr b="1" lang="en-GB"/>
              <a:t>independent</a:t>
            </a:r>
            <a:r>
              <a:rPr lang="en-GB"/>
              <a:t> of the </a:t>
            </a:r>
            <a:r>
              <a:rPr b="1" lang="en-GB">
                <a:solidFill>
                  <a:schemeClr val="accent2"/>
                </a:solidFill>
              </a:rPr>
              <a:t>input</a:t>
            </a:r>
            <a:r>
              <a:rPr lang="en-GB"/>
              <a:t> variables</a:t>
            </a:r>
            <a:endParaRPr/>
          </a:p>
          <a:p>
            <a:pPr indent="-129222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GB"/>
              <a:t> If </a:t>
            </a:r>
            <a:r>
              <a:rPr b="1" lang="en-GB"/>
              <a:t>independent</a:t>
            </a:r>
            <a:r>
              <a:rPr lang="en-GB"/>
              <a:t>, then the input variable is a candidate for a feature that may be </a:t>
            </a:r>
            <a:r>
              <a:rPr b="1" lang="en-GB"/>
              <a:t>irrelevant </a:t>
            </a:r>
            <a:r>
              <a:rPr lang="en-GB"/>
              <a:t>to the problem and </a:t>
            </a:r>
            <a:r>
              <a:rPr b="1" lang="en-GB">
                <a:solidFill>
                  <a:srgbClr val="FF0000"/>
                </a:solidFill>
              </a:rPr>
              <a:t>removed </a:t>
            </a:r>
            <a:r>
              <a:rPr lang="en-GB"/>
              <a:t>from the dataset.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17" name="Google Shape;117;p3"/>
          <p:cNvGraphicFramePr/>
          <p:nvPr/>
        </p:nvGraphicFramePr>
        <p:xfrm>
          <a:off x="6127667" y="6303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{95454E08-A82F-4A8E-9993-604A964E85C1}</a:tableStyleId>
              </a:tblPr>
              <a:tblGrid>
                <a:gridCol w="947150"/>
                <a:gridCol w="869775"/>
                <a:gridCol w="10245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Group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F1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(age)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F2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(gender)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GA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12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Male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54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Female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wentieth Century"/>
                        <a:buNone/>
                      </a:pPr>
                      <a:r>
                        <a:rPr lang="en-GB" sz="1800" u="none" cap="none" strike="noStrike"/>
                        <a:t>Female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47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wentieth Century"/>
                        <a:buNone/>
                      </a:pPr>
                      <a:r>
                        <a:rPr b="0" i="0" lang="en-GB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Male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wentieth Century"/>
                        <a:buNone/>
                      </a:pPr>
                      <a:r>
                        <a:rPr b="0" i="0" lang="en-GB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Male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53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wentieth Century"/>
                        <a:buNone/>
                      </a:pPr>
                      <a:r>
                        <a:rPr b="0" i="0" lang="en-GB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Male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32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wentieth Century"/>
                        <a:buNone/>
                      </a:pPr>
                      <a:r>
                        <a:rPr b="0" i="0" lang="en-GB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Female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/>
                </a:tc>
              </a:tr>
              <a:tr h="37085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GB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wentieth Century"/>
                        <a:buNone/>
                      </a:pPr>
                      <a:r>
                        <a:rPr b="0" i="0" lang="en-GB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Female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43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wentieth Century"/>
                        <a:buNone/>
                      </a:pPr>
                      <a:r>
                        <a:rPr b="0" i="0" lang="en-GB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Female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27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wentieth Century"/>
                        <a:buNone/>
                      </a:pPr>
                      <a:r>
                        <a:rPr b="0" i="0" lang="en-GB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Male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16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wentieth Century"/>
                        <a:buNone/>
                      </a:pPr>
                      <a:r>
                        <a:rPr b="0" i="0" lang="en-GB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Male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36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wentieth Century"/>
                        <a:buNone/>
                      </a:pPr>
                      <a:r>
                        <a:rPr b="0" i="0" lang="en-GB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Male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27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wentieth Century"/>
                        <a:buNone/>
                      </a:pPr>
                      <a:r>
                        <a:rPr b="0" i="0" lang="en-GB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Female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29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wentieth Century"/>
                        <a:buNone/>
                      </a:pPr>
                      <a:r>
                        <a:rPr b="0" i="0" lang="en-GB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Female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18" name="Google Shape;118;p3"/>
          <p:cNvGraphicFramePr/>
          <p:nvPr/>
        </p:nvGraphicFramePr>
        <p:xfrm>
          <a:off x="9227129" y="25523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{A02DE767-246D-4CB0-9A08-200F64C40181}</a:tableStyleId>
              </a:tblPr>
              <a:tblGrid>
                <a:gridCol w="843150"/>
                <a:gridCol w="1027075"/>
                <a:gridCol w="9351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Group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F2 (gender)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Total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GA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Male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Female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GB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Male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Female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119" name="Google Shape;119;p3"/>
          <p:cNvCxnSpPr/>
          <p:nvPr/>
        </p:nvCxnSpPr>
        <p:spPr>
          <a:xfrm>
            <a:off x="8704616" y="795650"/>
            <a:ext cx="1925100" cy="1756800"/>
          </a:xfrm>
          <a:prstGeom prst="bentConnector2">
            <a:avLst/>
          </a:prstGeom>
          <a:noFill/>
          <a:ln cap="flat" cmpd="sng" w="9525">
            <a:solidFill>
              <a:srgbClr val="FFC00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20" name="Google Shape;1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CHI-SQUARED TEST</a:t>
            </a:r>
            <a:endParaRPr/>
          </a:p>
        </p:txBody>
      </p:sp>
      <p:sp>
        <p:nvSpPr>
          <p:cNvPr id="127" name="Google Shape;127;p4"/>
          <p:cNvSpPr txBox="1"/>
          <p:nvPr>
            <p:ph idx="1" type="body"/>
          </p:nvPr>
        </p:nvSpPr>
        <p:spPr>
          <a:xfrm>
            <a:off x="1024128" y="2286000"/>
            <a:ext cx="9720073" cy="407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GB" sz="2800"/>
              <a:t>What is chi-square test?</a:t>
            </a:r>
            <a:endParaRPr/>
          </a:p>
        </p:txBody>
      </p:sp>
      <p:sp>
        <p:nvSpPr>
          <p:cNvPr id="128" name="Google Shape;128;p4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1024127" y="2921093"/>
            <a:ext cx="9025959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Char char="❖"/>
            </a:pPr>
            <a:r>
              <a:rPr b="1" i="0" lang="en-GB" sz="1800" u="sng" cap="none" strike="noStrike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Chi-squared test is designed to analyze categorical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GB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Intended to test how likely it is that an observed distribution is to be caused by chance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GB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It measures how well the observed distribution of data fits with the distribution that is expected if the variables are independent.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30" name="Google Shape;1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EXAMPLE OF CHI-SQUARE TEST</a:t>
            </a:r>
            <a:endParaRPr/>
          </a:p>
        </p:txBody>
      </p:sp>
      <p:sp>
        <p:nvSpPr>
          <p:cNvPr id="136" name="Google Shape;136;p5"/>
          <p:cNvSpPr txBox="1"/>
          <p:nvPr>
            <p:ph idx="1" type="body"/>
          </p:nvPr>
        </p:nvSpPr>
        <p:spPr>
          <a:xfrm>
            <a:off x="1024126" y="1998317"/>
            <a:ext cx="7863199" cy="537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GB"/>
              <a:t>You research about preference to spend holiday at the beach, cruise, or hiking between men and women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5"/>
          <p:cNvSpPr txBox="1"/>
          <p:nvPr/>
        </p:nvSpPr>
        <p:spPr>
          <a:xfrm>
            <a:off x="4772285" y="5635966"/>
            <a:ext cx="3446429" cy="562893"/>
          </a:xfrm>
          <a:prstGeom prst="rect">
            <a:avLst/>
          </a:prstGeom>
          <a:gradFill>
            <a:gsLst>
              <a:gs pos="0">
                <a:srgbClr val="127499"/>
              </a:gs>
              <a:gs pos="48000">
                <a:srgbClr val="21AFE4"/>
              </a:gs>
              <a:gs pos="100000">
                <a:srgbClr val="76CEEF"/>
              </a:gs>
            </a:gsLst>
            <a:lin ang="16200000" scaled="0"/>
          </a:gradFill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None/>
            </a:pPr>
            <a:r>
              <a:rPr b="0" i="0" lang="en-GB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Is that just random chance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8448855" y="5635966"/>
            <a:ext cx="3567715" cy="537410"/>
          </a:xfrm>
          <a:prstGeom prst="rect">
            <a:avLst/>
          </a:prstGeom>
          <a:gradFill>
            <a:gsLst>
              <a:gs pos="0">
                <a:srgbClr val="19A0D2"/>
              </a:gs>
              <a:gs pos="100000">
                <a:srgbClr val="39C0F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76200" rotWithShape="0" algn="ctr" dir="5400000" dist="25400">
              <a:srgbClr val="000000">
                <a:alpha val="6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wentieth Century"/>
              <a:buNone/>
            </a:pPr>
            <a:r>
              <a:rPr b="0" i="0" lang="en-GB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Or, you have found something interesting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886" y="2792400"/>
            <a:ext cx="3388258" cy="2321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2285" y="2792400"/>
            <a:ext cx="3446429" cy="227169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5"/>
          <p:cNvSpPr txBox="1"/>
          <p:nvPr/>
        </p:nvSpPr>
        <p:spPr>
          <a:xfrm>
            <a:off x="1153886" y="5635965"/>
            <a:ext cx="3388258" cy="537411"/>
          </a:xfrm>
          <a:prstGeom prst="rect">
            <a:avLst/>
          </a:prstGeom>
          <a:gradFill>
            <a:gsLst>
              <a:gs pos="0">
                <a:srgbClr val="19A0D2"/>
              </a:gs>
              <a:gs pos="100000">
                <a:srgbClr val="39C0F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76200" rotWithShape="0" algn="ctr" dir="5400000" dist="25400">
              <a:srgbClr val="000000">
                <a:alpha val="6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wentieth Century"/>
              <a:buNone/>
            </a:pPr>
            <a:r>
              <a:rPr b="0" i="0" lang="en-GB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Does gender affect preferred holiday?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48855" y="2792401"/>
            <a:ext cx="3567715" cy="2321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UNDERSTANDING P-VALUE</a:t>
            </a:r>
            <a:endParaRPr/>
          </a:p>
        </p:txBody>
      </p:sp>
      <p:sp>
        <p:nvSpPr>
          <p:cNvPr id="151" name="Google Shape;151;p6"/>
          <p:cNvSpPr txBox="1"/>
          <p:nvPr>
            <p:ph idx="1" type="body"/>
          </p:nvPr>
        </p:nvSpPr>
        <p:spPr>
          <a:xfrm>
            <a:off x="1024128" y="2286000"/>
            <a:ext cx="6435451" cy="4892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 "/>
            </a:pPr>
            <a:r>
              <a:rPr lang="en-GB"/>
              <a:t>The chi-square gives a “P-Value” to help you to decide</a:t>
            </a:r>
            <a:endParaRPr/>
          </a:p>
        </p:txBody>
      </p:sp>
      <p:graphicFrame>
        <p:nvGraphicFramePr>
          <p:cNvPr id="152" name="Google Shape;152;p6"/>
          <p:cNvGraphicFramePr/>
          <p:nvPr/>
        </p:nvGraphicFramePr>
        <p:xfrm>
          <a:off x="1149684" y="29764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{95454E08-A82F-4A8E-9993-604A964E85C1}</a:tableStyleId>
              </a:tblPr>
              <a:tblGrid>
                <a:gridCol w="984475"/>
                <a:gridCol w="1831325"/>
                <a:gridCol w="1863750"/>
                <a:gridCol w="17957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Beach (Group A)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Cruise (Group B)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Hiking (Group C)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Men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209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280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118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Women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225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248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105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53" name="Google Shape;153;p6"/>
          <p:cNvSpPr txBox="1"/>
          <p:nvPr/>
        </p:nvSpPr>
        <p:spPr>
          <a:xfrm>
            <a:off x="1024128" y="4290140"/>
            <a:ext cx="10568105" cy="1588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914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4" name="Google Shape;154;p6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5" name="Google Shape;155;p6"/>
          <p:cNvSpPr txBox="1"/>
          <p:nvPr/>
        </p:nvSpPr>
        <p:spPr>
          <a:xfrm>
            <a:off x="1149684" y="4290140"/>
            <a:ext cx="6435451" cy="1588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None/>
            </a:pPr>
            <a:r>
              <a:rPr b="0" i="0" lang="en-GB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By doing calculation, and come up with “P” value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None/>
            </a:pPr>
            <a:r>
              <a:rPr b="0" i="0" lang="en-GB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 &lt; 0.05 is the usual test for dependence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None/>
            </a:pPr>
            <a:r>
              <a:rPr b="0" i="0" lang="en-GB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 &gt; 0.05 then variables are independent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 txBox="1"/>
          <p:nvPr>
            <p:ph type="title"/>
          </p:nvPr>
        </p:nvSpPr>
        <p:spPr>
          <a:xfrm>
            <a:off x="748967" y="724662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CHI-SQUARE</a:t>
            </a:r>
            <a:br>
              <a:rPr lang="en-GB"/>
            </a:br>
            <a:r>
              <a:rPr lang="en-GB"/>
              <a:t>TABLE</a:t>
            </a:r>
            <a:endParaRPr/>
          </a:p>
        </p:txBody>
      </p:sp>
      <p:sp>
        <p:nvSpPr>
          <p:cNvPr id="163" name="Google Shape;163;p7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>
                <a:solidFill>
                  <a:schemeClr val="accent2"/>
                </a:solidFill>
              </a:rPr>
              <a:t>‹#›</a:t>
            </a:fld>
            <a:endParaRPr>
              <a:solidFill>
                <a:schemeClr val="accent2"/>
              </a:solidFill>
            </a:endParaRPr>
          </a:p>
        </p:txBody>
      </p:sp>
      <p:grpSp>
        <p:nvGrpSpPr>
          <p:cNvPr id="165" name="Google Shape;165;p7"/>
          <p:cNvGrpSpPr/>
          <p:nvPr/>
        </p:nvGrpSpPr>
        <p:grpSpPr>
          <a:xfrm>
            <a:off x="4846320" y="27403"/>
            <a:ext cx="7769019" cy="6721050"/>
            <a:chOff x="4846320" y="27403"/>
            <a:chExt cx="7769019" cy="6721050"/>
          </a:xfrm>
        </p:grpSpPr>
        <p:pic>
          <p:nvPicPr>
            <p:cNvPr id="166" name="Google Shape;166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850020" y="27403"/>
              <a:ext cx="6258451" cy="6721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" name="Google Shape;167;p7"/>
            <p:cNvSpPr/>
            <p:nvPr/>
          </p:nvSpPr>
          <p:spPr>
            <a:xfrm>
              <a:off x="4846320" y="1474470"/>
              <a:ext cx="1074420" cy="21717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FFC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6005938" y="1474470"/>
              <a:ext cx="5012581" cy="21717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FFC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10818496" y="1091565"/>
              <a:ext cx="914400" cy="9144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11026176" y="1737360"/>
              <a:ext cx="309785" cy="4914900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rgbClr val="FFC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2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10946129" y="3392514"/>
              <a:ext cx="1669210" cy="9144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72" name="Google Shape;17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8"/>
          <p:cNvGrpSpPr/>
          <p:nvPr/>
        </p:nvGrpSpPr>
        <p:grpSpPr>
          <a:xfrm>
            <a:off x="227872" y="3007270"/>
            <a:ext cx="11688128" cy="1100133"/>
            <a:chOff x="3283" y="2750596"/>
            <a:chExt cx="11688128" cy="1100133"/>
          </a:xfrm>
        </p:grpSpPr>
        <p:sp>
          <p:nvSpPr>
            <p:cNvPr id="178" name="Google Shape;178;p8"/>
            <p:cNvSpPr/>
            <p:nvPr/>
          </p:nvSpPr>
          <p:spPr>
            <a:xfrm>
              <a:off x="3283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24CED7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8"/>
            <p:cNvSpPr txBox="1"/>
            <p:nvPr/>
          </p:nvSpPr>
          <p:spPr>
            <a:xfrm>
              <a:off x="35505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Collect observed data</a:t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1371043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24CE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8"/>
            <p:cNvSpPr txBox="1"/>
            <p:nvPr/>
          </p:nvSpPr>
          <p:spPr>
            <a:xfrm>
              <a:off x="1371043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1744068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29D1CF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8"/>
            <p:cNvSpPr txBox="1"/>
            <p:nvPr/>
          </p:nvSpPr>
          <p:spPr>
            <a:xfrm>
              <a:off x="1776290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the expected value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3111828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2AD0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8"/>
            <p:cNvSpPr txBox="1"/>
            <p:nvPr/>
          </p:nvSpPr>
          <p:spPr>
            <a:xfrm>
              <a:off x="3111828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86" name="Google Shape;186;p8"/>
            <p:cNvSpPr/>
            <p:nvPr/>
          </p:nvSpPr>
          <p:spPr>
            <a:xfrm>
              <a:off x="3484853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2ECCC2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8"/>
            <p:cNvSpPr txBox="1"/>
            <p:nvPr/>
          </p:nvSpPr>
          <p:spPr>
            <a:xfrm>
              <a:off x="3517075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the chi-square points	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8"/>
            <p:cNvSpPr/>
            <p:nvPr/>
          </p:nvSpPr>
          <p:spPr>
            <a:xfrm>
              <a:off x="4852613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2FCB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8"/>
            <p:cNvSpPr txBox="1"/>
            <p:nvPr/>
          </p:nvSpPr>
          <p:spPr>
            <a:xfrm>
              <a:off x="4852613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90" name="Google Shape;190;p8"/>
            <p:cNvSpPr/>
            <p:nvPr/>
          </p:nvSpPr>
          <p:spPr>
            <a:xfrm>
              <a:off x="5225639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32C8B5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8"/>
            <p:cNvSpPr txBox="1"/>
            <p:nvPr/>
          </p:nvSpPr>
          <p:spPr>
            <a:xfrm>
              <a:off x="5257861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the chi-square statistic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8"/>
            <p:cNvSpPr/>
            <p:nvPr/>
          </p:nvSpPr>
          <p:spPr>
            <a:xfrm>
              <a:off x="6593398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35C5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8"/>
            <p:cNvSpPr txBox="1"/>
            <p:nvPr/>
          </p:nvSpPr>
          <p:spPr>
            <a:xfrm>
              <a:off x="6593398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94" name="Google Shape;194;p8"/>
            <p:cNvSpPr/>
            <p:nvPr/>
          </p:nvSpPr>
          <p:spPr>
            <a:xfrm>
              <a:off x="6966424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37C2AA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8"/>
            <p:cNvSpPr txBox="1"/>
            <p:nvPr/>
          </p:nvSpPr>
          <p:spPr>
            <a:xfrm>
              <a:off x="6998646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Degree of Freedom (df)</a:t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96" name="Google Shape;196;p8"/>
            <p:cNvSpPr/>
            <p:nvPr/>
          </p:nvSpPr>
          <p:spPr>
            <a:xfrm>
              <a:off x="8334183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3ABFA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8"/>
            <p:cNvSpPr txBox="1"/>
            <p:nvPr/>
          </p:nvSpPr>
          <p:spPr>
            <a:xfrm>
              <a:off x="8334183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98" name="Google Shape;198;p8"/>
            <p:cNvSpPr/>
            <p:nvPr/>
          </p:nvSpPr>
          <p:spPr>
            <a:xfrm>
              <a:off x="8707209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3BBE9E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8"/>
            <p:cNvSpPr txBox="1"/>
            <p:nvPr/>
          </p:nvSpPr>
          <p:spPr>
            <a:xfrm>
              <a:off x="8739431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Define Critical Value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8"/>
            <p:cNvSpPr/>
            <p:nvPr/>
          </p:nvSpPr>
          <p:spPr>
            <a:xfrm>
              <a:off x="10074969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40B9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8"/>
            <p:cNvSpPr txBox="1"/>
            <p:nvPr/>
          </p:nvSpPr>
          <p:spPr>
            <a:xfrm>
              <a:off x="10074969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02" name="Google Shape;202;p8"/>
            <p:cNvSpPr/>
            <p:nvPr/>
          </p:nvSpPr>
          <p:spPr>
            <a:xfrm>
              <a:off x="10447994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40B995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8"/>
            <p:cNvSpPr txBox="1"/>
            <p:nvPr/>
          </p:nvSpPr>
          <p:spPr>
            <a:xfrm>
              <a:off x="10480216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Determine decision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4" name="Google Shape;204;p8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HOW TO PERFORM CHI-SQUARE</a:t>
            </a:r>
            <a:endParaRPr/>
          </a:p>
        </p:txBody>
      </p:sp>
      <p:sp>
        <p:nvSpPr>
          <p:cNvPr id="205" name="Google Shape;205;p8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VALUES NEED TO DETERMINE AND CALCULATE</a:t>
            </a:r>
            <a:endParaRPr/>
          </a:p>
        </p:txBody>
      </p:sp>
      <p:sp>
        <p:nvSpPr>
          <p:cNvPr id="212" name="Google Shape;212;p9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213" name="Google Shape;213;p9"/>
          <p:cNvGraphicFramePr/>
          <p:nvPr/>
        </p:nvGraphicFramePr>
        <p:xfrm>
          <a:off x="1024127" y="20848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{A02DE767-246D-4CB0-9A08-200F64C40181}</a:tableStyleId>
              </a:tblPr>
              <a:tblGrid>
                <a:gridCol w="1102625"/>
                <a:gridCol w="3367950"/>
              </a:tblGrid>
              <a:tr h="365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Notation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Meaning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6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The chi-square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6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wentieth Century"/>
                        <a:buNone/>
                      </a:pPr>
                      <a:r>
                        <a:rPr lang="en-GB" sz="1800" u="none" cap="none" strike="noStrike"/>
                        <a:t>The expected value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403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wentieth Century"/>
                        <a:buNone/>
                      </a:pPr>
                      <a:r>
                        <a:rPr lang="en-GB" sz="1800" u="none" cap="none" strike="noStrike"/>
                        <a:t>The observed value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6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Sample size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214" name="Google Shape;21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EXAMPLE &amp; TABLE OF OBSERVED DATA</a:t>
            </a:r>
            <a:endParaRPr/>
          </a:p>
        </p:txBody>
      </p:sp>
      <p:sp>
        <p:nvSpPr>
          <p:cNvPr id="220" name="Google Shape;220;p10"/>
          <p:cNvSpPr txBox="1"/>
          <p:nvPr>
            <p:ph idx="1" type="body"/>
          </p:nvPr>
        </p:nvSpPr>
        <p:spPr>
          <a:xfrm>
            <a:off x="1024128" y="1933526"/>
            <a:ext cx="3710106" cy="824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GB"/>
              <a:t>The preference to spend holiday </a:t>
            </a:r>
            <a:br>
              <a:rPr lang="en-GB"/>
            </a:br>
            <a:r>
              <a:rPr lang="en-GB"/>
              <a:t>at beach, cruise, or hiking between men and women</a:t>
            </a:r>
            <a:endParaRPr/>
          </a:p>
        </p:txBody>
      </p:sp>
      <p:sp>
        <p:nvSpPr>
          <p:cNvPr id="221" name="Google Shape;221;p10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22" name="Google Shape;22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886" y="2946119"/>
            <a:ext cx="3388258" cy="2321263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0"/>
          <p:cNvSpPr txBox="1"/>
          <p:nvPr/>
        </p:nvSpPr>
        <p:spPr>
          <a:xfrm>
            <a:off x="1153886" y="5635965"/>
            <a:ext cx="3388258" cy="537411"/>
          </a:xfrm>
          <a:prstGeom prst="rect">
            <a:avLst/>
          </a:prstGeom>
          <a:gradFill>
            <a:gsLst>
              <a:gs pos="0">
                <a:srgbClr val="19A0D2"/>
              </a:gs>
              <a:gs pos="100000">
                <a:srgbClr val="39C0F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76200" rotWithShape="0" algn="ctr" dir="5400000" dist="25400">
              <a:srgbClr val="000000">
                <a:alpha val="6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wentieth Century"/>
              <a:buNone/>
            </a:pPr>
            <a:r>
              <a:rPr b="0" i="0" lang="en-GB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Does gender affect preferred holiday?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4" name="Google Shape;224;p10"/>
          <p:cNvGraphicFramePr/>
          <p:nvPr/>
        </p:nvGraphicFramePr>
        <p:xfrm>
          <a:off x="6075647" y="19335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{95454E08-A82F-4A8E-9993-604A964E85C1}</a:tableStyleId>
              </a:tblPr>
              <a:tblGrid>
                <a:gridCol w="1558975"/>
                <a:gridCol w="1262100"/>
                <a:gridCol w="1264925"/>
              </a:tblGrid>
              <a:tr h="48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Observed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Men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Women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8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Beach (GA)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209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225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8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Cruise (GB)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280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248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8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Hiking (GC)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118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105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25" name="Google Shape;225;p10"/>
          <p:cNvSpPr txBox="1"/>
          <p:nvPr/>
        </p:nvSpPr>
        <p:spPr>
          <a:xfrm>
            <a:off x="5250426" y="4146884"/>
            <a:ext cx="59436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91440" lvl="0" marL="914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Char char=" "/>
            </a:pPr>
            <a:r>
              <a:rPr b="0" i="0" lang="en-GB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Hypothesis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Char char=" "/>
            </a:pPr>
            <a:r>
              <a:rPr b="1" i="0" lang="en-GB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Null Hypothesis </a:t>
            </a:r>
            <a:r>
              <a:rPr b="0" i="0" lang="en-GB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: Gender and preferred holiday are definitely </a:t>
            </a:r>
            <a:r>
              <a:rPr b="1" i="0" lang="en-GB" sz="2200" u="none" cap="none" strike="noStrike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independent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Char char=" "/>
            </a:pPr>
            <a:r>
              <a:rPr b="1" i="0" lang="en-GB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Alternative Hypothesis </a:t>
            </a:r>
            <a:r>
              <a:rPr b="0" i="0" lang="en-GB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: gender and preferred holiday are </a:t>
            </a:r>
            <a:r>
              <a:rPr b="1" i="0" lang="en-GB" sz="2200" u="none" cap="none" strike="noStrike">
                <a:solidFill>
                  <a:schemeClr val="accent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dependent</a:t>
            </a:r>
            <a:endParaRPr b="1" i="0" sz="2200" u="none" cap="none" strike="noStrike">
              <a:solidFill>
                <a:schemeClr val="accent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26" name="Google Shape;22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1"/>
          <p:cNvGrpSpPr/>
          <p:nvPr/>
        </p:nvGrpSpPr>
        <p:grpSpPr>
          <a:xfrm>
            <a:off x="227872" y="3007270"/>
            <a:ext cx="11688128" cy="1100133"/>
            <a:chOff x="3283" y="2750596"/>
            <a:chExt cx="11688128" cy="1100133"/>
          </a:xfrm>
        </p:grpSpPr>
        <p:sp>
          <p:nvSpPr>
            <p:cNvPr id="232" name="Google Shape;232;p11"/>
            <p:cNvSpPr/>
            <p:nvPr/>
          </p:nvSpPr>
          <p:spPr>
            <a:xfrm>
              <a:off x="3283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24CED7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1"/>
            <p:cNvSpPr txBox="1"/>
            <p:nvPr/>
          </p:nvSpPr>
          <p:spPr>
            <a:xfrm>
              <a:off x="35505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Collect observed data</a:t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34" name="Google Shape;234;p11"/>
            <p:cNvSpPr/>
            <p:nvPr/>
          </p:nvSpPr>
          <p:spPr>
            <a:xfrm>
              <a:off x="1371043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24CE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1"/>
            <p:cNvSpPr txBox="1"/>
            <p:nvPr/>
          </p:nvSpPr>
          <p:spPr>
            <a:xfrm>
              <a:off x="1371043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36" name="Google Shape;236;p11"/>
            <p:cNvSpPr/>
            <p:nvPr/>
          </p:nvSpPr>
          <p:spPr>
            <a:xfrm>
              <a:off x="1744068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29D1CF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1"/>
            <p:cNvSpPr txBox="1"/>
            <p:nvPr/>
          </p:nvSpPr>
          <p:spPr>
            <a:xfrm>
              <a:off x="1776290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the expected value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1"/>
            <p:cNvSpPr/>
            <p:nvPr/>
          </p:nvSpPr>
          <p:spPr>
            <a:xfrm>
              <a:off x="3111828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2AD0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1"/>
            <p:cNvSpPr txBox="1"/>
            <p:nvPr/>
          </p:nvSpPr>
          <p:spPr>
            <a:xfrm>
              <a:off x="3111828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40" name="Google Shape;240;p11"/>
            <p:cNvSpPr/>
            <p:nvPr/>
          </p:nvSpPr>
          <p:spPr>
            <a:xfrm>
              <a:off x="3484853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2ECCC2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1"/>
            <p:cNvSpPr txBox="1"/>
            <p:nvPr/>
          </p:nvSpPr>
          <p:spPr>
            <a:xfrm>
              <a:off x="3517075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the chi-square points	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1"/>
            <p:cNvSpPr/>
            <p:nvPr/>
          </p:nvSpPr>
          <p:spPr>
            <a:xfrm>
              <a:off x="4852613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2FCB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1"/>
            <p:cNvSpPr txBox="1"/>
            <p:nvPr/>
          </p:nvSpPr>
          <p:spPr>
            <a:xfrm>
              <a:off x="4852613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5225639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32C8B5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1"/>
            <p:cNvSpPr txBox="1"/>
            <p:nvPr/>
          </p:nvSpPr>
          <p:spPr>
            <a:xfrm>
              <a:off x="5257861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the chi-square statistic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1"/>
            <p:cNvSpPr/>
            <p:nvPr/>
          </p:nvSpPr>
          <p:spPr>
            <a:xfrm>
              <a:off x="6593398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35C5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1"/>
            <p:cNvSpPr txBox="1"/>
            <p:nvPr/>
          </p:nvSpPr>
          <p:spPr>
            <a:xfrm>
              <a:off x="6593398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6966424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37C2AA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1"/>
            <p:cNvSpPr txBox="1"/>
            <p:nvPr/>
          </p:nvSpPr>
          <p:spPr>
            <a:xfrm>
              <a:off x="6998646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Degree of Freedom (df)</a:t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50" name="Google Shape;250;p11"/>
            <p:cNvSpPr/>
            <p:nvPr/>
          </p:nvSpPr>
          <p:spPr>
            <a:xfrm>
              <a:off x="8334183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3ABFA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1"/>
            <p:cNvSpPr txBox="1"/>
            <p:nvPr/>
          </p:nvSpPr>
          <p:spPr>
            <a:xfrm>
              <a:off x="8334183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52" name="Google Shape;252;p11"/>
            <p:cNvSpPr/>
            <p:nvPr/>
          </p:nvSpPr>
          <p:spPr>
            <a:xfrm>
              <a:off x="8707209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3BBE9E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1"/>
            <p:cNvSpPr txBox="1"/>
            <p:nvPr/>
          </p:nvSpPr>
          <p:spPr>
            <a:xfrm>
              <a:off x="8739431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Define Critical Value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1"/>
            <p:cNvSpPr/>
            <p:nvPr/>
          </p:nvSpPr>
          <p:spPr>
            <a:xfrm>
              <a:off x="10074969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40B9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1"/>
            <p:cNvSpPr txBox="1"/>
            <p:nvPr/>
          </p:nvSpPr>
          <p:spPr>
            <a:xfrm>
              <a:off x="10074969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56" name="Google Shape;256;p11"/>
            <p:cNvSpPr/>
            <p:nvPr/>
          </p:nvSpPr>
          <p:spPr>
            <a:xfrm>
              <a:off x="10447994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40B995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1"/>
            <p:cNvSpPr txBox="1"/>
            <p:nvPr/>
          </p:nvSpPr>
          <p:spPr>
            <a:xfrm>
              <a:off x="10480216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Determine decision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8" name="Google Shape;258;p11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HOW TO PERFORM CHI-SQUARE</a:t>
            </a:r>
            <a:endParaRPr/>
          </a:p>
        </p:txBody>
      </p:sp>
      <p:sp>
        <p:nvSpPr>
          <p:cNvPr id="259" name="Google Shape;259;p11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60" name="Google Shape;26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CALCULATE THE EXPECTED VALUE </a:t>
            </a:r>
            <a:endParaRPr/>
          </a:p>
        </p:txBody>
      </p:sp>
      <p:graphicFrame>
        <p:nvGraphicFramePr>
          <p:cNvPr id="266" name="Google Shape;266;p12"/>
          <p:cNvGraphicFramePr/>
          <p:nvPr/>
        </p:nvGraphicFramePr>
        <p:xfrm>
          <a:off x="1133147" y="17981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{95454E08-A82F-4A8E-9993-604A964E85C1}</a:tableStyleId>
              </a:tblPr>
              <a:tblGrid>
                <a:gridCol w="1590725"/>
                <a:gridCol w="962525"/>
                <a:gridCol w="962525"/>
                <a:gridCol w="786075"/>
              </a:tblGrid>
              <a:tr h="48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Men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Women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Total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8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Beach (GA)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209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225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434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8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Cruise (GB)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280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248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528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8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Hiking (GC)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118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105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223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8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chemeClr val="lt1"/>
                          </a:solidFill>
                        </a:rPr>
                        <a:t>Total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CAD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chemeClr val="lt1"/>
                          </a:solidFill>
                        </a:rPr>
                        <a:t>607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CAD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chemeClr val="lt1"/>
                          </a:solidFill>
                        </a:rPr>
                        <a:t>578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CAD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chemeClr val="lt1"/>
                          </a:solidFill>
                        </a:rPr>
                        <a:t>1185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CADE4"/>
                    </a:solidFill>
                  </a:tcPr>
                </a:tc>
              </a:tr>
            </a:tbl>
          </a:graphicData>
        </a:graphic>
      </p:graphicFrame>
      <p:sp>
        <p:nvSpPr>
          <p:cNvPr id="267" name="Google Shape;267;p12"/>
          <p:cNvSpPr txBox="1"/>
          <p:nvPr>
            <p:ph idx="1" type="body"/>
          </p:nvPr>
        </p:nvSpPr>
        <p:spPr>
          <a:xfrm>
            <a:off x="1133147" y="4640828"/>
            <a:ext cx="8248208" cy="198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 "/>
            </a:pPr>
            <a:r>
              <a:rPr lang="en-GB"/>
              <a:t> </a:t>
            </a: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5756549" y="2662883"/>
            <a:ext cx="721895" cy="48126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269" name="Google Shape;269;p12"/>
          <p:cNvGraphicFramePr/>
          <p:nvPr/>
        </p:nvGraphicFramePr>
        <p:xfrm>
          <a:off x="6872638" y="18064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{95454E08-A82F-4A8E-9993-604A964E85C1}</a:tableStyleId>
              </a:tblPr>
              <a:tblGrid>
                <a:gridCol w="2007550"/>
                <a:gridCol w="1214750"/>
                <a:gridCol w="1214750"/>
              </a:tblGrid>
              <a:tr h="60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Men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Women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60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Beach (GA)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222.31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211.69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60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Cruise (GB)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270.46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257.54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60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Hiking (GC)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114.23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108.77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270" name="Google Shape;270;p12"/>
          <p:cNvCxnSpPr/>
          <p:nvPr/>
        </p:nvCxnSpPr>
        <p:spPr>
          <a:xfrm rot="-5400000">
            <a:off x="6546282" y="2949187"/>
            <a:ext cx="2815500" cy="2243100"/>
          </a:xfrm>
          <a:prstGeom prst="curvedConnector3">
            <a:avLst>
              <a:gd fmla="val 50002" name="adj1"/>
            </a:avLst>
          </a:prstGeom>
          <a:noFill/>
          <a:ln cap="flat" cmpd="sng" w="9525">
            <a:solidFill>
              <a:srgbClr val="FFC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1" name="Google Shape;271;p12"/>
          <p:cNvCxnSpPr/>
          <p:nvPr/>
        </p:nvCxnSpPr>
        <p:spPr>
          <a:xfrm rot="-5400000">
            <a:off x="7277725" y="3117648"/>
            <a:ext cx="3283500" cy="2855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4564843" y="2265514"/>
            <a:ext cx="870155" cy="468992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2691187" y="3732535"/>
            <a:ext cx="870155" cy="468992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4576166" y="3774467"/>
            <a:ext cx="870155" cy="468992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4564842" y="2260434"/>
            <a:ext cx="870155" cy="468992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3689213" y="3757116"/>
            <a:ext cx="870155" cy="468992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78" name="Google Shape;27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283;p13"/>
          <p:cNvGrpSpPr/>
          <p:nvPr/>
        </p:nvGrpSpPr>
        <p:grpSpPr>
          <a:xfrm>
            <a:off x="227872" y="3007270"/>
            <a:ext cx="11688128" cy="1100133"/>
            <a:chOff x="3283" y="2750596"/>
            <a:chExt cx="11688128" cy="1100133"/>
          </a:xfrm>
        </p:grpSpPr>
        <p:sp>
          <p:nvSpPr>
            <p:cNvPr id="284" name="Google Shape;284;p13"/>
            <p:cNvSpPr/>
            <p:nvPr/>
          </p:nvSpPr>
          <p:spPr>
            <a:xfrm>
              <a:off x="3283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24CED7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13"/>
            <p:cNvSpPr txBox="1"/>
            <p:nvPr/>
          </p:nvSpPr>
          <p:spPr>
            <a:xfrm>
              <a:off x="35505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Collect observed data</a:t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86" name="Google Shape;286;p13"/>
            <p:cNvSpPr/>
            <p:nvPr/>
          </p:nvSpPr>
          <p:spPr>
            <a:xfrm>
              <a:off x="1371043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24CE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13"/>
            <p:cNvSpPr txBox="1"/>
            <p:nvPr/>
          </p:nvSpPr>
          <p:spPr>
            <a:xfrm>
              <a:off x="1371043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88" name="Google Shape;288;p13"/>
            <p:cNvSpPr/>
            <p:nvPr/>
          </p:nvSpPr>
          <p:spPr>
            <a:xfrm>
              <a:off x="1744068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29D1CF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3"/>
            <p:cNvSpPr txBox="1"/>
            <p:nvPr/>
          </p:nvSpPr>
          <p:spPr>
            <a:xfrm>
              <a:off x="1776290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the expected value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3"/>
            <p:cNvSpPr/>
            <p:nvPr/>
          </p:nvSpPr>
          <p:spPr>
            <a:xfrm>
              <a:off x="3111828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2AD0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3"/>
            <p:cNvSpPr txBox="1"/>
            <p:nvPr/>
          </p:nvSpPr>
          <p:spPr>
            <a:xfrm>
              <a:off x="3111828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92" name="Google Shape;292;p13"/>
            <p:cNvSpPr/>
            <p:nvPr/>
          </p:nvSpPr>
          <p:spPr>
            <a:xfrm>
              <a:off x="3484853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2ECCC2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3"/>
            <p:cNvSpPr txBox="1"/>
            <p:nvPr/>
          </p:nvSpPr>
          <p:spPr>
            <a:xfrm>
              <a:off x="3517075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the chi-square points	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3"/>
            <p:cNvSpPr/>
            <p:nvPr/>
          </p:nvSpPr>
          <p:spPr>
            <a:xfrm>
              <a:off x="4852613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2FCB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3"/>
            <p:cNvSpPr txBox="1"/>
            <p:nvPr/>
          </p:nvSpPr>
          <p:spPr>
            <a:xfrm>
              <a:off x="4852613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96" name="Google Shape;296;p13"/>
            <p:cNvSpPr/>
            <p:nvPr/>
          </p:nvSpPr>
          <p:spPr>
            <a:xfrm>
              <a:off x="5225639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32C8B5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3"/>
            <p:cNvSpPr txBox="1"/>
            <p:nvPr/>
          </p:nvSpPr>
          <p:spPr>
            <a:xfrm>
              <a:off x="5257861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the chi-square statistic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3"/>
            <p:cNvSpPr/>
            <p:nvPr/>
          </p:nvSpPr>
          <p:spPr>
            <a:xfrm>
              <a:off x="6593398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35C5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13"/>
            <p:cNvSpPr txBox="1"/>
            <p:nvPr/>
          </p:nvSpPr>
          <p:spPr>
            <a:xfrm>
              <a:off x="6593398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00" name="Google Shape;300;p13"/>
            <p:cNvSpPr/>
            <p:nvPr/>
          </p:nvSpPr>
          <p:spPr>
            <a:xfrm>
              <a:off x="6966424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37C2AA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3"/>
            <p:cNvSpPr txBox="1"/>
            <p:nvPr/>
          </p:nvSpPr>
          <p:spPr>
            <a:xfrm>
              <a:off x="6998646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Degree of Freedom (df)</a:t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8334183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3ABFA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13"/>
            <p:cNvSpPr txBox="1"/>
            <p:nvPr/>
          </p:nvSpPr>
          <p:spPr>
            <a:xfrm>
              <a:off x="8334183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04" name="Google Shape;304;p13"/>
            <p:cNvSpPr/>
            <p:nvPr/>
          </p:nvSpPr>
          <p:spPr>
            <a:xfrm>
              <a:off x="8707209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3BBE9E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3"/>
            <p:cNvSpPr txBox="1"/>
            <p:nvPr/>
          </p:nvSpPr>
          <p:spPr>
            <a:xfrm>
              <a:off x="8739431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Define Critical Value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3"/>
            <p:cNvSpPr/>
            <p:nvPr/>
          </p:nvSpPr>
          <p:spPr>
            <a:xfrm>
              <a:off x="10074969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40B9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3"/>
            <p:cNvSpPr txBox="1"/>
            <p:nvPr/>
          </p:nvSpPr>
          <p:spPr>
            <a:xfrm>
              <a:off x="10074969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08" name="Google Shape;308;p13"/>
            <p:cNvSpPr/>
            <p:nvPr/>
          </p:nvSpPr>
          <p:spPr>
            <a:xfrm>
              <a:off x="10447994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40B995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3"/>
            <p:cNvSpPr txBox="1"/>
            <p:nvPr/>
          </p:nvSpPr>
          <p:spPr>
            <a:xfrm>
              <a:off x="10480216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Determine decision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0" name="Google Shape;310;p13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HOW TO PERFORM CHI-SQUARE</a:t>
            </a:r>
            <a:endParaRPr/>
          </a:p>
        </p:txBody>
      </p:sp>
      <p:sp>
        <p:nvSpPr>
          <p:cNvPr id="311" name="Google Shape;311;p13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12" name="Google Shape;31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4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CALCULATE THE CHI-SQUARE POINTS</a:t>
            </a:r>
            <a:endParaRPr/>
          </a:p>
        </p:txBody>
      </p:sp>
      <p:sp>
        <p:nvSpPr>
          <p:cNvPr id="319" name="Google Shape;319;p14"/>
          <p:cNvSpPr txBox="1"/>
          <p:nvPr>
            <p:ph idx="1" type="body"/>
          </p:nvPr>
        </p:nvSpPr>
        <p:spPr>
          <a:xfrm>
            <a:off x="1024129" y="4467725"/>
            <a:ext cx="8427520" cy="238225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15" r="0" t="-281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 "/>
            </a:pPr>
            <a:r>
              <a:rPr lang="en-GB"/>
              <a:t> </a:t>
            </a:r>
            <a:endParaRPr/>
          </a:p>
        </p:txBody>
      </p:sp>
      <p:sp>
        <p:nvSpPr>
          <p:cNvPr id="320" name="Google Shape;320;p14"/>
          <p:cNvSpPr/>
          <p:nvPr/>
        </p:nvSpPr>
        <p:spPr>
          <a:xfrm>
            <a:off x="6635190" y="2682346"/>
            <a:ext cx="721895" cy="48126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321" name="Google Shape;321;p14"/>
          <p:cNvGraphicFramePr/>
          <p:nvPr/>
        </p:nvGraphicFramePr>
        <p:xfrm>
          <a:off x="7646799" y="17605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{95454E08-A82F-4A8E-9993-604A964E85C1}</a:tableStyleId>
              </a:tblPr>
              <a:tblGrid>
                <a:gridCol w="2005650"/>
                <a:gridCol w="1454100"/>
                <a:gridCol w="1140200"/>
              </a:tblGrid>
              <a:tr h="706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Men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Women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53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Beach (GA)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0.797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0.837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53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Cruise (GB)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0.336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0.353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53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Hiking (GC)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0.125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0.131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322" name="Google Shape;322;p14"/>
          <p:cNvGraphicFramePr/>
          <p:nvPr/>
        </p:nvGraphicFramePr>
        <p:xfrm>
          <a:off x="1090075" y="1804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{95454E08-A82F-4A8E-9993-604A964E85C1}</a:tableStyleId>
              </a:tblPr>
              <a:tblGrid>
                <a:gridCol w="1312825"/>
                <a:gridCol w="793000"/>
                <a:gridCol w="1021750"/>
                <a:gridCol w="1021750"/>
                <a:gridCol w="1021750"/>
              </a:tblGrid>
              <a:tr h="489075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Group (Output)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4890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chemeClr val="lt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Men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AD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chemeClr val="lt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Women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AD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chemeClr val="lt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Men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AD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chemeClr val="lt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Women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ADE4"/>
                    </a:solidFill>
                  </a:tcPr>
                </a:tc>
              </a:tr>
              <a:tr h="48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Beach (GA)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209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225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222.31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211.69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8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Cruise (GB)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280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248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270.46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257.54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8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Hiking (GC)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118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105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114.23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108.77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323" name="Google Shape;323;p14"/>
          <p:cNvCxnSpPr/>
          <p:nvPr/>
        </p:nvCxnSpPr>
        <p:spPr>
          <a:xfrm flipH="1" rot="10800000">
            <a:off x="6996137" y="2893558"/>
            <a:ext cx="3195000" cy="2976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FFC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4" name="Google Shape;324;p14"/>
          <p:cNvCxnSpPr/>
          <p:nvPr/>
        </p:nvCxnSpPr>
        <p:spPr>
          <a:xfrm flipH="1" rot="10800000">
            <a:off x="7152968" y="2922881"/>
            <a:ext cx="4306500" cy="35454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5" name="Google Shape;325;p14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6" name="Google Shape;326;p14"/>
          <p:cNvSpPr/>
          <p:nvPr/>
        </p:nvSpPr>
        <p:spPr>
          <a:xfrm>
            <a:off x="2303920" y="2793024"/>
            <a:ext cx="870155" cy="468992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4282518" y="2807286"/>
            <a:ext cx="870155" cy="468992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3259707" y="2793024"/>
            <a:ext cx="870155" cy="468992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5238305" y="2807286"/>
            <a:ext cx="870155" cy="468992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30" name="Google Shape;33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Google Shape;335;p15"/>
          <p:cNvGrpSpPr/>
          <p:nvPr/>
        </p:nvGrpSpPr>
        <p:grpSpPr>
          <a:xfrm>
            <a:off x="227872" y="3007270"/>
            <a:ext cx="11688128" cy="1100133"/>
            <a:chOff x="3283" y="2750596"/>
            <a:chExt cx="11688128" cy="1100133"/>
          </a:xfrm>
        </p:grpSpPr>
        <p:sp>
          <p:nvSpPr>
            <p:cNvPr id="336" name="Google Shape;336;p15"/>
            <p:cNvSpPr/>
            <p:nvPr/>
          </p:nvSpPr>
          <p:spPr>
            <a:xfrm>
              <a:off x="3283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24CED7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15"/>
            <p:cNvSpPr txBox="1"/>
            <p:nvPr/>
          </p:nvSpPr>
          <p:spPr>
            <a:xfrm>
              <a:off x="35505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Collect observed data</a:t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38" name="Google Shape;338;p15"/>
            <p:cNvSpPr/>
            <p:nvPr/>
          </p:nvSpPr>
          <p:spPr>
            <a:xfrm>
              <a:off x="1371043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24CE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15"/>
            <p:cNvSpPr txBox="1"/>
            <p:nvPr/>
          </p:nvSpPr>
          <p:spPr>
            <a:xfrm>
              <a:off x="1371043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40" name="Google Shape;340;p15"/>
            <p:cNvSpPr/>
            <p:nvPr/>
          </p:nvSpPr>
          <p:spPr>
            <a:xfrm>
              <a:off x="1744068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29D1CF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15"/>
            <p:cNvSpPr txBox="1"/>
            <p:nvPr/>
          </p:nvSpPr>
          <p:spPr>
            <a:xfrm>
              <a:off x="1776290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the expected value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5"/>
            <p:cNvSpPr/>
            <p:nvPr/>
          </p:nvSpPr>
          <p:spPr>
            <a:xfrm>
              <a:off x="3111828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2AD0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5"/>
            <p:cNvSpPr txBox="1"/>
            <p:nvPr/>
          </p:nvSpPr>
          <p:spPr>
            <a:xfrm>
              <a:off x="3111828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44" name="Google Shape;344;p15"/>
            <p:cNvSpPr/>
            <p:nvPr/>
          </p:nvSpPr>
          <p:spPr>
            <a:xfrm>
              <a:off x="3484853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2ECCC2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5"/>
            <p:cNvSpPr txBox="1"/>
            <p:nvPr/>
          </p:nvSpPr>
          <p:spPr>
            <a:xfrm>
              <a:off x="3517075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the chi-square points	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5"/>
            <p:cNvSpPr/>
            <p:nvPr/>
          </p:nvSpPr>
          <p:spPr>
            <a:xfrm>
              <a:off x="4852613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2FCB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5"/>
            <p:cNvSpPr txBox="1"/>
            <p:nvPr/>
          </p:nvSpPr>
          <p:spPr>
            <a:xfrm>
              <a:off x="4852613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48" name="Google Shape;348;p15"/>
            <p:cNvSpPr/>
            <p:nvPr/>
          </p:nvSpPr>
          <p:spPr>
            <a:xfrm>
              <a:off x="5225639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32C8B5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5"/>
            <p:cNvSpPr txBox="1"/>
            <p:nvPr/>
          </p:nvSpPr>
          <p:spPr>
            <a:xfrm>
              <a:off x="5257861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the chi-square statistic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5"/>
            <p:cNvSpPr/>
            <p:nvPr/>
          </p:nvSpPr>
          <p:spPr>
            <a:xfrm>
              <a:off x="6593398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35C5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5"/>
            <p:cNvSpPr txBox="1"/>
            <p:nvPr/>
          </p:nvSpPr>
          <p:spPr>
            <a:xfrm>
              <a:off x="6593398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52" name="Google Shape;352;p15"/>
            <p:cNvSpPr/>
            <p:nvPr/>
          </p:nvSpPr>
          <p:spPr>
            <a:xfrm>
              <a:off x="6966424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37C2AA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5"/>
            <p:cNvSpPr txBox="1"/>
            <p:nvPr/>
          </p:nvSpPr>
          <p:spPr>
            <a:xfrm>
              <a:off x="6998646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Degree of Freedom (df)</a:t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54" name="Google Shape;354;p15"/>
            <p:cNvSpPr/>
            <p:nvPr/>
          </p:nvSpPr>
          <p:spPr>
            <a:xfrm>
              <a:off x="8334183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3ABFA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15"/>
            <p:cNvSpPr txBox="1"/>
            <p:nvPr/>
          </p:nvSpPr>
          <p:spPr>
            <a:xfrm>
              <a:off x="8334183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56" name="Google Shape;356;p15"/>
            <p:cNvSpPr/>
            <p:nvPr/>
          </p:nvSpPr>
          <p:spPr>
            <a:xfrm>
              <a:off x="8707209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3BBE9E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5"/>
            <p:cNvSpPr txBox="1"/>
            <p:nvPr/>
          </p:nvSpPr>
          <p:spPr>
            <a:xfrm>
              <a:off x="8739431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Define Critical Value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5"/>
            <p:cNvSpPr/>
            <p:nvPr/>
          </p:nvSpPr>
          <p:spPr>
            <a:xfrm>
              <a:off x="10074969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40B9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5"/>
            <p:cNvSpPr txBox="1"/>
            <p:nvPr/>
          </p:nvSpPr>
          <p:spPr>
            <a:xfrm>
              <a:off x="10074969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10447994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40B995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5"/>
            <p:cNvSpPr txBox="1"/>
            <p:nvPr/>
          </p:nvSpPr>
          <p:spPr>
            <a:xfrm>
              <a:off x="10480216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Determine decision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2" name="Google Shape;362;p15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HOW TO PERFORM CHI-SQUARE</a:t>
            </a:r>
            <a:endParaRPr/>
          </a:p>
        </p:txBody>
      </p:sp>
      <p:sp>
        <p:nvSpPr>
          <p:cNvPr id="363" name="Google Shape;363;p15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64" name="Google Shape;36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6"/>
          <p:cNvSpPr txBox="1"/>
          <p:nvPr>
            <p:ph type="title"/>
          </p:nvPr>
        </p:nvSpPr>
        <p:spPr>
          <a:xfrm>
            <a:off x="1024128" y="585216"/>
            <a:ext cx="107868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CALCULATE THE CHI-SQUARE STATISTIC</a:t>
            </a:r>
            <a:endParaRPr/>
          </a:p>
        </p:txBody>
      </p:sp>
      <p:sp>
        <p:nvSpPr>
          <p:cNvPr id="371" name="Google Shape;371;p16"/>
          <p:cNvSpPr txBox="1"/>
          <p:nvPr>
            <p:ph idx="1" type="body"/>
          </p:nvPr>
        </p:nvSpPr>
        <p:spPr>
          <a:xfrm>
            <a:off x="792358" y="4212068"/>
            <a:ext cx="9293725" cy="198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535" l="-390" r="0" t="-3689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 "/>
            </a:pPr>
            <a:r>
              <a:rPr lang="en-GB"/>
              <a:t> </a:t>
            </a:r>
            <a:endParaRPr/>
          </a:p>
        </p:txBody>
      </p:sp>
      <p:graphicFrame>
        <p:nvGraphicFramePr>
          <p:cNvPr id="372" name="Google Shape;372;p16"/>
          <p:cNvGraphicFramePr/>
          <p:nvPr/>
        </p:nvGraphicFramePr>
        <p:xfrm>
          <a:off x="1024128" y="16847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{95454E08-A82F-4A8E-9993-604A964E85C1}</a:tableStyleId>
              </a:tblPr>
              <a:tblGrid>
                <a:gridCol w="2005650"/>
                <a:gridCol w="1454100"/>
                <a:gridCol w="1140200"/>
              </a:tblGrid>
              <a:tr h="706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CHI-SQUARE POINTS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Men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Women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53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Beach (GA)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0.797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0.837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53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Cruise (GB)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0.336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0.353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53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Hiking (GC)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0.125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0.131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73" name="Google Shape;373;p16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74" name="Google Shape;37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" name="Google Shape;379;p17"/>
          <p:cNvGrpSpPr/>
          <p:nvPr/>
        </p:nvGrpSpPr>
        <p:grpSpPr>
          <a:xfrm>
            <a:off x="227872" y="3007270"/>
            <a:ext cx="11688128" cy="1100133"/>
            <a:chOff x="3283" y="2750596"/>
            <a:chExt cx="11688128" cy="1100133"/>
          </a:xfrm>
        </p:grpSpPr>
        <p:sp>
          <p:nvSpPr>
            <p:cNvPr id="380" name="Google Shape;380;p17"/>
            <p:cNvSpPr/>
            <p:nvPr/>
          </p:nvSpPr>
          <p:spPr>
            <a:xfrm>
              <a:off x="3283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24CED7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17"/>
            <p:cNvSpPr txBox="1"/>
            <p:nvPr/>
          </p:nvSpPr>
          <p:spPr>
            <a:xfrm>
              <a:off x="35505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Collect observed data</a:t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82" name="Google Shape;382;p17"/>
            <p:cNvSpPr/>
            <p:nvPr/>
          </p:nvSpPr>
          <p:spPr>
            <a:xfrm>
              <a:off x="1371043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24CE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7"/>
            <p:cNvSpPr txBox="1"/>
            <p:nvPr/>
          </p:nvSpPr>
          <p:spPr>
            <a:xfrm>
              <a:off x="1371043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84" name="Google Shape;384;p17"/>
            <p:cNvSpPr/>
            <p:nvPr/>
          </p:nvSpPr>
          <p:spPr>
            <a:xfrm>
              <a:off x="1744068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29D1CF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17"/>
            <p:cNvSpPr txBox="1"/>
            <p:nvPr/>
          </p:nvSpPr>
          <p:spPr>
            <a:xfrm>
              <a:off x="1776290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the expected value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17"/>
            <p:cNvSpPr/>
            <p:nvPr/>
          </p:nvSpPr>
          <p:spPr>
            <a:xfrm>
              <a:off x="3111828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2AD0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7"/>
            <p:cNvSpPr txBox="1"/>
            <p:nvPr/>
          </p:nvSpPr>
          <p:spPr>
            <a:xfrm>
              <a:off x="3111828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88" name="Google Shape;388;p17"/>
            <p:cNvSpPr/>
            <p:nvPr/>
          </p:nvSpPr>
          <p:spPr>
            <a:xfrm>
              <a:off x="3484853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2ECCC2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7"/>
            <p:cNvSpPr txBox="1"/>
            <p:nvPr/>
          </p:nvSpPr>
          <p:spPr>
            <a:xfrm>
              <a:off x="3517075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the chi-square points	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7"/>
            <p:cNvSpPr/>
            <p:nvPr/>
          </p:nvSpPr>
          <p:spPr>
            <a:xfrm>
              <a:off x="4852613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2FCB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7"/>
            <p:cNvSpPr txBox="1"/>
            <p:nvPr/>
          </p:nvSpPr>
          <p:spPr>
            <a:xfrm>
              <a:off x="4852613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92" name="Google Shape;392;p17"/>
            <p:cNvSpPr/>
            <p:nvPr/>
          </p:nvSpPr>
          <p:spPr>
            <a:xfrm>
              <a:off x="5225639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32C8B5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7"/>
            <p:cNvSpPr txBox="1"/>
            <p:nvPr/>
          </p:nvSpPr>
          <p:spPr>
            <a:xfrm>
              <a:off x="5257861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the chi-square statistic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7"/>
            <p:cNvSpPr/>
            <p:nvPr/>
          </p:nvSpPr>
          <p:spPr>
            <a:xfrm>
              <a:off x="6593398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35C5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7"/>
            <p:cNvSpPr txBox="1"/>
            <p:nvPr/>
          </p:nvSpPr>
          <p:spPr>
            <a:xfrm>
              <a:off x="6593398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96" name="Google Shape;396;p17"/>
            <p:cNvSpPr/>
            <p:nvPr/>
          </p:nvSpPr>
          <p:spPr>
            <a:xfrm>
              <a:off x="6966424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37C2AA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7"/>
            <p:cNvSpPr txBox="1"/>
            <p:nvPr/>
          </p:nvSpPr>
          <p:spPr>
            <a:xfrm>
              <a:off x="6998646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Degree of Freedom (df)</a:t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98" name="Google Shape;398;p17"/>
            <p:cNvSpPr/>
            <p:nvPr/>
          </p:nvSpPr>
          <p:spPr>
            <a:xfrm>
              <a:off x="8334183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3ABFA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7"/>
            <p:cNvSpPr txBox="1"/>
            <p:nvPr/>
          </p:nvSpPr>
          <p:spPr>
            <a:xfrm>
              <a:off x="8334183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00" name="Google Shape;400;p17"/>
            <p:cNvSpPr/>
            <p:nvPr/>
          </p:nvSpPr>
          <p:spPr>
            <a:xfrm>
              <a:off x="8707209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3BBE9E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17"/>
            <p:cNvSpPr txBox="1"/>
            <p:nvPr/>
          </p:nvSpPr>
          <p:spPr>
            <a:xfrm>
              <a:off x="8739431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Define Critical Value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17"/>
            <p:cNvSpPr/>
            <p:nvPr/>
          </p:nvSpPr>
          <p:spPr>
            <a:xfrm>
              <a:off x="10074969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40B9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17"/>
            <p:cNvSpPr txBox="1"/>
            <p:nvPr/>
          </p:nvSpPr>
          <p:spPr>
            <a:xfrm>
              <a:off x="10074969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04" name="Google Shape;404;p17"/>
            <p:cNvSpPr/>
            <p:nvPr/>
          </p:nvSpPr>
          <p:spPr>
            <a:xfrm>
              <a:off x="10447994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40B995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17"/>
            <p:cNvSpPr txBox="1"/>
            <p:nvPr/>
          </p:nvSpPr>
          <p:spPr>
            <a:xfrm>
              <a:off x="10480216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Determine decision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6" name="Google Shape;406;p17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HOW TO PERFORM CHI-SQUARE</a:t>
            </a:r>
            <a:endParaRPr/>
          </a:p>
        </p:txBody>
      </p:sp>
      <p:sp>
        <p:nvSpPr>
          <p:cNvPr id="407" name="Google Shape;407;p17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08" name="Google Shape;4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8"/>
          <p:cNvSpPr txBox="1"/>
          <p:nvPr>
            <p:ph type="title"/>
          </p:nvPr>
        </p:nvSpPr>
        <p:spPr>
          <a:xfrm>
            <a:off x="1024128" y="585216"/>
            <a:ext cx="10524744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CALCULATE DEGREE OF FREEDOM (DF)</a:t>
            </a:r>
            <a:endParaRPr/>
          </a:p>
        </p:txBody>
      </p:sp>
      <p:sp>
        <p:nvSpPr>
          <p:cNvPr id="415" name="Google Shape;415;p18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416" name="Google Shape;416;p18"/>
          <p:cNvGraphicFramePr/>
          <p:nvPr/>
        </p:nvGraphicFramePr>
        <p:xfrm>
          <a:off x="1149685" y="18695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{95454E08-A82F-4A8E-9993-604A964E85C1}</a:tableStyleId>
              </a:tblPr>
              <a:tblGrid>
                <a:gridCol w="1776425"/>
                <a:gridCol w="2336425"/>
                <a:gridCol w="1844125"/>
              </a:tblGrid>
              <a:tr h="48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Observed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Men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Women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8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Beach (GA)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209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225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8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Cruise (GB)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280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248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8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Hiking (GC)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118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105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17" name="Google Shape;417;p18"/>
          <p:cNvSpPr/>
          <p:nvPr/>
        </p:nvSpPr>
        <p:spPr>
          <a:xfrm>
            <a:off x="7379368" y="2438400"/>
            <a:ext cx="401053" cy="1395663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18" name="Google Shape;418;p18"/>
          <p:cNvSpPr txBox="1"/>
          <p:nvPr>
            <p:ph idx="1" type="body"/>
          </p:nvPr>
        </p:nvSpPr>
        <p:spPr>
          <a:xfrm>
            <a:off x="7780421" y="2976826"/>
            <a:ext cx="262461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 "/>
            </a:pPr>
            <a:r>
              <a:rPr lang="en-GB"/>
              <a:t>N = 3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Char char=" "/>
            </a:pPr>
            <a:r>
              <a:rPr lang="en-GB"/>
              <a:t>Df = N -1 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Char char=" "/>
            </a:pPr>
            <a:r>
              <a:rPr lang="en-GB"/>
              <a:t>Df = 3 -1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Char char=" "/>
            </a:pPr>
            <a:r>
              <a:rPr lang="en-GB"/>
              <a:t>Df = 2</a:t>
            </a:r>
            <a:endParaRPr/>
          </a:p>
        </p:txBody>
      </p:sp>
      <p:pic>
        <p:nvPicPr>
          <p:cNvPr id="419" name="Google Shape;41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4" name="Google Shape;424;p19"/>
          <p:cNvGrpSpPr/>
          <p:nvPr/>
        </p:nvGrpSpPr>
        <p:grpSpPr>
          <a:xfrm>
            <a:off x="227872" y="3007270"/>
            <a:ext cx="11688128" cy="1100133"/>
            <a:chOff x="3283" y="2750596"/>
            <a:chExt cx="11688128" cy="1100133"/>
          </a:xfrm>
        </p:grpSpPr>
        <p:sp>
          <p:nvSpPr>
            <p:cNvPr id="425" name="Google Shape;425;p19"/>
            <p:cNvSpPr/>
            <p:nvPr/>
          </p:nvSpPr>
          <p:spPr>
            <a:xfrm>
              <a:off x="3283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24CED7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9"/>
            <p:cNvSpPr txBox="1"/>
            <p:nvPr/>
          </p:nvSpPr>
          <p:spPr>
            <a:xfrm>
              <a:off x="35505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Collect observed data</a:t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27" name="Google Shape;427;p19"/>
            <p:cNvSpPr/>
            <p:nvPr/>
          </p:nvSpPr>
          <p:spPr>
            <a:xfrm>
              <a:off x="1371043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24CE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19"/>
            <p:cNvSpPr txBox="1"/>
            <p:nvPr/>
          </p:nvSpPr>
          <p:spPr>
            <a:xfrm>
              <a:off x="1371043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29" name="Google Shape;429;p19"/>
            <p:cNvSpPr/>
            <p:nvPr/>
          </p:nvSpPr>
          <p:spPr>
            <a:xfrm>
              <a:off x="1744068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29D1CF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19"/>
            <p:cNvSpPr txBox="1"/>
            <p:nvPr/>
          </p:nvSpPr>
          <p:spPr>
            <a:xfrm>
              <a:off x="1776290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the expected value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19"/>
            <p:cNvSpPr/>
            <p:nvPr/>
          </p:nvSpPr>
          <p:spPr>
            <a:xfrm>
              <a:off x="3111828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2AD0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19"/>
            <p:cNvSpPr txBox="1"/>
            <p:nvPr/>
          </p:nvSpPr>
          <p:spPr>
            <a:xfrm>
              <a:off x="3111828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33" name="Google Shape;433;p19"/>
            <p:cNvSpPr/>
            <p:nvPr/>
          </p:nvSpPr>
          <p:spPr>
            <a:xfrm>
              <a:off x="3484853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2ECCC2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19"/>
            <p:cNvSpPr txBox="1"/>
            <p:nvPr/>
          </p:nvSpPr>
          <p:spPr>
            <a:xfrm>
              <a:off x="3517075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the chi-square points	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19"/>
            <p:cNvSpPr/>
            <p:nvPr/>
          </p:nvSpPr>
          <p:spPr>
            <a:xfrm>
              <a:off x="4852613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2FCB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9"/>
            <p:cNvSpPr txBox="1"/>
            <p:nvPr/>
          </p:nvSpPr>
          <p:spPr>
            <a:xfrm>
              <a:off x="4852613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37" name="Google Shape;437;p19"/>
            <p:cNvSpPr/>
            <p:nvPr/>
          </p:nvSpPr>
          <p:spPr>
            <a:xfrm>
              <a:off x="5225639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32C8B5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9"/>
            <p:cNvSpPr txBox="1"/>
            <p:nvPr/>
          </p:nvSpPr>
          <p:spPr>
            <a:xfrm>
              <a:off x="5257861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the chi-square statistic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19"/>
            <p:cNvSpPr/>
            <p:nvPr/>
          </p:nvSpPr>
          <p:spPr>
            <a:xfrm>
              <a:off x="6593398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35C5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19"/>
            <p:cNvSpPr txBox="1"/>
            <p:nvPr/>
          </p:nvSpPr>
          <p:spPr>
            <a:xfrm>
              <a:off x="6593398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41" name="Google Shape;441;p19"/>
            <p:cNvSpPr/>
            <p:nvPr/>
          </p:nvSpPr>
          <p:spPr>
            <a:xfrm>
              <a:off x="6966424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37C2AA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19"/>
            <p:cNvSpPr txBox="1"/>
            <p:nvPr/>
          </p:nvSpPr>
          <p:spPr>
            <a:xfrm>
              <a:off x="6998646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Degree of Freedom (df)</a:t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43" name="Google Shape;443;p19"/>
            <p:cNvSpPr/>
            <p:nvPr/>
          </p:nvSpPr>
          <p:spPr>
            <a:xfrm>
              <a:off x="8334183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3ABFA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19"/>
            <p:cNvSpPr txBox="1"/>
            <p:nvPr/>
          </p:nvSpPr>
          <p:spPr>
            <a:xfrm>
              <a:off x="8334183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45" name="Google Shape;445;p19"/>
            <p:cNvSpPr/>
            <p:nvPr/>
          </p:nvSpPr>
          <p:spPr>
            <a:xfrm>
              <a:off x="8707209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3BBE9E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9"/>
            <p:cNvSpPr txBox="1"/>
            <p:nvPr/>
          </p:nvSpPr>
          <p:spPr>
            <a:xfrm>
              <a:off x="8739431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Define Critical Value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19"/>
            <p:cNvSpPr/>
            <p:nvPr/>
          </p:nvSpPr>
          <p:spPr>
            <a:xfrm>
              <a:off x="10074969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40B9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19"/>
            <p:cNvSpPr txBox="1"/>
            <p:nvPr/>
          </p:nvSpPr>
          <p:spPr>
            <a:xfrm>
              <a:off x="10074969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49" name="Google Shape;449;p19"/>
            <p:cNvSpPr/>
            <p:nvPr/>
          </p:nvSpPr>
          <p:spPr>
            <a:xfrm>
              <a:off x="10447994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40B995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19"/>
            <p:cNvSpPr txBox="1"/>
            <p:nvPr/>
          </p:nvSpPr>
          <p:spPr>
            <a:xfrm>
              <a:off x="10480216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Determine decision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1" name="Google Shape;451;p19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HOW TO PERFORM CHI-SQUARE</a:t>
            </a:r>
            <a:endParaRPr/>
          </a:p>
        </p:txBody>
      </p:sp>
      <p:sp>
        <p:nvSpPr>
          <p:cNvPr id="452" name="Google Shape;452;p19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53" name="Google Shape;4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0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9" name="Google Shape;459;p20"/>
          <p:cNvSpPr txBox="1"/>
          <p:nvPr/>
        </p:nvSpPr>
        <p:spPr>
          <a:xfrm>
            <a:off x="1024128" y="4744299"/>
            <a:ext cx="2116268" cy="369332"/>
          </a:xfrm>
          <a:prstGeom prst="rect">
            <a:avLst/>
          </a:prstGeom>
          <a:solidFill>
            <a:schemeClr val="dk1"/>
          </a:solidFill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df=N-1 = 3-1 =2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0" name="Google Shape;460;p20"/>
          <p:cNvPicPr preferRelativeResize="0"/>
          <p:nvPr/>
        </p:nvPicPr>
        <p:blipFill rotWithShape="1">
          <a:blip r:embed="rId3">
            <a:alphaModFix/>
          </a:blip>
          <a:srcRect b="62641" l="0" r="0" t="0"/>
          <a:stretch/>
        </p:blipFill>
        <p:spPr>
          <a:xfrm>
            <a:off x="2720189" y="844631"/>
            <a:ext cx="9090811" cy="3572684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20"/>
          <p:cNvSpPr txBox="1"/>
          <p:nvPr/>
        </p:nvSpPr>
        <p:spPr>
          <a:xfrm>
            <a:off x="1024128" y="5255949"/>
            <a:ext cx="2643865" cy="369332"/>
          </a:xfrm>
          <a:prstGeom prst="rect">
            <a:avLst/>
          </a:prstGeom>
          <a:solidFill>
            <a:schemeClr val="dk1"/>
          </a:solidFill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Significance level </a:t>
            </a:r>
            <a:r>
              <a:rPr b="0" i="0" lang="en-GB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(α)=0.05</a:t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62" name="Google Shape;462;p20"/>
          <p:cNvSpPr/>
          <p:nvPr/>
        </p:nvSpPr>
        <p:spPr>
          <a:xfrm>
            <a:off x="9178290" y="2912340"/>
            <a:ext cx="544594" cy="292412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63" name="Google Shape;463;p20"/>
          <p:cNvSpPr/>
          <p:nvPr/>
        </p:nvSpPr>
        <p:spPr>
          <a:xfrm>
            <a:off x="9178290" y="3557756"/>
            <a:ext cx="544594" cy="214143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64" name="Google Shape;464;p20"/>
          <p:cNvSpPr/>
          <p:nvPr/>
        </p:nvSpPr>
        <p:spPr>
          <a:xfrm>
            <a:off x="3318211" y="3508296"/>
            <a:ext cx="247949" cy="263604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65" name="Google Shape;465;p20"/>
          <p:cNvSpPr txBox="1"/>
          <p:nvPr/>
        </p:nvSpPr>
        <p:spPr>
          <a:xfrm>
            <a:off x="4123708" y="5259761"/>
            <a:ext cx="3141886" cy="40011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Result of critical value: 5.991</a:t>
            </a:r>
            <a:endParaRPr b="0" i="0" sz="20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66" name="Google Shape;466;p20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DEFINE CRITICAL VALUE</a:t>
            </a:r>
            <a:endParaRPr/>
          </a:p>
        </p:txBody>
      </p:sp>
      <p:sp>
        <p:nvSpPr>
          <p:cNvPr id="467" name="Google Shape;467;p20"/>
          <p:cNvSpPr/>
          <p:nvPr/>
        </p:nvSpPr>
        <p:spPr>
          <a:xfrm>
            <a:off x="4739524" y="2173227"/>
            <a:ext cx="29047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Table look up of critical value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468" name="Google Shape;468;p20"/>
          <p:cNvCxnSpPr>
            <a:stCxn id="464" idx="3"/>
            <a:endCxn id="463" idx="1"/>
          </p:cNvCxnSpPr>
          <p:nvPr/>
        </p:nvCxnSpPr>
        <p:spPr>
          <a:xfrm>
            <a:off x="3566160" y="3640098"/>
            <a:ext cx="5612100" cy="24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9" name="Google Shape;469;p20"/>
          <p:cNvCxnSpPr>
            <a:stCxn id="462" idx="2"/>
            <a:endCxn id="463" idx="0"/>
          </p:cNvCxnSpPr>
          <p:nvPr/>
        </p:nvCxnSpPr>
        <p:spPr>
          <a:xfrm>
            <a:off x="9450587" y="3204752"/>
            <a:ext cx="0" cy="353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470" name="Google Shape;47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5" name="Google Shape;475;p21"/>
          <p:cNvGrpSpPr/>
          <p:nvPr/>
        </p:nvGrpSpPr>
        <p:grpSpPr>
          <a:xfrm>
            <a:off x="227872" y="3007270"/>
            <a:ext cx="11688128" cy="1100133"/>
            <a:chOff x="3283" y="2750596"/>
            <a:chExt cx="11688128" cy="1100133"/>
          </a:xfrm>
        </p:grpSpPr>
        <p:sp>
          <p:nvSpPr>
            <p:cNvPr id="476" name="Google Shape;476;p21"/>
            <p:cNvSpPr/>
            <p:nvPr/>
          </p:nvSpPr>
          <p:spPr>
            <a:xfrm>
              <a:off x="3283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24CED7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21"/>
            <p:cNvSpPr txBox="1"/>
            <p:nvPr/>
          </p:nvSpPr>
          <p:spPr>
            <a:xfrm>
              <a:off x="35505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Collect observed data</a:t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78" name="Google Shape;478;p21"/>
            <p:cNvSpPr/>
            <p:nvPr/>
          </p:nvSpPr>
          <p:spPr>
            <a:xfrm>
              <a:off x="1371043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24CE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21"/>
            <p:cNvSpPr txBox="1"/>
            <p:nvPr/>
          </p:nvSpPr>
          <p:spPr>
            <a:xfrm>
              <a:off x="1371043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80" name="Google Shape;480;p21"/>
            <p:cNvSpPr/>
            <p:nvPr/>
          </p:nvSpPr>
          <p:spPr>
            <a:xfrm>
              <a:off x="1744068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29D1CF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21"/>
            <p:cNvSpPr txBox="1"/>
            <p:nvPr/>
          </p:nvSpPr>
          <p:spPr>
            <a:xfrm>
              <a:off x="1776290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the expected value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21"/>
            <p:cNvSpPr/>
            <p:nvPr/>
          </p:nvSpPr>
          <p:spPr>
            <a:xfrm>
              <a:off x="3111828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2AD0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21"/>
            <p:cNvSpPr txBox="1"/>
            <p:nvPr/>
          </p:nvSpPr>
          <p:spPr>
            <a:xfrm>
              <a:off x="3111828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84" name="Google Shape;484;p21"/>
            <p:cNvSpPr/>
            <p:nvPr/>
          </p:nvSpPr>
          <p:spPr>
            <a:xfrm>
              <a:off x="3484853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2ECCC2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21"/>
            <p:cNvSpPr txBox="1"/>
            <p:nvPr/>
          </p:nvSpPr>
          <p:spPr>
            <a:xfrm>
              <a:off x="3517075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the chi-square points	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21"/>
            <p:cNvSpPr/>
            <p:nvPr/>
          </p:nvSpPr>
          <p:spPr>
            <a:xfrm>
              <a:off x="4852613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2FCB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21"/>
            <p:cNvSpPr txBox="1"/>
            <p:nvPr/>
          </p:nvSpPr>
          <p:spPr>
            <a:xfrm>
              <a:off x="4852613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88" name="Google Shape;488;p21"/>
            <p:cNvSpPr/>
            <p:nvPr/>
          </p:nvSpPr>
          <p:spPr>
            <a:xfrm>
              <a:off x="5225639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32C8B5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21"/>
            <p:cNvSpPr txBox="1"/>
            <p:nvPr/>
          </p:nvSpPr>
          <p:spPr>
            <a:xfrm>
              <a:off x="5257861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the chi-square statistic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21"/>
            <p:cNvSpPr/>
            <p:nvPr/>
          </p:nvSpPr>
          <p:spPr>
            <a:xfrm>
              <a:off x="6593398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35C5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21"/>
            <p:cNvSpPr txBox="1"/>
            <p:nvPr/>
          </p:nvSpPr>
          <p:spPr>
            <a:xfrm>
              <a:off x="6593398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92" name="Google Shape;492;p21"/>
            <p:cNvSpPr/>
            <p:nvPr/>
          </p:nvSpPr>
          <p:spPr>
            <a:xfrm>
              <a:off x="6966424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37C2AA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21"/>
            <p:cNvSpPr txBox="1"/>
            <p:nvPr/>
          </p:nvSpPr>
          <p:spPr>
            <a:xfrm>
              <a:off x="6998646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Degree of Freedom (df)</a:t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94" name="Google Shape;494;p21"/>
            <p:cNvSpPr/>
            <p:nvPr/>
          </p:nvSpPr>
          <p:spPr>
            <a:xfrm>
              <a:off x="8334183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3ABFA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21"/>
            <p:cNvSpPr txBox="1"/>
            <p:nvPr/>
          </p:nvSpPr>
          <p:spPr>
            <a:xfrm>
              <a:off x="8334183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96" name="Google Shape;496;p21"/>
            <p:cNvSpPr/>
            <p:nvPr/>
          </p:nvSpPr>
          <p:spPr>
            <a:xfrm>
              <a:off x="8707209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3BBE9E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21"/>
            <p:cNvSpPr txBox="1"/>
            <p:nvPr/>
          </p:nvSpPr>
          <p:spPr>
            <a:xfrm>
              <a:off x="8739431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Define Critical Value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21"/>
            <p:cNvSpPr/>
            <p:nvPr/>
          </p:nvSpPr>
          <p:spPr>
            <a:xfrm>
              <a:off x="10074969" y="3146479"/>
              <a:ext cx="263604" cy="30836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40B9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21"/>
            <p:cNvSpPr txBox="1"/>
            <p:nvPr/>
          </p:nvSpPr>
          <p:spPr>
            <a:xfrm>
              <a:off x="10074969" y="3208152"/>
              <a:ext cx="184523" cy="18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00" name="Google Shape;500;p21"/>
            <p:cNvSpPr/>
            <p:nvPr/>
          </p:nvSpPr>
          <p:spPr>
            <a:xfrm>
              <a:off x="10447994" y="2750596"/>
              <a:ext cx="1243417" cy="1100133"/>
            </a:xfrm>
            <a:prstGeom prst="roundRect">
              <a:avLst>
                <a:gd fmla="val 10000" name="adj"/>
              </a:avLst>
            </a:prstGeom>
            <a:solidFill>
              <a:srgbClr val="40B995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21"/>
            <p:cNvSpPr txBox="1"/>
            <p:nvPr/>
          </p:nvSpPr>
          <p:spPr>
            <a:xfrm>
              <a:off x="10480216" y="2782818"/>
              <a:ext cx="1178973" cy="103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Determine decision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2" name="Google Shape;502;p21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HOW TO PERFORM CHI-SQUARE</a:t>
            </a:r>
            <a:endParaRPr/>
          </a:p>
        </p:txBody>
      </p:sp>
      <p:sp>
        <p:nvSpPr>
          <p:cNvPr id="503" name="Google Shape;503;p21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04" name="Google Shape;5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2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DETERMINE DECISION</a:t>
            </a:r>
            <a:endParaRPr/>
          </a:p>
        </p:txBody>
      </p:sp>
      <p:sp>
        <p:nvSpPr>
          <p:cNvPr id="510" name="Google Shape;510;p22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11" name="Google Shape;511;p22"/>
          <p:cNvSpPr/>
          <p:nvPr/>
        </p:nvSpPr>
        <p:spPr>
          <a:xfrm>
            <a:off x="4237592" y="1900166"/>
            <a:ext cx="2895729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173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2"/>
          <p:cNvSpPr/>
          <p:nvPr/>
        </p:nvSpPr>
        <p:spPr>
          <a:xfrm>
            <a:off x="5676447" y="1529948"/>
            <a:ext cx="1456874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2"/>
          <p:cNvSpPr/>
          <p:nvPr/>
        </p:nvSpPr>
        <p:spPr>
          <a:xfrm>
            <a:off x="765810" y="4823597"/>
            <a:ext cx="10821600" cy="15696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7749" l="-787" r="0" t="-348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4" name="Google Shape;514;p22"/>
          <p:cNvCxnSpPr/>
          <p:nvPr/>
        </p:nvCxnSpPr>
        <p:spPr>
          <a:xfrm flipH="1" rot="10800000">
            <a:off x="7534932" y="299744"/>
            <a:ext cx="1663" cy="203505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5" name="Google Shape;515;p22"/>
          <p:cNvCxnSpPr/>
          <p:nvPr/>
        </p:nvCxnSpPr>
        <p:spPr>
          <a:xfrm>
            <a:off x="9922061" y="2274748"/>
            <a:ext cx="0" cy="10336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6" name="Google Shape;516;p22"/>
          <p:cNvCxnSpPr/>
          <p:nvPr/>
        </p:nvCxnSpPr>
        <p:spPr>
          <a:xfrm>
            <a:off x="8723712" y="2281960"/>
            <a:ext cx="0" cy="10336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17" name="Google Shape;517;p22"/>
          <p:cNvGrpSpPr/>
          <p:nvPr/>
        </p:nvGrpSpPr>
        <p:grpSpPr>
          <a:xfrm>
            <a:off x="7534933" y="425514"/>
            <a:ext cx="4392274" cy="2326704"/>
            <a:chOff x="3808752" y="1826196"/>
            <a:chExt cx="3295501" cy="1722772"/>
          </a:xfrm>
        </p:grpSpPr>
        <p:cxnSp>
          <p:nvCxnSpPr>
            <p:cNvPr id="518" name="Google Shape;518;p22"/>
            <p:cNvCxnSpPr/>
            <p:nvPr/>
          </p:nvCxnSpPr>
          <p:spPr>
            <a:xfrm flipH="1" rot="10800000">
              <a:off x="3810415" y="3239900"/>
              <a:ext cx="2433965" cy="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19" name="Google Shape;519;p22"/>
            <p:cNvSpPr/>
            <p:nvPr/>
          </p:nvSpPr>
          <p:spPr>
            <a:xfrm>
              <a:off x="3808752" y="1826196"/>
              <a:ext cx="2435628" cy="1243135"/>
            </a:xfrm>
            <a:custGeom>
              <a:rect b="b" l="l" r="r" t="t"/>
              <a:pathLst>
                <a:path extrusionOk="0" h="1243135" w="2493818">
                  <a:moveTo>
                    <a:pt x="0" y="539247"/>
                  </a:moveTo>
                  <a:cubicBezTo>
                    <a:pt x="221673" y="233061"/>
                    <a:pt x="443346" y="-73124"/>
                    <a:pt x="648393" y="15545"/>
                  </a:cubicBezTo>
                  <a:cubicBezTo>
                    <a:pt x="853440" y="104214"/>
                    <a:pt x="922713" y="868985"/>
                    <a:pt x="1230284" y="1071261"/>
                  </a:cubicBezTo>
                  <a:cubicBezTo>
                    <a:pt x="1537855" y="1273537"/>
                    <a:pt x="2015836" y="1251370"/>
                    <a:pt x="2493818" y="1229203"/>
                  </a:cubicBezTo>
                </a:path>
              </a:pathLst>
            </a:custGeom>
            <a:noFill/>
            <a:ln cap="flat" cmpd="sng" w="15875">
              <a:solidFill>
                <a:srgbClr val="147E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20" name="Google Shape;520;p22"/>
            <p:cNvSpPr/>
            <p:nvPr/>
          </p:nvSpPr>
          <p:spPr>
            <a:xfrm>
              <a:off x="5599804" y="3069331"/>
              <a:ext cx="644576" cy="17056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21" name="Google Shape;521;p22"/>
            <p:cNvSpPr/>
            <p:nvPr/>
          </p:nvSpPr>
          <p:spPr>
            <a:xfrm>
              <a:off x="5300683" y="3271969"/>
              <a:ext cx="598241" cy="276999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22"/>
            <p:cNvSpPr/>
            <p:nvPr/>
          </p:nvSpPr>
          <p:spPr>
            <a:xfrm>
              <a:off x="4444701" y="3271969"/>
              <a:ext cx="598241" cy="276999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22"/>
            <p:cNvSpPr txBox="1"/>
            <p:nvPr/>
          </p:nvSpPr>
          <p:spPr>
            <a:xfrm>
              <a:off x="5505738" y="2506735"/>
              <a:ext cx="159851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Region of rejection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4" name="Google Shape;524;p22"/>
          <p:cNvSpPr/>
          <p:nvPr/>
        </p:nvSpPr>
        <p:spPr>
          <a:xfrm rot="-5400000">
            <a:off x="10108062" y="1517517"/>
            <a:ext cx="365760" cy="63325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525" name="Google Shape;525;p22"/>
          <p:cNvPicPr preferRelativeResize="0"/>
          <p:nvPr/>
        </p:nvPicPr>
        <p:blipFill rotWithShape="1">
          <a:blip r:embed="rId9">
            <a:alphaModFix/>
          </a:blip>
          <a:srcRect b="67718" l="0" r="0" t="17104"/>
          <a:stretch/>
        </p:blipFill>
        <p:spPr>
          <a:xfrm>
            <a:off x="2339189" y="2671262"/>
            <a:ext cx="9090811" cy="1451611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22"/>
          <p:cNvSpPr/>
          <p:nvPr/>
        </p:nvSpPr>
        <p:spPr>
          <a:xfrm>
            <a:off x="8812530" y="3118137"/>
            <a:ext cx="544594" cy="292412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27" name="Google Shape;527;p22"/>
          <p:cNvSpPr/>
          <p:nvPr/>
        </p:nvSpPr>
        <p:spPr>
          <a:xfrm>
            <a:off x="8812530" y="3763553"/>
            <a:ext cx="544594" cy="214143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28" name="Google Shape;528;p22"/>
          <p:cNvSpPr/>
          <p:nvPr/>
        </p:nvSpPr>
        <p:spPr>
          <a:xfrm>
            <a:off x="2952451" y="3714093"/>
            <a:ext cx="247949" cy="263604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29" name="Google Shape;529;p22"/>
          <p:cNvCxnSpPr>
            <a:stCxn id="528" idx="3"/>
            <a:endCxn id="527" idx="1"/>
          </p:cNvCxnSpPr>
          <p:nvPr/>
        </p:nvCxnSpPr>
        <p:spPr>
          <a:xfrm>
            <a:off x="3200400" y="3845895"/>
            <a:ext cx="5612100" cy="24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0" name="Google Shape;530;p22"/>
          <p:cNvSpPr/>
          <p:nvPr/>
        </p:nvSpPr>
        <p:spPr>
          <a:xfrm>
            <a:off x="7437777" y="3738823"/>
            <a:ext cx="194310" cy="214143"/>
          </a:xfrm>
          <a:prstGeom prst="ellipse">
            <a:avLst/>
          </a:prstGeom>
          <a:solidFill>
            <a:srgbClr val="2683C6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31" name="Google Shape;531;p22"/>
          <p:cNvCxnSpPr/>
          <p:nvPr/>
        </p:nvCxnSpPr>
        <p:spPr>
          <a:xfrm>
            <a:off x="7397772" y="3260595"/>
            <a:ext cx="274320" cy="0"/>
          </a:xfrm>
          <a:prstGeom prst="straightConnector1">
            <a:avLst/>
          </a:prstGeom>
          <a:noFill/>
          <a:ln cap="flat" cmpd="sng" w="38100">
            <a:solidFill>
              <a:srgbClr val="2683C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2" name="Google Shape;532;p22"/>
          <p:cNvCxnSpPr>
            <a:stCxn id="530" idx="0"/>
          </p:cNvCxnSpPr>
          <p:nvPr/>
        </p:nvCxnSpPr>
        <p:spPr>
          <a:xfrm rot="10800000">
            <a:off x="7534932" y="3267823"/>
            <a:ext cx="0" cy="471000"/>
          </a:xfrm>
          <a:prstGeom prst="straightConnector1">
            <a:avLst/>
          </a:prstGeom>
          <a:noFill/>
          <a:ln cap="flat" cmpd="sng" w="38100">
            <a:solidFill>
              <a:srgbClr val="2683C6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33" name="Google Shape;533;p22"/>
          <p:cNvSpPr/>
          <p:nvPr/>
        </p:nvSpPr>
        <p:spPr>
          <a:xfrm>
            <a:off x="217903" y="3620200"/>
            <a:ext cx="2121286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2216" l="0" r="-1421" t="-7933"/>
            </a:stretch>
          </a:blipFill>
          <a:ln cap="flat" cmpd="sng" w="9525">
            <a:solidFill>
              <a:srgbClr val="2683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4" name="Google Shape;534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426190" y="6088457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22"/>
          <p:cNvSpPr txBox="1"/>
          <p:nvPr/>
        </p:nvSpPr>
        <p:spPr>
          <a:xfrm>
            <a:off x="4939675" y="4939425"/>
            <a:ext cx="3232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6" name="Google Shape;536;p22"/>
          <p:cNvSpPr txBox="1"/>
          <p:nvPr/>
        </p:nvSpPr>
        <p:spPr>
          <a:xfrm>
            <a:off x="4863475" y="4823600"/>
            <a:ext cx="4451100" cy="51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FF99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Reject </a:t>
            </a:r>
            <a:r>
              <a:rPr lang="en-GB" sz="22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Alternative</a:t>
            </a:r>
            <a:r>
              <a:rPr lang="en-GB" sz="22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Hypothesis</a:t>
            </a:r>
            <a:endParaRPr sz="22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3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CONCLUSION - COMPARISON</a:t>
            </a:r>
            <a:endParaRPr/>
          </a:p>
        </p:txBody>
      </p:sp>
      <p:graphicFrame>
        <p:nvGraphicFramePr>
          <p:cNvPr id="542" name="Google Shape;542;p23"/>
          <p:cNvGraphicFramePr/>
          <p:nvPr/>
        </p:nvGraphicFramePr>
        <p:xfrm>
          <a:off x="1703069" y="25260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{95454E08-A82F-4A8E-9993-604A964E85C1}</a:tableStyleId>
              </a:tblPr>
              <a:tblGrid>
                <a:gridCol w="1977400"/>
                <a:gridCol w="1935700"/>
                <a:gridCol w="1687600"/>
                <a:gridCol w="22255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Hypothesis Testing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Number of Data for </a:t>
                      </a:r>
                      <a:r>
                        <a:rPr i="1" lang="en-GB" sz="1800" u="none" cap="none" strike="noStrike"/>
                        <a:t>each Group</a:t>
                      </a:r>
                      <a:endParaRPr i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Type Data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Data Distribution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T-test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Real, Number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Assumed: </a:t>
                      </a:r>
                      <a:r>
                        <a:rPr b="1" lang="en-GB" sz="1800" u="none" cap="none" strike="noStrike"/>
                        <a:t>Normal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Wilcoxon test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Same Number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Real, Number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Assumed: </a:t>
                      </a:r>
                      <a:r>
                        <a:rPr b="1" lang="en-GB" sz="1800" u="none" cap="none" strike="noStrike"/>
                        <a:t>Abnormal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Chi square test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/>
                        <a:t>Categorical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43" name="Google Shape;543;p23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44" name="Google Shape;544;p23"/>
          <p:cNvSpPr/>
          <p:nvPr/>
        </p:nvSpPr>
        <p:spPr>
          <a:xfrm>
            <a:off x="1703069" y="4719828"/>
            <a:ext cx="3242155" cy="74644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Which one is </a:t>
            </a:r>
            <a:r>
              <a:rPr b="1" i="0" lang="en-GB" sz="2400" u="none" cap="none" strike="noStrike">
                <a:solidFill>
                  <a:schemeClr val="accent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best?</a:t>
            </a:r>
            <a:endParaRPr b="1" i="0" sz="2400" u="none" cap="none" strike="noStrike">
              <a:solidFill>
                <a:schemeClr val="accent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45" name="Google Shape;545;p23"/>
          <p:cNvSpPr/>
          <p:nvPr/>
        </p:nvSpPr>
        <p:spPr>
          <a:xfrm>
            <a:off x="1703069" y="5466277"/>
            <a:ext cx="8523282" cy="1278747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None</a:t>
            </a:r>
            <a:r>
              <a:rPr b="0" i="0" lang="en-GB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is  the best.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All depend on the </a:t>
            </a:r>
            <a:r>
              <a:rPr b="1" i="0" lang="en-GB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characteristic of your data</a:t>
            </a:r>
            <a:r>
              <a:rPr b="0" i="0" lang="en-GB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, categorical or real number, the </a:t>
            </a:r>
            <a:r>
              <a:rPr b="1" i="0" lang="en-GB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 distribution </a:t>
            </a:r>
            <a:r>
              <a:rPr b="0" i="0" lang="en-GB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is normal or abnormal</a:t>
            </a:r>
            <a:endParaRPr b="0" i="0" sz="24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546" name="Google Shape;54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4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THANK YOU</a:t>
            </a:r>
            <a:endParaRPr/>
          </a:p>
        </p:txBody>
      </p:sp>
      <p:sp>
        <p:nvSpPr>
          <p:cNvPr id="552" name="Google Shape;552;p24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553" name="Google Shape;553;p24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54" name="Google Shape;5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2019-04-17T20:21:41Z</dcterms:created>
  <dc:creator>Windows User</dc:creator>
</cp:coreProperties>
</file>