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9"/>
  </p:notesMasterIdLst>
  <p:sldIdLst>
    <p:sldId id="256" r:id="rId2"/>
    <p:sldId id="316" r:id="rId3"/>
    <p:sldId id="306" r:id="rId4"/>
    <p:sldId id="350" r:id="rId5"/>
    <p:sldId id="344" r:id="rId6"/>
    <p:sldId id="345" r:id="rId7"/>
    <p:sldId id="346" r:id="rId8"/>
    <p:sldId id="347" r:id="rId9"/>
    <p:sldId id="348" r:id="rId10"/>
    <p:sldId id="351" r:id="rId11"/>
    <p:sldId id="349" r:id="rId12"/>
    <p:sldId id="352" r:id="rId13"/>
    <p:sldId id="353" r:id="rId14"/>
    <p:sldId id="354" r:id="rId15"/>
    <p:sldId id="356" r:id="rId16"/>
    <p:sldId id="355" r:id="rId17"/>
    <p:sldId id="357" r:id="rId18"/>
    <p:sldId id="359" r:id="rId19"/>
    <p:sldId id="358" r:id="rId20"/>
    <p:sldId id="360" r:id="rId21"/>
    <p:sldId id="362" r:id="rId22"/>
    <p:sldId id="361" r:id="rId23"/>
    <p:sldId id="364" r:id="rId24"/>
    <p:sldId id="367" r:id="rId25"/>
    <p:sldId id="369" r:id="rId26"/>
    <p:sldId id="363" r:id="rId27"/>
    <p:sldId id="370" r:id="rId28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B47730-A398-4FC4-B34F-C780EC8F40D9}">
          <p14:sldIdLst>
            <p14:sldId id="256"/>
            <p14:sldId id="316"/>
            <p14:sldId id="306"/>
            <p14:sldId id="350"/>
            <p14:sldId id="344"/>
            <p14:sldId id="345"/>
            <p14:sldId id="346"/>
            <p14:sldId id="347"/>
            <p14:sldId id="348"/>
            <p14:sldId id="351"/>
            <p14:sldId id="349"/>
            <p14:sldId id="352"/>
            <p14:sldId id="353"/>
            <p14:sldId id="354"/>
            <p14:sldId id="356"/>
            <p14:sldId id="355"/>
            <p14:sldId id="357"/>
            <p14:sldId id="359"/>
            <p14:sldId id="358"/>
            <p14:sldId id="360"/>
            <p14:sldId id="362"/>
            <p14:sldId id="361"/>
            <p14:sldId id="364"/>
            <p14:sldId id="367"/>
            <p14:sldId id="369"/>
            <p14:sldId id="363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0F6"/>
    <a:srgbClr val="E70FB9"/>
    <a:srgbClr val="66FF33"/>
    <a:srgbClr val="190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3" autoAdjust="0"/>
    <p:restoredTop sz="94660"/>
  </p:normalViewPr>
  <p:slideViewPr>
    <p:cSldViewPr snapToGrid="0">
      <p:cViewPr varScale="1">
        <p:scale>
          <a:sx n="86" d="100"/>
          <a:sy n="86" d="100"/>
        </p:scale>
        <p:origin x="624" y="-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-Research\Meeting_20210316%20(Teaching%20Material)\0319\KLD%20Source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-Research\Meeting_20210316%20(Teaching%20Material)\0319\KLD%20Source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0-Research\Meeting_20210316%20(Teaching%20Material)\0319\KLD%20Source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EMD!$F$3:$F$8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9-4ED2-A187-FBA9F359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EMD!$E$13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EMD!$F$13:$F$18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9C-4812-A7DA-248831040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EMD!$F$3:$F$8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9-4ED2-A187-FBA9F359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EMD!$E$13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EMD!$F$13:$F$18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9C-4812-A7DA-248831040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'EMD (2)'!$F$3:$F$8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D-4DC6-8DD7-D22543CF1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'EMD (2)'!$E$13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'EMD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E-4DA2-967B-49A515D20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'EMD (2)'!$F$3:$F$8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D-4DC6-8DD7-D22543CF1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'EMD (2)'!$E$13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'EMD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E-4DA2-967B-49A515D20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'EMD (2)'!$F$3:$F$8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D-4DC6-8DD7-D22543CF1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'EMD (2)'!$E$13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'EMD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E-4DA2-967B-49A515D20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'EMD (2)'!$F$3:$F$8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BD-4DC6-8DD7-D22543CF1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'EMD (2)'!$E$13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'EMD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(2)'!$G$13:$G$18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E-4DA2-967B-49A515D20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4D-4E61-8BA4-7F1DBACC683B}"/>
              </c:ext>
            </c:extLst>
          </c:dPt>
          <c:cat>
            <c:numRef>
              <c:f>'EMD (3)'!$F$3:$F$8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(3)'!$G$3:$G$8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4D-4E61-8BA4-7F1DBACC68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'EMD (3)'!$E$13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'EMD (3)'!$F$13:$F$18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'EMD (3)'!$G$13:$G$18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8A-45F1-AF7E-1AD3A427D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EB4-B0B2-630845716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5-4ED4-BCB1-4F7D699D3C4B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5-4ED4-BCB1-4F7D699D3C4B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5-4ED4-BCB1-4F7D699D3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2886482939632541E-2"/>
          <c:y val="0.2061574074074074"/>
          <c:w val="0.89655796150481193"/>
          <c:h val="0.70959135316418775"/>
        </c:manualLayout>
      </c:layout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F0F6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43-4347-93D0-8FF731549683}"/>
              </c:ext>
            </c:extLst>
          </c:dPt>
          <c:cat>
            <c:numRef>
              <c:f>Splt!$F$3:$F$8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Splt!$G$3:$G$8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3-4347-93D0-8FF731549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Splt!$E$13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Splt!$F$13:$F$18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Splt!$G$13:$G$18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C5-46D2-918B-46DE2043C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2886482939632541E-2"/>
          <c:y val="0.2061574074074074"/>
          <c:w val="0.89655796150481193"/>
          <c:h val="0.70959135316418775"/>
        </c:manualLayout>
      </c:layout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F0F6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43-4347-93D0-8FF731549683}"/>
              </c:ext>
            </c:extLst>
          </c:dPt>
          <c:cat>
            <c:numRef>
              <c:f>Splt!$F$3:$F$8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Splt!$G$3:$G$8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3-4347-93D0-8FF731549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Splt!$E$13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Splt!$F$13:$F$18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Splt!$G$13:$G$18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C5-46D2-918B-46DE2043C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EB4-B0B2-630845716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5-4ED4-BCB1-4F7D699D3C4B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5-4ED4-BCB1-4F7D699D3C4B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5-4ED4-BCB1-4F7D699D3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734-48AB-B98C-C55FE335E5B0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734-48AB-B98C-C55FE335E5B0}"/>
              </c:ext>
            </c:extLst>
          </c:dPt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EB4-B0B2-630845716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5-4ED4-BCB1-4F7D699D3C4B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5-4ED4-BCB1-4F7D699D3C4B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5-4ED4-BCB1-4F7D699D3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734-48AB-B98C-C55FE335E5B0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734-48AB-B98C-C55FE335E5B0}"/>
              </c:ext>
            </c:extLst>
          </c:dPt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EB4-B0B2-630845716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5-4ED4-BCB1-4F7D699D3C4B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5-4ED4-BCB1-4F7D699D3C4B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5-4ED4-BCB1-4F7D699D3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734-48AB-B98C-C55FE335E5B0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734-48AB-B98C-C55FE335E5B0}"/>
              </c:ext>
            </c:extLst>
          </c:dPt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6-4EB4-B0B2-630845716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5-4ED4-BCB1-4F7D699D3C4B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05-4ED4-BCB1-4F7D699D3C4B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05-4ED4-BCB1-4F7D699D3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'Sheet1 (2)'!$E$13</c:f>
              <c:strCache>
                <c:ptCount val="1"/>
                <c:pt idx="0">
                  <c:v>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2BA-4479-BDF2-14FF5C18D8FA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BA-4479-BDF2-14FF5C18D8FA}"/>
              </c:ext>
            </c:extLst>
          </c:dPt>
          <c:cat>
            <c:numRef>
              <c:f>'Sheet1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'Sheet1 (2)'!$G$13:$G$18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BA-4479-BDF2-14FF5C18D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'Sheet1 (2)'!$E$35</c:f>
              <c:strCache>
                <c:ptCount val="1"/>
                <c:pt idx="0">
                  <c:v>Z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numRef>
              <c:f>'Sheet1 (2)'!$F$13:$F$18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'Sheet1 (2)'!$G$35:$G$40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EA-494C-9DC3-8FDAFF6E2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'Sheet1 (2)'!$F$3:$F$8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'Sheet1 (2)'!$G$3:$G$8</c:f>
              <c:numCache>
                <c:formatCode>General</c:formatCode>
                <c:ptCount val="6"/>
                <c:pt idx="0">
                  <c:v>0.4</c:v>
                </c:pt>
                <c:pt idx="1">
                  <c:v>0.6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22-47C3-B572-96EB81EEB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EMD!$F$3:$F$8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EMD!$G$3:$G$8</c:f>
              <c:numCache>
                <c:formatCode>General</c:formatCode>
                <c:ptCount val="6"/>
                <c:pt idx="0">
                  <c:v>0</c:v>
                </c:pt>
                <c:pt idx="1">
                  <c:v>0.6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9-4ED2-A187-FBA9F359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EMD!$E$13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EMD!$F$13:$F$18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EMD!$G$13:$G$18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9C-4812-A7DA-248831040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0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CA8A-45F6-4C39-84CC-636E675FA1CA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0F661-FDA6-4479-AFA7-E202DECA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706E-8465-4CE4-9862-022A5144B3EB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5623" y="6446837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1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7A3B-7328-4F4F-BEE9-55D2BDEFE8BB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44511" y="6448580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4C101-3C25-4364-A971-C7D612A3EF03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3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FD85B-A7A6-43DF-9760-CC4E4926F2D3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3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B832-0DE8-484F-8AF7-A77E1EE5292C}" type="datetime1">
              <a:rPr lang="en-US" smtClean="0"/>
              <a:t>3/25/2022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0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9C08-82D8-42D2-8CD0-92433DDEB378}" type="datetime1">
              <a:rPr lang="en-US" smtClean="0"/>
              <a:t>3/25/2022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7375-0584-46A6-B835-7510ED15CC4D}" type="datetime1">
              <a:rPr lang="en-US" smtClean="0"/>
              <a:t>3/25/2022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4A2E72-BFA1-483E-9AAC-7B1EBCE08D02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A99B-0CE1-47E4-9691-AFF161B2C842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3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8989-F10D-4185-B43F-EA36769DA4E0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AE6C-9AB9-4259-AB1A-C77F4C8DD467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181BBA-3430-47BC-A533-F1254AC2AC63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0">
                <a:solidFill>
                  <a:srgbClr val="FFFFFF"/>
                </a:solidFill>
              </a:defRPr>
            </a:lvl1pPr>
          </a:lstStyle>
          <a:p>
            <a:fld id="{1D790B7D-7CE2-423E-A609-5BC514094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Earth Mover’s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2021-03-19</a:t>
            </a:r>
          </a:p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28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4" y="1871439"/>
            <a:ext cx="1110373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Motivation:</a:t>
            </a:r>
          </a:p>
          <a:p>
            <a:pPr marL="463550" indent="-463550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want to compute distance between points regards to its locations </a:t>
            </a:r>
          </a:p>
          <a:p>
            <a:pPr marL="463550" indent="-463550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ea typeface="Helvetica" charset="0"/>
                <a:cs typeface="Arial" panose="020B0604020202020204" pitchFamily="34" charset="0"/>
              </a:rPr>
              <a:t>We define the distance with “the minimum amount of work” that must be performed to transform one histogram into the other by moving distribution mass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428624" y="-740"/>
            <a:ext cx="10772775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28624" y="-74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Earth Mover’s Distance (EMD)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24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23150" y="5700819"/>
            <a:ext cx="839383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EMD between histogram P and histogram Q?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53758"/>
              </p:ext>
            </p:extLst>
          </p:nvPr>
        </p:nvGraphicFramePr>
        <p:xfrm>
          <a:off x="428624" y="2025401"/>
          <a:ext cx="5276140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6986678"/>
              </p:ext>
            </p:extLst>
          </p:nvPr>
        </p:nvGraphicFramePr>
        <p:xfrm>
          <a:off x="6006905" y="2025400"/>
          <a:ext cx="5765995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1549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23150" y="5700819"/>
            <a:ext cx="839383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EMD between histogram P and histogram Q?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53758"/>
              </p:ext>
            </p:extLst>
          </p:nvPr>
        </p:nvGraphicFramePr>
        <p:xfrm>
          <a:off x="428624" y="2025401"/>
          <a:ext cx="5276140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6986678"/>
              </p:ext>
            </p:extLst>
          </p:nvPr>
        </p:nvGraphicFramePr>
        <p:xfrm>
          <a:off x="6006905" y="2025400"/>
          <a:ext cx="5765995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Oval 3"/>
          <p:cNvSpPr/>
          <p:nvPr/>
        </p:nvSpPr>
        <p:spPr>
          <a:xfrm>
            <a:off x="1259457" y="2175153"/>
            <a:ext cx="2501660" cy="3256439"/>
          </a:xfrm>
          <a:prstGeom prst="ellipse">
            <a:avLst/>
          </a:prstGeom>
          <a:noFill/>
          <a:ln w="38100">
            <a:solidFill>
              <a:srgbClr val="E70F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606287" y="2175152"/>
            <a:ext cx="2501660" cy="3256439"/>
          </a:xfrm>
          <a:prstGeom prst="ellipse">
            <a:avLst/>
          </a:prstGeom>
          <a:noFill/>
          <a:ln w="38100">
            <a:solidFill>
              <a:srgbClr val="E70F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/>
          <p:cNvSpPr/>
          <p:nvPr/>
        </p:nvSpPr>
        <p:spPr>
          <a:xfrm rot="18906275">
            <a:off x="1567365" y="1786823"/>
            <a:ext cx="9238244" cy="8874430"/>
          </a:xfrm>
          <a:prstGeom prst="arc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88093" y="2624968"/>
            <a:ext cx="4559582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What is the work needed to move bar #1?</a:t>
            </a:r>
          </a:p>
          <a:p>
            <a:r>
              <a:rPr lang="en-US" sz="2000" dirty="0"/>
              <a:t>What is the work needed to move bar #2?</a:t>
            </a:r>
          </a:p>
        </p:txBody>
      </p:sp>
    </p:spTree>
    <p:extLst>
      <p:ext uri="{BB962C8B-B14F-4D97-AF65-F5344CB8AC3E}">
        <p14:creationId xmlns:p14="http://schemas.microsoft.com/office/powerpoint/2010/main" val="24440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 uiExpand="1">
        <p:bldSub>
          <a:bldChart bld="series"/>
        </p:bldSub>
      </p:bldGraphic>
      <p:bldP spid="4" grpId="0" animBg="1"/>
      <p:bldP spid="14" grpId="0" animBg="1"/>
      <p:bldP spid="11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6887" y="1699117"/>
            <a:ext cx="663745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work needed to move each bar?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520194"/>
              </p:ext>
            </p:extLst>
          </p:nvPr>
        </p:nvGraphicFramePr>
        <p:xfrm>
          <a:off x="649760" y="2446878"/>
          <a:ext cx="5286805" cy="325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347308"/>
              </p:ext>
            </p:extLst>
          </p:nvPr>
        </p:nvGraphicFramePr>
        <p:xfrm>
          <a:off x="6172418" y="2546252"/>
          <a:ext cx="5600482" cy="315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16722" y="5855455"/>
            <a:ext cx="516449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Look at the bin location, and the probability value of the bar</a:t>
            </a:r>
          </a:p>
        </p:txBody>
      </p:sp>
      <p:sp>
        <p:nvSpPr>
          <p:cNvPr id="5" name="Oval 4"/>
          <p:cNvSpPr/>
          <p:nvPr/>
        </p:nvSpPr>
        <p:spPr>
          <a:xfrm>
            <a:off x="630887" y="2768247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375196" y="5238515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148914" y="2868888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126132" y="5229648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6887" y="1699117"/>
            <a:ext cx="663745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work needed to move each bar?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520194"/>
              </p:ext>
            </p:extLst>
          </p:nvPr>
        </p:nvGraphicFramePr>
        <p:xfrm>
          <a:off x="649760" y="2446878"/>
          <a:ext cx="5286805" cy="325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347308"/>
              </p:ext>
            </p:extLst>
          </p:nvPr>
        </p:nvGraphicFramePr>
        <p:xfrm>
          <a:off x="6172418" y="2546252"/>
          <a:ext cx="5600482" cy="315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772792" y="5905421"/>
            <a:ext cx="557332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1. The work needed is depend on the distance between two bars</a:t>
            </a:r>
          </a:p>
        </p:txBody>
      </p:sp>
      <p:sp>
        <p:nvSpPr>
          <p:cNvPr id="5" name="Oval 4"/>
          <p:cNvSpPr/>
          <p:nvPr/>
        </p:nvSpPr>
        <p:spPr>
          <a:xfrm>
            <a:off x="2131883" y="5252653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375196" y="5238515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/>
          <p:cNvSpPr/>
          <p:nvPr/>
        </p:nvSpPr>
        <p:spPr>
          <a:xfrm rot="18906275">
            <a:off x="1340389" y="4137022"/>
            <a:ext cx="9238244" cy="8874430"/>
          </a:xfrm>
          <a:prstGeom prst="arc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55875" y="3371381"/>
            <a:ext cx="3061223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Distance = 40 – 20 = 20</a:t>
            </a:r>
          </a:p>
        </p:txBody>
      </p:sp>
    </p:spTree>
    <p:extLst>
      <p:ext uri="{BB962C8B-B14F-4D97-AF65-F5344CB8AC3E}">
        <p14:creationId xmlns:p14="http://schemas.microsoft.com/office/powerpoint/2010/main" val="343754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6887" y="1699117"/>
            <a:ext cx="661181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work needed to move each bin?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382088"/>
              </p:ext>
            </p:extLst>
          </p:nvPr>
        </p:nvGraphicFramePr>
        <p:xfrm>
          <a:off x="748881" y="2546252"/>
          <a:ext cx="5286805" cy="325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628762"/>
              </p:ext>
            </p:extLst>
          </p:nvPr>
        </p:nvGraphicFramePr>
        <p:xfrm>
          <a:off x="6172418" y="2546252"/>
          <a:ext cx="5600482" cy="335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772792" y="5905421"/>
            <a:ext cx="5684313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2. The work needed is depend on the probability value of each bin</a:t>
            </a:r>
          </a:p>
        </p:txBody>
      </p:sp>
      <p:sp>
        <p:nvSpPr>
          <p:cNvPr id="15" name="Oval 14"/>
          <p:cNvSpPr/>
          <p:nvPr/>
        </p:nvSpPr>
        <p:spPr>
          <a:xfrm>
            <a:off x="734405" y="2871762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66165" y="2886141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6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6887" y="1699117"/>
            <a:ext cx="661181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work needed to move each bin?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382088"/>
              </p:ext>
            </p:extLst>
          </p:nvPr>
        </p:nvGraphicFramePr>
        <p:xfrm>
          <a:off x="748881" y="2546252"/>
          <a:ext cx="5286805" cy="325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628762"/>
              </p:ext>
            </p:extLst>
          </p:nvPr>
        </p:nvGraphicFramePr>
        <p:xfrm>
          <a:off x="6172418" y="2546252"/>
          <a:ext cx="5600482" cy="335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24883" y="5905421"/>
            <a:ext cx="309200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Work = probability value x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318" y="2979341"/>
            <a:ext cx="3022751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Work (EMD) = 0.6 x 20</a:t>
            </a:r>
          </a:p>
          <a:p>
            <a:r>
              <a:rPr lang="en-US" sz="2400" b="1" dirty="0"/>
              <a:t>                        = 12 </a:t>
            </a:r>
          </a:p>
        </p:txBody>
      </p:sp>
      <p:sp>
        <p:nvSpPr>
          <p:cNvPr id="15" name="Arc 14"/>
          <p:cNvSpPr/>
          <p:nvPr/>
        </p:nvSpPr>
        <p:spPr>
          <a:xfrm rot="18906275">
            <a:off x="1340389" y="4137022"/>
            <a:ext cx="9238244" cy="8874430"/>
          </a:xfrm>
          <a:prstGeom prst="arc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6887" y="1699117"/>
            <a:ext cx="752577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work needed to move the second bin?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4883" y="5905421"/>
            <a:ext cx="3092000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Work = probability value x distance</a:t>
            </a:r>
          </a:p>
        </p:txBody>
      </p:sp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216194"/>
              </p:ext>
            </p:extLst>
          </p:nvPr>
        </p:nvGraphicFramePr>
        <p:xfrm>
          <a:off x="466886" y="2384134"/>
          <a:ext cx="5226547" cy="316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164202"/>
              </p:ext>
            </p:extLst>
          </p:nvPr>
        </p:nvGraphicFramePr>
        <p:xfrm>
          <a:off x="6228272" y="2414458"/>
          <a:ext cx="5419275" cy="3158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17033" y="2733026"/>
            <a:ext cx="3087640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Distance = 50 – 30 = 20</a:t>
            </a:r>
          </a:p>
          <a:p>
            <a:r>
              <a:rPr lang="en-US" sz="2400" b="1" dirty="0"/>
              <a:t>Probability = 0.4</a:t>
            </a:r>
          </a:p>
          <a:p>
            <a:r>
              <a:rPr lang="en-US" sz="2400" b="1" dirty="0"/>
              <a:t>Work (EMD) = 0.4 x 20</a:t>
            </a:r>
          </a:p>
          <a:p>
            <a:r>
              <a:rPr lang="en-US" sz="2400" b="1" dirty="0"/>
              <a:t>                        = 8</a:t>
            </a:r>
          </a:p>
        </p:txBody>
      </p:sp>
      <p:sp>
        <p:nvSpPr>
          <p:cNvPr id="19" name="Oval 18"/>
          <p:cNvSpPr/>
          <p:nvPr/>
        </p:nvSpPr>
        <p:spPr>
          <a:xfrm>
            <a:off x="2683973" y="5080124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0085429" y="5114629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41105" y="3406600"/>
            <a:ext cx="473724" cy="47372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615" y="1654076"/>
            <a:ext cx="131645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78473"/>
              </p:ext>
            </p:extLst>
          </p:nvPr>
        </p:nvGraphicFramePr>
        <p:xfrm>
          <a:off x="428624" y="2186289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362758"/>
              </p:ext>
            </p:extLst>
          </p:nvPr>
        </p:nvGraphicFramePr>
        <p:xfrm>
          <a:off x="4257674" y="2160032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174665" y="1654076"/>
            <a:ext cx="135331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Q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490" y="3245219"/>
            <a:ext cx="586596" cy="293298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88086" y="3187610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1</a:t>
            </a:r>
          </a:p>
        </p:txBody>
      </p:sp>
      <p:cxnSp>
        <p:nvCxnSpPr>
          <p:cNvPr id="9" name="Straight Arrow Connector 8"/>
          <p:cNvCxnSpPr>
            <a:cxnSpLocks/>
            <a:stCxn id="7" idx="3"/>
          </p:cNvCxnSpPr>
          <p:nvPr/>
        </p:nvCxnSpPr>
        <p:spPr>
          <a:xfrm>
            <a:off x="3447855" y="3341499"/>
            <a:ext cx="2648145" cy="72399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210" y="3951498"/>
            <a:ext cx="586596" cy="293298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02416" y="3893889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1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16229"/>
              </p:ext>
            </p:extLst>
          </p:nvPr>
        </p:nvGraphicFramePr>
        <p:xfrm>
          <a:off x="4437735" y="5219171"/>
          <a:ext cx="7335165" cy="1554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89306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44415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98453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44047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05855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2053089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86504"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0437963" y="6346309"/>
            <a:ext cx="635479" cy="427342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291D4882-FF78-4F93-ACB9-A2D2C0577CC3}"/>
              </a:ext>
            </a:extLst>
          </p:cNvPr>
          <p:cNvSpPr/>
          <p:nvPr/>
        </p:nvSpPr>
        <p:spPr>
          <a:xfrm>
            <a:off x="2301490" y="3621308"/>
            <a:ext cx="586596" cy="293298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B2FAF3-DD4D-48CE-860F-906B5294EB16}"/>
              </a:ext>
            </a:extLst>
          </p:cNvPr>
          <p:cNvSpPr txBox="1"/>
          <p:nvPr/>
        </p:nvSpPr>
        <p:spPr>
          <a:xfrm>
            <a:off x="2888086" y="3563699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D5ACBE-7308-4AE6-9A42-A9BE46567BE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447855" y="3717588"/>
            <a:ext cx="2648145" cy="75708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BF5A2FD6-597E-488F-A98B-C3584BC9E1F0}"/>
              </a:ext>
            </a:extLst>
          </p:cNvPr>
          <p:cNvSpPr/>
          <p:nvPr/>
        </p:nvSpPr>
        <p:spPr>
          <a:xfrm>
            <a:off x="6126210" y="4327587"/>
            <a:ext cx="586596" cy="293298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CB6429-C7E8-4979-A32F-6E672301CBE3}"/>
              </a:ext>
            </a:extLst>
          </p:cNvPr>
          <p:cNvSpPr txBox="1"/>
          <p:nvPr/>
        </p:nvSpPr>
        <p:spPr>
          <a:xfrm>
            <a:off x="6702416" y="4269978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2</a:t>
            </a:r>
          </a:p>
        </p:txBody>
      </p:sp>
    </p:spTree>
    <p:extLst>
      <p:ext uri="{BB962C8B-B14F-4D97-AF65-F5344CB8AC3E}">
        <p14:creationId xmlns:p14="http://schemas.microsoft.com/office/powerpoint/2010/main" val="1918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17" grpId="0" animBg="1"/>
      <p:bldP spid="18" grpId="0"/>
      <p:bldP spid="20" grpId="0" animBg="1"/>
      <p:bldP spid="16" grpId="0" animBg="1"/>
      <p:bldP spid="21" grpId="0"/>
      <p:bldP spid="23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complex example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11</a:t>
            </a:fld>
            <a:endParaRPr lang="zh-TW" altLang="en-US" dirty="0"/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241918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955282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23150" y="5700819"/>
            <a:ext cx="839383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EMD between histogram P and histogram Q?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150" y="6290485"/>
            <a:ext cx="9366795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We can’t easily move each bar because the bar size is different.</a:t>
            </a:r>
          </a:p>
        </p:txBody>
      </p:sp>
    </p:spTree>
    <p:extLst>
      <p:ext uri="{BB962C8B-B14F-4D97-AF65-F5344CB8AC3E}">
        <p14:creationId xmlns:p14="http://schemas.microsoft.com/office/powerpoint/2010/main" val="97868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complex example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28624" y="1749921"/>
            <a:ext cx="920809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We need to slice each bar to match the location in destination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512039"/>
              </p:ext>
            </p:extLst>
          </p:nvPr>
        </p:nvGraphicFramePr>
        <p:xfrm>
          <a:off x="428624" y="2233703"/>
          <a:ext cx="4954259" cy="348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514799"/>
              </p:ext>
            </p:extLst>
          </p:nvPr>
        </p:nvGraphicFramePr>
        <p:xfrm>
          <a:off x="6142009" y="2398143"/>
          <a:ext cx="5630892" cy="3318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174520" y="3709359"/>
            <a:ext cx="724619" cy="0"/>
          </a:xfrm>
          <a:prstGeom prst="line">
            <a:avLst/>
          </a:prstGeom>
          <a:ln w="539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222653" y="3326921"/>
            <a:ext cx="724619" cy="0"/>
          </a:xfrm>
          <a:prstGeom prst="line">
            <a:avLst/>
          </a:prstGeom>
          <a:ln w="539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196422" y="3709359"/>
            <a:ext cx="431321" cy="150099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386554" y="2947359"/>
            <a:ext cx="411480" cy="36230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536829" y="4899804"/>
            <a:ext cx="6659593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536829" y="3128513"/>
            <a:ext cx="5685824" cy="405442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6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13</a:t>
            </a:fld>
            <a:endParaRPr lang="zh-TW" altLang="en-US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44438"/>
              </p:ext>
            </p:extLst>
          </p:nvPr>
        </p:nvGraphicFramePr>
        <p:xfrm>
          <a:off x="466887" y="2810456"/>
          <a:ext cx="7335165" cy="1554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9274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51129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78173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46663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1897413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86504"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 to move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bar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66887" y="1699117"/>
            <a:ext cx="510082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 work needed to move 1</a:t>
            </a:r>
            <a:r>
              <a:rPr lang="en-US" sz="2800" baseline="30000" dirty="0"/>
              <a:t>st</a:t>
            </a:r>
            <a:r>
              <a:rPr lang="en-US" sz="2800" dirty="0"/>
              <a:t> bar:</a:t>
            </a:r>
          </a:p>
        </p:txBody>
      </p:sp>
    </p:spTree>
    <p:extLst>
      <p:ext uri="{BB962C8B-B14F-4D97-AF65-F5344CB8AC3E}">
        <p14:creationId xmlns:p14="http://schemas.microsoft.com/office/powerpoint/2010/main" val="296489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complex example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28624" y="1749921"/>
            <a:ext cx="9208098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We need to slice each bar to match the location in destination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512039"/>
              </p:ext>
            </p:extLst>
          </p:nvPr>
        </p:nvGraphicFramePr>
        <p:xfrm>
          <a:off x="428624" y="2233703"/>
          <a:ext cx="4954259" cy="348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514799"/>
              </p:ext>
            </p:extLst>
          </p:nvPr>
        </p:nvGraphicFramePr>
        <p:xfrm>
          <a:off x="6142009" y="2398143"/>
          <a:ext cx="5630892" cy="3318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174520" y="3709359"/>
            <a:ext cx="724619" cy="0"/>
          </a:xfrm>
          <a:prstGeom prst="line">
            <a:avLst/>
          </a:prstGeom>
          <a:ln w="539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222653" y="3326921"/>
            <a:ext cx="724619" cy="0"/>
          </a:xfrm>
          <a:prstGeom prst="line">
            <a:avLst/>
          </a:prstGeom>
          <a:ln w="539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196422" y="3709359"/>
            <a:ext cx="431321" cy="150099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386554" y="2947359"/>
            <a:ext cx="411480" cy="36230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536829" y="4899804"/>
            <a:ext cx="6659593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536829" y="3128513"/>
            <a:ext cx="5685824" cy="405442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73183" y="4467971"/>
            <a:ext cx="99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0137" y="2827377"/>
            <a:ext cx="99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 = 0</a:t>
            </a:r>
          </a:p>
        </p:txBody>
      </p:sp>
    </p:spTree>
    <p:extLst>
      <p:ext uri="{BB962C8B-B14F-4D97-AF65-F5344CB8AC3E}">
        <p14:creationId xmlns:p14="http://schemas.microsoft.com/office/powerpoint/2010/main" val="111329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complex example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15</a:t>
            </a:fld>
            <a:endParaRPr lang="zh-TW" altLang="en-US" dirty="0"/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241918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955282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23150" y="5700819"/>
            <a:ext cx="839383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EMD between histogram P and histogram Q?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150" y="6290485"/>
            <a:ext cx="9366795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We can’t easily move each bar because the bar size is different.</a:t>
            </a:r>
          </a:p>
        </p:txBody>
      </p:sp>
    </p:spTree>
    <p:extLst>
      <p:ext uri="{BB962C8B-B14F-4D97-AF65-F5344CB8AC3E}">
        <p14:creationId xmlns:p14="http://schemas.microsoft.com/office/powerpoint/2010/main" val="39344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complex example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16</a:t>
            </a:fld>
            <a:endParaRPr lang="zh-TW" altLang="en-US" dirty="0"/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498057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952085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9282022" y="3670922"/>
            <a:ext cx="431321" cy="150099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82021" y="2729179"/>
            <a:ext cx="431321" cy="9417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140043" y="3260785"/>
            <a:ext cx="431321" cy="18938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278414" y="2307510"/>
            <a:ext cx="429768" cy="457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293364" y="320005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4531" y="2245009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9287" y="3015385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254" y="441969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#4</a:t>
            </a:r>
          </a:p>
        </p:txBody>
      </p:sp>
    </p:spTree>
    <p:extLst>
      <p:ext uri="{BB962C8B-B14F-4D97-AF65-F5344CB8AC3E}">
        <p14:creationId xmlns:p14="http://schemas.microsoft.com/office/powerpoint/2010/main" val="39967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17</a:t>
            </a:fld>
            <a:endParaRPr lang="zh-TW" altLang="en-US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602363"/>
              </p:ext>
            </p:extLst>
          </p:nvPr>
        </p:nvGraphicFramePr>
        <p:xfrm>
          <a:off x="466887" y="2810456"/>
          <a:ext cx="7335165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9274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51129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78173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46663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1897413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394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17767"/>
                  </a:ext>
                </a:extLst>
              </a:tr>
              <a:tr h="386504"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 to move all the slice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66887" y="1699117"/>
            <a:ext cx="580081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 work needed to move all the slice: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0695" y="4939180"/>
            <a:ext cx="2835934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But this is not the minimum works !</a:t>
            </a:r>
          </a:p>
        </p:txBody>
      </p:sp>
    </p:spTree>
    <p:extLst>
      <p:ext uri="{BB962C8B-B14F-4D97-AF65-F5344CB8AC3E}">
        <p14:creationId xmlns:p14="http://schemas.microsoft.com/office/powerpoint/2010/main" val="309246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effective movement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18</a:t>
            </a:fld>
            <a:endParaRPr lang="zh-TW" altLang="en-US" dirty="0"/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498057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952085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9282022" y="3670922"/>
            <a:ext cx="431321" cy="150099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82021" y="2729179"/>
            <a:ext cx="431321" cy="9417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140043" y="3260785"/>
            <a:ext cx="431321" cy="18938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278414" y="2307510"/>
            <a:ext cx="429768" cy="457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293364" y="320005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4531" y="2245009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9287" y="3015385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254" y="441969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#4</a:t>
            </a:r>
          </a:p>
        </p:txBody>
      </p:sp>
    </p:spTree>
    <p:extLst>
      <p:ext uri="{BB962C8B-B14F-4D97-AF65-F5344CB8AC3E}">
        <p14:creationId xmlns:p14="http://schemas.microsoft.com/office/powerpoint/2010/main" val="156716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More effective movement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19</a:t>
            </a:fld>
            <a:endParaRPr lang="zh-TW" altLang="en-US" dirty="0"/>
          </a:p>
        </p:txBody>
      </p:sp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498057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890487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10143427" y="3251809"/>
            <a:ext cx="431321" cy="9601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143427" y="4203362"/>
            <a:ext cx="431321" cy="9417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78527" y="2764094"/>
            <a:ext cx="431321" cy="24068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555647" y="3270318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5121" y="441969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254" y="441969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8526" y="2298009"/>
            <a:ext cx="431321" cy="46608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91697" y="239476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#2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162791" y="2723808"/>
            <a:ext cx="5912198" cy="1546135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162791" y="3863576"/>
            <a:ext cx="7054370" cy="556118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17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8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20</a:t>
            </a:fld>
            <a:endParaRPr lang="zh-TW" altLang="en-US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64683"/>
              </p:ext>
            </p:extLst>
          </p:nvPr>
        </p:nvGraphicFramePr>
        <p:xfrm>
          <a:off x="466887" y="2810456"/>
          <a:ext cx="7335165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9274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51129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78173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46663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1897413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394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17767"/>
                  </a:ext>
                </a:extLst>
              </a:tr>
              <a:tr h="386504"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 to move all the slice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66887" y="1699117"/>
            <a:ext cx="580081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 work needed to move all the slice:</a:t>
            </a:r>
          </a:p>
        </p:txBody>
      </p:sp>
    </p:spTree>
    <p:extLst>
      <p:ext uri="{BB962C8B-B14F-4D97-AF65-F5344CB8AC3E}">
        <p14:creationId xmlns:p14="http://schemas.microsoft.com/office/powerpoint/2010/main" val="1347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Formal Equation of EMD: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21</a:t>
            </a:fld>
            <a:endParaRPr lang="zh-TW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658202"/>
              </p:ext>
            </p:extLst>
          </p:nvPr>
        </p:nvGraphicFramePr>
        <p:xfrm>
          <a:off x="428624" y="1999573"/>
          <a:ext cx="8008010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4171">
                  <a:extLst>
                    <a:ext uri="{9D8B030D-6E8A-4147-A177-3AD203B41FA5}">
                      <a16:colId xmlns:a16="http://schemas.microsoft.com/office/drawing/2014/main" val="105348870"/>
                    </a:ext>
                  </a:extLst>
                </a:gridCol>
                <a:gridCol w="724171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26688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41675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70629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36540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1884136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394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17767"/>
                  </a:ext>
                </a:extLst>
              </a:tr>
              <a:tr h="386504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 to move all the slice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8624" y="4617897"/>
                <a:ext cx="4934492" cy="1498359"/>
              </a:xfrm>
              <a:prstGeom prst="rect">
                <a:avLst/>
              </a:prstGeom>
              <a:ln w="12700"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4617897"/>
                <a:ext cx="4934492" cy="14983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979453" y="4322818"/>
            <a:ext cx="574766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</a:t>
            </a:r>
          </a:p>
          <a:p>
            <a:r>
              <a:rPr lang="en-US" sz="2400" dirty="0"/>
              <a:t>m = Bar number</a:t>
            </a:r>
          </a:p>
          <a:p>
            <a:r>
              <a:rPr lang="en-US" sz="2400" dirty="0"/>
              <a:t>n  = slice number in each bar</a:t>
            </a:r>
          </a:p>
          <a:p>
            <a:r>
              <a:rPr lang="en-US" sz="2400" dirty="0" err="1"/>
              <a:t>f</a:t>
            </a:r>
            <a:r>
              <a:rPr lang="en-US" sz="2400" baseline="-25000" dirty="0" err="1"/>
              <a:t>i,j</a:t>
            </a:r>
            <a:r>
              <a:rPr lang="en-US" sz="2400" baseline="-25000" dirty="0"/>
              <a:t> </a:t>
            </a:r>
            <a:r>
              <a:rPr lang="en-US" sz="2400" dirty="0"/>
              <a:t>= probability that moved for slice #j, bar #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 err="1"/>
              <a:t>d</a:t>
            </a:r>
            <a:r>
              <a:rPr lang="en-US" sz="2400" baseline="-25000" dirty="0" err="1"/>
              <a:t>i,j</a:t>
            </a:r>
            <a:r>
              <a:rPr lang="en-US" sz="2400" baseline="-25000" dirty="0"/>
              <a:t> </a:t>
            </a:r>
            <a:r>
              <a:rPr lang="en-US" sz="2400" dirty="0"/>
              <a:t>= distance traveled for slice #j, bar #</a:t>
            </a:r>
            <a:r>
              <a:rPr lang="en-US" sz="2400" dirty="0" err="1"/>
              <a:t>i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82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Formal Equation of EMD: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22</a:t>
            </a:fld>
            <a:endParaRPr lang="zh-TW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658202"/>
              </p:ext>
            </p:extLst>
          </p:nvPr>
        </p:nvGraphicFramePr>
        <p:xfrm>
          <a:off x="428624" y="1999573"/>
          <a:ext cx="8008010" cy="2286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4171">
                  <a:extLst>
                    <a:ext uri="{9D8B030D-6E8A-4147-A177-3AD203B41FA5}">
                      <a16:colId xmlns:a16="http://schemas.microsoft.com/office/drawing/2014/main" val="105348870"/>
                    </a:ext>
                  </a:extLst>
                </a:gridCol>
                <a:gridCol w="724171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26688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341675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  <a:gridCol w="1070629">
                  <a:extLst>
                    <a:ext uri="{9D8B030D-6E8A-4147-A177-3AD203B41FA5}">
                      <a16:colId xmlns:a16="http://schemas.microsoft.com/office/drawing/2014/main" val="772009641"/>
                    </a:ext>
                  </a:extLst>
                </a:gridCol>
                <a:gridCol w="1436540">
                  <a:extLst>
                    <a:ext uri="{9D8B030D-6E8A-4147-A177-3AD203B41FA5}">
                      <a16:colId xmlns:a16="http://schemas.microsoft.com/office/drawing/2014/main" val="1886553827"/>
                    </a:ext>
                  </a:extLst>
                </a:gridCol>
                <a:gridCol w="1884136">
                  <a:extLst>
                    <a:ext uri="{9D8B030D-6E8A-4147-A177-3AD203B41FA5}">
                      <a16:colId xmlns:a16="http://schemas.microsoft.com/office/drawing/2014/main" val="894755877"/>
                    </a:ext>
                  </a:extLst>
                </a:gridCol>
              </a:tblGrid>
              <a:tr h="3418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339413"/>
                  </a:ext>
                </a:extLst>
              </a:tr>
              <a:tr h="309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17767"/>
                  </a:ext>
                </a:extLst>
              </a:tr>
              <a:tr h="386504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 works to move all the slice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213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8624" y="4617897"/>
                <a:ext cx="4990404" cy="1498359"/>
              </a:xfrm>
              <a:prstGeom prst="rect">
                <a:avLst/>
              </a:prstGeom>
              <a:ln w="12700"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4617897"/>
                <a:ext cx="4990404" cy="14983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FF6F517-1BE6-46D7-B838-AC00726FFD6D}"/>
              </a:ext>
            </a:extLst>
          </p:cNvPr>
          <p:cNvSpPr txBox="1"/>
          <p:nvPr/>
        </p:nvSpPr>
        <p:spPr>
          <a:xfrm>
            <a:off x="5725374" y="4617897"/>
            <a:ext cx="5402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EMD = f</a:t>
            </a:r>
            <a:r>
              <a:rPr lang="en-US" sz="2800" baseline="-25000" dirty="0"/>
              <a:t>11</a:t>
            </a:r>
            <a:r>
              <a:rPr lang="en-US" sz="2800" dirty="0"/>
              <a:t>d</a:t>
            </a:r>
            <a:r>
              <a:rPr lang="en-US" sz="2800" baseline="-25000" dirty="0"/>
              <a:t>11</a:t>
            </a:r>
            <a:r>
              <a:rPr lang="en-US" sz="2800" dirty="0"/>
              <a:t> + f</a:t>
            </a:r>
            <a:r>
              <a:rPr lang="en-US" sz="2800" baseline="-25000" dirty="0"/>
              <a:t>12</a:t>
            </a:r>
            <a:r>
              <a:rPr lang="en-US" sz="2800" dirty="0"/>
              <a:t>d</a:t>
            </a:r>
            <a:r>
              <a:rPr lang="en-US" sz="2800" baseline="-25000" dirty="0"/>
              <a:t>12</a:t>
            </a:r>
            <a:r>
              <a:rPr lang="en-US" sz="2800" dirty="0"/>
              <a:t> + f</a:t>
            </a:r>
            <a:r>
              <a:rPr lang="en-US" sz="2800" baseline="-25000" dirty="0"/>
              <a:t>21</a:t>
            </a:r>
            <a:r>
              <a:rPr lang="en-US" sz="2800" dirty="0"/>
              <a:t>d</a:t>
            </a:r>
            <a:r>
              <a:rPr lang="en-US" sz="2800" baseline="-25000" dirty="0"/>
              <a:t>21</a:t>
            </a:r>
            <a:r>
              <a:rPr lang="en-US" sz="2800" dirty="0"/>
              <a:t> + f</a:t>
            </a:r>
            <a:r>
              <a:rPr lang="en-US" sz="2800" baseline="-25000" dirty="0"/>
              <a:t>31</a:t>
            </a:r>
            <a:r>
              <a:rPr lang="en-US" sz="2800" dirty="0"/>
              <a:t>d</a:t>
            </a:r>
            <a:r>
              <a:rPr lang="en-US" sz="2800" baseline="-25000" dirty="0"/>
              <a:t>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83B3E6-F321-4520-BC0F-07CBE82D0643}"/>
                  </a:ext>
                </a:extLst>
              </p:cNvPr>
              <p:cNvSpPr txBox="1"/>
              <p:nvPr/>
            </p:nvSpPr>
            <p:spPr>
              <a:xfrm>
                <a:off x="6525879" y="5105466"/>
                <a:ext cx="55883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 0.2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20 + 0.1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10 + 0.5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0 + 0.2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/>
                  <a:t>0</a:t>
                </a:r>
                <a:endParaRPr lang="en-US" sz="2800" baseline="-25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83B3E6-F321-4520-BC0F-07CBE82D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79" y="5105466"/>
                <a:ext cx="5588389" cy="523220"/>
              </a:xfrm>
              <a:prstGeom prst="rect">
                <a:avLst/>
              </a:prstGeom>
              <a:blipFill>
                <a:blip r:embed="rId3"/>
                <a:stretch>
                  <a:fillRect l="-2293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CD1F679-E3B0-4743-AEDA-3FD3066D6E94}"/>
              </a:ext>
            </a:extLst>
          </p:cNvPr>
          <p:cNvSpPr txBox="1"/>
          <p:nvPr/>
        </p:nvSpPr>
        <p:spPr>
          <a:xfrm>
            <a:off x="6525878" y="5628686"/>
            <a:ext cx="4923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 4            + 1            + 0          + 0</a:t>
            </a:r>
            <a:endParaRPr 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68164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-51758"/>
            <a:ext cx="10058400" cy="1066171"/>
          </a:xfrm>
        </p:spPr>
        <p:txBody>
          <a:bodyPr>
            <a:normAutofit/>
          </a:bodyPr>
          <a:lstStyle/>
          <a:p>
            <a:r>
              <a:rPr lang="en-US" sz="6000" dirty="0"/>
              <a:t>Guided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6260192"/>
              </p:ext>
            </p:extLst>
          </p:nvPr>
        </p:nvGraphicFramePr>
        <p:xfrm>
          <a:off x="5214938" y="897760"/>
          <a:ext cx="3981451" cy="2601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07303"/>
              </p:ext>
            </p:extLst>
          </p:nvPr>
        </p:nvGraphicFramePr>
        <p:xfrm>
          <a:off x="723078" y="3741098"/>
          <a:ext cx="4321970" cy="2452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158409"/>
              </p:ext>
            </p:extLst>
          </p:nvPr>
        </p:nvGraphicFramePr>
        <p:xfrm>
          <a:off x="867514" y="884649"/>
          <a:ext cx="4033099" cy="2601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7825" y="4953807"/>
            <a:ext cx="5410135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Calculate EMD between X and Z,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Calculate EMD between Y and Z</a:t>
            </a:r>
          </a:p>
        </p:txBody>
      </p:sp>
    </p:spTree>
    <p:extLst>
      <p:ext uri="{BB962C8B-B14F-4D97-AF65-F5344CB8AC3E}">
        <p14:creationId xmlns:p14="http://schemas.microsoft.com/office/powerpoint/2010/main" val="344357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EMD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8624" y="5401312"/>
            <a:ext cx="1134427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Between P and Q, there is same number of bar, same probability for each bar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544125"/>
              </p:ext>
            </p:extLst>
          </p:nvPr>
        </p:nvGraphicFramePr>
        <p:xfrm>
          <a:off x="428624" y="1675112"/>
          <a:ext cx="5276140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0601845"/>
              </p:ext>
            </p:extLst>
          </p:nvPr>
        </p:nvGraphicFramePr>
        <p:xfrm>
          <a:off x="6006905" y="1675111"/>
          <a:ext cx="5765995" cy="3525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5765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Simpler EMD Equation for those case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51454" y="1746288"/>
                <a:ext cx="4934492" cy="1498359"/>
              </a:xfrm>
              <a:prstGeom prst="rect">
                <a:avLst/>
              </a:prstGeom>
              <a:ln w="12700"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54" y="1746288"/>
                <a:ext cx="4934492" cy="14983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025236" y="1624326"/>
            <a:ext cx="574766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</a:t>
            </a:r>
          </a:p>
          <a:p>
            <a:r>
              <a:rPr lang="en-US" sz="2400" dirty="0"/>
              <a:t>m = Bar number</a:t>
            </a:r>
          </a:p>
          <a:p>
            <a:r>
              <a:rPr lang="en-US" sz="2400" dirty="0"/>
              <a:t>n  = slice number in each bar</a:t>
            </a:r>
          </a:p>
          <a:p>
            <a:r>
              <a:rPr lang="en-US" sz="2400" dirty="0" err="1"/>
              <a:t>f</a:t>
            </a:r>
            <a:r>
              <a:rPr lang="en-US" sz="2400" baseline="-25000" dirty="0" err="1"/>
              <a:t>i,j</a:t>
            </a:r>
            <a:r>
              <a:rPr lang="en-US" sz="2400" baseline="-25000" dirty="0"/>
              <a:t> </a:t>
            </a:r>
            <a:r>
              <a:rPr lang="en-US" sz="2400" dirty="0"/>
              <a:t>= probability that moved for slice #j, bar #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 err="1"/>
              <a:t>d</a:t>
            </a:r>
            <a:r>
              <a:rPr lang="en-US" sz="2400" baseline="-25000" dirty="0" err="1"/>
              <a:t>i,j</a:t>
            </a:r>
            <a:r>
              <a:rPr lang="en-US" sz="2400" baseline="-25000" dirty="0"/>
              <a:t> </a:t>
            </a:r>
            <a:r>
              <a:rPr lang="en-US" sz="2400" dirty="0"/>
              <a:t>= distance traveled for slice #j, bar #</a:t>
            </a:r>
            <a:r>
              <a:rPr lang="en-US" sz="2400" dirty="0" err="1"/>
              <a:t>i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51454" y="3744705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Because the number of bar is the same, and all with the same probability distribution, so we don’t need to slice the bar (n = 1).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Then, we can simplify the equation into this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51454" y="5014533"/>
                <a:ext cx="3897605" cy="1434047"/>
              </a:xfrm>
              <a:prstGeom prst="rect">
                <a:avLst/>
              </a:prstGeom>
              <a:ln w="12700"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54" y="5014533"/>
                <a:ext cx="3897605" cy="1434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235238" y="5233284"/>
            <a:ext cx="46592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</a:t>
            </a:r>
          </a:p>
          <a:p>
            <a:r>
              <a:rPr lang="en-US" sz="2400" dirty="0"/>
              <a:t>m = Bar number</a:t>
            </a:r>
          </a:p>
          <a:p>
            <a:r>
              <a:rPr lang="en-US" sz="2400" dirty="0"/>
              <a:t>f</a:t>
            </a:r>
            <a:r>
              <a:rPr lang="en-US" sz="2400" baseline="-25000" dirty="0"/>
              <a:t>i </a:t>
            </a:r>
            <a:r>
              <a:rPr lang="en-US" sz="2400" dirty="0"/>
              <a:t>= probability that moved for bar #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/>
              <a:t>d</a:t>
            </a:r>
            <a:r>
              <a:rPr lang="en-US" sz="2400" baseline="-25000" dirty="0"/>
              <a:t>i </a:t>
            </a:r>
            <a:r>
              <a:rPr lang="en-US" sz="2400" dirty="0"/>
              <a:t>= distance traveled for bar #</a:t>
            </a:r>
            <a:r>
              <a:rPr lang="en-US" sz="2400" dirty="0" err="1"/>
              <a:t>i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641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Comparison between EMD, KLD-based distance and Euclidean distance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26</a:t>
            </a:fld>
            <a:endParaRPr lang="zh-TW" alt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784758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EMD consider the work needed to move each bar of histogram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More work needed, the larger the EMD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KLD-based distance and Euclidean distance don’t care about the work needed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The example for this comparison is in the guided notes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010151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54882" y="2811820"/>
            <a:ext cx="381251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 You 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04220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464646"/>
      </a:dk1>
      <a:lt1>
        <a:sysClr val="window" lastClr="FCFCFC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593500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464646"/>
      </a:dk1>
      <a:lt1>
        <a:sysClr val="window" lastClr="FCFCF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14184</TotalTime>
  <Words>1064</Words>
  <Application>Microsoft Office PowerPoint</Application>
  <PresentationFormat>Widescreen</PresentationFormat>
  <Paragraphs>390</Paragraphs>
  <Slides>27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  <vt:variant>
        <vt:lpstr>Custom Shows</vt:lpstr>
      </vt:variant>
      <vt:variant>
        <vt:i4>1</vt:i4>
      </vt:variant>
    </vt:vector>
  </HeadingPairs>
  <TitlesOfParts>
    <vt:vector size="35" baseType="lpstr">
      <vt:lpstr>微軟正黑體</vt:lpstr>
      <vt:lpstr>Arial</vt:lpstr>
      <vt:lpstr>Calibri</vt:lpstr>
      <vt:lpstr>Calibri Light</vt:lpstr>
      <vt:lpstr>Cambria Math</vt:lpstr>
      <vt:lpstr>Wingdings</vt:lpstr>
      <vt:lpstr>Retrospect</vt:lpstr>
      <vt:lpstr>Earth Mover’s Distance</vt:lpstr>
      <vt:lpstr>Earth Mover’s Distance (EMD)</vt:lpstr>
      <vt:lpstr>Apply EMD to Histogram</vt:lpstr>
      <vt:lpstr>Apply EMD to Histogram</vt:lpstr>
      <vt:lpstr>Apply EMD to Histogram</vt:lpstr>
      <vt:lpstr>Apply EMD to Histogram</vt:lpstr>
      <vt:lpstr>Apply EMD to Histogram</vt:lpstr>
      <vt:lpstr>Apply EMD to Histogram</vt:lpstr>
      <vt:lpstr>Apply EMD to Histogram</vt:lpstr>
      <vt:lpstr>Apply EMD to Histogram</vt:lpstr>
      <vt:lpstr>More complex example</vt:lpstr>
      <vt:lpstr>More complex example</vt:lpstr>
      <vt:lpstr>Apply EMD to Histogram</vt:lpstr>
      <vt:lpstr>More complex example</vt:lpstr>
      <vt:lpstr>More complex example</vt:lpstr>
      <vt:lpstr>More complex example</vt:lpstr>
      <vt:lpstr>Apply EMD to Histogram</vt:lpstr>
      <vt:lpstr>More effective movement</vt:lpstr>
      <vt:lpstr>More effective movement</vt:lpstr>
      <vt:lpstr>Apply EMD to Histogram</vt:lpstr>
      <vt:lpstr>Formal Equation of EMD:</vt:lpstr>
      <vt:lpstr>Formal Equation of EMD:</vt:lpstr>
      <vt:lpstr>Guided Notes</vt:lpstr>
      <vt:lpstr>Apply EMD to Histogram</vt:lpstr>
      <vt:lpstr>Simpler EMD Equation for those case</vt:lpstr>
      <vt:lpstr>Comparison between EMD, KLD-based distance and Euclidean distance </vt:lpstr>
      <vt:lpstr>PowerPoint Presentation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</dc:title>
  <dc:creator>sufia</dc:creator>
  <cp:lastModifiedBy>Afif Izzul Falakh</cp:lastModifiedBy>
  <cp:revision>410</cp:revision>
  <dcterms:created xsi:type="dcterms:W3CDTF">2016-04-08T12:01:43Z</dcterms:created>
  <dcterms:modified xsi:type="dcterms:W3CDTF">2022-03-25T08:35:54Z</dcterms:modified>
</cp:coreProperties>
</file>