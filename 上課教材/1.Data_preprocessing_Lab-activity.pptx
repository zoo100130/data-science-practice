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RtcCimEJxHh5WlB8PhlCFiL6+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1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1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402590" y="1126943"/>
            <a:ext cx="8301990" cy="1379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/>
          <p:nvPr/>
        </p:nvSpPr>
        <p:spPr>
          <a:xfrm>
            <a:off x="685800" y="1057274"/>
            <a:ext cx="7334250" cy="0"/>
          </a:xfrm>
          <a:custGeom>
            <a:rect b="b" l="l" r="r" t="t"/>
            <a:pathLst>
              <a:path extrusionOk="0" h="120000" w="7334250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/>
          <a:ln cap="flat" cmpd="sng" w="38100">
            <a:solidFill>
              <a:srgbClr val="99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776" y="59817"/>
            <a:ext cx="1177429" cy="1005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456" y="1581150"/>
            <a:ext cx="4105627" cy="4540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0"/>
            <a:ext cx="1528699" cy="123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8325" y="0"/>
            <a:ext cx="909637" cy="123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9775" y="0"/>
            <a:ext cx="5443601" cy="123342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3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/>
          <p:nvPr/>
        </p:nvSpPr>
        <p:spPr>
          <a:xfrm>
            <a:off x="685800" y="1057274"/>
            <a:ext cx="7334250" cy="0"/>
          </a:xfrm>
          <a:custGeom>
            <a:rect b="b" l="l" r="r" t="t"/>
            <a:pathLst>
              <a:path extrusionOk="0" h="120000" w="7334250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/>
          <a:ln cap="flat" cmpd="sng" w="38100">
            <a:solidFill>
              <a:srgbClr val="99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45776" y="59817"/>
            <a:ext cx="1177429" cy="100583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1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" type="body"/>
          </p:nvPr>
        </p:nvSpPr>
        <p:spPr>
          <a:xfrm>
            <a:off x="402590" y="1126943"/>
            <a:ext cx="8301990" cy="1379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5776" y="59817"/>
            <a:ext cx="1177429" cy="10058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type="title"/>
          </p:nvPr>
        </p:nvSpPr>
        <p:spPr>
          <a:xfrm>
            <a:off x="692986" y="1246067"/>
            <a:ext cx="7772400" cy="2363447"/>
          </a:xfrm>
          <a:prstGeom prst="rect">
            <a:avLst/>
          </a:prstGeom>
          <a:noFill/>
          <a:ln cap="flat" cmpd="sng" w="5715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4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950">
                <a:latin typeface="Calibri"/>
                <a:ea typeface="Calibri"/>
                <a:cs typeface="Calibri"/>
                <a:sym typeface="Calibri"/>
              </a:rPr>
              <a:t>Lab 1 : Data Preprocessing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950"/>
              <a:t>Impute Missing Value</a:t>
            </a:r>
            <a:br>
              <a:rPr b="1" lang="en-US" sz="3950"/>
            </a:br>
            <a:endParaRPr b="1" sz="3950"/>
          </a:p>
        </p:txBody>
      </p:sp>
      <p:grpSp>
        <p:nvGrpSpPr>
          <p:cNvPr id="53" name="Google Shape;53;p1"/>
          <p:cNvGrpSpPr/>
          <p:nvPr/>
        </p:nvGrpSpPr>
        <p:grpSpPr>
          <a:xfrm>
            <a:off x="2028825" y="3838511"/>
            <a:ext cx="5110226" cy="1500314"/>
            <a:chOff x="2028825" y="3838511"/>
            <a:chExt cx="5110226" cy="1500314"/>
          </a:xfrm>
        </p:grpSpPr>
        <p:pic>
          <p:nvPicPr>
            <p:cNvPr id="54" name="Google Shape;5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28356" y="4075408"/>
              <a:ext cx="1606241" cy="322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2950" y="3838511"/>
              <a:ext cx="681037" cy="9191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76775" y="3838511"/>
              <a:ext cx="1547749" cy="9191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8825" y="4419663"/>
              <a:ext cx="5110226" cy="9191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37941" y="5828072"/>
            <a:ext cx="1482490" cy="32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1068513" y="3854138"/>
            <a:ext cx="6955604" cy="236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5080" rtl="0" algn="ctr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Chia-Yu Lin</a:t>
            </a:r>
            <a:endParaRPr/>
          </a:p>
          <a:p>
            <a:pPr indent="0" lvl="0" marL="0" marR="5080" rtl="0" algn="ctr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Central University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8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 Spring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Lab1 Activity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02590" y="1126943"/>
            <a:ext cx="8301990" cy="524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</a:rPr>
              <a:t>Objectives:</a:t>
            </a:r>
            <a:endParaRPr/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Learn how to handle and impute missing values in a dataset using Python (NumPy &amp; Pandas).</a:t>
            </a:r>
            <a:endParaRPr/>
          </a:p>
          <a:p>
            <a:pPr indent="-342900" lvl="0" marL="3556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</a:rPr>
              <a:t>Why This Matters:</a:t>
            </a:r>
            <a:endParaRPr/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Real‑world datasets almost always contain missing values. Before any modeling or analysis, you must clean and preprocess the data to avoid biased or incorrect results.</a:t>
            </a:r>
            <a:endParaRPr/>
          </a:p>
          <a:p>
            <a:pPr indent="-342900" lvl="0" marL="3556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/>
              <a:t>What You Will Practice Today:</a:t>
            </a:r>
            <a:endParaRPr/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Identifying missing values (NaN) in a DataFrame</a:t>
            </a:r>
            <a:endParaRPr sz="2000">
              <a:solidFill>
                <a:srgbClr val="000000"/>
              </a:solidFill>
            </a:endParaRPr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Removing rows that contain missing values</a:t>
            </a:r>
            <a:endParaRPr/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Filling missing values with a constant (e.g., 0)</a:t>
            </a:r>
            <a:endParaRPr/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Filling missing values with statistical measures (e.g., mean)</a:t>
            </a:r>
            <a:endParaRPr/>
          </a:p>
          <a:p>
            <a:pPr indent="-342900" lvl="1" marL="81280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Understanding how different imputation strategies affect the dataset </a:t>
            </a:r>
            <a:endParaRPr/>
          </a:p>
        </p:txBody>
      </p:sp>
      <p:sp>
        <p:nvSpPr>
          <p:cNvPr id="67" name="Google Shape;67;p2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Lab 1 Submission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402590" y="1126943"/>
            <a:ext cx="8301900" cy="20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3535" lvl="0" marL="355600" marR="34671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Follow the description of Q1-3 to finish in </a:t>
            </a:r>
            <a:r>
              <a:rPr lang="en-US" sz="2400">
                <a:solidFill>
                  <a:srgbClr val="548ED4"/>
                </a:solidFill>
              </a:rPr>
              <a:t>“LAB1-Data Preprocessing.ipynb”</a:t>
            </a:r>
            <a:endParaRPr/>
          </a:p>
          <a:p>
            <a:pPr indent="-343535" lvl="0" marL="355600" marR="34671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Upload </a:t>
            </a:r>
            <a:r>
              <a:rPr lang="en-US" sz="2400">
                <a:solidFill>
                  <a:srgbClr val="548ED4"/>
                </a:solidFill>
              </a:rPr>
              <a:t>“LAB1-Data Preprocessing.ipynb” </a:t>
            </a:r>
            <a:r>
              <a:rPr lang="en-US" sz="2400">
                <a:solidFill>
                  <a:srgbClr val="000000"/>
                </a:solidFill>
              </a:rPr>
              <a:t>to eeclass.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Deadline: 23:30 on Mar 1</a:t>
            </a:r>
            <a:r>
              <a:rPr lang="en-US" sz="2400">
                <a:solidFill>
                  <a:srgbClr val="FF0000"/>
                </a:solidFill>
              </a:rPr>
              <a:t>6</a:t>
            </a:r>
            <a:r>
              <a:rPr lang="en-US" sz="2400">
                <a:solidFill>
                  <a:srgbClr val="FF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Dataset for the Lab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03225" y="1127125"/>
            <a:ext cx="8301038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We will generate a synthetic dataset with random numbers and intentionally insert NaN values.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Use this dataset to apply different imputation techniques.</a:t>
            </a:r>
            <a:endParaRPr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206285" y="2671541"/>
            <a:ext cx="4753089" cy="3482343"/>
          </a:xfrm>
          <a:prstGeom prst="rect">
            <a:avLst/>
          </a:prstGeom>
          <a:solidFill>
            <a:srgbClr val="4F81BC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0" lvl="0" marL="850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090" marR="1385570" rtl="0" algn="l">
              <a:lnSpc>
                <a:spcPct val="125806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numpy import nan as NA import pandas as pd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09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numpy.random as random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090" marR="0" rtl="0" algn="l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random.seed(0)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09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df2 = pd.DataFrame(np.random.rand(15, 6))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090" marR="2476500" rtl="0" algn="l">
              <a:lnSpc>
                <a:spcPct val="102299"/>
              </a:lnSpc>
              <a:spcBef>
                <a:spcPts val="200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df2.iloc[2,0] = NA df2.iloc[5:8,2] = NA </a:t>
            </a:r>
            <a:endParaRPr/>
          </a:p>
          <a:p>
            <a:pPr indent="0" lvl="0" marL="85090" marR="2476500" rtl="0" algn="l">
              <a:lnSpc>
                <a:spcPct val="102299"/>
              </a:lnSpc>
              <a:spcBef>
                <a:spcPts val="200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df2.iloc[7:9,3] = NA df2.iloc[10,5] = NA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5090" marR="0" rtl="0" algn="l">
              <a:lnSpc>
                <a:spcPct val="100000"/>
              </a:lnSpc>
              <a:spcBef>
                <a:spcPts val="204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df2</a:t>
            </a:r>
            <a:endParaRPr b="1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7725" y="2533571"/>
            <a:ext cx="3916538" cy="389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657545" y="126999"/>
            <a:ext cx="7140539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 1 Delete the row with NaN.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03225" y="1127125"/>
            <a:ext cx="83010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 Delete rows that contain any NaN values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1635057" y="2378165"/>
            <a:ext cx="5607466" cy="3457473"/>
            <a:chOff x="1635057" y="2378165"/>
            <a:chExt cx="5607466" cy="3457473"/>
          </a:xfrm>
        </p:grpSpPr>
        <p:pic>
          <p:nvPicPr>
            <p:cNvPr id="91" name="Google Shape;9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35057" y="2378165"/>
              <a:ext cx="5607466" cy="3457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6"/>
            <p:cNvSpPr/>
            <p:nvPr/>
          </p:nvSpPr>
          <p:spPr>
            <a:xfrm>
              <a:off x="1700276" y="2709862"/>
              <a:ext cx="285750" cy="3095625"/>
            </a:xfrm>
            <a:custGeom>
              <a:rect b="b" l="l" r="r" t="t"/>
              <a:pathLst>
                <a:path extrusionOk="0" h="3095625" w="285750">
                  <a:moveTo>
                    <a:pt x="0" y="3095625"/>
                  </a:moveTo>
                  <a:lnTo>
                    <a:pt x="285750" y="309562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3095625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6"/>
          <p:cNvSpPr txBox="1"/>
          <p:nvPr/>
        </p:nvSpPr>
        <p:spPr>
          <a:xfrm>
            <a:off x="1085132" y="2040237"/>
            <a:ext cx="7906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2518789" y="6325007"/>
            <a:ext cx="5771544" cy="5232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Hint: You may find helpful examples of missing‑value imputation in: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1.Data Preprocessing_python-code.pptx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</a:t>
            </a:r>
            <a:r>
              <a:rPr lang="en-US">
                <a:solidFill>
                  <a:schemeClr val="dk1"/>
                </a:solidFill>
              </a:rPr>
              <a:t>64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>
                <a:solidFill>
                  <a:schemeClr val="dk1"/>
                </a:solidFill>
              </a:rPr>
              <a:t>72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7"/>
          <p:cNvGrpSpPr/>
          <p:nvPr/>
        </p:nvGrpSpPr>
        <p:grpSpPr>
          <a:xfrm>
            <a:off x="2168151" y="1861209"/>
            <a:ext cx="4675624" cy="4517571"/>
            <a:chOff x="2168151" y="1861209"/>
            <a:chExt cx="4675624" cy="4517571"/>
          </a:xfrm>
        </p:grpSpPr>
        <p:pic>
          <p:nvPicPr>
            <p:cNvPr id="100" name="Google Shape;10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8151" y="1861209"/>
              <a:ext cx="4540250" cy="4517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7"/>
            <p:cNvSpPr/>
            <p:nvPr/>
          </p:nvSpPr>
          <p:spPr>
            <a:xfrm>
              <a:off x="2271775" y="2643250"/>
              <a:ext cx="4572000" cy="2609850"/>
            </a:xfrm>
            <a:custGeom>
              <a:rect b="b" l="l" r="r" t="t"/>
              <a:pathLst>
                <a:path extrusionOk="0" h="2609850" w="4572000">
                  <a:moveTo>
                    <a:pt x="0" y="219075"/>
                  </a:moveTo>
                  <a:lnTo>
                    <a:pt x="962025" y="219075"/>
                  </a:lnTo>
                  <a:lnTo>
                    <a:pt x="962025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  <a:path extrusionOk="0" h="2609850" w="4572000">
                  <a:moveTo>
                    <a:pt x="1657350" y="1724025"/>
                  </a:moveTo>
                  <a:lnTo>
                    <a:pt x="2305050" y="1724025"/>
                  </a:lnTo>
                  <a:lnTo>
                    <a:pt x="2305050" y="866775"/>
                  </a:lnTo>
                  <a:lnTo>
                    <a:pt x="1657350" y="866775"/>
                  </a:lnTo>
                  <a:lnTo>
                    <a:pt x="1657350" y="1724025"/>
                  </a:lnTo>
                  <a:close/>
                </a:path>
                <a:path extrusionOk="0" h="2609850" w="4572000">
                  <a:moveTo>
                    <a:pt x="2343150" y="2019300"/>
                  </a:moveTo>
                  <a:lnTo>
                    <a:pt x="2990850" y="2019300"/>
                  </a:lnTo>
                  <a:lnTo>
                    <a:pt x="2990850" y="1409700"/>
                  </a:lnTo>
                  <a:lnTo>
                    <a:pt x="2343150" y="1409700"/>
                  </a:lnTo>
                  <a:lnTo>
                    <a:pt x="2343150" y="2019300"/>
                  </a:lnTo>
                  <a:close/>
                </a:path>
                <a:path extrusionOk="0" h="2609850" w="4572000">
                  <a:moveTo>
                    <a:pt x="3743325" y="2609850"/>
                  </a:moveTo>
                  <a:lnTo>
                    <a:pt x="4572000" y="2609850"/>
                  </a:lnTo>
                  <a:lnTo>
                    <a:pt x="4572000" y="2238375"/>
                  </a:lnTo>
                  <a:lnTo>
                    <a:pt x="3743325" y="2238375"/>
                  </a:lnTo>
                  <a:lnTo>
                    <a:pt x="3743325" y="2609850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7"/>
          <p:cNvSpPr txBox="1"/>
          <p:nvPr>
            <p:ph type="title"/>
          </p:nvPr>
        </p:nvSpPr>
        <p:spPr>
          <a:xfrm>
            <a:off x="1390014" y="126999"/>
            <a:ext cx="557657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 2 Fill 0 for NaN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02590" y="1126943"/>
            <a:ext cx="8301990" cy="1379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2. Fill NaN values with 0</a:t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1085132" y="2040237"/>
            <a:ext cx="7906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2518789" y="6325007"/>
            <a:ext cx="5771544" cy="5232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Hint: You may find helpful examples of missing‑value imputation in: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1.Data Preprocessing_python-code.pptx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</a:t>
            </a:r>
            <a:r>
              <a:rPr lang="en-US">
                <a:solidFill>
                  <a:schemeClr val="dk1"/>
                </a:solidFill>
              </a:rPr>
              <a:t>64–72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390650" y="127000"/>
            <a:ext cx="632524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 3 Fill mean value for NaN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02590" y="1126943"/>
            <a:ext cx="83019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Fill NaN values with the mean of each column</a:t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34705" y="6472554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4" name="Google Shape;114;p18"/>
          <p:cNvGrpSpPr/>
          <p:nvPr/>
        </p:nvGrpSpPr>
        <p:grpSpPr>
          <a:xfrm>
            <a:off x="2005076" y="1931843"/>
            <a:ext cx="4552950" cy="4381500"/>
            <a:chOff x="2005076" y="1931843"/>
            <a:chExt cx="4552950" cy="4381500"/>
          </a:xfrm>
        </p:grpSpPr>
        <p:pic>
          <p:nvPicPr>
            <p:cNvPr id="115" name="Google Shape;11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0173" y="1931843"/>
              <a:ext cx="4403087" cy="43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8"/>
            <p:cNvSpPr/>
            <p:nvPr/>
          </p:nvSpPr>
          <p:spPr>
            <a:xfrm>
              <a:off x="2005076" y="2709925"/>
              <a:ext cx="4552950" cy="2533650"/>
            </a:xfrm>
            <a:custGeom>
              <a:rect b="b" l="l" r="r" t="t"/>
              <a:pathLst>
                <a:path extrusionOk="0" h="2533650" w="4552950">
                  <a:moveTo>
                    <a:pt x="0" y="219075"/>
                  </a:moveTo>
                  <a:lnTo>
                    <a:pt x="962025" y="219075"/>
                  </a:lnTo>
                  <a:lnTo>
                    <a:pt x="962025" y="0"/>
                  </a:lnTo>
                  <a:lnTo>
                    <a:pt x="0" y="0"/>
                  </a:lnTo>
                  <a:lnTo>
                    <a:pt x="0" y="219075"/>
                  </a:lnTo>
                  <a:close/>
                </a:path>
                <a:path extrusionOk="0" h="2533650" w="4552950">
                  <a:moveTo>
                    <a:pt x="1704975" y="1733550"/>
                  </a:moveTo>
                  <a:lnTo>
                    <a:pt x="2352675" y="1733550"/>
                  </a:lnTo>
                  <a:lnTo>
                    <a:pt x="2352675" y="866775"/>
                  </a:lnTo>
                  <a:lnTo>
                    <a:pt x="1704975" y="866775"/>
                  </a:lnTo>
                  <a:lnTo>
                    <a:pt x="1704975" y="1733550"/>
                  </a:lnTo>
                  <a:close/>
                </a:path>
                <a:path extrusionOk="0" h="2533650" w="4552950">
                  <a:moveTo>
                    <a:pt x="2428875" y="1981200"/>
                  </a:moveTo>
                  <a:lnTo>
                    <a:pt x="3076575" y="1981200"/>
                  </a:lnTo>
                  <a:lnTo>
                    <a:pt x="3076575" y="1371600"/>
                  </a:lnTo>
                  <a:lnTo>
                    <a:pt x="2428875" y="1371600"/>
                  </a:lnTo>
                  <a:lnTo>
                    <a:pt x="2428875" y="1981200"/>
                  </a:lnTo>
                  <a:close/>
                </a:path>
                <a:path extrusionOk="0" h="2533650" w="4552950">
                  <a:moveTo>
                    <a:pt x="3724275" y="2533650"/>
                  </a:moveTo>
                  <a:lnTo>
                    <a:pt x="4552950" y="2533650"/>
                  </a:lnTo>
                  <a:lnTo>
                    <a:pt x="4552950" y="2162175"/>
                  </a:lnTo>
                  <a:lnTo>
                    <a:pt x="3724275" y="2162175"/>
                  </a:lnTo>
                  <a:lnTo>
                    <a:pt x="3724275" y="2533650"/>
                  </a:lnTo>
                  <a:close/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8"/>
          <p:cNvSpPr txBox="1"/>
          <p:nvPr/>
        </p:nvSpPr>
        <p:spPr>
          <a:xfrm>
            <a:off x="1085132" y="2040237"/>
            <a:ext cx="7906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2518789" y="6325007"/>
            <a:ext cx="5771544" cy="5232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Hint: You may find helpful examples of missing‑value imputation in: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1.Data Preprocessing_python-code.pptx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</a:t>
            </a:r>
            <a:r>
              <a:rPr lang="en-US">
                <a:solidFill>
                  <a:schemeClr val="dk1"/>
                </a:solidFill>
              </a:rPr>
              <a:t>64–72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2026-01-27T06:22:33Z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2025-09-01T00:00:00Z</vt:filetime>
  </property>
  <property fmtid="{D5CDD505-2E9C-101B-9397-08002B2CF9AE}" pid="3" name="LastSaved">
    <vt:filetime>2026-01-27T00:00:00Z</vt:filetime>
  </property>
</Properties>
</file>