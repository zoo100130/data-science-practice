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6"/>
  </p:notesMasterIdLst>
  <p:sldIdLst>
    <p:sldId id="655" r:id="rId2"/>
    <p:sldId id="702" r:id="rId3"/>
    <p:sldId id="684" r:id="rId4"/>
    <p:sldId id="669" r:id="rId5"/>
    <p:sldId id="685" r:id="rId6"/>
    <p:sldId id="686" r:id="rId7"/>
    <p:sldId id="670" r:id="rId8"/>
    <p:sldId id="688" r:id="rId9"/>
    <p:sldId id="256" r:id="rId10"/>
    <p:sldId id="607" r:id="rId11"/>
    <p:sldId id="681" r:id="rId12"/>
    <p:sldId id="682" r:id="rId13"/>
    <p:sldId id="689" r:id="rId14"/>
    <p:sldId id="690" r:id="rId15"/>
    <p:sldId id="672" r:id="rId16"/>
    <p:sldId id="691" r:id="rId17"/>
    <p:sldId id="674" r:id="rId18"/>
    <p:sldId id="642" r:id="rId19"/>
    <p:sldId id="645" r:id="rId20"/>
    <p:sldId id="692" r:id="rId21"/>
    <p:sldId id="694" r:id="rId22"/>
    <p:sldId id="675" r:id="rId23"/>
    <p:sldId id="695" r:id="rId24"/>
    <p:sldId id="646" r:id="rId25"/>
    <p:sldId id="650" r:id="rId26"/>
    <p:sldId id="647" r:id="rId27"/>
    <p:sldId id="648" r:id="rId28"/>
    <p:sldId id="677" r:id="rId29"/>
    <p:sldId id="696" r:id="rId30"/>
    <p:sldId id="701" r:id="rId31"/>
    <p:sldId id="697" r:id="rId32"/>
    <p:sldId id="698" r:id="rId33"/>
    <p:sldId id="699" r:id="rId34"/>
    <p:sldId id="700" r:id="rId35"/>
  </p:sldIdLst>
  <p:sldSz cx="12192000" cy="6858000"/>
  <p:notesSz cx="6858000" cy="9144000"/>
  <p:custShowLst>
    <p:custShow name="Custom Show 1" id="0">
      <p:sldLst>
        <p:sld r:id="rId10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FB47730-A398-4FC4-B34F-C780EC8F40D9}">
          <p14:sldIdLst>
            <p14:sldId id="655"/>
            <p14:sldId id="702"/>
            <p14:sldId id="684"/>
            <p14:sldId id="669"/>
            <p14:sldId id="685"/>
            <p14:sldId id="686"/>
            <p14:sldId id="670"/>
            <p14:sldId id="688"/>
            <p14:sldId id="256"/>
            <p14:sldId id="607"/>
            <p14:sldId id="681"/>
            <p14:sldId id="682"/>
            <p14:sldId id="689"/>
            <p14:sldId id="690"/>
            <p14:sldId id="672"/>
            <p14:sldId id="691"/>
            <p14:sldId id="674"/>
            <p14:sldId id="642"/>
            <p14:sldId id="645"/>
            <p14:sldId id="692"/>
            <p14:sldId id="694"/>
            <p14:sldId id="675"/>
            <p14:sldId id="695"/>
            <p14:sldId id="646"/>
            <p14:sldId id="650"/>
            <p14:sldId id="647"/>
            <p14:sldId id="648"/>
            <p14:sldId id="677"/>
            <p14:sldId id="696"/>
            <p14:sldId id="701"/>
            <p14:sldId id="697"/>
            <p14:sldId id="698"/>
            <p14:sldId id="699"/>
            <p14:sldId id="7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1" clrIdx="0">
    <p:extLst>
      <p:ext uri="{19B8F6BF-5375-455C-9EA6-DF929625EA0E}">
        <p15:presenceInfo xmlns:p15="http://schemas.microsoft.com/office/powerpoint/2012/main" userId="Windows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0F6"/>
    <a:srgbClr val="FF9966"/>
    <a:srgbClr val="66FF33"/>
    <a:srgbClr val="E70F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57" autoAdjust="0"/>
    <p:restoredTop sz="93455" autoAdjust="0"/>
  </p:normalViewPr>
  <p:slideViewPr>
    <p:cSldViewPr snapToGrid="0">
      <p:cViewPr varScale="1">
        <p:scale>
          <a:sx n="104" d="100"/>
          <a:sy n="104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DCA8A-45F6-4C39-84CC-636E675FA1CA}" type="datetimeFigureOut">
              <a:rPr lang="en-US" smtClean="0"/>
              <a:t>4/16/2022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0F661-FDA6-4479-AFA7-E202DECA8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9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0F661-FDA6-4479-AFA7-E202DECA8A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24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78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0F661-FDA6-4479-AFA7-E202DECA8A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35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0F661-FDA6-4479-AFA7-E202DECA8A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73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0F661-FDA6-4479-AFA7-E202DECA8A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23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cost ratio of 3 indicates that type-1 error is considered to be 3 times more costly </a:t>
            </a:r>
          </a:p>
          <a:p>
            <a:r>
              <a:rPr lang="en-US" dirty="0" smtClean="0"/>
              <a:t>than type-2 error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0F661-FDA6-4479-AFA7-E202DECA8A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84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0F661-FDA6-4479-AFA7-E202DECA8A4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14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0F661-FDA6-4479-AFA7-E202DECA8A4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41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0F661-FDA6-4479-AFA7-E202DECA8A4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20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40F661-FDA6-4479-AFA7-E202DECA8A4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95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C1675-5CDF-47EA-AB55-A274A919F361}" type="datetime1">
              <a:rPr lang="en-US" smtClean="0"/>
              <a:t>4/16/2022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25623" y="6446837"/>
            <a:ext cx="1312025" cy="365125"/>
          </a:xfrm>
        </p:spPr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9184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9631"/>
            <a:ext cx="10058400" cy="1450757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C3C4-49BC-4070-A763-08908D16C248}" type="datetime1">
              <a:rPr lang="en-US" smtClean="0"/>
              <a:t>4/16/2022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44511" y="6448580"/>
            <a:ext cx="1312025" cy="365125"/>
          </a:xfrm>
        </p:spPr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279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803C-DD7E-4420-BA86-679494FB6F15}" type="datetime1">
              <a:rPr lang="en-US" smtClean="0"/>
              <a:t>4/16/2022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336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9316C-76D8-4540-A247-6BFC496895CE}" type="datetime1">
              <a:rPr lang="en-US" smtClean="0"/>
              <a:t>4/16/2022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44511" y="6421685"/>
            <a:ext cx="1312025" cy="365125"/>
          </a:xfrm>
        </p:spPr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130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2400-2398-4EBA-ABFD-931AD0012630}" type="datetime1">
              <a:rPr lang="en-US" smtClean="0"/>
              <a:t>4/16/2022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010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0DB5-DED5-4CE7-85FC-BB0C3F1155DE}" type="datetime1">
              <a:rPr lang="en-US" smtClean="0"/>
              <a:t>4/16/2022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301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4FE9-CA57-4F96-8951-2AD48EF6A90D}" type="datetime1">
              <a:rPr lang="en-US" smtClean="0"/>
              <a:t>4/16/2022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273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ABB782A-74B3-4609-9BD0-907DD79A2C0E}" type="datetime1">
              <a:rPr lang="en-US" smtClean="0"/>
              <a:t>4/16/2022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706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9A9D5-FAC2-419C-BC78-5BF5F9225DEC}" type="datetime1">
              <a:rPr lang="en-US" smtClean="0"/>
              <a:t>4/16/2022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357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D37FB-10A7-48BE-AFD4-0ED8F5936ED0}" type="datetime1">
              <a:rPr lang="en-US" smtClean="0"/>
              <a:t>4/16/2022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64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F5F53-579B-4846-AFFD-1BEE6650224D}" type="datetime1">
              <a:rPr lang="en-US" smtClean="0"/>
              <a:t>4/16/2022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61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2F9517B-FE7E-425B-AD67-D05C5FB27275}" type="datetime1">
              <a:rPr lang="en-US" smtClean="0"/>
              <a:t>4/16/2022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444511" y="64216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0">
                <a:solidFill>
                  <a:srgbClr val="FFFFFF"/>
                </a:solidFill>
              </a:defRPr>
            </a:lvl1pPr>
          </a:lstStyle>
          <a:p>
            <a:fld id="{1D790B7D-7CE2-423E-A609-5BC514094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48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Experiment Design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097280" y="4325112"/>
            <a:ext cx="10058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483362"/>
          </a:xfrm>
        </p:spPr>
        <p:txBody>
          <a:bodyPr>
            <a:normAutofit/>
          </a:bodyPr>
          <a:lstStyle/>
          <a:p>
            <a:r>
              <a:rPr lang="en-US" dirty="0" smtClean="0"/>
              <a:t>Data science practice</a:t>
            </a:r>
          </a:p>
          <a:p>
            <a:r>
              <a:rPr lang="en-US" smtClean="0"/>
              <a:t>April </a:t>
            </a:r>
            <a:r>
              <a:rPr lang="en-US" smtClean="0"/>
              <a:t>25</a:t>
            </a:r>
            <a:r>
              <a:rPr lang="en-US" smtClean="0"/>
              <a:t>,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66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topic: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264355" y="1683435"/>
            <a:ext cx="88053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63550">
              <a:buFont typeface="Wingdings" panose="05000000000000000000" pitchFamily="2" charset="2"/>
              <a:buChar char="§"/>
            </a:pPr>
            <a:r>
              <a:rPr lang="en-US" sz="3600" dirty="0" smtClean="0"/>
              <a:t>Random Sampling</a:t>
            </a:r>
          </a:p>
          <a:p>
            <a:pPr marL="463550" indent="-463550">
              <a:buFont typeface="Wingdings" panose="05000000000000000000" pitchFamily="2" charset="2"/>
              <a:buChar char="§"/>
            </a:pPr>
            <a:r>
              <a:rPr lang="en-US" sz="3600" dirty="0" smtClean="0"/>
              <a:t>Stratified Random Sampling</a:t>
            </a:r>
          </a:p>
          <a:p>
            <a:pPr marL="463550" indent="-463550">
              <a:buFont typeface="Wingdings" panose="05000000000000000000" pitchFamily="2" charset="2"/>
              <a:buChar char="§"/>
            </a:pPr>
            <a:r>
              <a:rPr lang="en-US" sz="3600" dirty="0" smtClean="0"/>
              <a:t>Cross Validation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1332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184647" y="188640"/>
            <a:ext cx="384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Data Science Flow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85323" y="715375"/>
            <a:ext cx="3848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Let`s start!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Lato Black" panose="020F0A02020204030203" pitchFamily="34" charset="0"/>
              <a:cs typeface="Lato Black" panose="020F0A02020204030203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765777" y="1053929"/>
            <a:ext cx="646331" cy="45719"/>
          </a:xfrm>
          <a:prstGeom prst="rect">
            <a:avLst/>
          </a:prstGeom>
          <a:solidFill>
            <a:srgbClr val="008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>
            <a:stCxn id="22" idx="2"/>
          </p:cNvCxnSpPr>
          <p:nvPr/>
        </p:nvCxnSpPr>
        <p:spPr>
          <a:xfrm flipH="1">
            <a:off x="6088941" y="1099647"/>
            <a:ext cx="2" cy="420624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351030" y="1447462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ardrop 8"/>
          <p:cNvSpPr/>
          <p:nvPr/>
        </p:nvSpPr>
        <p:spPr>
          <a:xfrm rot="2700000">
            <a:off x="4698167" y="1215103"/>
            <a:ext cx="457200" cy="457200"/>
          </a:xfrm>
          <a:prstGeom prst="teardrop">
            <a:avLst/>
          </a:prstGeom>
          <a:noFill/>
          <a:ln w="57150">
            <a:solidFill>
              <a:srgbClr val="0087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022558" y="1372084"/>
            <a:ext cx="150756" cy="150756"/>
          </a:xfrm>
          <a:prstGeom prst="ellipse">
            <a:avLst/>
          </a:prstGeom>
          <a:solidFill>
            <a:srgbClr val="0087B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6232553" y="2070426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ardrop 12"/>
          <p:cNvSpPr/>
          <p:nvPr/>
        </p:nvSpPr>
        <p:spPr>
          <a:xfrm rot="13500000">
            <a:off x="7043144" y="1841826"/>
            <a:ext cx="457200" cy="457200"/>
          </a:xfrm>
          <a:prstGeom prst="teardrop">
            <a:avLst/>
          </a:prstGeom>
          <a:noFill/>
          <a:ln w="57150">
            <a:solidFill>
              <a:srgbClr val="FF86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015274" y="1995048"/>
            <a:ext cx="150756" cy="150756"/>
          </a:xfrm>
          <a:prstGeom prst="ellipse">
            <a:avLst/>
          </a:prstGeom>
          <a:solidFill>
            <a:srgbClr val="FF860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5349066" y="2739542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ardrop 17"/>
          <p:cNvSpPr/>
          <p:nvPr/>
        </p:nvSpPr>
        <p:spPr>
          <a:xfrm rot="2700000">
            <a:off x="4698166" y="2514658"/>
            <a:ext cx="457200" cy="457200"/>
          </a:xfrm>
          <a:prstGeom prst="teardrop">
            <a:avLst/>
          </a:prstGeom>
          <a:noFill/>
          <a:ln w="57150">
            <a:solidFill>
              <a:srgbClr val="A1BB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020594" y="2664164"/>
            <a:ext cx="150756" cy="150756"/>
          </a:xfrm>
          <a:prstGeom prst="ellipse">
            <a:avLst/>
          </a:prstGeom>
          <a:solidFill>
            <a:srgbClr val="A1BB2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6232553" y="3382800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ardrop 20"/>
          <p:cNvSpPr/>
          <p:nvPr/>
        </p:nvSpPr>
        <p:spPr>
          <a:xfrm rot="13500000">
            <a:off x="7043144" y="3149086"/>
            <a:ext cx="457200" cy="457200"/>
          </a:xfrm>
          <a:prstGeom prst="teardrop">
            <a:avLst/>
          </a:prstGeom>
          <a:noFill/>
          <a:ln w="57150">
            <a:solidFill>
              <a:srgbClr val="0126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024799" y="3307422"/>
            <a:ext cx="150756" cy="150756"/>
          </a:xfrm>
          <a:prstGeom prst="ellipse">
            <a:avLst/>
          </a:prstGeom>
          <a:solidFill>
            <a:srgbClr val="01264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211206" y="1053481"/>
            <a:ext cx="4961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1</a:t>
            </a:r>
            <a:endParaRPr lang="en-US" sz="4400" dirty="0">
              <a:solidFill>
                <a:schemeClr val="bg1">
                  <a:lumMod val="8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524849" y="1642624"/>
            <a:ext cx="4961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2</a:t>
            </a:r>
            <a:endParaRPr lang="en-US" sz="4400" dirty="0">
              <a:solidFill>
                <a:schemeClr val="bg1">
                  <a:lumMod val="8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11205" y="2358537"/>
            <a:ext cx="4961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3</a:t>
            </a:r>
            <a:endParaRPr lang="en-US" sz="4400" dirty="0">
              <a:solidFill>
                <a:schemeClr val="bg1">
                  <a:lumMod val="8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528684" y="2992965"/>
            <a:ext cx="4961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4</a:t>
            </a:r>
            <a:endParaRPr lang="en-US" sz="4400" dirty="0">
              <a:solidFill>
                <a:schemeClr val="bg1">
                  <a:lumMod val="8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75980" y="1200153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Data Collection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6886" y="1440355"/>
            <a:ext cx="3848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CGIs, Sampling Automation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53620" y="1736170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Data Preprocessing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49785" y="1991204"/>
            <a:ext cx="3848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Median Filter, Data cleansing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69703" y="2478043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Feature Extraction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76947" y="2726931"/>
            <a:ext cx="3848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EM, GMM, HHT, PCA, LDA, etc.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749785" y="3088846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Transformation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749785" y="3354915"/>
            <a:ext cx="3848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Histogram, KLD, EMD, </a:t>
            </a:r>
            <a:r>
              <a:rPr lang="en-US" sz="1200" b="1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K-Means</a:t>
            </a:r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, Kernel Mapping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7132592" y="3242879"/>
            <a:ext cx="274320" cy="274320"/>
          </a:xfrm>
          <a:prstGeom prst="ellipse">
            <a:avLst/>
          </a:prstGeom>
          <a:solidFill>
            <a:srgbClr val="01264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/>
          <p:cNvCxnSpPr/>
          <p:nvPr/>
        </p:nvCxnSpPr>
        <p:spPr>
          <a:xfrm>
            <a:off x="5342035" y="4021992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ardrop 52"/>
          <p:cNvSpPr/>
          <p:nvPr/>
        </p:nvSpPr>
        <p:spPr>
          <a:xfrm rot="2700000">
            <a:off x="4694891" y="3793391"/>
            <a:ext cx="457200" cy="457200"/>
          </a:xfrm>
          <a:prstGeom prst="teardrop">
            <a:avLst/>
          </a:prstGeom>
          <a:noFill/>
          <a:ln w="57150">
            <a:solidFill>
              <a:srgbClr val="3DBF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6023502" y="3946614"/>
            <a:ext cx="150756" cy="150756"/>
          </a:xfrm>
          <a:prstGeom prst="ellipse">
            <a:avLst/>
          </a:prstGeom>
          <a:solidFill>
            <a:srgbClr val="3DBF9C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5" name="Straight Connector 54"/>
          <p:cNvCxnSpPr/>
          <p:nvPr/>
        </p:nvCxnSpPr>
        <p:spPr>
          <a:xfrm>
            <a:off x="6228348" y="4682441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ardrop 55"/>
          <p:cNvSpPr/>
          <p:nvPr/>
        </p:nvSpPr>
        <p:spPr>
          <a:xfrm rot="13500000">
            <a:off x="7038940" y="4461023"/>
            <a:ext cx="457200" cy="457200"/>
          </a:xfrm>
          <a:prstGeom prst="teardrop">
            <a:avLst/>
          </a:prstGeom>
          <a:noFill/>
          <a:ln w="57150">
            <a:solidFill>
              <a:srgbClr val="D43E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6020594" y="4607063"/>
            <a:ext cx="150756" cy="150756"/>
          </a:xfrm>
          <a:prstGeom prst="ellipse">
            <a:avLst/>
          </a:prstGeom>
          <a:solidFill>
            <a:srgbClr val="D43E0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ardrop 57"/>
          <p:cNvSpPr/>
          <p:nvPr/>
        </p:nvSpPr>
        <p:spPr>
          <a:xfrm rot="18900000">
            <a:off x="5857847" y="5419752"/>
            <a:ext cx="457200" cy="457200"/>
          </a:xfrm>
          <a:prstGeom prst="teardrop">
            <a:avLst/>
          </a:prstGeom>
          <a:noFill/>
          <a:ln w="57150">
            <a:solidFill>
              <a:srgbClr val="0087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6206387" y="3645024"/>
            <a:ext cx="4961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5</a:t>
            </a:r>
            <a:endParaRPr lang="en-US" sz="4400" dirty="0">
              <a:solidFill>
                <a:schemeClr val="bg1">
                  <a:lumMod val="8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528296" y="4285283"/>
            <a:ext cx="4961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6</a:t>
            </a:r>
            <a:endParaRPr lang="en-US" sz="4400" dirty="0">
              <a:solidFill>
                <a:schemeClr val="bg1">
                  <a:lumMod val="8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586886" y="4017393"/>
            <a:ext cx="3848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T-Test, Chi-Square, Wilcoxon Signed Rank Test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680196" y="4373234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Experiment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Design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80196" y="4638034"/>
            <a:ext cx="3848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Random Sampling, Cross Validation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171922" y="5931470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Result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162397" y="6197085"/>
            <a:ext cx="3848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FAR, FRR, EER, etc.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569703" y="3758280"/>
            <a:ext cx="4598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Modelling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33869" y="4384920"/>
            <a:ext cx="6764694" cy="60517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919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94653" y="42474"/>
            <a:ext cx="10058400" cy="883135"/>
          </a:xfrm>
        </p:spPr>
        <p:txBody>
          <a:bodyPr/>
          <a:lstStyle/>
          <a:p>
            <a:r>
              <a:rPr lang="en-US" dirty="0" smtClean="0"/>
              <a:t>Experiment Result: Academic Paper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53" y="1067946"/>
            <a:ext cx="6739587" cy="18415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53" y="3129700"/>
            <a:ext cx="6784991" cy="287264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94653" y="982766"/>
            <a:ext cx="6614807" cy="692664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809498" y="1972302"/>
            <a:ext cx="2945130" cy="692664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64837" y="2318634"/>
            <a:ext cx="6614807" cy="590854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9433" y="3129700"/>
            <a:ext cx="6614807" cy="1210658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9433" y="4381690"/>
            <a:ext cx="4535497" cy="1210658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154930" y="4040705"/>
            <a:ext cx="2838450" cy="1210658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3233" y="6025784"/>
            <a:ext cx="37903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https://doi.org/10.1109/TIP.2007.904421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93380" y="866340"/>
            <a:ext cx="380803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How we </a:t>
            </a:r>
            <a:r>
              <a:rPr lang="en-US" sz="2400" dirty="0" smtClean="0"/>
              <a:t>determine accuracy of our system?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How we </a:t>
            </a:r>
            <a:r>
              <a:rPr lang="en-US" sz="2400" dirty="0" smtClean="0"/>
              <a:t>claimed that we are the best?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7754628" y="866340"/>
            <a:ext cx="0" cy="5254062"/>
          </a:xfrm>
          <a:prstGeom prst="line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24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4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94653" y="42474"/>
            <a:ext cx="10058400" cy="883135"/>
          </a:xfrm>
        </p:spPr>
        <p:txBody>
          <a:bodyPr/>
          <a:lstStyle/>
          <a:p>
            <a:r>
              <a:rPr lang="en-US" dirty="0" smtClean="0"/>
              <a:t>Experiment Result: </a:t>
            </a:r>
            <a:r>
              <a:rPr lang="en-US" dirty="0" err="1" smtClean="0"/>
              <a:t>Kaggle</a:t>
            </a:r>
            <a:r>
              <a:rPr lang="en-US" dirty="0" smtClean="0"/>
              <a:t> Competition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5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61953" y="3863340"/>
            <a:ext cx="71926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https://www.kaggle.com/lindleylawrence/company-bankruptcy-prediction-classification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93380" y="866340"/>
            <a:ext cx="380803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How we </a:t>
            </a:r>
            <a:r>
              <a:rPr lang="en-US" sz="2400" dirty="0" smtClean="0"/>
              <a:t>determine accuracy of our system?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Does our claim will make us win the competition?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7754628" y="866340"/>
            <a:ext cx="0" cy="5254062"/>
          </a:xfrm>
          <a:prstGeom prst="line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13" y="1491150"/>
            <a:ext cx="7283840" cy="237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5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25843" y="5292410"/>
            <a:ext cx="2176025" cy="5402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Result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25848" y="970629"/>
            <a:ext cx="2176025" cy="5402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Data Collection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25845" y="1813057"/>
            <a:ext cx="2176025" cy="5402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Data Preprocessing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25845" y="2655485"/>
            <a:ext cx="2176025" cy="5402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Feature Extraction and Transformation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5846" y="3505390"/>
            <a:ext cx="2176025" cy="5402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Training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25844" y="4417967"/>
            <a:ext cx="2176025" cy="5402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Testing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>
          <a:xfrm flipH="1">
            <a:off x="2113858" y="1510904"/>
            <a:ext cx="3" cy="302153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2"/>
            <a:endCxn id="8" idx="0"/>
          </p:cNvCxnSpPr>
          <p:nvPr/>
        </p:nvCxnSpPr>
        <p:spPr>
          <a:xfrm>
            <a:off x="2113858" y="2353332"/>
            <a:ext cx="0" cy="302153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2"/>
            <a:endCxn id="9" idx="0"/>
          </p:cNvCxnSpPr>
          <p:nvPr/>
        </p:nvCxnSpPr>
        <p:spPr>
          <a:xfrm>
            <a:off x="2113858" y="3195760"/>
            <a:ext cx="1" cy="30963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2"/>
            <a:endCxn id="10" idx="0"/>
          </p:cNvCxnSpPr>
          <p:nvPr/>
        </p:nvCxnSpPr>
        <p:spPr>
          <a:xfrm flipH="1">
            <a:off x="2113857" y="4045665"/>
            <a:ext cx="2" cy="372302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2"/>
            <a:endCxn id="5" idx="0"/>
          </p:cNvCxnSpPr>
          <p:nvPr/>
        </p:nvCxnSpPr>
        <p:spPr>
          <a:xfrm flipH="1">
            <a:off x="2113856" y="4958242"/>
            <a:ext cx="1" cy="334168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67514" y="3350575"/>
            <a:ext cx="2491740" cy="177475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191954" y="3398099"/>
            <a:ext cx="602529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Lato Light" panose="020F0402020204030203" pitchFamily="34" charset="0"/>
                <a:cs typeface="Lato Light" panose="020F0402020204030203" pitchFamily="34" charset="0"/>
              </a:rPr>
              <a:t>Correct Result comes from Correct Experiment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7166610" y="4045665"/>
            <a:ext cx="0" cy="5606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19995" y="4723611"/>
            <a:ext cx="516921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Lato Light" panose="020F0402020204030203" pitchFamily="34" charset="0"/>
                <a:cs typeface="Lato Light" panose="020F0402020204030203" pitchFamily="34" charset="0"/>
              </a:rPr>
              <a:t>The need of correct experiment design</a:t>
            </a:r>
          </a:p>
        </p:txBody>
      </p:sp>
    </p:spTree>
    <p:extLst>
      <p:ext uri="{BB962C8B-B14F-4D97-AF65-F5344CB8AC3E}">
        <p14:creationId xmlns:p14="http://schemas.microsoft.com/office/powerpoint/2010/main" val="347308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9631"/>
            <a:ext cx="10058400" cy="860489"/>
          </a:xfrm>
        </p:spPr>
        <p:txBody>
          <a:bodyPr/>
          <a:lstStyle/>
          <a:p>
            <a:r>
              <a:rPr lang="en-US" dirty="0" smtClean="0"/>
              <a:t>Experiment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3703" y="1321083"/>
            <a:ext cx="1019486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How we allocate data for training and testing?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How many rounds of experiments needed? (1 round is not enough)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In n rounds experiment, how we allocate data for each round?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Do we need cross validation? 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dirty="0" smtClean="0"/>
              <a:t>	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2926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9631"/>
            <a:ext cx="10058400" cy="860489"/>
          </a:xfrm>
        </p:spPr>
        <p:txBody>
          <a:bodyPr/>
          <a:lstStyle/>
          <a:p>
            <a:r>
              <a:rPr lang="en-US" dirty="0" smtClean="0"/>
              <a:t>Example of bad experiment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3703" y="1321083"/>
            <a:ext cx="1011485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Use the same data for training and testing, get 99% accuracy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dirty="0" smtClean="0"/>
              <a:t>	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2881629" y="2361151"/>
            <a:ext cx="6025298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Lato Light" panose="020F0402020204030203" pitchFamily="34" charset="0"/>
                <a:cs typeface="Lato Light" panose="020F0402020204030203" pitchFamily="34" charset="0"/>
              </a:rPr>
              <a:t>Imagine your final exam test question is the SAME with example question in daily classes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881629" y="3654195"/>
            <a:ext cx="6025298" cy="461665"/>
            <a:chOff x="2881629" y="3654195"/>
            <a:chExt cx="6025298" cy="461665"/>
          </a:xfrm>
        </p:grpSpPr>
        <p:sp>
          <p:nvSpPr>
            <p:cNvPr id="7" name="TextBox 6"/>
            <p:cNvSpPr txBox="1"/>
            <p:nvPr/>
          </p:nvSpPr>
          <p:spPr>
            <a:xfrm>
              <a:off x="2881629" y="3654195"/>
              <a:ext cx="6025298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latin typeface="Lato Light" panose="020F0402020204030203" pitchFamily="34" charset="0"/>
                  <a:cs typeface="Lato Light" panose="020F0402020204030203" pitchFamily="34" charset="0"/>
                </a:rPr>
                <a:t>Your teacher will not do that.  </a:t>
              </a: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7365" y="3723586"/>
              <a:ext cx="337150" cy="3357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223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Random Sampling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097280" y="4325112"/>
            <a:ext cx="10058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28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97280" y="99631"/>
            <a:ext cx="10058400" cy="794297"/>
          </a:xfrm>
        </p:spPr>
        <p:txBody>
          <a:bodyPr/>
          <a:lstStyle/>
          <a:p>
            <a:r>
              <a:rPr lang="en-US" dirty="0" smtClean="0"/>
              <a:t>Random Sampling: Motivation</a:t>
            </a:r>
            <a:endParaRPr lang="en-US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1196455" y="893928"/>
            <a:ext cx="1020121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</a:rPr>
              <a:t>We have a lot of data (thousands / millions / billions)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dirty="0" smtClean="0"/>
              <a:t>	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dirty="0" smtClean="0"/>
          </a:p>
        </p:txBody>
      </p:sp>
      <p:sp>
        <p:nvSpPr>
          <p:cNvPr id="2" name="Oval 1"/>
          <p:cNvSpPr/>
          <p:nvPr/>
        </p:nvSpPr>
        <p:spPr>
          <a:xfrm>
            <a:off x="1480008" y="1970202"/>
            <a:ext cx="4266915" cy="4172361"/>
          </a:xfrm>
          <a:prstGeom prst="ellipse">
            <a:avLst/>
          </a:prstGeom>
          <a:solidFill>
            <a:schemeClr val="bg1"/>
          </a:solidFill>
          <a:ln w="539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53232" y="2120778"/>
            <a:ext cx="50444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How we make </a:t>
            </a:r>
            <a:r>
              <a:rPr lang="en-US" sz="2400" dirty="0" smtClean="0"/>
              <a:t>an analysis?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How we </a:t>
            </a:r>
            <a:r>
              <a:rPr lang="en-US" sz="2400" dirty="0" smtClean="0"/>
              <a:t>build </a:t>
            </a:r>
            <a:r>
              <a:rPr lang="en-US" sz="2400" dirty="0"/>
              <a:t>a model? 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Do we make an analysis / build a model based on the whole data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716973" y="3763994"/>
            <a:ext cx="3792984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Millions of data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05962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97280" y="99631"/>
            <a:ext cx="10058400" cy="794297"/>
          </a:xfrm>
        </p:spPr>
        <p:txBody>
          <a:bodyPr/>
          <a:lstStyle/>
          <a:p>
            <a:r>
              <a:rPr lang="en-US" dirty="0" smtClean="0"/>
              <a:t>Random Sampling: Motivation</a:t>
            </a:r>
            <a:endParaRPr lang="en-US" dirty="0"/>
          </a:p>
        </p:txBody>
      </p:sp>
      <p:sp>
        <p:nvSpPr>
          <p:cNvPr id="2" name="Oval 1"/>
          <p:cNvSpPr/>
          <p:nvPr/>
        </p:nvSpPr>
        <p:spPr>
          <a:xfrm>
            <a:off x="1097280" y="1250112"/>
            <a:ext cx="4266915" cy="4172361"/>
          </a:xfrm>
          <a:prstGeom prst="ellipse">
            <a:avLst/>
          </a:prstGeom>
          <a:solidFill>
            <a:schemeClr val="bg1"/>
          </a:solidFill>
          <a:ln w="539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41101" y="6217747"/>
            <a:ext cx="1779270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Analyze All?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334245" y="3043904"/>
            <a:ext cx="3792984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Millions of data</a:t>
            </a:r>
            <a:endParaRPr lang="en-US" sz="3200" dirty="0"/>
          </a:p>
        </p:txBody>
      </p:sp>
      <p:sp>
        <p:nvSpPr>
          <p:cNvPr id="11" name="Oval 10"/>
          <p:cNvSpPr/>
          <p:nvPr/>
        </p:nvSpPr>
        <p:spPr>
          <a:xfrm>
            <a:off x="7126428" y="1250110"/>
            <a:ext cx="4266915" cy="4172361"/>
          </a:xfrm>
          <a:prstGeom prst="ellipse">
            <a:avLst/>
          </a:prstGeom>
          <a:solidFill>
            <a:schemeClr val="bg1"/>
          </a:solidFill>
          <a:ln w="539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8012430" y="2114550"/>
            <a:ext cx="251460" cy="2514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576560" y="2746724"/>
            <a:ext cx="251460" cy="2514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9102090" y="4028323"/>
            <a:ext cx="251460" cy="2514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10" idx="4"/>
          </p:cNvCxnSpPr>
          <p:nvPr/>
        </p:nvCxnSpPr>
        <p:spPr>
          <a:xfrm>
            <a:off x="8138160" y="2366010"/>
            <a:ext cx="800745" cy="3411902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5" idx="4"/>
          </p:cNvCxnSpPr>
          <p:nvPr/>
        </p:nvCxnSpPr>
        <p:spPr>
          <a:xfrm flipH="1">
            <a:off x="9102090" y="4279783"/>
            <a:ext cx="125730" cy="149887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4" idx="3"/>
          </p:cNvCxnSpPr>
          <p:nvPr/>
        </p:nvCxnSpPr>
        <p:spPr>
          <a:xfrm flipH="1">
            <a:off x="9297767" y="2961359"/>
            <a:ext cx="1315618" cy="2816553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920451" y="5933757"/>
            <a:ext cx="2754630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Analyze only part of the data set?</a:t>
            </a:r>
            <a:endParaRPr lang="en-US" sz="2400" dirty="0"/>
          </a:p>
        </p:txBody>
      </p:sp>
      <p:sp>
        <p:nvSpPr>
          <p:cNvPr id="35" name="Rectangle 34"/>
          <p:cNvSpPr/>
          <p:nvPr/>
        </p:nvSpPr>
        <p:spPr>
          <a:xfrm>
            <a:off x="1097280" y="758173"/>
            <a:ext cx="38532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How we make an analysis?</a:t>
            </a:r>
          </a:p>
        </p:txBody>
      </p:sp>
      <p:sp>
        <p:nvSpPr>
          <p:cNvPr id="16" name="Right Arrow 15"/>
          <p:cNvSpPr/>
          <p:nvPr/>
        </p:nvSpPr>
        <p:spPr>
          <a:xfrm rot="5400000">
            <a:off x="2270615" y="4540758"/>
            <a:ext cx="1920240" cy="9769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70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0" grpId="0" animBg="1"/>
      <p:bldP spid="14" grpId="0" animBg="1"/>
      <p:bldP spid="15" grpId="0" animBg="1"/>
      <p:bldP spid="32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97280" y="99631"/>
            <a:ext cx="10058400" cy="794297"/>
          </a:xfrm>
        </p:spPr>
        <p:txBody>
          <a:bodyPr/>
          <a:lstStyle/>
          <a:p>
            <a:r>
              <a:rPr lang="en-US" dirty="0" smtClean="0"/>
              <a:t>Random Sampling: Motivation</a:t>
            </a:r>
            <a:endParaRPr lang="en-US" dirty="0"/>
          </a:p>
        </p:txBody>
      </p:sp>
      <p:sp>
        <p:nvSpPr>
          <p:cNvPr id="2" name="Oval 1"/>
          <p:cNvSpPr/>
          <p:nvPr/>
        </p:nvSpPr>
        <p:spPr>
          <a:xfrm>
            <a:off x="1097280" y="1250112"/>
            <a:ext cx="4266915" cy="4172361"/>
          </a:xfrm>
          <a:prstGeom prst="ellipse">
            <a:avLst/>
          </a:prstGeom>
          <a:solidFill>
            <a:schemeClr val="bg1"/>
          </a:solidFill>
          <a:ln w="539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4245" y="3043904"/>
            <a:ext cx="3792984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Millions of data</a:t>
            </a:r>
            <a:endParaRPr lang="en-US" sz="3200" dirty="0"/>
          </a:p>
        </p:txBody>
      </p:sp>
      <p:cxnSp>
        <p:nvCxnSpPr>
          <p:cNvPr id="8" name="Straight Connector 7"/>
          <p:cNvCxnSpPr>
            <a:stCxn id="2" idx="0"/>
          </p:cNvCxnSpPr>
          <p:nvPr/>
        </p:nvCxnSpPr>
        <p:spPr>
          <a:xfrm>
            <a:off x="3230738" y="1250112"/>
            <a:ext cx="0" cy="4709884"/>
          </a:xfrm>
          <a:prstGeom prst="line">
            <a:avLst/>
          </a:prstGeom>
          <a:ln w="50800">
            <a:solidFill>
              <a:srgbClr val="0070C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ight Arrow 16"/>
          <p:cNvSpPr/>
          <p:nvPr/>
        </p:nvSpPr>
        <p:spPr>
          <a:xfrm rot="5400000">
            <a:off x="1196514" y="4511417"/>
            <a:ext cx="1920240" cy="9769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 rot="5400000">
            <a:off x="3281745" y="4511416"/>
            <a:ext cx="1920240" cy="9769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66999" y="6092661"/>
            <a:ext cx="1779270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Train Data</a:t>
            </a:r>
            <a:endParaRPr lang="en-US" sz="2400" dirty="0"/>
          </a:p>
        </p:txBody>
      </p:sp>
      <p:sp>
        <p:nvSpPr>
          <p:cNvPr id="20" name="Rectangle 19"/>
          <p:cNvSpPr/>
          <p:nvPr/>
        </p:nvSpPr>
        <p:spPr>
          <a:xfrm>
            <a:off x="3445754" y="6092661"/>
            <a:ext cx="1779270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Test Data</a:t>
            </a:r>
            <a:endParaRPr lang="en-US" sz="2400" dirty="0"/>
          </a:p>
        </p:txBody>
      </p:sp>
      <p:sp>
        <p:nvSpPr>
          <p:cNvPr id="28" name="Oval 27"/>
          <p:cNvSpPr/>
          <p:nvPr/>
        </p:nvSpPr>
        <p:spPr>
          <a:xfrm>
            <a:off x="7126428" y="1250110"/>
            <a:ext cx="4266915" cy="4172361"/>
          </a:xfrm>
          <a:prstGeom prst="ellipse">
            <a:avLst/>
          </a:prstGeom>
          <a:solidFill>
            <a:schemeClr val="bg1"/>
          </a:solidFill>
          <a:ln w="539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8012430" y="2114550"/>
            <a:ext cx="251460" cy="2514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576560" y="2746724"/>
            <a:ext cx="251460" cy="2514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9102090" y="4028323"/>
            <a:ext cx="251460" cy="2514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/>
          <p:cNvCxnSpPr>
            <a:stCxn id="29" idx="4"/>
          </p:cNvCxnSpPr>
          <p:nvPr/>
        </p:nvCxnSpPr>
        <p:spPr>
          <a:xfrm>
            <a:off x="8138160" y="2366010"/>
            <a:ext cx="379649" cy="3567747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31" idx="4"/>
            <a:endCxn id="35" idx="0"/>
          </p:cNvCxnSpPr>
          <p:nvPr/>
        </p:nvCxnSpPr>
        <p:spPr>
          <a:xfrm flipH="1">
            <a:off x="8709391" y="4279783"/>
            <a:ext cx="518429" cy="165397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30" idx="4"/>
          </p:cNvCxnSpPr>
          <p:nvPr/>
        </p:nvCxnSpPr>
        <p:spPr>
          <a:xfrm>
            <a:off x="10702290" y="2998184"/>
            <a:ext cx="125730" cy="283104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920451" y="5933757"/>
            <a:ext cx="1577879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Train Data</a:t>
            </a:r>
            <a:endParaRPr lang="en-US" sz="2400" dirty="0"/>
          </a:p>
        </p:txBody>
      </p:sp>
      <p:sp>
        <p:nvSpPr>
          <p:cNvPr id="40" name="Rectangle 39"/>
          <p:cNvSpPr/>
          <p:nvPr/>
        </p:nvSpPr>
        <p:spPr>
          <a:xfrm>
            <a:off x="10005682" y="5942117"/>
            <a:ext cx="1577879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Test Data</a:t>
            </a:r>
            <a:endParaRPr lang="en-US" sz="2400" dirty="0"/>
          </a:p>
        </p:txBody>
      </p:sp>
      <p:sp>
        <p:nvSpPr>
          <p:cNvPr id="41" name="Rectangle 40"/>
          <p:cNvSpPr/>
          <p:nvPr/>
        </p:nvSpPr>
        <p:spPr>
          <a:xfrm>
            <a:off x="1097280" y="758173"/>
            <a:ext cx="35098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How we </a:t>
            </a:r>
            <a:r>
              <a:rPr lang="en-US" sz="2400" dirty="0" smtClean="0"/>
              <a:t>make a model?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7693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  <p:bldP spid="18" grpId="0" animBg="1"/>
      <p:bldP spid="19" grpId="0" animBg="1"/>
      <p:bldP spid="20" grpId="0" animBg="1"/>
      <p:bldP spid="28" grpId="0" animBg="1"/>
      <p:bldP spid="29" grpId="0" animBg="1"/>
      <p:bldP spid="30" grpId="0" animBg="1"/>
      <p:bldP spid="31" grpId="0" animBg="1"/>
      <p:bldP spid="35" grpId="0" animBg="1"/>
      <p:bldP spid="4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9631"/>
            <a:ext cx="10058400" cy="860489"/>
          </a:xfrm>
        </p:spPr>
        <p:txBody>
          <a:bodyPr/>
          <a:lstStyle/>
          <a:p>
            <a:r>
              <a:rPr lang="en-US" dirty="0" smtClean="0"/>
              <a:t>Random Sampling: Motivation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23703" y="1321083"/>
            <a:ext cx="980624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Pick small group of sample will speed up experiment time.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How to select small group of sample?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What if our data consists of several categories. We can’t just select “randomly” from all categories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dirty="0" smtClean="0"/>
              <a:t>	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4467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Random Sampling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Case: smartphone authentication TEAM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097280" y="4325112"/>
            <a:ext cx="10058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33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Data in Smartphone Authentication Team: </a:t>
            </a:r>
            <a:br>
              <a:rPr lang="en-US" altLang="zh-TW" dirty="0" smtClean="0"/>
            </a:b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52858"/>
            <a:ext cx="10494356" cy="1294630"/>
          </a:xfrm>
        </p:spPr>
        <p:txBody>
          <a:bodyPr/>
          <a:lstStyle/>
          <a:p>
            <a:r>
              <a:rPr lang="en-US" altLang="zh-TW" sz="2800" dirty="0" smtClean="0"/>
              <a:t>Collected in Two Posture: Sit and Stand</a:t>
            </a:r>
          </a:p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15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343077" y="4391286"/>
            <a:ext cx="2208500" cy="52185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Sit posture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00976" y="4361628"/>
            <a:ext cx="2208500" cy="52185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Stand posture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662"/>
          <a:stretch/>
        </p:blipFill>
        <p:spPr>
          <a:xfrm>
            <a:off x="1291017" y="2000173"/>
            <a:ext cx="2565578" cy="21336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6" t="433" r="11636" b="-433"/>
          <a:stretch/>
        </p:blipFill>
        <p:spPr>
          <a:xfrm>
            <a:off x="5165871" y="2000173"/>
            <a:ext cx="2562913" cy="21336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1521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Data in Smartphone Authentication Team: </a:t>
            </a:r>
            <a:br>
              <a:rPr lang="en-US" altLang="zh-TW" dirty="0" smtClean="0"/>
            </a:b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52858"/>
            <a:ext cx="10494356" cy="1294630"/>
          </a:xfrm>
        </p:spPr>
        <p:txBody>
          <a:bodyPr/>
          <a:lstStyle/>
          <a:p>
            <a:r>
              <a:rPr lang="en-US" altLang="zh-TW" sz="2800" dirty="0" smtClean="0"/>
              <a:t>Mimic various kinds of application</a:t>
            </a:r>
          </a:p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16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52" y="2201718"/>
            <a:ext cx="2928633" cy="194887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5240208" y="4543135"/>
            <a:ext cx="2208500" cy="8446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Social media, 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tends to swipe in moderate pace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" name="Picture 6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603" y="2201718"/>
            <a:ext cx="2923309" cy="194887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1729818" y="4543136"/>
            <a:ext cx="2208500" cy="8446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Reading newspaper, tends to swipe short and slowly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8" descr="Image result for smartphone photo galler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266" y="2201718"/>
            <a:ext cx="2934370" cy="1950172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8947180" y="4543135"/>
            <a:ext cx="2208500" cy="8446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Looking for photos,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</a:t>
            </a:r>
            <a:r>
              <a:rPr lang="en-US" dirty="0" smtClean="0">
                <a:solidFill>
                  <a:schemeClr val="tx1"/>
                </a:solidFill>
              </a:rPr>
              <a:t>wipe long and fast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680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9632"/>
            <a:ext cx="10058400" cy="789132"/>
          </a:xfrm>
        </p:spPr>
        <p:txBody>
          <a:bodyPr/>
          <a:lstStyle/>
          <a:p>
            <a:r>
              <a:rPr lang="en-US" altLang="zh-TW" dirty="0" smtClean="0"/>
              <a:t>Our Dataset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17</a:t>
            </a:fld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1097280" y="2849537"/>
            <a:ext cx="1620925" cy="906234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Dataset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78644" y="1343991"/>
            <a:ext cx="1394460" cy="59615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Sit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06831" y="4758737"/>
            <a:ext cx="1394460" cy="62043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Stand</a:t>
            </a:r>
          </a:p>
        </p:txBody>
      </p:sp>
      <p:cxnSp>
        <p:nvCxnSpPr>
          <p:cNvPr id="5" name="Straight Arrow Connector 4"/>
          <p:cNvCxnSpPr>
            <a:stCxn id="19" idx="3"/>
            <a:endCxn id="20" idx="1"/>
          </p:cNvCxnSpPr>
          <p:nvPr/>
        </p:nvCxnSpPr>
        <p:spPr>
          <a:xfrm flipV="1">
            <a:off x="2718205" y="1642067"/>
            <a:ext cx="1660439" cy="166058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9" idx="3"/>
            <a:endCxn id="21" idx="1"/>
          </p:cNvCxnSpPr>
          <p:nvPr/>
        </p:nvCxnSpPr>
        <p:spPr>
          <a:xfrm>
            <a:off x="2718205" y="3302654"/>
            <a:ext cx="1788626" cy="17662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24" idx="1"/>
          </p:cNvCxnSpPr>
          <p:nvPr/>
        </p:nvCxnSpPr>
        <p:spPr>
          <a:xfrm flipV="1">
            <a:off x="5784506" y="719328"/>
            <a:ext cx="1649037" cy="9062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25" idx="1"/>
          </p:cNvCxnSpPr>
          <p:nvPr/>
        </p:nvCxnSpPr>
        <p:spPr>
          <a:xfrm>
            <a:off x="5784506" y="1625560"/>
            <a:ext cx="164903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33543" y="421252"/>
            <a:ext cx="1394460" cy="59615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Short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433543" y="1315345"/>
            <a:ext cx="1394460" cy="62043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Medium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33543" y="2231502"/>
            <a:ext cx="1394460" cy="62043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Long</a:t>
            </a:r>
          </a:p>
        </p:txBody>
      </p:sp>
      <p:cxnSp>
        <p:nvCxnSpPr>
          <p:cNvPr id="27" name="Straight Arrow Connector 26"/>
          <p:cNvCxnSpPr>
            <a:endCxn id="26" idx="1"/>
          </p:cNvCxnSpPr>
          <p:nvPr/>
        </p:nvCxnSpPr>
        <p:spPr>
          <a:xfrm>
            <a:off x="5784506" y="1625560"/>
            <a:ext cx="1649037" cy="91615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39" idx="1"/>
          </p:cNvCxnSpPr>
          <p:nvPr/>
        </p:nvCxnSpPr>
        <p:spPr>
          <a:xfrm flipV="1">
            <a:off x="5901291" y="4178951"/>
            <a:ext cx="1649037" cy="9062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40" idx="1"/>
          </p:cNvCxnSpPr>
          <p:nvPr/>
        </p:nvCxnSpPr>
        <p:spPr>
          <a:xfrm>
            <a:off x="5901291" y="5085183"/>
            <a:ext cx="164903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550328" y="3880875"/>
            <a:ext cx="1394460" cy="59615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Short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550328" y="4774968"/>
            <a:ext cx="1394460" cy="62043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Medium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50328" y="5691125"/>
            <a:ext cx="1394460" cy="62043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Long</a:t>
            </a:r>
          </a:p>
        </p:txBody>
      </p:sp>
      <p:cxnSp>
        <p:nvCxnSpPr>
          <p:cNvPr id="43" name="Straight Arrow Connector 42"/>
          <p:cNvCxnSpPr>
            <a:endCxn id="42" idx="1"/>
          </p:cNvCxnSpPr>
          <p:nvPr/>
        </p:nvCxnSpPr>
        <p:spPr>
          <a:xfrm>
            <a:off x="5901291" y="5085183"/>
            <a:ext cx="1649037" cy="91615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405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Flick Statistics with 5 flicks per histogram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2540943"/>
              </p:ext>
            </p:extLst>
          </p:nvPr>
        </p:nvGraphicFramePr>
        <p:xfrm>
          <a:off x="1184513" y="1914357"/>
          <a:ext cx="8378980" cy="259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0337">
                  <a:extLst>
                    <a:ext uri="{9D8B030D-6E8A-4147-A177-3AD203B41FA5}">
                      <a16:colId xmlns:a16="http://schemas.microsoft.com/office/drawing/2014/main" val="2509743775"/>
                    </a:ext>
                  </a:extLst>
                </a:gridCol>
                <a:gridCol w="2994007">
                  <a:extLst>
                    <a:ext uri="{9D8B030D-6E8A-4147-A177-3AD203B41FA5}">
                      <a16:colId xmlns:a16="http://schemas.microsoft.com/office/drawing/2014/main" val="2903744248"/>
                    </a:ext>
                  </a:extLst>
                </a:gridCol>
                <a:gridCol w="3154636">
                  <a:extLst>
                    <a:ext uri="{9D8B030D-6E8A-4147-A177-3AD203B41FA5}">
                      <a16:colId xmlns:a16="http://schemas.microsoft.com/office/drawing/2014/main" val="1038657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Flick Category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Least histogram per user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Most 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histogram per user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64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Sit short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981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2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Sit 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1679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835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Sit</a:t>
                      </a:r>
                      <a:r>
                        <a:rPr lang="en-US" baseline="0" dirty="0" smtClean="0"/>
                        <a:t> long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2375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94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Stand short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989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273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Stand 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539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1672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084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Stand long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2367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0809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300301" y="4136471"/>
            <a:ext cx="1511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oo many samples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2525" y="2309269"/>
            <a:ext cx="1635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Insufficient samples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47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756" y="99631"/>
            <a:ext cx="11537244" cy="1450757"/>
          </a:xfrm>
        </p:spPr>
        <p:txBody>
          <a:bodyPr/>
          <a:lstStyle/>
          <a:p>
            <a:r>
              <a:rPr lang="en-US" dirty="0" smtClean="0"/>
              <a:t>Imbalanced Data (Bankruptcy Prediction Case)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4938253"/>
              </p:ext>
            </p:extLst>
          </p:nvPr>
        </p:nvGraphicFramePr>
        <p:xfrm>
          <a:off x="654756" y="1884724"/>
          <a:ext cx="6233557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61182">
                  <a:extLst>
                    <a:ext uri="{9D8B030D-6E8A-4147-A177-3AD203B41FA5}">
                      <a16:colId xmlns:a16="http://schemas.microsoft.com/office/drawing/2014/main" val="2509743775"/>
                    </a:ext>
                  </a:extLst>
                </a:gridCol>
                <a:gridCol w="3572375">
                  <a:extLst>
                    <a:ext uri="{9D8B030D-6E8A-4147-A177-3AD203B41FA5}">
                      <a16:colId xmlns:a16="http://schemas.microsoft.com/office/drawing/2014/main" val="290374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Count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64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Normal Company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10,000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2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Bankrupt Company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83542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62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9632"/>
            <a:ext cx="10058400" cy="789132"/>
          </a:xfrm>
        </p:spPr>
        <p:txBody>
          <a:bodyPr/>
          <a:lstStyle/>
          <a:p>
            <a:r>
              <a:rPr lang="en-US" altLang="zh-TW" dirty="0" smtClean="0"/>
              <a:t>How we build “ready-to-use” dataset?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20</a:t>
            </a:fld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1204192" y="967696"/>
            <a:ext cx="2247667" cy="59615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Sit Short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204192" y="1861789"/>
            <a:ext cx="2247667" cy="62043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Sit Medium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4193" y="2777946"/>
            <a:ext cx="2247666" cy="62043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Sit Long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04193" y="3694103"/>
            <a:ext cx="2247666" cy="59615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Stand Short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204193" y="4588196"/>
            <a:ext cx="2247666" cy="62043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Stand Medium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4193" y="5504353"/>
            <a:ext cx="2247666" cy="62043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Stand Long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075170" y="1209823"/>
            <a:ext cx="1188720" cy="23796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Train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075170" y="3589476"/>
            <a:ext cx="1188720" cy="23796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Test </a:t>
            </a:r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86248" y="2777946"/>
            <a:ext cx="2320291" cy="1623060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?</a:t>
            </a:r>
            <a:endParaRPr lang="en-US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19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9632"/>
            <a:ext cx="10058400" cy="789132"/>
          </a:xfrm>
        </p:spPr>
        <p:txBody>
          <a:bodyPr/>
          <a:lstStyle/>
          <a:p>
            <a:r>
              <a:rPr lang="en-US" altLang="zh-TW" dirty="0" smtClean="0"/>
              <a:t>How we build “ready-to-use” dataset?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21</a:t>
            </a:fld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1204192" y="967696"/>
            <a:ext cx="2247667" cy="59615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Sit Short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204192" y="1861789"/>
            <a:ext cx="2247667" cy="62043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Sit Medium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4193" y="2777946"/>
            <a:ext cx="2247666" cy="62043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Sit Long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04193" y="3694103"/>
            <a:ext cx="2247666" cy="59615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Stand Short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204193" y="4588196"/>
            <a:ext cx="2247666" cy="62043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Stand Medium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4193" y="5504353"/>
            <a:ext cx="2247666" cy="620431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Stand Long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983730" y="2570704"/>
            <a:ext cx="1188720" cy="4360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Train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4286248" y="2777946"/>
            <a:ext cx="2320291" cy="1623060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?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983730" y="3634250"/>
            <a:ext cx="1188720" cy="4360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Test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641081" y="2570704"/>
            <a:ext cx="1188720" cy="4360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Train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641081" y="3634250"/>
            <a:ext cx="1188720" cy="4360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Test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782300" y="2568844"/>
            <a:ext cx="1188720" cy="4360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Train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782300" y="3632390"/>
            <a:ext cx="1188720" cy="4360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Test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18952" y="3088161"/>
            <a:ext cx="5741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…</a:t>
            </a:r>
            <a:endParaRPr lang="en-US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6983730" y="4713745"/>
            <a:ext cx="10488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Round 1 set</a:t>
            </a:r>
            <a:endParaRPr 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8641081" y="4713745"/>
            <a:ext cx="10488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Round 2 set</a:t>
            </a:r>
            <a:endParaRPr lang="en-US"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10782300" y="4713744"/>
            <a:ext cx="1052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Round n set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1131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9631"/>
            <a:ext cx="10652760" cy="1450757"/>
          </a:xfrm>
        </p:spPr>
        <p:txBody>
          <a:bodyPr>
            <a:normAutofit/>
          </a:bodyPr>
          <a:lstStyle/>
          <a:p>
            <a:r>
              <a:rPr lang="en-US" dirty="0" smtClean="0"/>
              <a:t>Simple Random Sampling: </a:t>
            </a:r>
            <a:br>
              <a:rPr lang="en-US" dirty="0" smtClean="0"/>
            </a:br>
            <a:r>
              <a:rPr lang="en-US" dirty="0" smtClean="0"/>
              <a:t>Keep the data distribution of each category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22</a:t>
            </a:fld>
            <a:endParaRPr lang="en-US" dirty="0"/>
          </a:p>
        </p:txBody>
      </p:sp>
      <p:graphicFrame>
        <p:nvGraphicFramePr>
          <p:cNvPr id="6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110121"/>
              </p:ext>
            </p:extLst>
          </p:nvPr>
        </p:nvGraphicFramePr>
        <p:xfrm>
          <a:off x="1097280" y="2222967"/>
          <a:ext cx="3841314" cy="259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39904">
                  <a:extLst>
                    <a:ext uri="{9D8B030D-6E8A-4147-A177-3AD203B41FA5}">
                      <a16:colId xmlns:a16="http://schemas.microsoft.com/office/drawing/2014/main" val="2509743775"/>
                    </a:ext>
                  </a:extLst>
                </a:gridCol>
                <a:gridCol w="2201410">
                  <a:extLst>
                    <a:ext uri="{9D8B030D-6E8A-4147-A177-3AD203B41FA5}">
                      <a16:colId xmlns:a16="http://schemas.microsoft.com/office/drawing/2014/main" val="290374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Flick Category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User’s histogram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64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Sit short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2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Sit 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835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Sit</a:t>
                      </a:r>
                      <a:r>
                        <a:rPr lang="en-US" baseline="0" dirty="0" smtClean="0"/>
                        <a:t> long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94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Stand short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273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Stand 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084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Stand long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080905"/>
                  </a:ext>
                </a:extLst>
              </a:tr>
            </a:tbl>
          </a:graphicData>
        </a:graphic>
      </p:graphicFrame>
      <p:sp>
        <p:nvSpPr>
          <p:cNvPr id="7" name="Right Arrow 6"/>
          <p:cNvSpPr/>
          <p:nvPr/>
        </p:nvSpPr>
        <p:spPr>
          <a:xfrm>
            <a:off x="5384363" y="3075126"/>
            <a:ext cx="1508762" cy="1062534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76054" y="3075126"/>
            <a:ext cx="379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Split the data for 5 round experiment !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235782" y="1853635"/>
            <a:ext cx="356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Original Data Distribution of user #2</a:t>
            </a:r>
            <a:endParaRPr lang="en-US" dirty="0"/>
          </a:p>
        </p:txBody>
      </p:sp>
      <p:sp>
        <p:nvSpPr>
          <p:cNvPr id="12" name="Flowchart: Magnetic Disk 11"/>
          <p:cNvSpPr/>
          <p:nvPr/>
        </p:nvSpPr>
        <p:spPr>
          <a:xfrm>
            <a:off x="7247454" y="3634523"/>
            <a:ext cx="731444" cy="100627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Round 1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Flowchart: Magnetic Disk 12"/>
          <p:cNvSpPr/>
          <p:nvPr/>
        </p:nvSpPr>
        <p:spPr>
          <a:xfrm>
            <a:off x="8211384" y="3634523"/>
            <a:ext cx="731444" cy="100627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Round 2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Flowchart: Magnetic Disk 13"/>
          <p:cNvSpPr/>
          <p:nvPr/>
        </p:nvSpPr>
        <p:spPr>
          <a:xfrm>
            <a:off x="9175314" y="3634523"/>
            <a:ext cx="731444" cy="100627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Round 3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Flowchart: Magnetic Disk 14"/>
          <p:cNvSpPr/>
          <p:nvPr/>
        </p:nvSpPr>
        <p:spPr>
          <a:xfrm>
            <a:off x="10139244" y="3634522"/>
            <a:ext cx="731444" cy="100627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Round 4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Flowchart: Magnetic Disk 15"/>
          <p:cNvSpPr/>
          <p:nvPr/>
        </p:nvSpPr>
        <p:spPr>
          <a:xfrm>
            <a:off x="11103174" y="3634522"/>
            <a:ext cx="731444" cy="100627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Round 5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87334" y="5310545"/>
            <a:ext cx="1188720" cy="4360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Train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52410" y="5310545"/>
            <a:ext cx="1188720" cy="4360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Test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2" idx="3"/>
            <a:endCxn id="17" idx="0"/>
          </p:cNvCxnSpPr>
          <p:nvPr/>
        </p:nvCxnSpPr>
        <p:spPr>
          <a:xfrm flipH="1">
            <a:off x="6881694" y="4640796"/>
            <a:ext cx="731482" cy="66974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3"/>
            <a:endCxn id="18" idx="0"/>
          </p:cNvCxnSpPr>
          <p:nvPr/>
        </p:nvCxnSpPr>
        <p:spPr>
          <a:xfrm>
            <a:off x="7613176" y="4640796"/>
            <a:ext cx="833594" cy="66974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87334" y="6217747"/>
            <a:ext cx="5384069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In total, we need 10 sets of data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5965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9631"/>
            <a:ext cx="10652760" cy="1450757"/>
          </a:xfrm>
        </p:spPr>
        <p:txBody>
          <a:bodyPr>
            <a:normAutofit/>
          </a:bodyPr>
          <a:lstStyle/>
          <a:p>
            <a:r>
              <a:rPr lang="en-US" dirty="0" smtClean="0"/>
              <a:t>Simple Random Sampling: </a:t>
            </a:r>
            <a:br>
              <a:rPr lang="en-US" dirty="0" smtClean="0"/>
            </a:br>
            <a:r>
              <a:rPr lang="en-US" dirty="0" smtClean="0"/>
              <a:t>Keep the data distribution of each category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23</a:t>
            </a:fld>
            <a:endParaRPr lang="en-US" dirty="0"/>
          </a:p>
        </p:txBody>
      </p:sp>
      <p:graphicFrame>
        <p:nvGraphicFramePr>
          <p:cNvPr id="6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110121"/>
              </p:ext>
            </p:extLst>
          </p:nvPr>
        </p:nvGraphicFramePr>
        <p:xfrm>
          <a:off x="1097280" y="2222967"/>
          <a:ext cx="3841314" cy="259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39904">
                  <a:extLst>
                    <a:ext uri="{9D8B030D-6E8A-4147-A177-3AD203B41FA5}">
                      <a16:colId xmlns:a16="http://schemas.microsoft.com/office/drawing/2014/main" val="2509743775"/>
                    </a:ext>
                  </a:extLst>
                </a:gridCol>
                <a:gridCol w="2201410">
                  <a:extLst>
                    <a:ext uri="{9D8B030D-6E8A-4147-A177-3AD203B41FA5}">
                      <a16:colId xmlns:a16="http://schemas.microsoft.com/office/drawing/2014/main" val="290374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Flick Category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User’s histogram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64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Sit short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2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Sit 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835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Sit</a:t>
                      </a:r>
                      <a:r>
                        <a:rPr lang="en-US" baseline="0" dirty="0" smtClean="0"/>
                        <a:t> long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94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Stand short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273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Stand 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084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Stand long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080905"/>
                  </a:ext>
                </a:extLst>
              </a:tr>
            </a:tbl>
          </a:graphicData>
        </a:graphic>
      </p:graphicFrame>
      <p:sp>
        <p:nvSpPr>
          <p:cNvPr id="7" name="Right Arrow 6"/>
          <p:cNvSpPr/>
          <p:nvPr/>
        </p:nvSpPr>
        <p:spPr>
          <a:xfrm>
            <a:off x="5384363" y="3075126"/>
            <a:ext cx="1508762" cy="1062534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800" dirty="0">
              <a:solidFill>
                <a:schemeClr val="tx1"/>
              </a:solidFill>
            </a:endParaRPr>
          </a:p>
        </p:txBody>
      </p:sp>
      <p:graphicFrame>
        <p:nvGraphicFramePr>
          <p:cNvPr id="9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1026098"/>
              </p:ext>
            </p:extLst>
          </p:nvPr>
        </p:nvGraphicFramePr>
        <p:xfrm>
          <a:off x="7690301" y="2276069"/>
          <a:ext cx="3841314" cy="259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39904">
                  <a:extLst>
                    <a:ext uri="{9D8B030D-6E8A-4147-A177-3AD203B41FA5}">
                      <a16:colId xmlns:a16="http://schemas.microsoft.com/office/drawing/2014/main" val="2509743775"/>
                    </a:ext>
                  </a:extLst>
                </a:gridCol>
                <a:gridCol w="2201410">
                  <a:extLst>
                    <a:ext uri="{9D8B030D-6E8A-4147-A177-3AD203B41FA5}">
                      <a16:colId xmlns:a16="http://schemas.microsoft.com/office/drawing/2014/main" val="290374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Flick Category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User’s histogram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64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Sit short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2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Sit 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835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Sit</a:t>
                      </a:r>
                      <a:r>
                        <a:rPr lang="en-US" baseline="0" dirty="0" smtClean="0"/>
                        <a:t> long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94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Stand short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273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Stand 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084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Stand long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0809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47504" y="1853635"/>
            <a:ext cx="3926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 Distribution of each set for user #2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235782" y="1853635"/>
            <a:ext cx="356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Original Data Distribution of user #2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70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343" y="99631"/>
            <a:ext cx="11454869" cy="1450757"/>
          </a:xfrm>
        </p:spPr>
        <p:txBody>
          <a:bodyPr>
            <a:normAutofit/>
          </a:bodyPr>
          <a:lstStyle/>
          <a:p>
            <a:r>
              <a:rPr lang="en-US" dirty="0" smtClean="0"/>
              <a:t>Some of our approach (1):</a:t>
            </a:r>
            <a:br>
              <a:rPr lang="en-US" dirty="0" smtClean="0"/>
            </a:br>
            <a:r>
              <a:rPr lang="en-US" dirty="0" smtClean="0"/>
              <a:t>Internal random permutation before sampling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24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426300" y="1892102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6300" y="236038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6300" y="2828668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</a:t>
            </a:r>
            <a:r>
              <a:rPr lang="en-US" altLang="zh-TW" sz="1600" dirty="0"/>
              <a:t>3</a:t>
            </a:r>
            <a:endParaRPr lang="en-US" altLang="zh-TW" sz="16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2426300" y="3267137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</a:t>
            </a:r>
            <a:r>
              <a:rPr lang="en-US" altLang="zh-TW" sz="1600" dirty="0"/>
              <a:t>4</a:t>
            </a:r>
            <a:endParaRPr lang="en-US" altLang="zh-TW" sz="16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2426300" y="3705606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6300" y="4145109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6300" y="4593959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6300" y="5043843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6300" y="5520354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6300" y="599686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343" y="1892102"/>
            <a:ext cx="1659011" cy="1169551"/>
          </a:xfrm>
          <a:prstGeom prst="rect">
            <a:avLst/>
          </a:prstGeom>
          <a:solidFill>
            <a:srgbClr val="FFFF00"/>
          </a:solidFill>
          <a:ln w="127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Example:</a:t>
            </a:r>
          </a:p>
          <a:p>
            <a:r>
              <a:rPr lang="en-US" sz="1400" dirty="0" smtClean="0"/>
              <a:t>We have 10 histogram, need 3 histogram per round, for 3 rounds</a:t>
            </a:r>
            <a:endParaRPr lang="en-US" sz="1400" dirty="0"/>
          </a:p>
        </p:txBody>
      </p:sp>
      <p:sp>
        <p:nvSpPr>
          <p:cNvPr id="3" name="Right Arrow 2"/>
          <p:cNvSpPr/>
          <p:nvPr/>
        </p:nvSpPr>
        <p:spPr>
          <a:xfrm>
            <a:off x="4401082" y="3283031"/>
            <a:ext cx="811851" cy="499416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638772" y="1892102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38772" y="236038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38772" y="2828668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38772" y="3267137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8772" y="3705606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</a:t>
            </a:r>
            <a:r>
              <a:rPr lang="en-US" altLang="zh-TW" sz="1600" dirty="0"/>
              <a:t>7</a:t>
            </a:r>
            <a:endParaRPr lang="en-US" altLang="zh-TW" sz="1600" dirty="0" smtClean="0"/>
          </a:p>
        </p:txBody>
      </p:sp>
      <p:sp>
        <p:nvSpPr>
          <p:cNvPr id="35" name="Rectangle 34"/>
          <p:cNvSpPr/>
          <p:nvPr/>
        </p:nvSpPr>
        <p:spPr>
          <a:xfrm>
            <a:off x="5638772" y="4145109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8772" y="4593959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38772" y="5043843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38772" y="5520354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38772" y="599686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51244" y="1918233"/>
            <a:ext cx="979872" cy="307777"/>
          </a:xfrm>
          <a:prstGeom prst="rect">
            <a:avLst/>
          </a:prstGeom>
          <a:solidFill>
            <a:srgbClr val="FFFF00"/>
          </a:solidFill>
          <a:ln w="127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Round 1</a:t>
            </a:r>
            <a:endParaRPr lang="en-US" sz="1400" dirty="0"/>
          </a:p>
        </p:txBody>
      </p:sp>
      <p:sp>
        <p:nvSpPr>
          <p:cNvPr id="43" name="Rectangle 42"/>
          <p:cNvSpPr/>
          <p:nvPr/>
        </p:nvSpPr>
        <p:spPr>
          <a:xfrm>
            <a:off x="10134042" y="1926164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34042" y="2394447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34042" y="2862730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34042" y="331930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34042" y="3757774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</a:t>
            </a:r>
            <a:r>
              <a:rPr lang="en-US" altLang="zh-TW" sz="1600" dirty="0"/>
              <a:t>7</a:t>
            </a:r>
            <a:endParaRPr lang="en-US" altLang="zh-TW" sz="1600" dirty="0" smtClean="0"/>
          </a:p>
        </p:txBody>
      </p:sp>
      <p:sp>
        <p:nvSpPr>
          <p:cNvPr id="48" name="Rectangle 47"/>
          <p:cNvSpPr/>
          <p:nvPr/>
        </p:nvSpPr>
        <p:spPr>
          <a:xfrm>
            <a:off x="10134042" y="4197277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34042" y="4673286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34042" y="5123170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34042" y="5599681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51244" y="3319305"/>
            <a:ext cx="979872" cy="307777"/>
          </a:xfrm>
          <a:prstGeom prst="rect">
            <a:avLst/>
          </a:prstGeom>
          <a:solidFill>
            <a:srgbClr val="FFFF00"/>
          </a:solidFill>
          <a:ln w="127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Round 2</a:t>
            </a:r>
            <a:endParaRPr lang="en-US" sz="1400" dirty="0"/>
          </a:p>
        </p:txBody>
      </p:sp>
      <p:sp>
        <p:nvSpPr>
          <p:cNvPr id="54" name="TextBox 53"/>
          <p:cNvSpPr txBox="1"/>
          <p:nvPr/>
        </p:nvSpPr>
        <p:spPr>
          <a:xfrm>
            <a:off x="8851244" y="4647249"/>
            <a:ext cx="979872" cy="307777"/>
          </a:xfrm>
          <a:prstGeom prst="rect">
            <a:avLst/>
          </a:prstGeom>
          <a:solidFill>
            <a:srgbClr val="FFFF00"/>
          </a:solidFill>
          <a:ln w="127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Round 3</a:t>
            </a:r>
            <a:endParaRPr lang="en-US" sz="1400" dirty="0"/>
          </a:p>
        </p:txBody>
      </p:sp>
      <p:cxnSp>
        <p:nvCxnSpPr>
          <p:cNvPr id="55" name="Straight Connector 54"/>
          <p:cNvCxnSpPr/>
          <p:nvPr/>
        </p:nvCxnSpPr>
        <p:spPr>
          <a:xfrm>
            <a:off x="8851244" y="3267137"/>
            <a:ext cx="3162705" cy="0"/>
          </a:xfrm>
          <a:prstGeom prst="line">
            <a:avLst/>
          </a:prstGeom>
          <a:ln w="19050">
            <a:solidFill>
              <a:srgbClr val="0070C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ight Arrow 51"/>
          <p:cNvSpPr/>
          <p:nvPr/>
        </p:nvSpPr>
        <p:spPr>
          <a:xfrm>
            <a:off x="7424447" y="3334507"/>
            <a:ext cx="811851" cy="499416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/>
          <p:cNvCxnSpPr/>
          <p:nvPr/>
        </p:nvCxnSpPr>
        <p:spPr>
          <a:xfrm>
            <a:off x="8851244" y="4605389"/>
            <a:ext cx="3162705" cy="0"/>
          </a:xfrm>
          <a:prstGeom prst="line">
            <a:avLst/>
          </a:prstGeom>
          <a:ln w="19050">
            <a:solidFill>
              <a:srgbClr val="0070C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030699" y="3704545"/>
            <a:ext cx="124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70C0"/>
                </a:solidFill>
              </a:rPr>
              <a:t>Random permutation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208109" y="3840815"/>
            <a:ext cx="1028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70C0"/>
                </a:solidFill>
              </a:rPr>
              <a:t>Split the data for several rounds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236298" y="6497919"/>
            <a:ext cx="4220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Lato Light" panose="020F0402020204030203" pitchFamily="34" charset="0"/>
                <a:cs typeface="Lato Light" panose="020F0402020204030203" pitchFamily="34" charset="0"/>
              </a:rPr>
              <a:t>The samples for every round must be different</a:t>
            </a:r>
          </a:p>
        </p:txBody>
      </p:sp>
    </p:spTree>
    <p:extLst>
      <p:ext uri="{BB962C8B-B14F-4D97-AF65-F5344CB8AC3E}">
        <p14:creationId xmlns:p14="http://schemas.microsoft.com/office/powerpoint/2010/main" val="205807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3" grpId="0" animBg="1"/>
      <p:bldP spid="54" grpId="0" animBg="1"/>
      <p:bldP spid="52" grpId="0" animBg="1"/>
      <p:bldP spid="56" grpId="0"/>
      <p:bldP spid="58" grpId="0"/>
      <p:bldP spid="5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190" y="160975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Some of our approach (2):</a:t>
            </a:r>
            <a:br>
              <a:rPr lang="en-US" dirty="0"/>
            </a:br>
            <a:r>
              <a:rPr lang="en-US" dirty="0"/>
              <a:t>Use a data several times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25</a:t>
            </a:fld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1253772" y="2613114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53772" y="3081397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53772" y="3549680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53772" y="3988149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53772" y="4426618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7</a:t>
            </a:r>
            <a:endParaRPr lang="en-US" altLang="zh-TW" sz="1600" dirty="0" smtClean="0"/>
          </a:p>
        </p:txBody>
      </p:sp>
      <p:sp>
        <p:nvSpPr>
          <p:cNvPr id="40" name="TextBox 39"/>
          <p:cNvSpPr txBox="1"/>
          <p:nvPr/>
        </p:nvSpPr>
        <p:spPr>
          <a:xfrm>
            <a:off x="1253772" y="2080062"/>
            <a:ext cx="979872" cy="307777"/>
          </a:xfrm>
          <a:prstGeom prst="rect">
            <a:avLst/>
          </a:prstGeom>
          <a:solidFill>
            <a:srgbClr val="FFFF00"/>
          </a:solidFill>
          <a:ln w="127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Round 1</a:t>
            </a:r>
            <a:endParaRPr lang="en-US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3090117" y="2074620"/>
            <a:ext cx="979872" cy="307777"/>
          </a:xfrm>
          <a:prstGeom prst="rect">
            <a:avLst/>
          </a:prstGeom>
          <a:solidFill>
            <a:srgbClr val="FFFF00"/>
          </a:solidFill>
          <a:ln w="127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Round 2</a:t>
            </a:r>
            <a:endParaRPr lang="en-US" sz="1400" dirty="0"/>
          </a:p>
        </p:txBody>
      </p:sp>
      <p:sp>
        <p:nvSpPr>
          <p:cNvPr id="43" name="TextBox 42"/>
          <p:cNvSpPr txBox="1"/>
          <p:nvPr/>
        </p:nvSpPr>
        <p:spPr>
          <a:xfrm>
            <a:off x="5045673" y="2080755"/>
            <a:ext cx="979872" cy="307777"/>
          </a:xfrm>
          <a:prstGeom prst="rect">
            <a:avLst/>
          </a:prstGeom>
          <a:solidFill>
            <a:srgbClr val="FFFF00"/>
          </a:solidFill>
          <a:ln w="127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Round 3</a:t>
            </a:r>
            <a:endParaRPr lang="en-US" sz="1400" dirty="0"/>
          </a:p>
        </p:txBody>
      </p:sp>
      <p:sp>
        <p:nvSpPr>
          <p:cNvPr id="44" name="TextBox 43"/>
          <p:cNvSpPr txBox="1"/>
          <p:nvPr/>
        </p:nvSpPr>
        <p:spPr>
          <a:xfrm>
            <a:off x="6882018" y="2075313"/>
            <a:ext cx="979872" cy="307777"/>
          </a:xfrm>
          <a:prstGeom prst="rect">
            <a:avLst/>
          </a:prstGeom>
          <a:solidFill>
            <a:srgbClr val="FFFF00"/>
          </a:solidFill>
          <a:ln w="127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Round 4</a:t>
            </a:r>
            <a:endParaRPr lang="en-US" sz="1400" dirty="0"/>
          </a:p>
        </p:txBody>
      </p:sp>
      <p:sp>
        <p:nvSpPr>
          <p:cNvPr id="45" name="TextBox 44"/>
          <p:cNvSpPr txBox="1"/>
          <p:nvPr/>
        </p:nvSpPr>
        <p:spPr>
          <a:xfrm>
            <a:off x="8628422" y="2060645"/>
            <a:ext cx="979872" cy="307777"/>
          </a:xfrm>
          <a:prstGeom prst="rect">
            <a:avLst/>
          </a:prstGeom>
          <a:solidFill>
            <a:srgbClr val="FFFF00"/>
          </a:solidFill>
          <a:ln w="127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Round 5</a:t>
            </a:r>
            <a:endParaRPr lang="en-US" sz="1400" dirty="0"/>
          </a:p>
        </p:txBody>
      </p:sp>
      <p:sp>
        <p:nvSpPr>
          <p:cNvPr id="46" name="Rectangle 45"/>
          <p:cNvSpPr/>
          <p:nvPr/>
        </p:nvSpPr>
        <p:spPr>
          <a:xfrm>
            <a:off x="3090117" y="2613114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90117" y="3081397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90117" y="3549680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90117" y="3988149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90117" y="4426618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7</a:t>
            </a:r>
            <a:endParaRPr lang="en-US" altLang="zh-TW" sz="1600" dirty="0" smtClean="0"/>
          </a:p>
        </p:txBody>
      </p:sp>
      <p:sp>
        <p:nvSpPr>
          <p:cNvPr id="51" name="Rectangle 50"/>
          <p:cNvSpPr/>
          <p:nvPr/>
        </p:nvSpPr>
        <p:spPr>
          <a:xfrm>
            <a:off x="5045673" y="2613114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45673" y="3081397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45673" y="3549680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3</a:t>
            </a:r>
            <a:endParaRPr lang="en-US" altLang="zh-TW" sz="1600" dirty="0" smtClean="0"/>
          </a:p>
        </p:txBody>
      </p:sp>
      <p:sp>
        <p:nvSpPr>
          <p:cNvPr id="55" name="Rectangle 54"/>
          <p:cNvSpPr/>
          <p:nvPr/>
        </p:nvSpPr>
        <p:spPr>
          <a:xfrm>
            <a:off x="5045673" y="3988149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45673" y="4426618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82018" y="2613114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82018" y="3081397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82018" y="3549680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82018" y="3988149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82018" y="4426618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628422" y="2613114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28422" y="3081397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28422" y="3549680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28422" y="3988149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28422" y="4426618"/>
            <a:ext cx="1359692" cy="360040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3772" y="5083899"/>
            <a:ext cx="5238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Lato Light" panose="020F0402020204030203" pitchFamily="34" charset="0"/>
                <a:cs typeface="Lato Light" panose="020F0402020204030203" pitchFamily="34" charset="0"/>
              </a:rPr>
              <a:t>The samples combination for every round must be different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3771" y="5398293"/>
            <a:ext cx="4771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Lato Light" panose="020F0402020204030203" pitchFamily="34" charset="0"/>
                <a:cs typeface="Lato Light" panose="020F0402020204030203" pitchFamily="34" charset="0"/>
              </a:rPr>
              <a:t>Histogram 7 appears in both Round 1 and Round 2. Is it okay?</a:t>
            </a:r>
          </a:p>
        </p:txBody>
      </p:sp>
    </p:spTree>
    <p:extLst>
      <p:ext uri="{BB962C8B-B14F-4D97-AF65-F5344CB8AC3E}">
        <p14:creationId xmlns:p14="http://schemas.microsoft.com/office/powerpoint/2010/main" val="337590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51" grpId="0" animBg="1"/>
      <p:bldP spid="53" grpId="0" animBg="1"/>
      <p:bldP spid="54" grpId="0" animBg="1"/>
      <p:bldP spid="55" grpId="0" animBg="1"/>
      <p:bldP spid="56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37" grpId="0"/>
      <p:bldP spid="3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343" y="144518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Some of our approach </a:t>
            </a:r>
            <a:r>
              <a:rPr lang="en-US" dirty="0" smtClean="0"/>
              <a:t>(2):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Use a data several times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26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426300" y="1892102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6300" y="236038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6300" y="2828668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3</a:t>
            </a:r>
            <a:endParaRPr lang="en-US" altLang="zh-TW" sz="16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2426300" y="3267137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4</a:t>
            </a:r>
            <a:endParaRPr lang="en-US" altLang="zh-TW" sz="16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2426300" y="3705606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6300" y="4145109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6300" y="4593959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6300" y="5043843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6300" y="5520354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6300" y="599686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343" y="1892102"/>
            <a:ext cx="1659011" cy="1169551"/>
          </a:xfrm>
          <a:prstGeom prst="rect">
            <a:avLst/>
          </a:prstGeom>
          <a:solidFill>
            <a:srgbClr val="FFFF00"/>
          </a:solidFill>
          <a:ln w="127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Example:</a:t>
            </a:r>
          </a:p>
          <a:p>
            <a:r>
              <a:rPr lang="en-US" sz="1400" dirty="0" smtClean="0"/>
              <a:t>We have 10 histograms, need 5 histograms per round, for 5 rounds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5696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343" y="144518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Some of our approach (2):</a:t>
            </a:r>
            <a:br>
              <a:rPr lang="en-US" dirty="0"/>
            </a:br>
            <a:r>
              <a:rPr lang="en-US" dirty="0"/>
              <a:t>Use a data several times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27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426300" y="1892102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6300" y="236038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6300" y="2828668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3</a:t>
            </a:r>
            <a:endParaRPr lang="en-US" altLang="zh-TW" sz="16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2426300" y="3267137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4</a:t>
            </a:r>
            <a:endParaRPr lang="en-US" altLang="zh-TW" sz="16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2426300" y="3705606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6300" y="4145109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6300" y="4593959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6300" y="5043843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6300" y="5520354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6300" y="599686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343" y="1892102"/>
            <a:ext cx="1659011" cy="1169551"/>
          </a:xfrm>
          <a:prstGeom prst="rect">
            <a:avLst/>
          </a:prstGeom>
          <a:solidFill>
            <a:srgbClr val="FFFF00"/>
          </a:solidFill>
          <a:ln w="127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Example:</a:t>
            </a:r>
          </a:p>
          <a:p>
            <a:r>
              <a:rPr lang="en-US" sz="1400" dirty="0" smtClean="0"/>
              <a:t>We have 10 histograms, need 5 histograms per round, for 5 rounds</a:t>
            </a:r>
            <a:endParaRPr lang="en-US" sz="1400" dirty="0"/>
          </a:p>
        </p:txBody>
      </p:sp>
      <p:sp>
        <p:nvSpPr>
          <p:cNvPr id="30" name="Rectangle 29"/>
          <p:cNvSpPr/>
          <p:nvPr/>
        </p:nvSpPr>
        <p:spPr>
          <a:xfrm>
            <a:off x="5638772" y="1892102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38772" y="236038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38772" y="2828668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38772" y="3267137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8772" y="3705606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7</a:t>
            </a:r>
            <a:endParaRPr lang="en-US" altLang="zh-TW" sz="1600" dirty="0" smtClean="0"/>
          </a:p>
        </p:txBody>
      </p:sp>
      <p:sp>
        <p:nvSpPr>
          <p:cNvPr id="35" name="Rectangle 34"/>
          <p:cNvSpPr/>
          <p:nvPr/>
        </p:nvSpPr>
        <p:spPr>
          <a:xfrm>
            <a:off x="5638772" y="4145109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8772" y="4593959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38772" y="5043843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38772" y="5520354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38772" y="599686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69488" y="1892102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69488" y="236038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69488" y="2828668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69488" y="3267137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69488" y="3705606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7</a:t>
            </a:r>
            <a:endParaRPr lang="en-US" altLang="zh-TW" sz="1600" dirty="0" smtClean="0"/>
          </a:p>
        </p:txBody>
      </p:sp>
      <p:sp>
        <p:nvSpPr>
          <p:cNvPr id="40" name="TextBox 39"/>
          <p:cNvSpPr txBox="1"/>
          <p:nvPr/>
        </p:nvSpPr>
        <p:spPr>
          <a:xfrm>
            <a:off x="4030699" y="3704545"/>
            <a:ext cx="124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70C0"/>
                </a:solidFill>
              </a:rPr>
              <a:t>Random permutation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364592" y="3796877"/>
            <a:ext cx="124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70C0"/>
                </a:solidFill>
              </a:rPr>
              <a:t>Pick first 5 data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267899" y="4166210"/>
            <a:ext cx="124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70C0"/>
                </a:solidFill>
              </a:rPr>
              <a:t>Data for round 1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44" name="Right Arrow 43"/>
          <p:cNvSpPr/>
          <p:nvPr/>
        </p:nvSpPr>
        <p:spPr>
          <a:xfrm>
            <a:off x="4247035" y="3205129"/>
            <a:ext cx="811851" cy="499416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/>
          <p:cNvSpPr/>
          <p:nvPr/>
        </p:nvSpPr>
        <p:spPr>
          <a:xfrm>
            <a:off x="7580928" y="3197449"/>
            <a:ext cx="811851" cy="499416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1" grpId="0" animBg="1"/>
      <p:bldP spid="52" grpId="0" animBg="1"/>
      <p:bldP spid="57" grpId="0" animBg="1"/>
      <p:bldP spid="58" grpId="0" animBg="1"/>
      <p:bldP spid="59" grpId="0" animBg="1"/>
      <p:bldP spid="60" grpId="0" animBg="1"/>
      <p:bldP spid="40" grpId="0"/>
      <p:bldP spid="42" grpId="0"/>
      <p:bldP spid="43" grpId="0"/>
      <p:bldP spid="44" grpId="0" animBg="1"/>
      <p:bldP spid="4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343" y="133968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Some of our approach </a:t>
            </a:r>
            <a:r>
              <a:rPr lang="en-US" dirty="0" smtClean="0"/>
              <a:t>(2):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 a data several times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28</a:t>
            </a:fld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66343" y="1892102"/>
            <a:ext cx="1659011" cy="1169551"/>
          </a:xfrm>
          <a:prstGeom prst="rect">
            <a:avLst/>
          </a:prstGeom>
          <a:solidFill>
            <a:srgbClr val="FFFF00"/>
          </a:solidFill>
          <a:ln w="127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Example:</a:t>
            </a:r>
          </a:p>
          <a:p>
            <a:r>
              <a:rPr lang="en-US" sz="1400" dirty="0" smtClean="0"/>
              <a:t>We have 10 histograms, need 5 histograms per round, for 5 rounds</a:t>
            </a:r>
            <a:endParaRPr lang="en-US" sz="1400" dirty="0"/>
          </a:p>
        </p:txBody>
      </p:sp>
      <p:sp>
        <p:nvSpPr>
          <p:cNvPr id="3" name="Right Arrow 2"/>
          <p:cNvSpPr/>
          <p:nvPr/>
        </p:nvSpPr>
        <p:spPr>
          <a:xfrm>
            <a:off x="4247035" y="3205129"/>
            <a:ext cx="811851" cy="499416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351177" y="1892102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51177" y="236038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51177" y="2828668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51177" y="3267137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51177" y="3705606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7</a:t>
            </a:r>
            <a:endParaRPr lang="en-US" altLang="zh-TW" sz="1600" dirty="0" smtClean="0"/>
          </a:p>
        </p:txBody>
      </p:sp>
      <p:sp>
        <p:nvSpPr>
          <p:cNvPr id="35" name="Rectangle 34"/>
          <p:cNvSpPr/>
          <p:nvPr/>
        </p:nvSpPr>
        <p:spPr>
          <a:xfrm>
            <a:off x="2351177" y="4145109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51177" y="4593959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51177" y="5043843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1177" y="5520354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1177" y="599686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69488" y="1892102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69488" y="236038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69488" y="2828668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69488" y="3267137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5</a:t>
            </a:r>
            <a:endParaRPr lang="en-US" altLang="zh-TW" sz="1600" dirty="0" smtClean="0"/>
          </a:p>
        </p:txBody>
      </p:sp>
      <p:sp>
        <p:nvSpPr>
          <p:cNvPr id="60" name="Rectangle 59"/>
          <p:cNvSpPr/>
          <p:nvPr/>
        </p:nvSpPr>
        <p:spPr>
          <a:xfrm>
            <a:off x="9169488" y="3705606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7</a:t>
            </a:r>
            <a:endParaRPr lang="en-US" altLang="zh-TW" sz="1600" dirty="0" smtClean="0"/>
          </a:p>
        </p:txBody>
      </p:sp>
      <p:sp>
        <p:nvSpPr>
          <p:cNvPr id="40" name="TextBox 39"/>
          <p:cNvSpPr txBox="1"/>
          <p:nvPr/>
        </p:nvSpPr>
        <p:spPr>
          <a:xfrm>
            <a:off x="4030699" y="3704545"/>
            <a:ext cx="124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70C0"/>
                </a:solidFill>
              </a:rPr>
              <a:t>Repeat random permutation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364592" y="3796877"/>
            <a:ext cx="124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70C0"/>
                </a:solidFill>
              </a:rPr>
              <a:t>Repeat Pick first 5 data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267899" y="4166210"/>
            <a:ext cx="1244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070C0"/>
                </a:solidFill>
              </a:rPr>
              <a:t>Data for round 2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460650" y="1892102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60650" y="236038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60650" y="2817253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60650" y="3267137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60650" y="3705606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7</a:t>
            </a:r>
            <a:endParaRPr lang="en-US" altLang="zh-TW" sz="1600" dirty="0" smtClean="0"/>
          </a:p>
        </p:txBody>
      </p:sp>
      <p:sp>
        <p:nvSpPr>
          <p:cNvPr id="49" name="Rectangle 48"/>
          <p:cNvSpPr/>
          <p:nvPr/>
        </p:nvSpPr>
        <p:spPr>
          <a:xfrm>
            <a:off x="5460650" y="4145109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60650" y="4593959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Histogram </a:t>
            </a:r>
            <a:r>
              <a:rPr lang="en-US" altLang="zh-TW" sz="1600" dirty="0" smtClean="0"/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60650" y="5043843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60650" y="5520354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0650" y="5996865"/>
            <a:ext cx="1441348" cy="3600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Histogram 10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7580928" y="3177293"/>
            <a:ext cx="811851" cy="499416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9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1" grpId="0" animBg="1"/>
      <p:bldP spid="52" grpId="0" animBg="1"/>
      <p:bldP spid="57" grpId="0" animBg="1"/>
      <p:bldP spid="58" grpId="0" animBg="1"/>
      <p:bldP spid="59" grpId="0" animBg="1"/>
      <p:bldP spid="60" grpId="0" animBg="1"/>
      <p:bldP spid="40" grpId="0"/>
      <p:bldP spid="42" grpId="0"/>
      <p:bldP spid="43" grpId="0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3" grpId="0" animBg="1"/>
      <p:bldP spid="54" grpId="0" animBg="1"/>
      <p:bldP spid="5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343" y="133968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Some of our approach </a:t>
            </a:r>
            <a:r>
              <a:rPr lang="en-US" dirty="0" smtClean="0"/>
              <a:t>(3):</a:t>
            </a:r>
            <a:br>
              <a:rPr lang="en-US" dirty="0" smtClean="0"/>
            </a:br>
            <a:r>
              <a:rPr lang="en-US" dirty="0" smtClean="0"/>
              <a:t>N-Fold Cross Validation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t>29</a:t>
            </a:fld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867514" y="2989173"/>
            <a:ext cx="10915650" cy="132343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8000" dirty="0" smtClean="0"/>
              <a:t>Later in the last session..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94233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Problem in Random Sampling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Case: bankruptcy prediction 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097280" y="4325112"/>
            <a:ext cx="10058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56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305" y="109059"/>
            <a:ext cx="10058400" cy="119184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Random Sampling in </a:t>
            </a:r>
            <a:br>
              <a:rPr lang="en-US" dirty="0" smtClean="0"/>
            </a:br>
            <a:r>
              <a:rPr lang="en-US" dirty="0" smtClean="0"/>
              <a:t>Imbalanced Data set (Bankruptcy Prediction)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6845587"/>
              </p:ext>
            </p:extLst>
          </p:nvPr>
        </p:nvGraphicFramePr>
        <p:xfrm>
          <a:off x="581229" y="2129591"/>
          <a:ext cx="4624791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9810">
                  <a:extLst>
                    <a:ext uri="{9D8B030D-6E8A-4147-A177-3AD203B41FA5}">
                      <a16:colId xmlns:a16="http://schemas.microsoft.com/office/drawing/2014/main" val="2509743775"/>
                    </a:ext>
                  </a:extLst>
                </a:gridCol>
                <a:gridCol w="2384981">
                  <a:extLst>
                    <a:ext uri="{9D8B030D-6E8A-4147-A177-3AD203B41FA5}">
                      <a16:colId xmlns:a16="http://schemas.microsoft.com/office/drawing/2014/main" val="290374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Number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of Company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64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Normal Company (+)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10,000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2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Bankrupt Company (-)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83542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>
            <a:off x="5497485" y="2179579"/>
            <a:ext cx="1508762" cy="1062534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9176" y="2179579"/>
            <a:ext cx="379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Split the data for 5 round experiment !</a:t>
            </a:r>
            <a:endParaRPr lang="en-US" dirty="0"/>
          </a:p>
        </p:txBody>
      </p:sp>
      <p:sp>
        <p:nvSpPr>
          <p:cNvPr id="8" name="Flowchart: Magnetic Disk 7"/>
          <p:cNvSpPr/>
          <p:nvPr/>
        </p:nvSpPr>
        <p:spPr>
          <a:xfrm>
            <a:off x="7360576" y="2738976"/>
            <a:ext cx="731444" cy="100627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Round 1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Flowchart: Magnetic Disk 8"/>
          <p:cNvSpPr/>
          <p:nvPr/>
        </p:nvSpPr>
        <p:spPr>
          <a:xfrm>
            <a:off x="8324506" y="2738976"/>
            <a:ext cx="731444" cy="100627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Round 2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Flowchart: Magnetic Disk 9"/>
          <p:cNvSpPr/>
          <p:nvPr/>
        </p:nvSpPr>
        <p:spPr>
          <a:xfrm>
            <a:off x="9288436" y="2738976"/>
            <a:ext cx="731444" cy="100627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Round 3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Flowchart: Magnetic Disk 10"/>
          <p:cNvSpPr/>
          <p:nvPr/>
        </p:nvSpPr>
        <p:spPr>
          <a:xfrm>
            <a:off x="10252366" y="2738975"/>
            <a:ext cx="731444" cy="100627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Round 4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Flowchart: Magnetic Disk 11"/>
          <p:cNvSpPr/>
          <p:nvPr/>
        </p:nvSpPr>
        <p:spPr>
          <a:xfrm>
            <a:off x="11216296" y="2738975"/>
            <a:ext cx="731444" cy="1006273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Round 5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456" y="4414998"/>
            <a:ext cx="1188720" cy="4360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Train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65532" y="4414998"/>
            <a:ext cx="1188720" cy="4360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Test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8" idx="3"/>
            <a:endCxn id="13" idx="0"/>
          </p:cNvCxnSpPr>
          <p:nvPr/>
        </p:nvCxnSpPr>
        <p:spPr>
          <a:xfrm flipH="1">
            <a:off x="6994816" y="3745249"/>
            <a:ext cx="731482" cy="66974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3"/>
            <a:endCxn id="14" idx="0"/>
          </p:cNvCxnSpPr>
          <p:nvPr/>
        </p:nvCxnSpPr>
        <p:spPr>
          <a:xfrm>
            <a:off x="7726298" y="3745249"/>
            <a:ext cx="833594" cy="669749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00456" y="5322200"/>
            <a:ext cx="5384069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In total, we need 10 sets of data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6359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305" y="109059"/>
            <a:ext cx="10058400" cy="119184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Random Sampling in </a:t>
            </a:r>
            <a:br>
              <a:rPr lang="en-US" dirty="0" smtClean="0"/>
            </a:br>
            <a:r>
              <a:rPr lang="en-US" dirty="0" smtClean="0"/>
              <a:t>Imbalanced Data set (FDP Case)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9201226"/>
              </p:ext>
            </p:extLst>
          </p:nvPr>
        </p:nvGraphicFramePr>
        <p:xfrm>
          <a:off x="581229" y="2129591"/>
          <a:ext cx="4624791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9810">
                  <a:extLst>
                    <a:ext uri="{9D8B030D-6E8A-4147-A177-3AD203B41FA5}">
                      <a16:colId xmlns:a16="http://schemas.microsoft.com/office/drawing/2014/main" val="2509743775"/>
                    </a:ext>
                  </a:extLst>
                </a:gridCol>
                <a:gridCol w="2384981">
                  <a:extLst>
                    <a:ext uri="{9D8B030D-6E8A-4147-A177-3AD203B41FA5}">
                      <a16:colId xmlns:a16="http://schemas.microsoft.com/office/drawing/2014/main" val="290374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Number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of Company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64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Normal Company (+)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10,000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2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Bankrupt Company (-)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83542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>
            <a:off x="5497485" y="2179579"/>
            <a:ext cx="1508762" cy="1062534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800" dirty="0">
              <a:solidFill>
                <a:schemeClr val="tx1"/>
              </a:solidFill>
            </a:endParaRPr>
          </a:p>
        </p:txBody>
      </p:sp>
      <p:graphicFrame>
        <p:nvGraphicFramePr>
          <p:cNvPr id="18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6410558"/>
              </p:ext>
            </p:extLst>
          </p:nvPr>
        </p:nvGraphicFramePr>
        <p:xfrm>
          <a:off x="7297712" y="2179579"/>
          <a:ext cx="4624791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9810">
                  <a:extLst>
                    <a:ext uri="{9D8B030D-6E8A-4147-A177-3AD203B41FA5}">
                      <a16:colId xmlns:a16="http://schemas.microsoft.com/office/drawing/2014/main" val="2509743775"/>
                    </a:ext>
                  </a:extLst>
                </a:gridCol>
                <a:gridCol w="2384981">
                  <a:extLst>
                    <a:ext uri="{9D8B030D-6E8A-4147-A177-3AD203B41FA5}">
                      <a16:colId xmlns:a16="http://schemas.microsoft.com/office/drawing/2014/main" val="290374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Number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of Company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64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Normal Company (+)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2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Bankrupt Company (-)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835423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3366464" y="3801447"/>
            <a:ext cx="5770804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Data for each class is imbalance, </a:t>
            </a:r>
          </a:p>
          <a:p>
            <a:pPr algn="ctr"/>
            <a:r>
              <a:rPr lang="en-US" dirty="0" smtClean="0"/>
              <a:t>Imbalance data will reduce classifier’s performance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05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806" y="103470"/>
            <a:ext cx="10939786" cy="119184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Random Sampling in </a:t>
            </a:r>
            <a:br>
              <a:rPr lang="en-US" dirty="0" smtClean="0"/>
            </a:br>
            <a:r>
              <a:rPr lang="en-US" dirty="0" smtClean="0"/>
              <a:t>Imbalanced Data set (Bankruptcy Prediction Case)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112290"/>
              </p:ext>
            </p:extLst>
          </p:nvPr>
        </p:nvGraphicFramePr>
        <p:xfrm>
          <a:off x="578806" y="2145418"/>
          <a:ext cx="4624791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9810">
                  <a:extLst>
                    <a:ext uri="{9D8B030D-6E8A-4147-A177-3AD203B41FA5}">
                      <a16:colId xmlns:a16="http://schemas.microsoft.com/office/drawing/2014/main" val="2509743775"/>
                    </a:ext>
                  </a:extLst>
                </a:gridCol>
                <a:gridCol w="2384981">
                  <a:extLst>
                    <a:ext uri="{9D8B030D-6E8A-4147-A177-3AD203B41FA5}">
                      <a16:colId xmlns:a16="http://schemas.microsoft.com/office/drawing/2014/main" val="290374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Number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of Company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64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Normal Company (+)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10,000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2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Bankrupt Company (-)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83542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36" r="61920" b="10236"/>
          <a:stretch/>
        </p:blipFill>
        <p:spPr>
          <a:xfrm>
            <a:off x="7048018" y="1664320"/>
            <a:ext cx="928540" cy="8248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07"/>
          <a:stretch/>
        </p:blipFill>
        <p:spPr>
          <a:xfrm>
            <a:off x="7001439" y="2852587"/>
            <a:ext cx="1021697" cy="15104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57" r="49835"/>
          <a:stretch/>
        </p:blipFill>
        <p:spPr>
          <a:xfrm>
            <a:off x="6653111" y="4656859"/>
            <a:ext cx="1718351" cy="1257864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endCxn id="7" idx="1"/>
          </p:cNvCxnSpPr>
          <p:nvPr/>
        </p:nvCxnSpPr>
        <p:spPr>
          <a:xfrm flipV="1">
            <a:off x="5354425" y="2076743"/>
            <a:ext cx="1693593" cy="666457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10" idx="1"/>
          </p:cNvCxnSpPr>
          <p:nvPr/>
        </p:nvCxnSpPr>
        <p:spPr>
          <a:xfrm>
            <a:off x="5354425" y="2743200"/>
            <a:ext cx="1647014" cy="86461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354425" y="2743200"/>
            <a:ext cx="1508520" cy="254259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448693" y="3175505"/>
            <a:ext cx="1552746" cy="595217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448693" y="3175505"/>
            <a:ext cx="1315938" cy="240411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149793" y="6283733"/>
            <a:ext cx="4755298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No small size company in bankrupt dataset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8240889" y="1948109"/>
            <a:ext cx="1563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Asset: $10,000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8161630" y="3473113"/>
            <a:ext cx="1855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Asset: $1,000,000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8648190" y="5101125"/>
            <a:ext cx="2089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Asset: $100,000,000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95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305" y="109059"/>
            <a:ext cx="10058400" cy="119184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Random Sampling in </a:t>
            </a:r>
            <a:br>
              <a:rPr lang="en-US" dirty="0" smtClean="0"/>
            </a:br>
            <a:r>
              <a:rPr lang="en-US" dirty="0" smtClean="0"/>
              <a:t>Imbalanced Data set (FDP Case)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0B7D-7CE2-423E-A609-5BC5140947F8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965305" y="1848995"/>
            <a:ext cx="8502264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How to create balanced dataset for financial distress prediction?</a:t>
            </a:r>
            <a:endParaRPr lang="en-US" sz="2400" dirty="0"/>
          </a:p>
        </p:txBody>
      </p:sp>
      <p:sp>
        <p:nvSpPr>
          <p:cNvPr id="17" name="Rectangle 16"/>
          <p:cNvSpPr/>
          <p:nvPr/>
        </p:nvSpPr>
        <p:spPr>
          <a:xfrm>
            <a:off x="965304" y="2627923"/>
            <a:ext cx="10413895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Each sample set must contain company from all categories (small, medium, high)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2392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593500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23728</TotalTime>
  <Words>1337</Words>
  <Application>Microsoft Office PowerPoint</Application>
  <PresentationFormat>Widescreen</PresentationFormat>
  <Paragraphs>451</Paragraphs>
  <Slides>34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  <vt:variant>
        <vt:lpstr>Custom Shows</vt:lpstr>
      </vt:variant>
      <vt:variant>
        <vt:i4>1</vt:i4>
      </vt:variant>
    </vt:vector>
  </HeadingPairs>
  <TitlesOfParts>
    <vt:vector size="43" baseType="lpstr">
      <vt:lpstr>Lato</vt:lpstr>
      <vt:lpstr>Lato Black</vt:lpstr>
      <vt:lpstr>Lato Light</vt:lpstr>
      <vt:lpstr>新細明體</vt:lpstr>
      <vt:lpstr>Calibri</vt:lpstr>
      <vt:lpstr>Calibri Light</vt:lpstr>
      <vt:lpstr>Wingdings</vt:lpstr>
      <vt:lpstr>Retrospect</vt:lpstr>
      <vt:lpstr> Experiment Design</vt:lpstr>
      <vt:lpstr>Today’s topic:</vt:lpstr>
      <vt:lpstr>PowerPoint Presentation</vt:lpstr>
      <vt:lpstr>Experiment Result: Academic Paper</vt:lpstr>
      <vt:lpstr>Experiment Result: Kaggle Competition</vt:lpstr>
      <vt:lpstr>PowerPoint Presentation</vt:lpstr>
      <vt:lpstr>Experiment Design</vt:lpstr>
      <vt:lpstr>Example of bad experiment design</vt:lpstr>
      <vt:lpstr>Random Sampling</vt:lpstr>
      <vt:lpstr>Random Sampling: Motivation</vt:lpstr>
      <vt:lpstr>Random Sampling: Motivation</vt:lpstr>
      <vt:lpstr>Random Sampling: Motivation</vt:lpstr>
      <vt:lpstr>Random Sampling: Motivation</vt:lpstr>
      <vt:lpstr>Random Sampling</vt:lpstr>
      <vt:lpstr>Data in Smartphone Authentication Team:  </vt:lpstr>
      <vt:lpstr>Data in Smartphone Authentication Team:  </vt:lpstr>
      <vt:lpstr>Our Dataset</vt:lpstr>
      <vt:lpstr>Flick Statistics with 5 flicks per histogram</vt:lpstr>
      <vt:lpstr>Imbalanced Data (Bankruptcy Prediction Case)</vt:lpstr>
      <vt:lpstr>How we build “ready-to-use” dataset?</vt:lpstr>
      <vt:lpstr>How we build “ready-to-use” dataset?</vt:lpstr>
      <vt:lpstr>Simple Random Sampling:  Keep the data distribution of each category</vt:lpstr>
      <vt:lpstr>Simple Random Sampling:  Keep the data distribution of each category</vt:lpstr>
      <vt:lpstr>Some of our approach (1): Internal random permutation before sampling</vt:lpstr>
      <vt:lpstr>Some of our approach (2): Use a data several times</vt:lpstr>
      <vt:lpstr>Some of our approach (2): Use a data several times</vt:lpstr>
      <vt:lpstr>Some of our approach (2): Use a data several times</vt:lpstr>
      <vt:lpstr>Some of our approach (2): Use a data several times</vt:lpstr>
      <vt:lpstr>Some of our approach (3): N-Fold Cross Validation</vt:lpstr>
      <vt:lpstr>Problem in Random Sampling</vt:lpstr>
      <vt:lpstr>Random Sampling in  Imbalanced Data set (Bankruptcy Prediction)</vt:lpstr>
      <vt:lpstr>Random Sampling in  Imbalanced Data set (FDP Case)</vt:lpstr>
      <vt:lpstr>Random Sampling in  Imbalanced Data set (Bankruptcy Prediction Case)</vt:lpstr>
      <vt:lpstr>Random Sampling in  Imbalanced Data set (FDP Case)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Review</dc:title>
  <dc:creator>sufia</dc:creator>
  <cp:lastModifiedBy>Asyrofa Rahmi</cp:lastModifiedBy>
  <cp:revision>523</cp:revision>
  <dcterms:created xsi:type="dcterms:W3CDTF">2016-04-08T12:01:43Z</dcterms:created>
  <dcterms:modified xsi:type="dcterms:W3CDTF">2022-04-16T11:40:52Z</dcterms:modified>
</cp:coreProperties>
</file>