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37"/>
  </p:notesMasterIdLst>
  <p:sldIdLst>
    <p:sldId id="256" r:id="rId2"/>
    <p:sldId id="267" r:id="rId3"/>
    <p:sldId id="277" r:id="rId4"/>
    <p:sldId id="278" r:id="rId5"/>
    <p:sldId id="304" r:id="rId6"/>
    <p:sldId id="305" r:id="rId7"/>
    <p:sldId id="303" r:id="rId8"/>
    <p:sldId id="306" r:id="rId9"/>
    <p:sldId id="308" r:id="rId10"/>
    <p:sldId id="310" r:id="rId11"/>
    <p:sldId id="309" r:id="rId12"/>
    <p:sldId id="279" r:id="rId13"/>
    <p:sldId id="280" r:id="rId14"/>
    <p:sldId id="281" r:id="rId15"/>
    <p:sldId id="282" r:id="rId16"/>
    <p:sldId id="284" r:id="rId17"/>
    <p:sldId id="283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311" r:id="rId26"/>
    <p:sldId id="312" r:id="rId27"/>
    <p:sldId id="294" r:id="rId28"/>
    <p:sldId id="314" r:id="rId29"/>
    <p:sldId id="293" r:id="rId30"/>
    <p:sldId id="296" r:id="rId31"/>
    <p:sldId id="316" r:id="rId32"/>
    <p:sldId id="297" r:id="rId33"/>
    <p:sldId id="299" r:id="rId34"/>
    <p:sldId id="302" r:id="rId35"/>
    <p:sldId id="300" r:id="rId36"/>
  </p:sldIdLst>
  <p:sldSz cx="12192000" cy="6858000"/>
  <p:notesSz cx="6858000" cy="9144000"/>
  <p:custShowLst>
    <p:custShow name="Custom Show 1" id="0">
      <p:sldLst>
        <p:sld r:id="rId2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FB47730-A398-4FC4-B34F-C780EC8F40D9}">
          <p14:sldIdLst>
            <p14:sldId id="256"/>
            <p14:sldId id="267"/>
            <p14:sldId id="277"/>
            <p14:sldId id="278"/>
            <p14:sldId id="304"/>
            <p14:sldId id="305"/>
            <p14:sldId id="303"/>
            <p14:sldId id="306"/>
            <p14:sldId id="308"/>
            <p14:sldId id="310"/>
            <p14:sldId id="309"/>
            <p14:sldId id="279"/>
            <p14:sldId id="280"/>
            <p14:sldId id="281"/>
            <p14:sldId id="282"/>
            <p14:sldId id="284"/>
            <p14:sldId id="283"/>
            <p14:sldId id="285"/>
            <p14:sldId id="286"/>
            <p14:sldId id="287"/>
            <p14:sldId id="288"/>
            <p14:sldId id="289"/>
            <p14:sldId id="290"/>
            <p14:sldId id="291"/>
            <p14:sldId id="311"/>
            <p14:sldId id="312"/>
            <p14:sldId id="294"/>
            <p14:sldId id="314"/>
            <p14:sldId id="293"/>
            <p14:sldId id="296"/>
            <p14:sldId id="316"/>
            <p14:sldId id="297"/>
            <p14:sldId id="299"/>
            <p14:sldId id="302"/>
            <p14:sldId id="3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1903BD"/>
    <a:srgbClr val="E70FB9"/>
    <a:srgbClr val="00F0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73" autoAdjust="0"/>
    <p:restoredTop sz="94660"/>
  </p:normalViewPr>
  <p:slideViewPr>
    <p:cSldViewPr snapToGrid="0">
      <p:cViewPr varScale="1">
        <p:scale>
          <a:sx n="86" d="100"/>
          <a:sy n="86" d="100"/>
        </p:scale>
        <p:origin x="624" y="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20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0_Research\Meeting_20210316%20(Teaching%20Material)\0319\KLD%20Sourc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X</c:v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numRef>
              <c:f>Sheet1!$F$3:$F$8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Sheet1!$G$3:$G$8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0.3</c:v>
                </c:pt>
                <c:pt idx="3">
                  <c:v>0.5</c:v>
                </c:pt>
                <c:pt idx="4">
                  <c:v>0.2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41-4C97-B6DB-43A6925C27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Q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Sheet1!$E$13</c:f>
              <c:strCache>
                <c:ptCount val="1"/>
                <c:pt idx="0">
                  <c:v>Y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F5B-40C3-97E1-590AB3CA8197}"/>
              </c:ext>
            </c:extLst>
          </c:dPt>
          <c:dPt>
            <c:idx val="4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DF5B-40C3-97E1-590AB3CA8197}"/>
              </c:ext>
            </c:extLst>
          </c:dPt>
          <c:cat>
            <c:numRef>
              <c:f>Sheet1!$F$13:$F$18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cat>
          <c:val>
            <c:numRef>
              <c:f>Sheet1!$G$13:$G$18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0.6</c:v>
                </c:pt>
                <c:pt idx="4">
                  <c:v>0.4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5B-40C3-97E1-590AB3CA81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3690479"/>
        <c:axId val="2083683823"/>
      </c:barChart>
      <c:catAx>
        <c:axId val="2083690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83823"/>
        <c:crosses val="autoZero"/>
        <c:auto val="1"/>
        <c:lblAlgn val="ctr"/>
        <c:lblOffset val="100"/>
        <c:noMultiLvlLbl val="0"/>
      </c:catAx>
      <c:valAx>
        <c:axId val="2083683823"/>
        <c:scaling>
          <c:orientation val="minMax"/>
          <c:max val="0.60000000000000009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69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DDCA8A-45F6-4C39-84CC-636E675FA1CA}" type="datetimeFigureOut">
              <a:rPr lang="en-US" smtClean="0"/>
              <a:t>3/25/2022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0F661-FDA6-4479-AFA7-E202DECA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29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40F661-FDA6-4479-AFA7-E202DECA8A4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23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706E-8465-4CE4-9862-022A5144B3EB}" type="datetime1">
              <a:rPr lang="en-US" smtClean="0"/>
              <a:t>3/25/2022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25623" y="6446837"/>
            <a:ext cx="1312025" cy="365125"/>
          </a:xfrm>
        </p:spPr>
        <p:txBody>
          <a:bodyPr/>
          <a:lstStyle/>
          <a:p>
            <a:fld id="{1D790B7D-7CE2-423E-A609-5BC5140947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918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9631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7A3B-7328-4F4F-BEE9-55D2BDEFE8BB}" type="datetime1">
              <a:rPr lang="en-US" smtClean="0"/>
              <a:t>3/25/2022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44511" y="6448580"/>
            <a:ext cx="1312025" cy="365125"/>
          </a:xfrm>
        </p:spPr>
        <p:txBody>
          <a:bodyPr/>
          <a:lstStyle/>
          <a:p>
            <a:fld id="{1D790B7D-7CE2-423E-A609-5BC5140947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27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4C101-3C25-4364-A971-C7D612A3EF03}" type="datetime1">
              <a:rPr lang="en-US" smtClean="0"/>
              <a:t>3/25/2022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633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FD85B-A7A6-43DF-9760-CC4E4926F2D3}" type="datetime1">
              <a:rPr lang="en-US" smtClean="0"/>
              <a:t>3/25/2022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30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2B832-0DE8-484F-8AF7-A77E1EE5292C}" type="datetime1">
              <a:rPr lang="en-US" smtClean="0"/>
              <a:t>3/25/2022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001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9C08-82D8-42D2-8CD0-92433DDEB378}" type="datetime1">
              <a:rPr lang="en-US" smtClean="0"/>
              <a:t>3/25/2022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430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A7375-0584-46A6-B835-7510ED15CC4D}" type="datetime1">
              <a:rPr lang="en-US" smtClean="0"/>
              <a:t>3/25/2022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327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04A2E72-BFA1-483E-9AAC-7B1EBCE08D02}" type="datetime1">
              <a:rPr lang="en-US" smtClean="0"/>
              <a:t>3/25/2022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790B7D-7CE2-423E-A609-5BC514094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770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3A99B-0CE1-47E4-9691-AFF161B2C842}" type="datetime1">
              <a:rPr lang="en-US" smtClean="0"/>
              <a:t>3/25/2022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35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8989-F10D-4185-B43F-EA36769DA4E0}" type="datetime1">
              <a:rPr lang="en-US" smtClean="0"/>
              <a:t>3/25/2022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36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5AE6C-9AB9-4259-AB1A-C77F4C8DD467}" type="datetime1">
              <a:rPr lang="en-US" smtClean="0"/>
              <a:t>3/25/2022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761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0181BBA-3430-47BC-A533-F1254AC2AC63}" type="datetime1">
              <a:rPr lang="en-US" smtClean="0"/>
              <a:t>3/25/2022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444511" y="64216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00">
                <a:solidFill>
                  <a:srgbClr val="FFFFFF"/>
                </a:solidFill>
              </a:defRPr>
            </a:lvl1pPr>
          </a:lstStyle>
          <a:p>
            <a:fld id="{1D790B7D-7CE2-423E-A609-5BC5140947F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48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60.png"/><Relationship Id="rId4" Type="http://schemas.openxmlformats.org/officeDocument/2006/relationships/image" Target="../media/image15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3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KL Divergence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2022-03-21</a:t>
            </a:r>
          </a:p>
          <a:p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1097280" y="4325112"/>
            <a:ext cx="10058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287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Authentication Problem: 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Find most similar data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2</a:t>
            </a:fld>
            <a:endParaRPr lang="zh-TW" altLang="en-US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7271776" y="3165966"/>
            <a:ext cx="4962925" cy="80427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is X positive or negative?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058271" y="6117688"/>
            <a:ext cx="4581238" cy="24182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1330744" y="2240516"/>
            <a:ext cx="0" cy="4181974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27097" y="5929496"/>
            <a:ext cx="589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477" y="2127821"/>
            <a:ext cx="589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35289" y="4057121"/>
            <a:ext cx="44435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54818" y="4246681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61740" y="4062976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299" y="3983308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21062" y="4154837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271776" y="2279540"/>
            <a:ext cx="1847850" cy="657040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7333138" y="2438828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63849" y="2538595"/>
            <a:ext cx="1477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Negative data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72384" y="2291081"/>
            <a:ext cx="1378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Positive data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50683" y="227954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91877" y="2389814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996603" y="2533085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531910" y="2794695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34921" y="2771085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432141" y="2737225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59430" y="3056305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604646" y="2451094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373768" y="2572872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59339" y="4088894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42316" y="2384707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566054" y="4504093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215063" y="4411418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065052" y="2803731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461772" y="2402331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361514" y="3152473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066240" y="3295744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927922" y="3808544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501778" y="3499884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56921" y="4098199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674283" y="3213753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863857" y="2952143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909284" y="2602574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577600" y="2952865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226609" y="2860190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001193" y="3431107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31409" y="3164990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684310" y="2947095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217452" y="2956131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836710" y="3099495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369852" y="3108531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989110" y="3251895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522252" y="3260931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974427" y="3556695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317667" y="3458645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312913" y="4589640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319835" y="4405935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526394" y="4326267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479157" y="4497796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888353" y="4056580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895275" y="3872875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101834" y="3793207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054597" y="3964736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834142" y="4632325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841064" y="4448620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047623" y="4368952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000386" y="4540481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024806" y="5026617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031728" y="4842912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238287" y="4763244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191050" y="4934773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91186" y="4468503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798108" y="4284798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004667" y="4205130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957430" y="4376659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678902" y="4085389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685824" y="3901684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892383" y="3822016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845146" y="3993545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625626" y="5149722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632548" y="4966017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839107" y="4886349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791870" y="5057878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440872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Oval 100"/>
          <p:cNvSpPr/>
          <p:nvPr/>
        </p:nvSpPr>
        <p:spPr>
          <a:xfrm rot="1573293">
            <a:off x="2395670" y="2636129"/>
            <a:ext cx="4402462" cy="166292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1644687" y="3688210"/>
            <a:ext cx="1815852" cy="1815852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Authentication Problem: 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Find most similar data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3</a:t>
            </a:fld>
            <a:endParaRPr lang="zh-TW" altLang="en-US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7229075" y="3412390"/>
            <a:ext cx="4962925" cy="2886437"/>
          </a:xfrm>
          <a:prstGeom prst="rect">
            <a:avLst/>
          </a:prstGeom>
        </p:spPr>
        <p:txBody>
          <a:bodyPr vert="horz" lIns="0" tIns="45720" rIns="0" bIns="45720" rtlCol="0">
            <a:normAutofit fontScale="85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is X positive or negative?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We can determine by calculating distance from X to positive and negative data. 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Which </a:t>
            </a:r>
            <a:r>
              <a:rPr lang="en-US" altLang="zh-TW" sz="2800" dirty="0" err="1"/>
              <a:t>pos</a:t>
            </a:r>
            <a:r>
              <a:rPr lang="en-US" altLang="zh-TW" sz="2800" dirty="0"/>
              <a:t>/</a:t>
            </a:r>
            <a:r>
              <a:rPr lang="en-US" altLang="zh-TW" sz="2800" dirty="0" err="1"/>
              <a:t>neg</a:t>
            </a:r>
            <a:r>
              <a:rPr lang="en-US" altLang="zh-TW" sz="2800" dirty="0"/>
              <a:t> data? Use mean as representation of positive and negative data.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X will belong to the closest mean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058271" y="6117688"/>
            <a:ext cx="4581238" cy="24182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1330744" y="2240516"/>
            <a:ext cx="0" cy="4181974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27097" y="5929496"/>
            <a:ext cx="589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477" y="2127821"/>
            <a:ext cx="589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35289" y="4057121"/>
            <a:ext cx="44435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54818" y="4246681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61740" y="4062976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299" y="3983308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21062" y="4154837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271776" y="2279540"/>
            <a:ext cx="1847850" cy="657040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7333138" y="2438828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63849" y="2538595"/>
            <a:ext cx="1477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Negative data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72384" y="2291081"/>
            <a:ext cx="1378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Positive data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50683" y="227954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91877" y="2389814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996603" y="2533085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531910" y="2794695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34921" y="2771085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432141" y="2737225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59430" y="3056305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604646" y="2451094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373768" y="2572872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59339" y="4088894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42316" y="2384707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566054" y="4504093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215063" y="4411418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065052" y="2803731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461772" y="2402331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361514" y="3152473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066240" y="3295744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927922" y="3808544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501778" y="3499884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56921" y="4098199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674283" y="3213753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863857" y="2952143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745379" y="3185902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577600" y="2952865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226609" y="2860190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001193" y="3431107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31409" y="3164990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684310" y="2947095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217452" y="2956131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836710" y="3099495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369852" y="3108531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989110" y="3251895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522252" y="3260931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974427" y="3556695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317667" y="3458645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-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312913" y="4589640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319835" y="4405935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526394" y="4326267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479157" y="4497796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888353" y="4056580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895275" y="3872875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101834" y="3793207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054597" y="3964736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834142" y="4632325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841064" y="4448620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047623" y="4368952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000386" y="4540481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024806" y="5026617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031728" y="4842912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238287" y="4763244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191050" y="4934773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91186" y="4468503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798108" y="4284798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004667" y="4205130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957430" y="4376659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678902" y="4085389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685824" y="3901684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892383" y="3822016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845146" y="3993545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625626" y="5149722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632548" y="4966017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839107" y="4886349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791870" y="5057878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307113" y="4045778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307172" y="2572872"/>
            <a:ext cx="5613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FF0000"/>
                </a:solidFill>
              </a:rPr>
              <a:t>-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2763664" y="4460374"/>
            <a:ext cx="726968" cy="131704"/>
          </a:xfrm>
          <a:prstGeom prst="straightConnector1">
            <a:avLst/>
          </a:prstGeom>
          <a:ln w="635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>
            <a:endCxn id="36" idx="3"/>
          </p:cNvCxnSpPr>
          <p:nvPr/>
        </p:nvCxnSpPr>
        <p:spPr>
          <a:xfrm flipH="1">
            <a:off x="3879641" y="3526751"/>
            <a:ext cx="697960" cy="915091"/>
          </a:xfrm>
          <a:prstGeom prst="straightConnector1">
            <a:avLst/>
          </a:prstGeom>
          <a:ln w="635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743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3" grpId="0" animBg="1"/>
      <p:bldP spid="83" grpId="0"/>
      <p:bldP spid="14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How to measure a distance?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4</a:t>
            </a:fld>
            <a:endParaRPr lang="zh-TW" altLang="en-US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7247708" y="3815209"/>
            <a:ext cx="4962925" cy="2886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Use Euclidean Distance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D =      </a:t>
            </a:r>
            <a:r>
              <a:rPr lang="el-GR" altLang="zh-TW" sz="2800" dirty="0"/>
              <a:t>Δ</a:t>
            </a:r>
            <a:r>
              <a:rPr lang="en-US" altLang="zh-TW" sz="2800" dirty="0"/>
              <a:t>x</a:t>
            </a:r>
            <a:r>
              <a:rPr lang="en-US" altLang="zh-TW" sz="2800" baseline="-25000" dirty="0"/>
              <a:t>1</a:t>
            </a:r>
            <a:r>
              <a:rPr lang="en-US" altLang="zh-TW" sz="2800" baseline="30000" dirty="0"/>
              <a:t>2</a:t>
            </a:r>
            <a:r>
              <a:rPr lang="en-US" altLang="zh-TW" sz="2800" dirty="0"/>
              <a:t> + </a:t>
            </a:r>
            <a:r>
              <a:rPr lang="el-GR" altLang="zh-TW" sz="2800" dirty="0"/>
              <a:t>Δ</a:t>
            </a:r>
            <a:r>
              <a:rPr lang="en-US" altLang="zh-TW" sz="2800" dirty="0"/>
              <a:t>x</a:t>
            </a:r>
            <a:r>
              <a:rPr lang="en-US" altLang="zh-TW" sz="2800" baseline="-25000" dirty="0"/>
              <a:t>2</a:t>
            </a:r>
            <a:r>
              <a:rPr lang="en-US" altLang="zh-TW" sz="2800" baseline="30000" dirty="0"/>
              <a:t>2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058271" y="6117688"/>
            <a:ext cx="4581238" cy="24182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1330744" y="2240516"/>
            <a:ext cx="0" cy="4181974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27097" y="5929496"/>
            <a:ext cx="589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477" y="2127821"/>
            <a:ext cx="589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7247707" y="1916178"/>
            <a:ext cx="2193013" cy="968589"/>
            <a:chOff x="7271776" y="2279540"/>
            <a:chExt cx="1847850" cy="682508"/>
          </a:xfrm>
        </p:grpSpPr>
        <p:sp>
          <p:nvSpPr>
            <p:cNvPr id="67" name="Rounded Rectangle 66"/>
            <p:cNvSpPr/>
            <p:nvPr/>
          </p:nvSpPr>
          <p:spPr>
            <a:xfrm>
              <a:off x="7271776" y="2279540"/>
              <a:ext cx="1847850" cy="657040"/>
            </a:xfrm>
            <a:prstGeom prst="round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333138" y="2438828"/>
              <a:ext cx="1847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800" b="1" dirty="0">
                <a:solidFill>
                  <a:srgbClr val="00B0F0"/>
                </a:solidFill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563849" y="2538595"/>
              <a:ext cx="1101796" cy="2602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Testing data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572384" y="2291081"/>
              <a:ext cx="1244970" cy="2602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Negative data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350683" y="227954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</p:grpSp>
      <p:cxnSp>
        <p:nvCxnSpPr>
          <p:cNvPr id="148" name="Straight Arrow Connector 147"/>
          <p:cNvCxnSpPr/>
          <p:nvPr/>
        </p:nvCxnSpPr>
        <p:spPr>
          <a:xfrm flipH="1">
            <a:off x="3879641" y="3526751"/>
            <a:ext cx="697960" cy="915091"/>
          </a:xfrm>
          <a:prstGeom prst="straightConnector1">
            <a:avLst/>
          </a:prstGeom>
          <a:ln w="635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Image result for sqrt symbo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988" y="3908562"/>
            <a:ext cx="1256733" cy="1256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8610543" y="4330501"/>
            <a:ext cx="1499616" cy="0"/>
          </a:xfrm>
          <a:prstGeom prst="line">
            <a:avLst/>
          </a:prstGeom>
          <a:ln w="666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/>
          <p:cNvCxnSpPr/>
          <p:nvPr/>
        </p:nvCxnSpPr>
        <p:spPr>
          <a:xfrm>
            <a:off x="4026090" y="4476348"/>
            <a:ext cx="551511" cy="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4626590" y="3567696"/>
            <a:ext cx="13647" cy="91509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177319" y="4414315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Δ</a:t>
            </a:r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6125" y="3809770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Δ</a:t>
            </a:r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4577601" y="3224673"/>
            <a:ext cx="228517" cy="228517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3584729" y="4482786"/>
            <a:ext cx="228517" cy="228517"/>
          </a:xfrm>
          <a:prstGeom prst="ellipse">
            <a:avLst/>
          </a:prstGeom>
          <a:solidFill>
            <a:srgbClr val="66FF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7318702" y="1990857"/>
            <a:ext cx="228517" cy="228517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7318702" y="2354226"/>
            <a:ext cx="228517" cy="228517"/>
          </a:xfrm>
          <a:prstGeom prst="ellipse">
            <a:avLst/>
          </a:prstGeom>
          <a:solidFill>
            <a:srgbClr val="66FF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225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Euclidean Distance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5</a:t>
            </a:fld>
            <a:endParaRPr lang="zh-TW" altLang="en-US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6947320" y="3701051"/>
            <a:ext cx="4962925" cy="2886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4488" indent="-34448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supposed the point named </a:t>
            </a:r>
            <a:br>
              <a:rPr lang="en-US" altLang="zh-TW" sz="2800" dirty="0"/>
            </a:br>
            <a:r>
              <a:rPr lang="en-US" altLang="zh-TW" sz="2800" dirty="0"/>
              <a:t>p(p</a:t>
            </a:r>
            <a:r>
              <a:rPr lang="en-US" altLang="zh-TW" sz="2800" baseline="-25000" dirty="0"/>
              <a:t>1</a:t>
            </a:r>
            <a:r>
              <a:rPr lang="en-US" altLang="zh-TW" sz="2800" dirty="0"/>
              <a:t>, p</a:t>
            </a:r>
            <a:r>
              <a:rPr lang="en-US" altLang="zh-TW" sz="2800" baseline="-25000" dirty="0"/>
              <a:t>2</a:t>
            </a:r>
            <a:r>
              <a:rPr lang="en-US" altLang="zh-TW" sz="2800" dirty="0"/>
              <a:t>) and q(q</a:t>
            </a:r>
            <a:r>
              <a:rPr lang="en-US" altLang="zh-TW" sz="2800" baseline="-25000" dirty="0"/>
              <a:t>1</a:t>
            </a:r>
            <a:r>
              <a:rPr lang="en-US" altLang="zh-TW" sz="2800" dirty="0"/>
              <a:t>, q</a:t>
            </a:r>
            <a:r>
              <a:rPr lang="en-US" altLang="zh-TW" sz="2800" baseline="-25000" dirty="0"/>
              <a:t>2</a:t>
            </a:r>
            <a:r>
              <a:rPr lang="en-US" altLang="zh-TW" sz="2800" dirty="0"/>
              <a:t>):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058271" y="6117688"/>
            <a:ext cx="4581238" cy="24182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1330744" y="2240516"/>
            <a:ext cx="0" cy="4181974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27097" y="5929496"/>
            <a:ext cx="589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477" y="2127821"/>
            <a:ext cx="589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7247707" y="1916178"/>
            <a:ext cx="2193013" cy="968589"/>
            <a:chOff x="7271776" y="2279540"/>
            <a:chExt cx="1847850" cy="682508"/>
          </a:xfrm>
        </p:grpSpPr>
        <p:sp>
          <p:nvSpPr>
            <p:cNvPr id="67" name="Rounded Rectangle 66"/>
            <p:cNvSpPr/>
            <p:nvPr/>
          </p:nvSpPr>
          <p:spPr>
            <a:xfrm>
              <a:off x="7271776" y="2279540"/>
              <a:ext cx="1847850" cy="657040"/>
            </a:xfrm>
            <a:prstGeom prst="round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333138" y="2438828"/>
              <a:ext cx="1847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800" b="1" dirty="0">
                <a:solidFill>
                  <a:srgbClr val="00B0F0"/>
                </a:solidFill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563849" y="2538595"/>
              <a:ext cx="1101796" cy="2602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Testing data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572384" y="2291081"/>
              <a:ext cx="1244970" cy="2602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Negative data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350683" y="227954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</p:grpSp>
      <p:cxnSp>
        <p:nvCxnSpPr>
          <p:cNvPr id="148" name="Straight Arrow Connector 147"/>
          <p:cNvCxnSpPr/>
          <p:nvPr/>
        </p:nvCxnSpPr>
        <p:spPr>
          <a:xfrm flipH="1">
            <a:off x="3879641" y="3526751"/>
            <a:ext cx="697960" cy="915091"/>
          </a:xfrm>
          <a:prstGeom prst="straightConnector1">
            <a:avLst/>
          </a:prstGeom>
          <a:ln w="635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/>
          <p:cNvCxnSpPr/>
          <p:nvPr/>
        </p:nvCxnSpPr>
        <p:spPr>
          <a:xfrm>
            <a:off x="4026090" y="4476348"/>
            <a:ext cx="551511" cy="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4626590" y="3567696"/>
            <a:ext cx="13647" cy="91509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035849" y="4380538"/>
            <a:ext cx="171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	</a:t>
            </a:r>
            <a:r>
              <a:rPr lang="en-US" sz="1400" dirty="0"/>
              <a:t>(q</a:t>
            </a:r>
            <a:r>
              <a:rPr lang="en-US" sz="1400" baseline="-25000" dirty="0"/>
              <a:t>1 </a:t>
            </a:r>
            <a:r>
              <a:rPr lang="en-US" sz="1400" dirty="0"/>
              <a:t>- p</a:t>
            </a:r>
            <a:r>
              <a:rPr lang="en-US" sz="1400" baseline="-25000" dirty="0"/>
              <a:t>1</a:t>
            </a:r>
            <a:r>
              <a:rPr lang="en-US" sz="1400" dirty="0"/>
              <a:t>)</a:t>
            </a:r>
            <a:r>
              <a:rPr lang="en-US" sz="1400" baseline="30000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841803" y="4787376"/>
                <a:ext cx="5197833" cy="5395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𝐷𝑖𝑠𝑡𝑎𝑛𝑐𝑒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1803" y="4787376"/>
                <a:ext cx="5197833" cy="5395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/>
          <p:cNvSpPr/>
          <p:nvPr/>
        </p:nvSpPr>
        <p:spPr>
          <a:xfrm>
            <a:off x="4577601" y="3224673"/>
            <a:ext cx="228517" cy="228517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3584729" y="4482786"/>
            <a:ext cx="228517" cy="228517"/>
          </a:xfrm>
          <a:prstGeom prst="ellipse">
            <a:avLst/>
          </a:prstGeom>
          <a:solidFill>
            <a:srgbClr val="66FF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7318702" y="1990857"/>
            <a:ext cx="228517" cy="228517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7318702" y="2354226"/>
            <a:ext cx="228517" cy="228517"/>
          </a:xfrm>
          <a:prstGeom prst="ellipse">
            <a:avLst/>
          </a:prstGeom>
          <a:solidFill>
            <a:srgbClr val="66FF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100461" y="4774938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p(p</a:t>
            </a:r>
            <a:r>
              <a:rPr lang="en-US" b="1" baseline="-25000" dirty="0"/>
              <a:t>1</a:t>
            </a:r>
            <a:r>
              <a:rPr lang="en-US" b="1" dirty="0"/>
              <a:t>, p</a:t>
            </a:r>
            <a:r>
              <a:rPr lang="en-US" b="1" baseline="-25000" dirty="0"/>
              <a:t>2</a:t>
            </a:r>
            <a:r>
              <a:rPr lang="en-US" b="1" dirty="0"/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3413" y="2848624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q(q</a:t>
            </a:r>
            <a:r>
              <a:rPr lang="en-US" b="1" baseline="-25000" dirty="0"/>
              <a:t>1</a:t>
            </a:r>
            <a:r>
              <a:rPr lang="en-US" b="1" dirty="0"/>
              <a:t>, q</a:t>
            </a:r>
            <a:r>
              <a:rPr lang="en-US" b="1" baseline="-25000" dirty="0"/>
              <a:t>2</a:t>
            </a:r>
            <a:r>
              <a:rPr lang="en-US" b="1" dirty="0"/>
              <a:t>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98987" y="3799630"/>
            <a:ext cx="1745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	</a:t>
            </a:r>
            <a:r>
              <a:rPr lang="en-US" sz="1400" dirty="0"/>
              <a:t>(q</a:t>
            </a:r>
            <a:r>
              <a:rPr lang="en-US" sz="1400" baseline="-25000" dirty="0"/>
              <a:t>2 </a:t>
            </a:r>
            <a:r>
              <a:rPr lang="en-US" sz="1400" dirty="0"/>
              <a:t>– p</a:t>
            </a:r>
            <a:r>
              <a:rPr lang="en-US" sz="1400" baseline="-25000" dirty="0"/>
              <a:t>2</a:t>
            </a:r>
            <a:r>
              <a:rPr lang="en-US" sz="1400" dirty="0"/>
              <a:t>)</a:t>
            </a:r>
            <a:r>
              <a:rPr lang="en-US" sz="1400" baseline="30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7103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Euclidean Distance (3D)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6</a:t>
            </a:fld>
            <a:endParaRPr lang="zh-TW" altLang="en-US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446352" y="3517286"/>
            <a:ext cx="4962925" cy="2886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4488" indent="-34448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supposed the point named </a:t>
            </a:r>
            <a:br>
              <a:rPr lang="en-US" altLang="zh-TW" sz="2800" dirty="0"/>
            </a:br>
            <a:r>
              <a:rPr lang="en-US" altLang="zh-TW" sz="2800" dirty="0"/>
              <a:t>p(p</a:t>
            </a:r>
            <a:r>
              <a:rPr lang="en-US" altLang="zh-TW" sz="2800" baseline="-25000" dirty="0"/>
              <a:t>1</a:t>
            </a:r>
            <a:r>
              <a:rPr lang="en-US" altLang="zh-TW" sz="2800" dirty="0"/>
              <a:t>, p</a:t>
            </a:r>
            <a:r>
              <a:rPr lang="en-US" altLang="zh-TW" sz="2800" baseline="-25000" dirty="0"/>
              <a:t>2</a:t>
            </a:r>
            <a:r>
              <a:rPr lang="en-US" altLang="zh-TW" sz="2800" dirty="0"/>
              <a:t>, p</a:t>
            </a:r>
            <a:r>
              <a:rPr lang="en-US" altLang="zh-TW" sz="2800" baseline="-25000" dirty="0"/>
              <a:t>3</a:t>
            </a:r>
            <a:r>
              <a:rPr lang="en-US" altLang="zh-TW" sz="2800" dirty="0"/>
              <a:t>) and q(q</a:t>
            </a:r>
            <a:r>
              <a:rPr lang="en-US" altLang="zh-TW" sz="2800" baseline="-25000" dirty="0"/>
              <a:t>1</a:t>
            </a:r>
            <a:r>
              <a:rPr lang="en-US" altLang="zh-TW" sz="2800" dirty="0"/>
              <a:t>, q</a:t>
            </a:r>
            <a:r>
              <a:rPr lang="en-US" altLang="zh-TW" sz="2800" baseline="-25000" dirty="0"/>
              <a:t>2</a:t>
            </a:r>
            <a:r>
              <a:rPr lang="en-US" altLang="zh-TW" sz="2800" dirty="0"/>
              <a:t>, q</a:t>
            </a:r>
            <a:r>
              <a:rPr lang="en-US" altLang="zh-TW" sz="2800" baseline="-25000" dirty="0"/>
              <a:t>3</a:t>
            </a:r>
            <a:r>
              <a:rPr lang="en-US" altLang="zh-TW" sz="2800" dirty="0"/>
              <a:t>):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1842594" y="4279977"/>
            <a:ext cx="2653704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1842594" y="2127821"/>
            <a:ext cx="0" cy="215280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330262" y="4406067"/>
            <a:ext cx="589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912" y="1993583"/>
            <a:ext cx="589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5446352" y="2230383"/>
            <a:ext cx="2193013" cy="968589"/>
            <a:chOff x="7271776" y="2279540"/>
            <a:chExt cx="1847850" cy="682508"/>
          </a:xfrm>
        </p:grpSpPr>
        <p:sp>
          <p:nvSpPr>
            <p:cNvPr id="67" name="Rounded Rectangle 66"/>
            <p:cNvSpPr/>
            <p:nvPr/>
          </p:nvSpPr>
          <p:spPr>
            <a:xfrm>
              <a:off x="7271776" y="2279540"/>
              <a:ext cx="1847850" cy="657040"/>
            </a:xfrm>
            <a:prstGeom prst="round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333138" y="2438828"/>
              <a:ext cx="1847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800" b="1" dirty="0">
                <a:solidFill>
                  <a:srgbClr val="00B0F0"/>
                </a:solidFill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563849" y="2538595"/>
              <a:ext cx="1101796" cy="2602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Testing data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572384" y="2291081"/>
              <a:ext cx="1244970" cy="2602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Negative data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350683" y="227954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310757" y="4652067"/>
                <a:ext cx="6881243" cy="5395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𝐷𝑖𝑠𝑡𝑎𝑛𝑐𝑒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757" y="4652067"/>
                <a:ext cx="6881243" cy="5395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/>
          <p:cNvSpPr/>
          <p:nvPr/>
        </p:nvSpPr>
        <p:spPr>
          <a:xfrm>
            <a:off x="3416427" y="3403028"/>
            <a:ext cx="228517" cy="228517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2423555" y="4661141"/>
            <a:ext cx="228517" cy="228517"/>
          </a:xfrm>
          <a:prstGeom prst="ellipse">
            <a:avLst/>
          </a:prstGeom>
          <a:solidFill>
            <a:srgbClr val="66FF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5517347" y="2305062"/>
            <a:ext cx="228517" cy="228517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5517347" y="2668431"/>
            <a:ext cx="228517" cy="228517"/>
          </a:xfrm>
          <a:prstGeom prst="ellipse">
            <a:avLst/>
          </a:prstGeom>
          <a:solidFill>
            <a:srgbClr val="66FF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939287" y="4953293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p(p</a:t>
            </a:r>
            <a:r>
              <a:rPr lang="en-US" b="1" baseline="-25000" dirty="0"/>
              <a:t>1</a:t>
            </a:r>
            <a:r>
              <a:rPr lang="en-US" b="1" dirty="0"/>
              <a:t>, p</a:t>
            </a:r>
            <a:r>
              <a:rPr lang="en-US" b="1" baseline="-25000" dirty="0"/>
              <a:t>2</a:t>
            </a:r>
            <a:r>
              <a:rPr lang="en-US" b="1" dirty="0"/>
              <a:t> , p</a:t>
            </a:r>
            <a:r>
              <a:rPr lang="en-US" b="1" baseline="-25000" dirty="0"/>
              <a:t>3</a:t>
            </a:r>
            <a:r>
              <a:rPr lang="en-US" b="1" dirty="0"/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60676" y="2896186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q(q</a:t>
            </a:r>
            <a:r>
              <a:rPr lang="en-US" b="1" baseline="-25000" dirty="0"/>
              <a:t>1</a:t>
            </a:r>
            <a:r>
              <a:rPr lang="en-US" b="1" dirty="0"/>
              <a:t>, q</a:t>
            </a:r>
            <a:r>
              <a:rPr lang="en-US" b="1" baseline="-25000" dirty="0"/>
              <a:t>2</a:t>
            </a:r>
            <a:r>
              <a:rPr lang="en-US" b="1" dirty="0"/>
              <a:t> , q</a:t>
            </a:r>
            <a:r>
              <a:rPr lang="en-US" b="1" baseline="-25000" dirty="0"/>
              <a:t>3</a:t>
            </a:r>
            <a:r>
              <a:rPr lang="en-US" b="1" dirty="0"/>
              <a:t>)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 flipH="1">
            <a:off x="569878" y="4279825"/>
            <a:ext cx="1309362" cy="128405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 flipH="1">
            <a:off x="715587" y="5452233"/>
            <a:ext cx="3022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83541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Euclidean Distance (Formal Equation)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7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11501" y="1650371"/>
                <a:ext cx="9121078" cy="20081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𝐸𝑢𝑐𝑙𝑖𝑑𝑒𝑎𝑛</m:t>
                      </m:r>
                      <m:r>
                        <a:rPr lang="en-US" sz="32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𝐷𝑖𝑠𝑡𝑎𝑛𝑐𝑒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3200" b="1" i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3200" b="1" i="0" smtClean="0"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3200" i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  <m:brk/>
                                    </m:rPr>
                                    <a:rPr lang="en-US" sz="3200" b="0" i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sz="3200" i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 )</m:t>
                                      </m:r>
                                    </m:e>
                                    <m:sup>
                                      <m:r>
                                        <a:rPr lang="en-US" sz="32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  <m:sup/>
                          </m:sSup>
                        </m:e>
                      </m:ra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01" y="1650371"/>
                <a:ext cx="9121078" cy="20081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666750" y="3689372"/>
            <a:ext cx="446468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Note:</a:t>
            </a:r>
          </a:p>
          <a:p>
            <a:r>
              <a:rPr lang="en-US" sz="2800" dirty="0"/>
              <a:t>q = first point</a:t>
            </a:r>
          </a:p>
          <a:p>
            <a:r>
              <a:rPr lang="en-US" sz="2800" dirty="0"/>
              <a:t>p = second point</a:t>
            </a:r>
          </a:p>
          <a:p>
            <a:r>
              <a:rPr lang="en-US" sz="2800" dirty="0" err="1"/>
              <a:t>i</a:t>
            </a:r>
            <a:r>
              <a:rPr lang="en-US" sz="2800" dirty="0"/>
              <a:t> = the number of dimensions</a:t>
            </a:r>
          </a:p>
        </p:txBody>
      </p:sp>
    </p:spTree>
    <p:extLst>
      <p:ext uri="{BB962C8B-B14F-4D97-AF65-F5344CB8AC3E}">
        <p14:creationId xmlns:p14="http://schemas.microsoft.com/office/powerpoint/2010/main" val="98047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1344276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Apply Euclidean Distance to Histogram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8</a:t>
            </a:fld>
            <a:endParaRPr lang="zh-TW" altLang="en-US" dirty="0"/>
          </a:p>
        </p:txBody>
      </p:sp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883858"/>
              </p:ext>
            </p:extLst>
          </p:nvPr>
        </p:nvGraphicFramePr>
        <p:xfrm>
          <a:off x="295274" y="1624326"/>
          <a:ext cx="5276850" cy="4038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2393797"/>
              </p:ext>
            </p:extLst>
          </p:nvPr>
        </p:nvGraphicFramePr>
        <p:xfrm>
          <a:off x="5924550" y="1624327"/>
          <a:ext cx="5848350" cy="4043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023150" y="5700819"/>
            <a:ext cx="10475753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What is the Euclidean distance between histogram P and histogram Q?</a:t>
            </a:r>
          </a:p>
        </p:txBody>
      </p:sp>
    </p:spTree>
    <p:extLst>
      <p:ext uri="{BB962C8B-B14F-4D97-AF65-F5344CB8AC3E}">
        <p14:creationId xmlns:p14="http://schemas.microsoft.com/office/powerpoint/2010/main" val="915499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3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1344276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Apply Euclidean Distance to Histogram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9</a:t>
            </a:fld>
            <a:endParaRPr lang="zh-TW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45615" y="1654076"/>
            <a:ext cx="131645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Histogram 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33850"/>
              </p:ext>
            </p:extLst>
          </p:nvPr>
        </p:nvGraphicFramePr>
        <p:xfrm>
          <a:off x="428624" y="2186289"/>
          <a:ext cx="3152036" cy="28651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56535">
                  <a:extLst>
                    <a:ext uri="{9D8B030D-6E8A-4147-A177-3AD203B41FA5}">
                      <a16:colId xmlns:a16="http://schemas.microsoft.com/office/drawing/2014/main" val="2679353426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955678539"/>
                    </a:ext>
                  </a:extLst>
                </a:gridCol>
                <a:gridCol w="1238251">
                  <a:extLst>
                    <a:ext uri="{9D8B030D-6E8A-4147-A177-3AD203B41FA5}">
                      <a16:colId xmlns:a16="http://schemas.microsoft.com/office/drawing/2014/main" val="179528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Bin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Bin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879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673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21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193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837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698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585398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307471"/>
              </p:ext>
            </p:extLst>
          </p:nvPr>
        </p:nvGraphicFramePr>
        <p:xfrm>
          <a:off x="4257674" y="2160032"/>
          <a:ext cx="3152036" cy="28651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56535">
                  <a:extLst>
                    <a:ext uri="{9D8B030D-6E8A-4147-A177-3AD203B41FA5}">
                      <a16:colId xmlns:a16="http://schemas.microsoft.com/office/drawing/2014/main" val="2679353426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955678539"/>
                    </a:ext>
                  </a:extLst>
                </a:gridCol>
                <a:gridCol w="1238251">
                  <a:extLst>
                    <a:ext uri="{9D8B030D-6E8A-4147-A177-3AD203B41FA5}">
                      <a16:colId xmlns:a16="http://schemas.microsoft.com/office/drawing/2014/main" val="179528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Bin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Bin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879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673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21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193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837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698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585398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174665" y="1654076"/>
            <a:ext cx="1353319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Histogram 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624" y="5286069"/>
            <a:ext cx="6981086" cy="95410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What is the Euclidean Distance between histogram P and histogram Q?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86724" y="2212721"/>
            <a:ext cx="36861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number of bin is similar with the number of dimensions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Calculate Euclidian distance with 6 dimensions</a:t>
            </a:r>
          </a:p>
        </p:txBody>
      </p:sp>
    </p:spTree>
    <p:extLst>
      <p:ext uri="{BB962C8B-B14F-4D97-AF65-F5344CB8AC3E}">
        <p14:creationId xmlns:p14="http://schemas.microsoft.com/office/powerpoint/2010/main" val="2693317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Euclidean Distance (for Histogram)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10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-169500" y="1577884"/>
                <a:ext cx="10532699" cy="20081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𝐸𝑢𝑐𝑙𝑖𝑑𝑒𝑎𝑛</m:t>
                      </m:r>
                      <m:r>
                        <a:rPr lang="en-US" sz="32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𝐷𝑖𝑠𝑡𝑎𝑛𝑐𝑒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3200" b="1" i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3200" b="1" i="0" smtClean="0"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3200" i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  <m:brk/>
                                    </m:rPr>
                                    <a:rPr lang="en-US" sz="3200" b="0" i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sz="3200" i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)−</m:t>
                                      </m:r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) )</m:t>
                                      </m:r>
                                    </m:e>
                                    <m:sup>
                                      <m:r>
                                        <a:rPr lang="en-US" sz="32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  <m:sup/>
                          </m:sSup>
                        </m:e>
                      </m:ra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9500" y="1577884"/>
                <a:ext cx="10532699" cy="20081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666750" y="3689372"/>
            <a:ext cx="339868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Note:</a:t>
            </a:r>
          </a:p>
          <a:p>
            <a:r>
              <a:rPr lang="en-US" sz="2800" dirty="0"/>
              <a:t>q = first point</a:t>
            </a:r>
          </a:p>
          <a:p>
            <a:r>
              <a:rPr lang="en-US" sz="2800" dirty="0"/>
              <a:t>p = second point</a:t>
            </a:r>
          </a:p>
          <a:p>
            <a:r>
              <a:rPr lang="en-US" sz="2800" dirty="0" err="1"/>
              <a:t>i</a:t>
            </a:r>
            <a:r>
              <a:rPr lang="en-US" sz="2800" dirty="0"/>
              <a:t> = the number of bins</a:t>
            </a:r>
          </a:p>
        </p:txBody>
      </p:sp>
    </p:spTree>
    <p:extLst>
      <p:ext uri="{BB962C8B-B14F-4D97-AF65-F5344CB8AC3E}">
        <p14:creationId xmlns:p14="http://schemas.microsoft.com/office/powerpoint/2010/main" val="962344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1344276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Apply Euclidean Distance to Histogram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11</a:t>
            </a:fld>
            <a:endParaRPr lang="zh-TW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45615" y="1654076"/>
            <a:ext cx="131645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Histogram 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835513"/>
              </p:ext>
            </p:extLst>
          </p:nvPr>
        </p:nvGraphicFramePr>
        <p:xfrm>
          <a:off x="428624" y="2186289"/>
          <a:ext cx="3152036" cy="28651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56535">
                  <a:extLst>
                    <a:ext uri="{9D8B030D-6E8A-4147-A177-3AD203B41FA5}">
                      <a16:colId xmlns:a16="http://schemas.microsoft.com/office/drawing/2014/main" val="2679353426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955678539"/>
                    </a:ext>
                  </a:extLst>
                </a:gridCol>
                <a:gridCol w="1238251">
                  <a:extLst>
                    <a:ext uri="{9D8B030D-6E8A-4147-A177-3AD203B41FA5}">
                      <a16:colId xmlns:a16="http://schemas.microsoft.com/office/drawing/2014/main" val="179528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Bin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Bin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879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p(1)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673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p(2)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21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p(3)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193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p(4)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837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p(5)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698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p(6)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585398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066638"/>
              </p:ext>
            </p:extLst>
          </p:nvPr>
        </p:nvGraphicFramePr>
        <p:xfrm>
          <a:off x="4257674" y="2160032"/>
          <a:ext cx="3152036" cy="28651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56535">
                  <a:extLst>
                    <a:ext uri="{9D8B030D-6E8A-4147-A177-3AD203B41FA5}">
                      <a16:colId xmlns:a16="http://schemas.microsoft.com/office/drawing/2014/main" val="2679353426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955678539"/>
                    </a:ext>
                  </a:extLst>
                </a:gridCol>
                <a:gridCol w="1238251">
                  <a:extLst>
                    <a:ext uri="{9D8B030D-6E8A-4147-A177-3AD203B41FA5}">
                      <a16:colId xmlns:a16="http://schemas.microsoft.com/office/drawing/2014/main" val="179528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Bin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Bin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879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q(1)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673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q(2)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21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q(3)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193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q(4)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837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q(5)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698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q(6)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585398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174665" y="1654076"/>
            <a:ext cx="1353319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Histogram 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86724" y="2212721"/>
            <a:ext cx="36861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number of bin is similar with the number of dimensions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Calculate Euclidian distance with 6 dimensions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11501" y="5161776"/>
                <a:ext cx="9430787" cy="5395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𝐷𝑖𝑠𝑡𝑎𝑛𝑐𝑒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(6)−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(6)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01" y="5161776"/>
                <a:ext cx="9430787" cy="5395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87549" y="5695344"/>
                <a:ext cx="7727115" cy="5395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𝐷𝑖𝑠𝑡𝑎𝑛𝑐𝑒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(0)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.3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.1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.2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49" y="5695344"/>
                <a:ext cx="7727115" cy="5395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709031" y="5731176"/>
                <a:ext cx="1477328" cy="5052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0" smtClean="0">
                          <a:latin typeface="Cambria Math" panose="02040503050406030204" pitchFamily="18" charset="0"/>
                        </a:rPr>
                        <m:t> 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0.14</m:t>
                          </m:r>
                        </m:e>
                      </m:ra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031" y="5731176"/>
                <a:ext cx="1477328" cy="5052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9197553" y="5731176"/>
                <a:ext cx="124745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0.374</a:t>
                </a: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553" y="5731176"/>
                <a:ext cx="1247457" cy="461665"/>
              </a:xfrm>
              <a:prstGeom prst="rect">
                <a:avLst/>
              </a:prstGeom>
              <a:blipFill>
                <a:blip r:embed="rId7"/>
                <a:stretch>
                  <a:fillRect t="-10526" r="-637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280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Any alternative to Euclidean Distance?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12</a:t>
            </a:fld>
            <a:endParaRPr lang="zh-TW" altLang="en-US" dirty="0"/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428624" y="2132230"/>
            <a:ext cx="10343008" cy="2886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We want to introduce KL Divergence based distance metric.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b="1" dirty="0"/>
              <a:t>In some case</a:t>
            </a:r>
            <a:r>
              <a:rPr lang="en-US" altLang="zh-TW" sz="2800" dirty="0"/>
              <a:t>, KL Divergence is suitable for probability distribution based variables (example: histogram based features)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307765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lated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61" t="3550" r="30170" b="15625"/>
          <a:stretch/>
        </p:blipFill>
        <p:spPr bwMode="auto">
          <a:xfrm>
            <a:off x="4766651" y="2224891"/>
            <a:ext cx="1824514" cy="3974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KL Divergence: Intuition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13</a:t>
            </a:fld>
            <a:endParaRPr lang="zh-TW" altLang="en-US" dirty="0"/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428624" y="1857910"/>
            <a:ext cx="10343008" cy="2886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Pick one of feature used in mobile authentication problem : </a:t>
            </a:r>
            <a:r>
              <a:rPr lang="en-US" altLang="zh-TW" sz="2800" dirty="0" err="1"/>
              <a:t>startX</a:t>
            </a:r>
            <a:endParaRPr lang="en-US" altLang="zh-TW" sz="2800" dirty="0"/>
          </a:p>
        </p:txBody>
      </p:sp>
      <p:sp>
        <p:nvSpPr>
          <p:cNvPr id="4" name="Freeform 3"/>
          <p:cNvSpPr/>
          <p:nvPr/>
        </p:nvSpPr>
        <p:spPr>
          <a:xfrm>
            <a:off x="5160748" y="3925993"/>
            <a:ext cx="731520" cy="1536192"/>
          </a:xfrm>
          <a:custGeom>
            <a:avLst/>
            <a:gdLst>
              <a:gd name="connsiteX0" fmla="*/ 0 w 731520"/>
              <a:gd name="connsiteY0" fmla="*/ 1536192 h 1536192"/>
              <a:gd name="connsiteX1" fmla="*/ 18288 w 731520"/>
              <a:gd name="connsiteY1" fmla="*/ 1280160 h 1536192"/>
              <a:gd name="connsiteX2" fmla="*/ 54864 w 731520"/>
              <a:gd name="connsiteY2" fmla="*/ 1170432 h 1536192"/>
              <a:gd name="connsiteX3" fmla="*/ 219456 w 731520"/>
              <a:gd name="connsiteY3" fmla="*/ 731520 h 1536192"/>
              <a:gd name="connsiteX4" fmla="*/ 292608 w 731520"/>
              <a:gd name="connsiteY4" fmla="*/ 566928 h 1536192"/>
              <a:gd name="connsiteX5" fmla="*/ 420624 w 731520"/>
              <a:gd name="connsiteY5" fmla="*/ 365760 h 1536192"/>
              <a:gd name="connsiteX6" fmla="*/ 548640 w 731520"/>
              <a:gd name="connsiteY6" fmla="*/ 182880 h 1536192"/>
              <a:gd name="connsiteX7" fmla="*/ 731520 w 731520"/>
              <a:gd name="connsiteY7" fmla="*/ 0 h 1536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520" h="1536192">
                <a:moveTo>
                  <a:pt x="0" y="1536192"/>
                </a:moveTo>
                <a:cubicBezTo>
                  <a:pt x="6096" y="1450848"/>
                  <a:pt x="5596" y="1364775"/>
                  <a:pt x="18288" y="1280160"/>
                </a:cubicBezTo>
                <a:cubicBezTo>
                  <a:pt x="24007" y="1242032"/>
                  <a:pt x="43364" y="1207231"/>
                  <a:pt x="54864" y="1170432"/>
                </a:cubicBezTo>
                <a:cubicBezTo>
                  <a:pt x="145067" y="881781"/>
                  <a:pt x="72025" y="1070611"/>
                  <a:pt x="219456" y="731520"/>
                </a:cubicBezTo>
                <a:cubicBezTo>
                  <a:pt x="243395" y="676460"/>
                  <a:pt x="261718" y="618411"/>
                  <a:pt x="292608" y="566928"/>
                </a:cubicBezTo>
                <a:cubicBezTo>
                  <a:pt x="426410" y="343925"/>
                  <a:pt x="258103" y="621150"/>
                  <a:pt x="420624" y="365760"/>
                </a:cubicBezTo>
                <a:cubicBezTo>
                  <a:pt x="479612" y="273065"/>
                  <a:pt x="470807" y="266700"/>
                  <a:pt x="548640" y="182880"/>
                </a:cubicBezTo>
                <a:lnTo>
                  <a:pt x="731520" y="0"/>
                </a:lnTo>
              </a:path>
            </a:pathLst>
          </a:cu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c 8"/>
          <p:cNvSpPr/>
          <p:nvPr/>
        </p:nvSpPr>
        <p:spPr>
          <a:xfrm rot="16964618">
            <a:off x="4615152" y="4616918"/>
            <a:ext cx="3277854" cy="1500568"/>
          </a:xfrm>
          <a:prstGeom prst="arc">
            <a:avLst>
              <a:gd name="adj1" fmla="val 16200000"/>
              <a:gd name="adj2" fmla="val 21202926"/>
            </a:avLst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4985764" y="4078393"/>
            <a:ext cx="1058904" cy="1536192"/>
          </a:xfrm>
          <a:custGeom>
            <a:avLst/>
            <a:gdLst>
              <a:gd name="connsiteX0" fmla="*/ 0 w 731520"/>
              <a:gd name="connsiteY0" fmla="*/ 1536192 h 1536192"/>
              <a:gd name="connsiteX1" fmla="*/ 18288 w 731520"/>
              <a:gd name="connsiteY1" fmla="*/ 1280160 h 1536192"/>
              <a:gd name="connsiteX2" fmla="*/ 54864 w 731520"/>
              <a:gd name="connsiteY2" fmla="*/ 1170432 h 1536192"/>
              <a:gd name="connsiteX3" fmla="*/ 219456 w 731520"/>
              <a:gd name="connsiteY3" fmla="*/ 731520 h 1536192"/>
              <a:gd name="connsiteX4" fmla="*/ 292608 w 731520"/>
              <a:gd name="connsiteY4" fmla="*/ 566928 h 1536192"/>
              <a:gd name="connsiteX5" fmla="*/ 420624 w 731520"/>
              <a:gd name="connsiteY5" fmla="*/ 365760 h 1536192"/>
              <a:gd name="connsiteX6" fmla="*/ 548640 w 731520"/>
              <a:gd name="connsiteY6" fmla="*/ 182880 h 1536192"/>
              <a:gd name="connsiteX7" fmla="*/ 731520 w 731520"/>
              <a:gd name="connsiteY7" fmla="*/ 0 h 1536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520" h="1536192">
                <a:moveTo>
                  <a:pt x="0" y="1536192"/>
                </a:moveTo>
                <a:cubicBezTo>
                  <a:pt x="6096" y="1450848"/>
                  <a:pt x="5596" y="1364775"/>
                  <a:pt x="18288" y="1280160"/>
                </a:cubicBezTo>
                <a:cubicBezTo>
                  <a:pt x="24007" y="1242032"/>
                  <a:pt x="43364" y="1207231"/>
                  <a:pt x="54864" y="1170432"/>
                </a:cubicBezTo>
                <a:cubicBezTo>
                  <a:pt x="145067" y="881781"/>
                  <a:pt x="72025" y="1070611"/>
                  <a:pt x="219456" y="731520"/>
                </a:cubicBezTo>
                <a:cubicBezTo>
                  <a:pt x="243395" y="676460"/>
                  <a:pt x="261718" y="618411"/>
                  <a:pt x="292608" y="566928"/>
                </a:cubicBezTo>
                <a:cubicBezTo>
                  <a:pt x="426410" y="343925"/>
                  <a:pt x="258103" y="621150"/>
                  <a:pt x="420624" y="365760"/>
                </a:cubicBezTo>
                <a:cubicBezTo>
                  <a:pt x="479612" y="273065"/>
                  <a:pt x="470807" y="266700"/>
                  <a:pt x="548640" y="182880"/>
                </a:cubicBezTo>
                <a:lnTo>
                  <a:pt x="731520" y="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5678908" y="3108453"/>
            <a:ext cx="731520" cy="2163767"/>
          </a:xfrm>
          <a:custGeom>
            <a:avLst/>
            <a:gdLst>
              <a:gd name="connsiteX0" fmla="*/ 0 w 731520"/>
              <a:gd name="connsiteY0" fmla="*/ 1536192 h 1536192"/>
              <a:gd name="connsiteX1" fmla="*/ 18288 w 731520"/>
              <a:gd name="connsiteY1" fmla="*/ 1280160 h 1536192"/>
              <a:gd name="connsiteX2" fmla="*/ 54864 w 731520"/>
              <a:gd name="connsiteY2" fmla="*/ 1170432 h 1536192"/>
              <a:gd name="connsiteX3" fmla="*/ 219456 w 731520"/>
              <a:gd name="connsiteY3" fmla="*/ 731520 h 1536192"/>
              <a:gd name="connsiteX4" fmla="*/ 292608 w 731520"/>
              <a:gd name="connsiteY4" fmla="*/ 566928 h 1536192"/>
              <a:gd name="connsiteX5" fmla="*/ 420624 w 731520"/>
              <a:gd name="connsiteY5" fmla="*/ 365760 h 1536192"/>
              <a:gd name="connsiteX6" fmla="*/ 548640 w 731520"/>
              <a:gd name="connsiteY6" fmla="*/ 182880 h 1536192"/>
              <a:gd name="connsiteX7" fmla="*/ 731520 w 731520"/>
              <a:gd name="connsiteY7" fmla="*/ 0 h 1536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520" h="1536192">
                <a:moveTo>
                  <a:pt x="0" y="1536192"/>
                </a:moveTo>
                <a:cubicBezTo>
                  <a:pt x="6096" y="1450848"/>
                  <a:pt x="5596" y="1364775"/>
                  <a:pt x="18288" y="1280160"/>
                </a:cubicBezTo>
                <a:cubicBezTo>
                  <a:pt x="24007" y="1242032"/>
                  <a:pt x="43364" y="1207231"/>
                  <a:pt x="54864" y="1170432"/>
                </a:cubicBezTo>
                <a:cubicBezTo>
                  <a:pt x="145067" y="881781"/>
                  <a:pt x="72025" y="1070611"/>
                  <a:pt x="219456" y="731520"/>
                </a:cubicBezTo>
                <a:cubicBezTo>
                  <a:pt x="243395" y="676460"/>
                  <a:pt x="261718" y="618411"/>
                  <a:pt x="292608" y="566928"/>
                </a:cubicBezTo>
                <a:cubicBezTo>
                  <a:pt x="426410" y="343925"/>
                  <a:pt x="258103" y="621150"/>
                  <a:pt x="420624" y="365760"/>
                </a:cubicBezTo>
                <a:cubicBezTo>
                  <a:pt x="479612" y="273065"/>
                  <a:pt x="470807" y="266700"/>
                  <a:pt x="548640" y="182880"/>
                </a:cubicBezTo>
                <a:lnTo>
                  <a:pt x="731520" y="0"/>
                </a:lnTo>
              </a:path>
            </a:pathLst>
          </a:cu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/>
          <p:cNvSpPr/>
          <p:nvPr/>
        </p:nvSpPr>
        <p:spPr>
          <a:xfrm>
            <a:off x="5362816" y="3628119"/>
            <a:ext cx="1058904" cy="1536192"/>
          </a:xfrm>
          <a:custGeom>
            <a:avLst/>
            <a:gdLst>
              <a:gd name="connsiteX0" fmla="*/ 0 w 731520"/>
              <a:gd name="connsiteY0" fmla="*/ 1536192 h 1536192"/>
              <a:gd name="connsiteX1" fmla="*/ 18288 w 731520"/>
              <a:gd name="connsiteY1" fmla="*/ 1280160 h 1536192"/>
              <a:gd name="connsiteX2" fmla="*/ 54864 w 731520"/>
              <a:gd name="connsiteY2" fmla="*/ 1170432 h 1536192"/>
              <a:gd name="connsiteX3" fmla="*/ 219456 w 731520"/>
              <a:gd name="connsiteY3" fmla="*/ 731520 h 1536192"/>
              <a:gd name="connsiteX4" fmla="*/ 292608 w 731520"/>
              <a:gd name="connsiteY4" fmla="*/ 566928 h 1536192"/>
              <a:gd name="connsiteX5" fmla="*/ 420624 w 731520"/>
              <a:gd name="connsiteY5" fmla="*/ 365760 h 1536192"/>
              <a:gd name="connsiteX6" fmla="*/ 548640 w 731520"/>
              <a:gd name="connsiteY6" fmla="*/ 182880 h 1536192"/>
              <a:gd name="connsiteX7" fmla="*/ 731520 w 731520"/>
              <a:gd name="connsiteY7" fmla="*/ 0 h 1536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520" h="1536192">
                <a:moveTo>
                  <a:pt x="0" y="1536192"/>
                </a:moveTo>
                <a:cubicBezTo>
                  <a:pt x="6096" y="1450848"/>
                  <a:pt x="5596" y="1364775"/>
                  <a:pt x="18288" y="1280160"/>
                </a:cubicBezTo>
                <a:cubicBezTo>
                  <a:pt x="24007" y="1242032"/>
                  <a:pt x="43364" y="1207231"/>
                  <a:pt x="54864" y="1170432"/>
                </a:cubicBezTo>
                <a:cubicBezTo>
                  <a:pt x="145067" y="881781"/>
                  <a:pt x="72025" y="1070611"/>
                  <a:pt x="219456" y="731520"/>
                </a:cubicBezTo>
                <a:cubicBezTo>
                  <a:pt x="243395" y="676460"/>
                  <a:pt x="261718" y="618411"/>
                  <a:pt x="292608" y="566928"/>
                </a:cubicBezTo>
                <a:cubicBezTo>
                  <a:pt x="426410" y="343925"/>
                  <a:pt x="258103" y="621150"/>
                  <a:pt x="420624" y="365760"/>
                </a:cubicBezTo>
                <a:cubicBezTo>
                  <a:pt x="479612" y="273065"/>
                  <a:pt x="470807" y="266700"/>
                  <a:pt x="548640" y="182880"/>
                </a:cubicBezTo>
                <a:lnTo>
                  <a:pt x="731520" y="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/>
        </p:nvSpPr>
        <p:spPr>
          <a:xfrm>
            <a:off x="5882558" y="2903721"/>
            <a:ext cx="518160" cy="2316167"/>
          </a:xfrm>
          <a:custGeom>
            <a:avLst/>
            <a:gdLst>
              <a:gd name="connsiteX0" fmla="*/ 0 w 731520"/>
              <a:gd name="connsiteY0" fmla="*/ 1536192 h 1536192"/>
              <a:gd name="connsiteX1" fmla="*/ 18288 w 731520"/>
              <a:gd name="connsiteY1" fmla="*/ 1280160 h 1536192"/>
              <a:gd name="connsiteX2" fmla="*/ 54864 w 731520"/>
              <a:gd name="connsiteY2" fmla="*/ 1170432 h 1536192"/>
              <a:gd name="connsiteX3" fmla="*/ 219456 w 731520"/>
              <a:gd name="connsiteY3" fmla="*/ 731520 h 1536192"/>
              <a:gd name="connsiteX4" fmla="*/ 292608 w 731520"/>
              <a:gd name="connsiteY4" fmla="*/ 566928 h 1536192"/>
              <a:gd name="connsiteX5" fmla="*/ 420624 w 731520"/>
              <a:gd name="connsiteY5" fmla="*/ 365760 h 1536192"/>
              <a:gd name="connsiteX6" fmla="*/ 548640 w 731520"/>
              <a:gd name="connsiteY6" fmla="*/ 182880 h 1536192"/>
              <a:gd name="connsiteX7" fmla="*/ 731520 w 731520"/>
              <a:gd name="connsiteY7" fmla="*/ 0 h 1536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520" h="1536192">
                <a:moveTo>
                  <a:pt x="0" y="1536192"/>
                </a:moveTo>
                <a:cubicBezTo>
                  <a:pt x="6096" y="1450848"/>
                  <a:pt x="5596" y="1364775"/>
                  <a:pt x="18288" y="1280160"/>
                </a:cubicBezTo>
                <a:cubicBezTo>
                  <a:pt x="24007" y="1242032"/>
                  <a:pt x="43364" y="1207231"/>
                  <a:pt x="54864" y="1170432"/>
                </a:cubicBezTo>
                <a:cubicBezTo>
                  <a:pt x="145067" y="881781"/>
                  <a:pt x="72025" y="1070611"/>
                  <a:pt x="219456" y="731520"/>
                </a:cubicBezTo>
                <a:cubicBezTo>
                  <a:pt x="243395" y="676460"/>
                  <a:pt x="261718" y="618411"/>
                  <a:pt x="292608" y="566928"/>
                </a:cubicBezTo>
                <a:cubicBezTo>
                  <a:pt x="426410" y="343925"/>
                  <a:pt x="258103" y="621150"/>
                  <a:pt x="420624" y="365760"/>
                </a:cubicBezTo>
                <a:cubicBezTo>
                  <a:pt x="479612" y="273065"/>
                  <a:pt x="470807" y="266700"/>
                  <a:pt x="548640" y="182880"/>
                </a:cubicBezTo>
                <a:lnTo>
                  <a:pt x="731520" y="0"/>
                </a:lnTo>
              </a:path>
            </a:pathLst>
          </a:cu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881049" y="5468701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5096089" y="5345278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5278800" y="5057680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5431200" y="5067198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5618202" y="5146107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5834441" y="5097932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014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4" grpId="0" animBg="1"/>
      <p:bldP spid="15" grpId="0" animBg="1"/>
      <p:bldP spid="16" grpId="0" animBg="1"/>
      <p:bldP spid="17" grpId="0" animBg="1"/>
      <p:bldP spid="10" grpId="0" animBg="1"/>
      <p:bldP spid="19" grpId="0" animBg="1"/>
      <p:bldP spid="20" grpId="0" animBg="1"/>
      <p:bldP spid="21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lated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61" t="3550" r="30170" b="15625"/>
          <a:stretch/>
        </p:blipFill>
        <p:spPr bwMode="auto">
          <a:xfrm>
            <a:off x="4748363" y="2224891"/>
            <a:ext cx="1824514" cy="3974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KL Divergence: Intuition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14</a:t>
            </a:fld>
            <a:endParaRPr lang="zh-TW" altLang="en-US" dirty="0"/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428624" y="1857910"/>
            <a:ext cx="10343008" cy="2886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Pick one of feature used in mobile authentication problem : </a:t>
            </a:r>
            <a:r>
              <a:rPr lang="en-US" altLang="zh-TW" sz="2800" dirty="0" err="1"/>
              <a:t>startX</a:t>
            </a:r>
            <a:endParaRPr lang="en-US" altLang="zh-TW" sz="2800" dirty="0"/>
          </a:p>
        </p:txBody>
      </p:sp>
      <p:sp>
        <p:nvSpPr>
          <p:cNvPr id="4" name="Freeform 3"/>
          <p:cNvSpPr/>
          <p:nvPr/>
        </p:nvSpPr>
        <p:spPr>
          <a:xfrm>
            <a:off x="5160748" y="3925993"/>
            <a:ext cx="731520" cy="1536192"/>
          </a:xfrm>
          <a:custGeom>
            <a:avLst/>
            <a:gdLst>
              <a:gd name="connsiteX0" fmla="*/ 0 w 731520"/>
              <a:gd name="connsiteY0" fmla="*/ 1536192 h 1536192"/>
              <a:gd name="connsiteX1" fmla="*/ 18288 w 731520"/>
              <a:gd name="connsiteY1" fmla="*/ 1280160 h 1536192"/>
              <a:gd name="connsiteX2" fmla="*/ 54864 w 731520"/>
              <a:gd name="connsiteY2" fmla="*/ 1170432 h 1536192"/>
              <a:gd name="connsiteX3" fmla="*/ 219456 w 731520"/>
              <a:gd name="connsiteY3" fmla="*/ 731520 h 1536192"/>
              <a:gd name="connsiteX4" fmla="*/ 292608 w 731520"/>
              <a:gd name="connsiteY4" fmla="*/ 566928 h 1536192"/>
              <a:gd name="connsiteX5" fmla="*/ 420624 w 731520"/>
              <a:gd name="connsiteY5" fmla="*/ 365760 h 1536192"/>
              <a:gd name="connsiteX6" fmla="*/ 548640 w 731520"/>
              <a:gd name="connsiteY6" fmla="*/ 182880 h 1536192"/>
              <a:gd name="connsiteX7" fmla="*/ 731520 w 731520"/>
              <a:gd name="connsiteY7" fmla="*/ 0 h 1536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520" h="1536192">
                <a:moveTo>
                  <a:pt x="0" y="1536192"/>
                </a:moveTo>
                <a:cubicBezTo>
                  <a:pt x="6096" y="1450848"/>
                  <a:pt x="5596" y="1364775"/>
                  <a:pt x="18288" y="1280160"/>
                </a:cubicBezTo>
                <a:cubicBezTo>
                  <a:pt x="24007" y="1242032"/>
                  <a:pt x="43364" y="1207231"/>
                  <a:pt x="54864" y="1170432"/>
                </a:cubicBezTo>
                <a:cubicBezTo>
                  <a:pt x="145067" y="881781"/>
                  <a:pt x="72025" y="1070611"/>
                  <a:pt x="219456" y="731520"/>
                </a:cubicBezTo>
                <a:cubicBezTo>
                  <a:pt x="243395" y="676460"/>
                  <a:pt x="261718" y="618411"/>
                  <a:pt x="292608" y="566928"/>
                </a:cubicBezTo>
                <a:cubicBezTo>
                  <a:pt x="426410" y="343925"/>
                  <a:pt x="258103" y="621150"/>
                  <a:pt x="420624" y="365760"/>
                </a:cubicBezTo>
                <a:cubicBezTo>
                  <a:pt x="479612" y="273065"/>
                  <a:pt x="470807" y="266700"/>
                  <a:pt x="548640" y="182880"/>
                </a:cubicBezTo>
                <a:lnTo>
                  <a:pt x="731520" y="0"/>
                </a:lnTo>
              </a:path>
            </a:pathLst>
          </a:cu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c 8"/>
          <p:cNvSpPr/>
          <p:nvPr/>
        </p:nvSpPr>
        <p:spPr>
          <a:xfrm rot="16964618">
            <a:off x="4615152" y="4616918"/>
            <a:ext cx="3277854" cy="1500568"/>
          </a:xfrm>
          <a:prstGeom prst="arc">
            <a:avLst>
              <a:gd name="adj1" fmla="val 16200000"/>
              <a:gd name="adj2" fmla="val 21202926"/>
            </a:avLst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4985764" y="4078393"/>
            <a:ext cx="1058904" cy="1536192"/>
          </a:xfrm>
          <a:custGeom>
            <a:avLst/>
            <a:gdLst>
              <a:gd name="connsiteX0" fmla="*/ 0 w 731520"/>
              <a:gd name="connsiteY0" fmla="*/ 1536192 h 1536192"/>
              <a:gd name="connsiteX1" fmla="*/ 18288 w 731520"/>
              <a:gd name="connsiteY1" fmla="*/ 1280160 h 1536192"/>
              <a:gd name="connsiteX2" fmla="*/ 54864 w 731520"/>
              <a:gd name="connsiteY2" fmla="*/ 1170432 h 1536192"/>
              <a:gd name="connsiteX3" fmla="*/ 219456 w 731520"/>
              <a:gd name="connsiteY3" fmla="*/ 731520 h 1536192"/>
              <a:gd name="connsiteX4" fmla="*/ 292608 w 731520"/>
              <a:gd name="connsiteY4" fmla="*/ 566928 h 1536192"/>
              <a:gd name="connsiteX5" fmla="*/ 420624 w 731520"/>
              <a:gd name="connsiteY5" fmla="*/ 365760 h 1536192"/>
              <a:gd name="connsiteX6" fmla="*/ 548640 w 731520"/>
              <a:gd name="connsiteY6" fmla="*/ 182880 h 1536192"/>
              <a:gd name="connsiteX7" fmla="*/ 731520 w 731520"/>
              <a:gd name="connsiteY7" fmla="*/ 0 h 1536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520" h="1536192">
                <a:moveTo>
                  <a:pt x="0" y="1536192"/>
                </a:moveTo>
                <a:cubicBezTo>
                  <a:pt x="6096" y="1450848"/>
                  <a:pt x="5596" y="1364775"/>
                  <a:pt x="18288" y="1280160"/>
                </a:cubicBezTo>
                <a:cubicBezTo>
                  <a:pt x="24007" y="1242032"/>
                  <a:pt x="43364" y="1207231"/>
                  <a:pt x="54864" y="1170432"/>
                </a:cubicBezTo>
                <a:cubicBezTo>
                  <a:pt x="145067" y="881781"/>
                  <a:pt x="72025" y="1070611"/>
                  <a:pt x="219456" y="731520"/>
                </a:cubicBezTo>
                <a:cubicBezTo>
                  <a:pt x="243395" y="676460"/>
                  <a:pt x="261718" y="618411"/>
                  <a:pt x="292608" y="566928"/>
                </a:cubicBezTo>
                <a:cubicBezTo>
                  <a:pt x="426410" y="343925"/>
                  <a:pt x="258103" y="621150"/>
                  <a:pt x="420624" y="365760"/>
                </a:cubicBezTo>
                <a:cubicBezTo>
                  <a:pt x="479612" y="273065"/>
                  <a:pt x="470807" y="266700"/>
                  <a:pt x="548640" y="182880"/>
                </a:cubicBezTo>
                <a:lnTo>
                  <a:pt x="731520" y="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5678908" y="3108453"/>
            <a:ext cx="731520" cy="2163767"/>
          </a:xfrm>
          <a:custGeom>
            <a:avLst/>
            <a:gdLst>
              <a:gd name="connsiteX0" fmla="*/ 0 w 731520"/>
              <a:gd name="connsiteY0" fmla="*/ 1536192 h 1536192"/>
              <a:gd name="connsiteX1" fmla="*/ 18288 w 731520"/>
              <a:gd name="connsiteY1" fmla="*/ 1280160 h 1536192"/>
              <a:gd name="connsiteX2" fmla="*/ 54864 w 731520"/>
              <a:gd name="connsiteY2" fmla="*/ 1170432 h 1536192"/>
              <a:gd name="connsiteX3" fmla="*/ 219456 w 731520"/>
              <a:gd name="connsiteY3" fmla="*/ 731520 h 1536192"/>
              <a:gd name="connsiteX4" fmla="*/ 292608 w 731520"/>
              <a:gd name="connsiteY4" fmla="*/ 566928 h 1536192"/>
              <a:gd name="connsiteX5" fmla="*/ 420624 w 731520"/>
              <a:gd name="connsiteY5" fmla="*/ 365760 h 1536192"/>
              <a:gd name="connsiteX6" fmla="*/ 548640 w 731520"/>
              <a:gd name="connsiteY6" fmla="*/ 182880 h 1536192"/>
              <a:gd name="connsiteX7" fmla="*/ 731520 w 731520"/>
              <a:gd name="connsiteY7" fmla="*/ 0 h 1536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520" h="1536192">
                <a:moveTo>
                  <a:pt x="0" y="1536192"/>
                </a:moveTo>
                <a:cubicBezTo>
                  <a:pt x="6096" y="1450848"/>
                  <a:pt x="5596" y="1364775"/>
                  <a:pt x="18288" y="1280160"/>
                </a:cubicBezTo>
                <a:cubicBezTo>
                  <a:pt x="24007" y="1242032"/>
                  <a:pt x="43364" y="1207231"/>
                  <a:pt x="54864" y="1170432"/>
                </a:cubicBezTo>
                <a:cubicBezTo>
                  <a:pt x="145067" y="881781"/>
                  <a:pt x="72025" y="1070611"/>
                  <a:pt x="219456" y="731520"/>
                </a:cubicBezTo>
                <a:cubicBezTo>
                  <a:pt x="243395" y="676460"/>
                  <a:pt x="261718" y="618411"/>
                  <a:pt x="292608" y="566928"/>
                </a:cubicBezTo>
                <a:cubicBezTo>
                  <a:pt x="426410" y="343925"/>
                  <a:pt x="258103" y="621150"/>
                  <a:pt x="420624" y="365760"/>
                </a:cubicBezTo>
                <a:cubicBezTo>
                  <a:pt x="479612" y="273065"/>
                  <a:pt x="470807" y="266700"/>
                  <a:pt x="548640" y="182880"/>
                </a:cubicBezTo>
                <a:lnTo>
                  <a:pt x="731520" y="0"/>
                </a:lnTo>
              </a:path>
            </a:pathLst>
          </a:cu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/>
          <p:cNvSpPr/>
          <p:nvPr/>
        </p:nvSpPr>
        <p:spPr>
          <a:xfrm>
            <a:off x="5362816" y="3628119"/>
            <a:ext cx="1058904" cy="1536192"/>
          </a:xfrm>
          <a:custGeom>
            <a:avLst/>
            <a:gdLst>
              <a:gd name="connsiteX0" fmla="*/ 0 w 731520"/>
              <a:gd name="connsiteY0" fmla="*/ 1536192 h 1536192"/>
              <a:gd name="connsiteX1" fmla="*/ 18288 w 731520"/>
              <a:gd name="connsiteY1" fmla="*/ 1280160 h 1536192"/>
              <a:gd name="connsiteX2" fmla="*/ 54864 w 731520"/>
              <a:gd name="connsiteY2" fmla="*/ 1170432 h 1536192"/>
              <a:gd name="connsiteX3" fmla="*/ 219456 w 731520"/>
              <a:gd name="connsiteY3" fmla="*/ 731520 h 1536192"/>
              <a:gd name="connsiteX4" fmla="*/ 292608 w 731520"/>
              <a:gd name="connsiteY4" fmla="*/ 566928 h 1536192"/>
              <a:gd name="connsiteX5" fmla="*/ 420624 w 731520"/>
              <a:gd name="connsiteY5" fmla="*/ 365760 h 1536192"/>
              <a:gd name="connsiteX6" fmla="*/ 548640 w 731520"/>
              <a:gd name="connsiteY6" fmla="*/ 182880 h 1536192"/>
              <a:gd name="connsiteX7" fmla="*/ 731520 w 731520"/>
              <a:gd name="connsiteY7" fmla="*/ 0 h 1536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520" h="1536192">
                <a:moveTo>
                  <a:pt x="0" y="1536192"/>
                </a:moveTo>
                <a:cubicBezTo>
                  <a:pt x="6096" y="1450848"/>
                  <a:pt x="5596" y="1364775"/>
                  <a:pt x="18288" y="1280160"/>
                </a:cubicBezTo>
                <a:cubicBezTo>
                  <a:pt x="24007" y="1242032"/>
                  <a:pt x="43364" y="1207231"/>
                  <a:pt x="54864" y="1170432"/>
                </a:cubicBezTo>
                <a:cubicBezTo>
                  <a:pt x="145067" y="881781"/>
                  <a:pt x="72025" y="1070611"/>
                  <a:pt x="219456" y="731520"/>
                </a:cubicBezTo>
                <a:cubicBezTo>
                  <a:pt x="243395" y="676460"/>
                  <a:pt x="261718" y="618411"/>
                  <a:pt x="292608" y="566928"/>
                </a:cubicBezTo>
                <a:cubicBezTo>
                  <a:pt x="426410" y="343925"/>
                  <a:pt x="258103" y="621150"/>
                  <a:pt x="420624" y="365760"/>
                </a:cubicBezTo>
                <a:cubicBezTo>
                  <a:pt x="479612" y="273065"/>
                  <a:pt x="470807" y="266700"/>
                  <a:pt x="548640" y="182880"/>
                </a:cubicBezTo>
                <a:lnTo>
                  <a:pt x="731520" y="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/>
        </p:nvSpPr>
        <p:spPr>
          <a:xfrm>
            <a:off x="5882558" y="2903721"/>
            <a:ext cx="518160" cy="2316167"/>
          </a:xfrm>
          <a:custGeom>
            <a:avLst/>
            <a:gdLst>
              <a:gd name="connsiteX0" fmla="*/ 0 w 731520"/>
              <a:gd name="connsiteY0" fmla="*/ 1536192 h 1536192"/>
              <a:gd name="connsiteX1" fmla="*/ 18288 w 731520"/>
              <a:gd name="connsiteY1" fmla="*/ 1280160 h 1536192"/>
              <a:gd name="connsiteX2" fmla="*/ 54864 w 731520"/>
              <a:gd name="connsiteY2" fmla="*/ 1170432 h 1536192"/>
              <a:gd name="connsiteX3" fmla="*/ 219456 w 731520"/>
              <a:gd name="connsiteY3" fmla="*/ 731520 h 1536192"/>
              <a:gd name="connsiteX4" fmla="*/ 292608 w 731520"/>
              <a:gd name="connsiteY4" fmla="*/ 566928 h 1536192"/>
              <a:gd name="connsiteX5" fmla="*/ 420624 w 731520"/>
              <a:gd name="connsiteY5" fmla="*/ 365760 h 1536192"/>
              <a:gd name="connsiteX6" fmla="*/ 548640 w 731520"/>
              <a:gd name="connsiteY6" fmla="*/ 182880 h 1536192"/>
              <a:gd name="connsiteX7" fmla="*/ 731520 w 731520"/>
              <a:gd name="connsiteY7" fmla="*/ 0 h 1536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520" h="1536192">
                <a:moveTo>
                  <a:pt x="0" y="1536192"/>
                </a:moveTo>
                <a:cubicBezTo>
                  <a:pt x="6096" y="1450848"/>
                  <a:pt x="5596" y="1364775"/>
                  <a:pt x="18288" y="1280160"/>
                </a:cubicBezTo>
                <a:cubicBezTo>
                  <a:pt x="24007" y="1242032"/>
                  <a:pt x="43364" y="1207231"/>
                  <a:pt x="54864" y="1170432"/>
                </a:cubicBezTo>
                <a:cubicBezTo>
                  <a:pt x="145067" y="881781"/>
                  <a:pt x="72025" y="1070611"/>
                  <a:pt x="219456" y="731520"/>
                </a:cubicBezTo>
                <a:cubicBezTo>
                  <a:pt x="243395" y="676460"/>
                  <a:pt x="261718" y="618411"/>
                  <a:pt x="292608" y="566928"/>
                </a:cubicBezTo>
                <a:cubicBezTo>
                  <a:pt x="426410" y="343925"/>
                  <a:pt x="258103" y="621150"/>
                  <a:pt x="420624" y="365760"/>
                </a:cubicBezTo>
                <a:cubicBezTo>
                  <a:pt x="479612" y="273065"/>
                  <a:pt x="470807" y="266700"/>
                  <a:pt x="548640" y="182880"/>
                </a:cubicBezTo>
                <a:lnTo>
                  <a:pt x="731520" y="0"/>
                </a:lnTo>
              </a:path>
            </a:pathLst>
          </a:cu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881049" y="5468701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5096089" y="5345278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5278800" y="5057680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5431200" y="5067198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5618202" y="5146107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5834441" y="5097932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5642332" y="2615184"/>
            <a:ext cx="0" cy="3401568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09883" y="2684764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6297" y="2669950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accent6">
                    <a:lumMod val="75000"/>
                  </a:schemeClr>
                </a:solidFill>
              </a:rP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750850"/>
              </p:ext>
            </p:extLst>
          </p:nvPr>
        </p:nvGraphicFramePr>
        <p:xfrm>
          <a:off x="7366693" y="4003209"/>
          <a:ext cx="4100111" cy="1381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82777">
                  <a:extLst>
                    <a:ext uri="{9D8B030D-6E8A-4147-A177-3AD203B41FA5}">
                      <a16:colId xmlns:a16="http://schemas.microsoft.com/office/drawing/2014/main" val="4218261345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3169450692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1572403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Number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of </a:t>
                      </a:r>
                      <a:r>
                        <a:rPr lang="en-US" baseline="0" dirty="0" err="1">
                          <a:solidFill>
                            <a:schemeClr val="tx1"/>
                          </a:solidFill>
                        </a:rPr>
                        <a:t>Occurences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Normalized as 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75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649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832401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7315689" y="3484125"/>
            <a:ext cx="752514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StartX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3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 txBox="1">
            <a:spLocks/>
          </p:cNvSpPr>
          <p:nvPr/>
        </p:nvSpPr>
        <p:spPr>
          <a:xfrm>
            <a:off x="428624" y="1857910"/>
            <a:ext cx="10343008" cy="44331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Introducing information entropy : The degree of “uncertainty”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 err="1"/>
              <a:t>StartX</a:t>
            </a:r>
            <a:r>
              <a:rPr lang="en-US" altLang="zh-TW" sz="2800" dirty="0"/>
              <a:t> example A: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 err="1"/>
              <a:t>StartX</a:t>
            </a:r>
            <a:r>
              <a:rPr lang="en-US" altLang="zh-TW" sz="2800" dirty="0"/>
              <a:t> example B</a:t>
            </a:r>
          </a:p>
        </p:txBody>
      </p:sp>
      <p:pic>
        <p:nvPicPr>
          <p:cNvPr id="2050" name="Picture 2" descr="Related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61" t="3550" r="30170" b="15625"/>
          <a:stretch/>
        </p:blipFill>
        <p:spPr bwMode="auto">
          <a:xfrm>
            <a:off x="6186487" y="2316331"/>
            <a:ext cx="1824514" cy="3974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KL Divergence: Intuition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15</a:t>
            </a:fld>
            <a:endParaRPr lang="zh-TW" altLang="en-US" dirty="0"/>
          </a:p>
        </p:txBody>
      </p:sp>
      <p:sp>
        <p:nvSpPr>
          <p:cNvPr id="10" name="Oval 9"/>
          <p:cNvSpPr/>
          <p:nvPr/>
        </p:nvSpPr>
        <p:spPr>
          <a:xfrm>
            <a:off x="6319173" y="5560141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6534213" y="5436718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6716924" y="5149120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6501884" y="5671873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6473168" y="5201563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6725102" y="5555636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7098744" y="2705874"/>
            <a:ext cx="0" cy="3401568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48007" y="2776204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4421" y="2761390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accent6">
                    <a:lumMod val="75000"/>
                  </a:schemeClr>
                </a:solidFill>
              </a:rP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691064"/>
              </p:ext>
            </p:extLst>
          </p:nvPr>
        </p:nvGraphicFramePr>
        <p:xfrm>
          <a:off x="827371" y="3073083"/>
          <a:ext cx="4100111" cy="1381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82777">
                  <a:extLst>
                    <a:ext uri="{9D8B030D-6E8A-4147-A177-3AD203B41FA5}">
                      <a16:colId xmlns:a16="http://schemas.microsoft.com/office/drawing/2014/main" val="4218261345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3169450692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1572403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Number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of </a:t>
                      </a:r>
                      <a:r>
                        <a:rPr lang="en-US" baseline="0" dirty="0" err="1">
                          <a:solidFill>
                            <a:schemeClr val="tx1"/>
                          </a:solidFill>
                        </a:rPr>
                        <a:t>Occurences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Normalized as 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75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649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832401"/>
                  </a:ext>
                </a:extLst>
              </a:tr>
            </a:tbl>
          </a:graphicData>
        </a:graphic>
      </p:graphicFrame>
      <p:sp>
        <p:nvSpPr>
          <p:cNvPr id="29" name="Oval 28"/>
          <p:cNvSpPr/>
          <p:nvPr/>
        </p:nvSpPr>
        <p:spPr>
          <a:xfrm>
            <a:off x="6706393" y="5375318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6691555" y="5841065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551928" y="4929438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7180562" y="5736262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869243" y="6312498"/>
            <a:ext cx="402674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A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38580"/>
              </p:ext>
            </p:extLst>
          </p:nvPr>
        </p:nvGraphicFramePr>
        <p:xfrm>
          <a:off x="816938" y="5192348"/>
          <a:ext cx="4100111" cy="1381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82777">
                  <a:extLst>
                    <a:ext uri="{9D8B030D-6E8A-4147-A177-3AD203B41FA5}">
                      <a16:colId xmlns:a16="http://schemas.microsoft.com/office/drawing/2014/main" val="4218261345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3169450692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1572403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Number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of </a:t>
                      </a:r>
                      <a:r>
                        <a:rPr lang="en-US" baseline="0" dirty="0" err="1">
                          <a:solidFill>
                            <a:schemeClr val="tx1"/>
                          </a:solidFill>
                        </a:rPr>
                        <a:t>Occurences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Normalized as 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75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649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832401"/>
                  </a:ext>
                </a:extLst>
              </a:tr>
            </a:tbl>
          </a:graphicData>
        </a:graphic>
      </p:graphicFrame>
      <p:pic>
        <p:nvPicPr>
          <p:cNvPr id="36" name="Picture 2" descr="Related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61" t="3550" r="30170" b="15625"/>
          <a:stretch/>
        </p:blipFill>
        <p:spPr bwMode="auto">
          <a:xfrm>
            <a:off x="8940538" y="2283749"/>
            <a:ext cx="1824514" cy="3974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Oval 36"/>
          <p:cNvSpPr/>
          <p:nvPr/>
        </p:nvSpPr>
        <p:spPr>
          <a:xfrm>
            <a:off x="9073224" y="5527559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10403802" y="5658432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0167121" y="5668546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9255935" y="5639291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10309156" y="5464279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9479153" y="5523054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9852795" y="2673292"/>
            <a:ext cx="0" cy="3401568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202058" y="2743622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38472" y="2728808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accent6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46" name="Oval 45"/>
          <p:cNvSpPr/>
          <p:nvPr/>
        </p:nvSpPr>
        <p:spPr>
          <a:xfrm>
            <a:off x="9460444" y="5342736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9445606" y="5808483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10037355" y="5464280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9934613" y="5703680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9623294" y="6279916"/>
            <a:ext cx="386644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664576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/>
      <p:bldP spid="26" grpId="0"/>
      <p:bldP spid="29" grpId="0" animBg="1"/>
      <p:bldP spid="30" grpId="0" animBg="1"/>
      <p:bldP spid="31" grpId="0" animBg="1"/>
      <p:bldP spid="32" grpId="0" animBg="1"/>
      <p:bldP spid="33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4" grpId="0"/>
      <p:bldP spid="45" grpId="0"/>
      <p:bldP spid="46" grpId="0" animBg="1"/>
      <p:bldP spid="47" grpId="0" animBg="1"/>
      <p:bldP spid="48" grpId="0" animBg="1"/>
      <p:bldP spid="49" grpId="0" animBg="1"/>
      <p:bldP spid="5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 txBox="1">
            <a:spLocks/>
          </p:cNvSpPr>
          <p:nvPr/>
        </p:nvSpPr>
        <p:spPr>
          <a:xfrm>
            <a:off x="428624" y="1857910"/>
            <a:ext cx="10343008" cy="44331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Introducing information entropy : The degree of “uncertainty”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 err="1"/>
              <a:t>StartX</a:t>
            </a:r>
            <a:r>
              <a:rPr lang="en-US" altLang="zh-TW" sz="2800" dirty="0"/>
              <a:t> example A: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 err="1"/>
              <a:t>StartX</a:t>
            </a:r>
            <a:r>
              <a:rPr lang="en-US" altLang="zh-TW" sz="2800" dirty="0"/>
              <a:t> example B</a:t>
            </a:r>
          </a:p>
        </p:txBody>
      </p:sp>
      <p:pic>
        <p:nvPicPr>
          <p:cNvPr id="2050" name="Picture 2" descr="Related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61" t="3550" r="30170" b="15625"/>
          <a:stretch/>
        </p:blipFill>
        <p:spPr bwMode="auto">
          <a:xfrm>
            <a:off x="6186487" y="2316331"/>
            <a:ext cx="1824514" cy="3974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KL Divergence: Intuition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16</a:t>
            </a:fld>
            <a:endParaRPr lang="zh-TW" altLang="en-US" dirty="0"/>
          </a:p>
        </p:txBody>
      </p:sp>
      <p:sp>
        <p:nvSpPr>
          <p:cNvPr id="10" name="Oval 9"/>
          <p:cNvSpPr/>
          <p:nvPr/>
        </p:nvSpPr>
        <p:spPr>
          <a:xfrm>
            <a:off x="6319173" y="5560141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6534213" y="5436718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6716924" y="5149120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6501884" y="5671873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6473168" y="5201563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6725102" y="5555636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7098744" y="2705874"/>
            <a:ext cx="0" cy="3401568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48007" y="2776204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4421" y="2761390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accent6">
                    <a:lumMod val="75000"/>
                  </a:schemeClr>
                </a:solidFill>
              </a:rP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691064"/>
              </p:ext>
            </p:extLst>
          </p:nvPr>
        </p:nvGraphicFramePr>
        <p:xfrm>
          <a:off x="827371" y="3073083"/>
          <a:ext cx="4100111" cy="1381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82777">
                  <a:extLst>
                    <a:ext uri="{9D8B030D-6E8A-4147-A177-3AD203B41FA5}">
                      <a16:colId xmlns:a16="http://schemas.microsoft.com/office/drawing/2014/main" val="4218261345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3169450692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1572403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Number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of </a:t>
                      </a:r>
                      <a:r>
                        <a:rPr lang="en-US" baseline="0" dirty="0" err="1">
                          <a:solidFill>
                            <a:schemeClr val="tx1"/>
                          </a:solidFill>
                        </a:rPr>
                        <a:t>Occurences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Normalized as 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75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649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832401"/>
                  </a:ext>
                </a:extLst>
              </a:tr>
            </a:tbl>
          </a:graphicData>
        </a:graphic>
      </p:graphicFrame>
      <p:sp>
        <p:nvSpPr>
          <p:cNvPr id="29" name="Oval 28"/>
          <p:cNvSpPr/>
          <p:nvPr/>
        </p:nvSpPr>
        <p:spPr>
          <a:xfrm>
            <a:off x="6706393" y="5375318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6691555" y="5841065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551928" y="4929438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7180562" y="5736262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869243" y="6312498"/>
            <a:ext cx="402674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A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38580"/>
              </p:ext>
            </p:extLst>
          </p:nvPr>
        </p:nvGraphicFramePr>
        <p:xfrm>
          <a:off x="816938" y="5192348"/>
          <a:ext cx="4100111" cy="1381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82777">
                  <a:extLst>
                    <a:ext uri="{9D8B030D-6E8A-4147-A177-3AD203B41FA5}">
                      <a16:colId xmlns:a16="http://schemas.microsoft.com/office/drawing/2014/main" val="4218261345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3169450692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1572403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Number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of </a:t>
                      </a:r>
                      <a:r>
                        <a:rPr lang="en-US" baseline="0" dirty="0" err="1">
                          <a:solidFill>
                            <a:schemeClr val="tx1"/>
                          </a:solidFill>
                        </a:rPr>
                        <a:t>Occurences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Normalized as 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75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649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832401"/>
                  </a:ext>
                </a:extLst>
              </a:tr>
            </a:tbl>
          </a:graphicData>
        </a:graphic>
      </p:graphicFrame>
      <p:pic>
        <p:nvPicPr>
          <p:cNvPr id="36" name="Picture 2" descr="Related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61" t="3550" r="30170" b="15625"/>
          <a:stretch/>
        </p:blipFill>
        <p:spPr bwMode="auto">
          <a:xfrm>
            <a:off x="8940538" y="2283749"/>
            <a:ext cx="1824514" cy="3974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Oval 36"/>
          <p:cNvSpPr/>
          <p:nvPr/>
        </p:nvSpPr>
        <p:spPr>
          <a:xfrm>
            <a:off x="9073224" y="5527559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10403802" y="5658432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0167121" y="5668546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9255935" y="5639291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10309156" y="5464279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9479153" y="5523054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9852795" y="2673292"/>
            <a:ext cx="0" cy="3401568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202058" y="2743622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38472" y="2728808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accent6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46" name="Oval 45"/>
          <p:cNvSpPr/>
          <p:nvPr/>
        </p:nvSpPr>
        <p:spPr>
          <a:xfrm>
            <a:off x="9460444" y="5342736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9445606" y="5808483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10037355" y="5464280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9934613" y="5703680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9623294" y="6279916"/>
            <a:ext cx="386644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3273" y="3571717"/>
            <a:ext cx="2296874" cy="70788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Who is the “random” person?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29867" y="4421931"/>
            <a:ext cx="2296874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B is more “random”</a:t>
            </a:r>
          </a:p>
        </p:txBody>
      </p:sp>
    </p:spTree>
    <p:extLst>
      <p:ext uri="{BB962C8B-B14F-4D97-AF65-F5344CB8AC3E}">
        <p14:creationId xmlns:p14="http://schemas.microsoft.com/office/powerpoint/2010/main" val="2253057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 txBox="1">
            <a:spLocks/>
          </p:cNvSpPr>
          <p:nvPr/>
        </p:nvSpPr>
        <p:spPr>
          <a:xfrm>
            <a:off x="428624" y="1857910"/>
            <a:ext cx="10343008" cy="44331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Introducing information entropy : The degree of “uncertainty”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Randomness = Unstable = Uncertain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B is more random, the information entropy in B is more than information entropy in A.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Entropy Equation for A:</a:t>
            </a:r>
          </a:p>
          <a:p>
            <a:pPr marL="0" indent="0">
              <a:buClrTx/>
              <a:buNone/>
            </a:pPr>
            <a:endParaRPr lang="en-US" altLang="zh-TW" sz="28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KL Divergence: Intuition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17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717995" y="3456246"/>
                <a:ext cx="4849597" cy="14340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i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32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3200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  <m:func>
                        <m:func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D" sz="32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7995" y="3456246"/>
                <a:ext cx="4849597" cy="14340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717995" y="5081961"/>
                <a:ext cx="7700963" cy="1435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Note:</a:t>
                </a:r>
              </a:p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2800" dirty="0"/>
                  <a:t> = probability value from A in bin number I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D" sz="2800" i="1" smtClean="0">
                        <a:latin typeface="Cambria Math" panose="02040503050406030204" pitchFamily="18" charset="0"/>
                      </a:rPr>
                      <m:t>log</m:t>
                    </m:r>
                  </m:oMath>
                </a14:m>
                <a:r>
                  <a:rPr lang="en-US" sz="2800" dirty="0"/>
                  <a:t> is in base 10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7995" y="5081961"/>
                <a:ext cx="7700963" cy="1435201"/>
              </a:xfrm>
              <a:prstGeom prst="rect">
                <a:avLst/>
              </a:prstGeom>
              <a:blipFill>
                <a:blip r:embed="rId5"/>
                <a:stretch>
                  <a:fillRect l="-1663" t="-4255" b="-8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2678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 txBox="1">
            <a:spLocks/>
          </p:cNvSpPr>
          <p:nvPr/>
        </p:nvSpPr>
        <p:spPr>
          <a:xfrm>
            <a:off x="373760" y="1842823"/>
            <a:ext cx="10343008" cy="44331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 err="1"/>
              <a:t>StartX</a:t>
            </a:r>
            <a:r>
              <a:rPr lang="en-US" altLang="zh-TW" sz="2800" dirty="0"/>
              <a:t> example A: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 err="1"/>
              <a:t>StartX</a:t>
            </a:r>
            <a:r>
              <a:rPr lang="en-US" altLang="zh-TW" sz="2800" dirty="0"/>
              <a:t> example B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KL Divergence: Intuition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18</a:t>
            </a:fld>
            <a:endParaRPr lang="zh-TW" alt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992888"/>
              </p:ext>
            </p:extLst>
          </p:nvPr>
        </p:nvGraphicFramePr>
        <p:xfrm>
          <a:off x="816937" y="2504942"/>
          <a:ext cx="4100111" cy="1381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82777">
                  <a:extLst>
                    <a:ext uri="{9D8B030D-6E8A-4147-A177-3AD203B41FA5}">
                      <a16:colId xmlns:a16="http://schemas.microsoft.com/office/drawing/2014/main" val="4218261345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3169450692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1572403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Number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of </a:t>
                      </a:r>
                      <a:r>
                        <a:rPr lang="en-US" baseline="0" dirty="0" err="1">
                          <a:solidFill>
                            <a:schemeClr val="tx1"/>
                          </a:solidFill>
                        </a:rPr>
                        <a:t>Occurences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Normalized as 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75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649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832401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431275"/>
              </p:ext>
            </p:extLst>
          </p:nvPr>
        </p:nvGraphicFramePr>
        <p:xfrm>
          <a:off x="816936" y="4698572"/>
          <a:ext cx="4100111" cy="1381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82777">
                  <a:extLst>
                    <a:ext uri="{9D8B030D-6E8A-4147-A177-3AD203B41FA5}">
                      <a16:colId xmlns:a16="http://schemas.microsoft.com/office/drawing/2014/main" val="4218261345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3169450692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1572403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Number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of </a:t>
                      </a:r>
                      <a:r>
                        <a:rPr lang="en-US" baseline="0" dirty="0" err="1">
                          <a:solidFill>
                            <a:schemeClr val="tx1"/>
                          </a:solidFill>
                        </a:rPr>
                        <a:t>Occurences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Normalized as 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75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649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8324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/>
              <p:cNvSpPr/>
              <p:nvPr/>
            </p:nvSpPr>
            <p:spPr>
              <a:xfrm>
                <a:off x="5529161" y="1623195"/>
                <a:ext cx="4790542" cy="14366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2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3200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  <m:func>
                        <m:func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i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3" name="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9161" y="1623195"/>
                <a:ext cx="4790542" cy="14366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5534529" y="3634972"/>
            <a:ext cx="4592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H(A) = - ((-0.0411)+(-0.1))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5539897" y="3127822"/>
                <a:ext cx="677942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H(A) = - (0.9 </a:t>
                </a:r>
                <a14:m>
                  <m:oMath xmlns:m="http://schemas.openxmlformats.org/officeDocument/2006/math">
                    <m:r>
                      <a:rPr lang="en-ID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log (0.9) + 0.1</a:t>
                </a:r>
                <a:r>
                  <a:rPr lang="en-ID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D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log (0.1))</a:t>
                </a: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9897" y="3127822"/>
                <a:ext cx="6779420" cy="523220"/>
              </a:xfrm>
              <a:prstGeom prst="rect">
                <a:avLst/>
              </a:prstGeom>
              <a:blipFill>
                <a:blip r:embed="rId5"/>
                <a:stretch>
                  <a:fillRect l="-1888" t="-13953" b="-29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/>
          <p:cNvSpPr txBox="1"/>
          <p:nvPr/>
        </p:nvSpPr>
        <p:spPr>
          <a:xfrm>
            <a:off x="5534529" y="4138881"/>
            <a:ext cx="24465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H(A) = 0.1411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29161" y="5335038"/>
            <a:ext cx="5105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H(B) = - ((-0.1505)+(-0.1505))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5534529" y="4827888"/>
                <a:ext cx="669285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H(B) = - (0.5 log</a:t>
                </a:r>
                <a14:m>
                  <m:oMath xmlns:m="http://schemas.openxmlformats.org/officeDocument/2006/math">
                    <m:r>
                      <a:rPr lang="en-ID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D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(0.5) + 0.5 </a:t>
                </a:r>
                <a14:m>
                  <m:oMath xmlns:m="http://schemas.openxmlformats.org/officeDocument/2006/math">
                    <m:r>
                      <a:rPr lang="en-ID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log (0.5))</a:t>
                </a:r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4529" y="4827888"/>
                <a:ext cx="6692858" cy="523220"/>
              </a:xfrm>
              <a:prstGeom prst="rect">
                <a:avLst/>
              </a:prstGeom>
              <a:blipFill>
                <a:blip r:embed="rId6"/>
                <a:stretch>
                  <a:fillRect l="-1913" t="-12791" r="-63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/>
          <p:cNvSpPr txBox="1"/>
          <p:nvPr/>
        </p:nvSpPr>
        <p:spPr>
          <a:xfrm>
            <a:off x="5529161" y="5838947"/>
            <a:ext cx="22429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H(B) = 0.301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2742" y="6142538"/>
            <a:ext cx="2296874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B is more “random”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45225" y="3251799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-&gt; a(1)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5224" y="3615197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-&gt; a(2)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1895" y="5390693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-&gt; b(1)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1894" y="5754091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-&gt; b(2)</a:t>
            </a:r>
          </a:p>
        </p:txBody>
      </p:sp>
    </p:spTree>
    <p:extLst>
      <p:ext uri="{BB962C8B-B14F-4D97-AF65-F5344CB8AC3E}">
        <p14:creationId xmlns:p14="http://schemas.microsoft.com/office/powerpoint/2010/main" val="716840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3" grpId="0"/>
      <p:bldP spid="54" grpId="0"/>
      <p:bldP spid="55" grpId="0"/>
      <p:bldP spid="56" grpId="0"/>
      <p:bldP spid="57" grpId="0"/>
      <p:bldP spid="58" grpId="0"/>
      <p:bldP spid="59" grpId="0" animBg="1"/>
      <p:bldP spid="4" grpId="0"/>
      <p:bldP spid="17" grpId="0"/>
      <p:bldP spid="18" grpId="0"/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 txBox="1">
            <a:spLocks/>
          </p:cNvSpPr>
          <p:nvPr/>
        </p:nvSpPr>
        <p:spPr>
          <a:xfrm>
            <a:off x="373760" y="1842823"/>
            <a:ext cx="10343008" cy="44331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Entropy Graph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KL Divergence: Intuition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19</a:t>
            </a:fld>
            <a:endParaRPr lang="zh-TW" altLang="en-US" dirty="0"/>
          </a:p>
        </p:txBody>
      </p:sp>
      <p:pic>
        <p:nvPicPr>
          <p:cNvPr id="4098" name="Picture 2" descr="Related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8"/>
          <a:stretch/>
        </p:blipFill>
        <p:spPr bwMode="auto">
          <a:xfrm>
            <a:off x="867514" y="2221990"/>
            <a:ext cx="5916168" cy="4226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61678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 txBox="1">
            <a:spLocks/>
          </p:cNvSpPr>
          <p:nvPr/>
        </p:nvSpPr>
        <p:spPr>
          <a:xfrm>
            <a:off x="428624" y="1857910"/>
            <a:ext cx="10343008" cy="44331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None/>
            </a:pPr>
            <a:r>
              <a:rPr lang="en-US" altLang="zh-TW" sz="2800" dirty="0"/>
              <a:t>Relationship between entropy and user’s pattern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Unstable/random/uncertain user: high entropy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Stable user: low entropy</a:t>
            </a:r>
          </a:p>
          <a:p>
            <a:pPr marL="0" indent="0">
              <a:buClrTx/>
              <a:buNone/>
            </a:pPr>
            <a:endParaRPr lang="en-US" altLang="zh-TW" sz="28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KL Divergence: Intuition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20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69812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 txBox="1">
            <a:spLocks/>
          </p:cNvSpPr>
          <p:nvPr/>
        </p:nvSpPr>
        <p:spPr>
          <a:xfrm>
            <a:off x="428624" y="1857910"/>
            <a:ext cx="10343008" cy="44331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Introducing information entropy : The degree of “uncertainty”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Introducing cross-entropy: using other probability distribution to measure a probability distribution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Example: using a(</a:t>
            </a:r>
            <a:r>
              <a:rPr lang="en-US" altLang="zh-TW" sz="2800" dirty="0" err="1"/>
              <a:t>i</a:t>
            </a:r>
            <a:r>
              <a:rPr lang="en-US" altLang="zh-TW" sz="2800" dirty="0"/>
              <a:t>) to measure c(</a:t>
            </a:r>
            <a:r>
              <a:rPr lang="en-US" altLang="zh-TW" sz="2800" dirty="0" err="1"/>
              <a:t>i</a:t>
            </a:r>
            <a:r>
              <a:rPr lang="en-US" altLang="zh-TW" sz="2800" dirty="0"/>
              <a:t>)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Cross Entropy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8173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 txBox="1">
            <a:spLocks/>
          </p:cNvSpPr>
          <p:nvPr/>
        </p:nvSpPr>
        <p:spPr>
          <a:xfrm>
            <a:off x="428624" y="1670120"/>
            <a:ext cx="4820032" cy="44331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 err="1"/>
              <a:t>StartX</a:t>
            </a:r>
            <a:r>
              <a:rPr lang="en-US" altLang="zh-TW" sz="2800" dirty="0"/>
              <a:t> example A: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 err="1"/>
              <a:t>StartX</a:t>
            </a:r>
            <a:r>
              <a:rPr lang="en-US" altLang="zh-TW" sz="2800" dirty="0"/>
              <a:t> example B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Cross Entropy example: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22</a:t>
            </a:fld>
            <a:endParaRPr lang="zh-TW" alt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686768"/>
              </p:ext>
            </p:extLst>
          </p:nvPr>
        </p:nvGraphicFramePr>
        <p:xfrm>
          <a:off x="816938" y="2341563"/>
          <a:ext cx="4100111" cy="1381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82777">
                  <a:extLst>
                    <a:ext uri="{9D8B030D-6E8A-4147-A177-3AD203B41FA5}">
                      <a16:colId xmlns:a16="http://schemas.microsoft.com/office/drawing/2014/main" val="4218261345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3169450692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1572403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Number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of </a:t>
                      </a:r>
                      <a:r>
                        <a:rPr lang="en-US" baseline="0" dirty="0" err="1">
                          <a:solidFill>
                            <a:schemeClr val="tx1"/>
                          </a:solidFill>
                        </a:rPr>
                        <a:t>Occurences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Normalized as 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75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649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832401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518455"/>
              </p:ext>
            </p:extLst>
          </p:nvPr>
        </p:nvGraphicFramePr>
        <p:xfrm>
          <a:off x="816938" y="4552268"/>
          <a:ext cx="4100111" cy="1381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82777">
                  <a:extLst>
                    <a:ext uri="{9D8B030D-6E8A-4147-A177-3AD203B41FA5}">
                      <a16:colId xmlns:a16="http://schemas.microsoft.com/office/drawing/2014/main" val="4218261345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3169450692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1572403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Number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of </a:t>
                      </a:r>
                      <a:r>
                        <a:rPr lang="en-US" baseline="0" dirty="0" err="1">
                          <a:solidFill>
                            <a:schemeClr val="tx1"/>
                          </a:solidFill>
                        </a:rPr>
                        <a:t>Occurences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Normalized as 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75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649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832401"/>
                  </a:ext>
                </a:extLst>
              </a:tr>
            </a:tbl>
          </a:graphicData>
        </a:graphic>
      </p:graphicFrame>
      <p:sp>
        <p:nvSpPr>
          <p:cNvPr id="53" name="Content Placeholder 2"/>
          <p:cNvSpPr txBox="1">
            <a:spLocks/>
          </p:cNvSpPr>
          <p:nvPr/>
        </p:nvSpPr>
        <p:spPr>
          <a:xfrm>
            <a:off x="5636969" y="1670120"/>
            <a:ext cx="5564429" cy="44331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 err="1"/>
              <a:t>StartX</a:t>
            </a:r>
            <a:r>
              <a:rPr lang="en-US" altLang="zh-TW" sz="2800" dirty="0"/>
              <a:t> example C (testing data):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0" indent="0">
              <a:buClrTx/>
              <a:buNone/>
            </a:pPr>
            <a:endParaRPr lang="en-US" altLang="zh-TW" sz="2800" dirty="0"/>
          </a:p>
        </p:txBody>
      </p:sp>
      <p:graphicFrame>
        <p:nvGraphicFramePr>
          <p:cNvPr id="54" name="Table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668524"/>
              </p:ext>
            </p:extLst>
          </p:nvPr>
        </p:nvGraphicFramePr>
        <p:xfrm>
          <a:off x="5996930" y="2341563"/>
          <a:ext cx="4100111" cy="1381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82777">
                  <a:extLst>
                    <a:ext uri="{9D8B030D-6E8A-4147-A177-3AD203B41FA5}">
                      <a16:colId xmlns:a16="http://schemas.microsoft.com/office/drawing/2014/main" val="4218261345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3169450692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1572403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Number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of </a:t>
                      </a:r>
                      <a:r>
                        <a:rPr lang="en-US" baseline="0" dirty="0" err="1">
                          <a:solidFill>
                            <a:schemeClr val="tx1"/>
                          </a:solidFill>
                        </a:rPr>
                        <a:t>Occurences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Normalized as 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75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649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832401"/>
                  </a:ext>
                </a:extLst>
              </a:tr>
            </a:tbl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5996930" y="4128472"/>
            <a:ext cx="4862134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What is cross entropy C to A?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96930" y="4921351"/>
            <a:ext cx="4862134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What is cross entropy C to B?</a:t>
            </a:r>
          </a:p>
        </p:txBody>
      </p:sp>
    </p:spTree>
    <p:extLst>
      <p:ext uri="{BB962C8B-B14F-4D97-AF65-F5344CB8AC3E}">
        <p14:creationId xmlns:p14="http://schemas.microsoft.com/office/powerpoint/2010/main" val="172392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5" grpId="0" animBg="1"/>
      <p:bldP spid="5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 txBox="1">
            <a:spLocks/>
          </p:cNvSpPr>
          <p:nvPr/>
        </p:nvSpPr>
        <p:spPr>
          <a:xfrm>
            <a:off x="428624" y="1857910"/>
            <a:ext cx="10343008" cy="44331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Introducing information entropy : The degree of “uncertainty”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Introducing cross-entropy: using other probability distribution to measure a probability distribution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Example: using a(x) to measure c(x)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Equation: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Cross Entropy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67514" y="4412925"/>
                <a:ext cx="5260671" cy="14366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i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32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3200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  <m:func>
                        <m:func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i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514" y="4412925"/>
                <a:ext cx="5260671" cy="14366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8132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 txBox="1">
            <a:spLocks/>
          </p:cNvSpPr>
          <p:nvPr/>
        </p:nvSpPr>
        <p:spPr>
          <a:xfrm>
            <a:off x="428624" y="1670120"/>
            <a:ext cx="4820032" cy="44331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 err="1"/>
              <a:t>StartX</a:t>
            </a:r>
            <a:r>
              <a:rPr lang="en-US" altLang="zh-TW" sz="2800" dirty="0"/>
              <a:t> example A: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 err="1"/>
              <a:t>StartX</a:t>
            </a:r>
            <a:r>
              <a:rPr lang="en-US" altLang="zh-TW" sz="2800" dirty="0"/>
              <a:t> example B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Cross Entropy example: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24</a:t>
            </a:fld>
            <a:endParaRPr lang="zh-TW" alt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686768"/>
              </p:ext>
            </p:extLst>
          </p:nvPr>
        </p:nvGraphicFramePr>
        <p:xfrm>
          <a:off x="816938" y="2341563"/>
          <a:ext cx="4100111" cy="1381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82777">
                  <a:extLst>
                    <a:ext uri="{9D8B030D-6E8A-4147-A177-3AD203B41FA5}">
                      <a16:colId xmlns:a16="http://schemas.microsoft.com/office/drawing/2014/main" val="4218261345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3169450692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1572403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Number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of </a:t>
                      </a:r>
                      <a:r>
                        <a:rPr lang="en-US" baseline="0" dirty="0" err="1">
                          <a:solidFill>
                            <a:schemeClr val="tx1"/>
                          </a:solidFill>
                        </a:rPr>
                        <a:t>Occurences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Normalized as 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75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649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832401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518455"/>
              </p:ext>
            </p:extLst>
          </p:nvPr>
        </p:nvGraphicFramePr>
        <p:xfrm>
          <a:off x="816938" y="4552268"/>
          <a:ext cx="4100111" cy="1381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82777">
                  <a:extLst>
                    <a:ext uri="{9D8B030D-6E8A-4147-A177-3AD203B41FA5}">
                      <a16:colId xmlns:a16="http://schemas.microsoft.com/office/drawing/2014/main" val="4218261345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3169450692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1572403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Number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of </a:t>
                      </a:r>
                      <a:r>
                        <a:rPr lang="en-US" baseline="0" dirty="0" err="1">
                          <a:solidFill>
                            <a:schemeClr val="tx1"/>
                          </a:solidFill>
                        </a:rPr>
                        <a:t>Occurences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Normalized as 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75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649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832401"/>
                  </a:ext>
                </a:extLst>
              </a:tr>
            </a:tbl>
          </a:graphicData>
        </a:graphic>
      </p:graphicFrame>
      <p:sp>
        <p:nvSpPr>
          <p:cNvPr id="53" name="Content Placeholder 2"/>
          <p:cNvSpPr txBox="1">
            <a:spLocks/>
          </p:cNvSpPr>
          <p:nvPr/>
        </p:nvSpPr>
        <p:spPr>
          <a:xfrm>
            <a:off x="5636970" y="1670120"/>
            <a:ext cx="5372406" cy="44331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 err="1"/>
              <a:t>StartX</a:t>
            </a:r>
            <a:r>
              <a:rPr lang="en-US" altLang="zh-TW" sz="2800" dirty="0"/>
              <a:t> example C (testing data):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0" indent="0">
              <a:buClrTx/>
              <a:buNone/>
            </a:pPr>
            <a:endParaRPr lang="en-US" altLang="zh-TW" sz="2800" dirty="0"/>
          </a:p>
        </p:txBody>
      </p:sp>
      <p:graphicFrame>
        <p:nvGraphicFramePr>
          <p:cNvPr id="54" name="Table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374541"/>
              </p:ext>
            </p:extLst>
          </p:nvPr>
        </p:nvGraphicFramePr>
        <p:xfrm>
          <a:off x="5996930" y="2341563"/>
          <a:ext cx="4100111" cy="1381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82777">
                  <a:extLst>
                    <a:ext uri="{9D8B030D-6E8A-4147-A177-3AD203B41FA5}">
                      <a16:colId xmlns:a16="http://schemas.microsoft.com/office/drawing/2014/main" val="4218261345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3169450692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1572403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Number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of </a:t>
                      </a:r>
                      <a:r>
                        <a:rPr lang="en-US" baseline="0" dirty="0" err="1">
                          <a:solidFill>
                            <a:schemeClr val="tx1"/>
                          </a:solidFill>
                        </a:rPr>
                        <a:t>Occurences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Normalized as 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75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649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832401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325405" y="4406558"/>
            <a:ext cx="27222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H(A,C) = 0.2395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330773" y="3899408"/>
                <a:ext cx="70551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H(A,C) = - (0.9 </a:t>
                </a:r>
                <a14:m>
                  <m:oMath xmlns:m="http://schemas.openxmlformats.org/officeDocument/2006/math">
                    <m:r>
                      <a:rPr lang="en-ID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log (0.6) + 0.1</a:t>
                </a:r>
                <a:r>
                  <a:rPr lang="en-ID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D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log (0.4)) 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773" y="3899408"/>
                <a:ext cx="7055136" cy="523220"/>
              </a:xfrm>
              <a:prstGeom prst="rect">
                <a:avLst/>
              </a:prstGeom>
              <a:blipFill>
                <a:blip r:embed="rId4"/>
                <a:stretch>
                  <a:fillRect l="-1727" t="-15294" r="-777" b="-30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5325405" y="5806142"/>
            <a:ext cx="27174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H(B,C) = 0.3099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330773" y="5298992"/>
                <a:ext cx="697178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H(B,C) = - (0.5 </a:t>
                </a:r>
                <a14:m>
                  <m:oMath xmlns:m="http://schemas.openxmlformats.org/officeDocument/2006/math">
                    <m:r>
                      <a:rPr lang="en-ID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log (0.6) + 0.5</a:t>
                </a:r>
                <a:r>
                  <a:rPr lang="en-ID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D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log (0.4))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773" y="5298992"/>
                <a:ext cx="6971780" cy="523220"/>
              </a:xfrm>
              <a:prstGeom prst="rect">
                <a:avLst/>
              </a:prstGeom>
              <a:blipFill>
                <a:blip r:embed="rId5"/>
                <a:stretch>
                  <a:fillRect l="-1748" t="-13953" r="-699" b="-29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2216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 txBox="1">
            <a:spLocks/>
          </p:cNvSpPr>
          <p:nvPr/>
        </p:nvSpPr>
        <p:spPr>
          <a:xfrm>
            <a:off x="428624" y="1857910"/>
            <a:ext cx="11367136" cy="44331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KL Divergence of probability distribution P to probability distribution Q is cross entropy (P,Q) - entropy of P</a:t>
            </a:r>
          </a:p>
          <a:p>
            <a:pPr marL="0" indent="0">
              <a:buClrTx/>
              <a:buNone/>
            </a:pPr>
            <a:endParaRPr lang="en-US" altLang="zh-TW" sz="28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KL Divergence: Formal Equation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25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4164" y="2855280"/>
                <a:ext cx="587731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𝐾𝐿𝐷𝑖𝑣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||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320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3200" dirty="0"/>
                  <a:t>)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−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3200" dirty="0"/>
                  <a:t>)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164" y="2855280"/>
                <a:ext cx="5877315" cy="584775"/>
              </a:xfrm>
              <a:prstGeom prst="rect">
                <a:avLst/>
              </a:prstGeom>
              <a:blipFill>
                <a:blip r:embed="rId4"/>
                <a:stretch>
                  <a:fillRect t="-12500" r="-1554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52793" y="3456218"/>
                <a:ext cx="10924436" cy="14366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𝐾𝐿𝐷𝑖𝑣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 ||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)=−</m:t>
                      </m:r>
                      <m:nary>
                        <m:naryPr>
                          <m:chr m:val="∑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 −</m:t>
                      </m:r>
                      <m:nary>
                        <m:naryPr>
                          <m:chr m:val="∑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793" y="3456218"/>
                <a:ext cx="10924436" cy="14366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52793" y="4835149"/>
                <a:ext cx="9305558" cy="14366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𝐾𝐿𝐷𝑖𝑣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 |</m:t>
                      </m:r>
                      <m:d>
                        <m:dPr>
                          <m:begChr m:val="|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func>
                            <m:func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fun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793" y="4835149"/>
                <a:ext cx="9305558" cy="14366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3644993" y="3440055"/>
            <a:ext cx="1955707" cy="1452838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413441" y="3426974"/>
            <a:ext cx="1955707" cy="1452838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636372" y="5188622"/>
            <a:ext cx="3554137" cy="806721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255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3" grpId="0" animBg="1"/>
      <p:bldP spid="13" grpId="0" animBg="1"/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KL Divergence: Equation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26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28624" y="1731689"/>
                <a:ext cx="6689347" cy="14366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𝐾𝐿𝐷𝑖𝑣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 |</m:t>
                      </m:r>
                      <m:d>
                        <m:dPr>
                          <m:begChr m:val="|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unc>
                            <m:func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4" y="1731689"/>
                <a:ext cx="6689347" cy="14366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3628249" y="2046665"/>
            <a:ext cx="332825" cy="806721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01687" y="3243240"/>
                <a:ext cx="6689347" cy="14366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𝐾𝐿𝐷𝑖𝑣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 |</m:t>
                      </m:r>
                      <m:d>
                        <m:dPr>
                          <m:begChr m:val="|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unc>
                            <m:func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87" y="3243240"/>
                <a:ext cx="6689347" cy="14366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578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 animBg="1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 txBox="1">
            <a:spLocks/>
          </p:cNvSpPr>
          <p:nvPr/>
        </p:nvSpPr>
        <p:spPr>
          <a:xfrm>
            <a:off x="428624" y="1857910"/>
            <a:ext cx="10343008" cy="4433162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KL Divergence can’t be used for distance measurement since</a:t>
            </a:r>
          </a:p>
          <a:p>
            <a:pPr marL="0" indent="0">
              <a:buClrTx/>
              <a:buNone/>
              <a:tabLst>
                <a:tab pos="401638" algn="l"/>
              </a:tabLst>
            </a:pPr>
            <a:r>
              <a:rPr lang="en-US" altLang="zh-TW" sz="2800" dirty="0"/>
              <a:t>	KL </a:t>
            </a:r>
            <a:r>
              <a:rPr lang="en-US" altLang="zh-TW" sz="2800" dirty="0" err="1"/>
              <a:t>Div</a:t>
            </a:r>
            <a:r>
              <a:rPr lang="en-US" altLang="zh-TW" sz="2800" dirty="0"/>
              <a:t> (P||Q) is not equal to KL </a:t>
            </a:r>
            <a:r>
              <a:rPr lang="en-US" altLang="zh-TW" sz="2800" dirty="0" err="1"/>
              <a:t>Div</a:t>
            </a:r>
            <a:r>
              <a:rPr lang="en-US" altLang="zh-TW" sz="2800" dirty="0"/>
              <a:t> (Q||P)</a:t>
            </a:r>
          </a:p>
          <a:p>
            <a:pPr marL="0" indent="0">
              <a:buClrTx/>
              <a:buNone/>
              <a:tabLst>
                <a:tab pos="401638" algn="l"/>
              </a:tabLst>
            </a:pPr>
            <a:endParaRPr lang="en-US" altLang="zh-TW" sz="2800" b="1" dirty="0"/>
          </a:p>
          <a:p>
            <a:pPr marL="0" indent="0">
              <a:buClrTx/>
              <a:buNone/>
              <a:tabLst>
                <a:tab pos="401638" algn="l"/>
              </a:tabLst>
            </a:pPr>
            <a:endParaRPr lang="en-US" altLang="zh-TW" sz="2800" b="1" dirty="0"/>
          </a:p>
          <a:p>
            <a:pPr marL="0" indent="0">
              <a:buClrTx/>
              <a:buNone/>
              <a:tabLst>
                <a:tab pos="401638" algn="l"/>
              </a:tabLst>
            </a:pPr>
            <a:endParaRPr lang="en-US" altLang="zh-TW" sz="2800" b="1" dirty="0"/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We formulate a Distance Metrics based on KL Divergence, let’s name it KLD-based distance</a:t>
            </a:r>
          </a:p>
          <a:p>
            <a:pPr marL="0" indent="0">
              <a:buClrTx/>
              <a:buNone/>
            </a:pPr>
            <a:endParaRPr lang="en-US" altLang="zh-TW" sz="2800" dirty="0"/>
          </a:p>
          <a:p>
            <a:pPr marL="0" indent="0">
              <a:buClrTx/>
              <a:buNone/>
              <a:tabLst>
                <a:tab pos="401638" algn="l"/>
              </a:tabLst>
            </a:pPr>
            <a:r>
              <a:rPr lang="en-US" altLang="zh-TW" sz="2800" dirty="0"/>
              <a:t>	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KL Divergence as distance measurement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27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36005" y="5291482"/>
                <a:ext cx="1092824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𝐾𝐿𝐷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𝑏𝑎𝑠𝑒𝑑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𝐷𝑖𝑠𝑡𝑎𝑛𝑐𝑒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 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𝐾𝐿𝐷𝑖𝑣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 |</m:t>
                      </m:r>
                      <m:d>
                        <m:dPr>
                          <m:begChr m:val="|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𝐾𝐿𝐷𝑖𝑣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 ||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05" y="5291482"/>
                <a:ext cx="1092824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28624" y="2832749"/>
                <a:ext cx="5248276" cy="11005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𝐾𝐿𝐷𝑖𝑣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 |</m:t>
                      </m:r>
                      <m:d>
                        <m:dPr>
                          <m:begChr m:val="|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unc>
                            <m:func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4" y="2832749"/>
                <a:ext cx="5248276" cy="11005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5953123" y="2832749"/>
                <a:ext cx="5248276" cy="11005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𝐾𝐿𝐷𝑖𝑣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 |</m:t>
                      </m:r>
                      <m:d>
                        <m:dPr>
                          <m:begChr m:val="|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unc>
                            <m:func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123" y="2832749"/>
                <a:ext cx="5248276" cy="110055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4508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KLD-based distance Formal Equation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28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-145947" y="1803860"/>
                <a:ext cx="1092824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𝐾𝐿𝐷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𝑏𝑎𝑠𝑒𝑑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𝐷𝑖𝑠𝑡𝑎𝑛𝑐𝑒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 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𝐾𝐿𝐷𝑖𝑣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 |</m:t>
                      </m:r>
                      <m:d>
                        <m:dPr>
                          <m:begChr m:val="|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𝐾𝐿𝐷𝑖𝑣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 ||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5947" y="1803860"/>
                <a:ext cx="1092824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-57150" y="2656365"/>
                <a:ext cx="11515726" cy="12685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𝐾𝐿𝐷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𝑏𝑎𝑠𝑒𝑑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𝐷𝑖𝑠𝑡𝑎𝑛𝑐𝑒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nary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150" y="2656365"/>
                <a:ext cx="11515726" cy="1268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5238749" y="2412439"/>
            <a:ext cx="666751" cy="1512478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172449" y="2412439"/>
            <a:ext cx="666751" cy="1512478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-242889" y="4273638"/>
                <a:ext cx="11515726" cy="12685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𝐾𝐿𝐷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𝑏𝑎𝑠𝑒𝑑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𝐷𝑖𝑠𝑡𝑎𝑛𝑐𝑒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nary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2889" y="4273638"/>
                <a:ext cx="11515726" cy="12685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5089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 animBg="1"/>
      <p:bldP spid="12" grpId="0" animBg="1"/>
      <p:bldP spid="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KLD-based distance vs Euclidean distance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29</a:t>
            </a:fld>
            <a:endParaRPr lang="zh-TW" altLang="en-US" dirty="0"/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428624" y="1784758"/>
            <a:ext cx="10343008" cy="2886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Same results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Usually, if using Euclidean Distance, C is closer to B (smaller distance) than C to A, using KLD will produce the same.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Except in </a:t>
            </a:r>
            <a:r>
              <a:rPr lang="en-US" altLang="zh-TW" sz="2800" b="1" dirty="0"/>
              <a:t>special case</a:t>
            </a:r>
            <a:r>
              <a:rPr lang="en-US" altLang="zh-TW" sz="28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2031413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 txBox="1">
            <a:spLocks/>
          </p:cNvSpPr>
          <p:nvPr/>
        </p:nvSpPr>
        <p:spPr>
          <a:xfrm>
            <a:off x="428623" y="1670120"/>
            <a:ext cx="5208345" cy="44331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 err="1"/>
              <a:t>StartX</a:t>
            </a:r>
            <a:r>
              <a:rPr lang="en-US" altLang="zh-TW" sz="2800" dirty="0"/>
              <a:t> example A (very stable):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 err="1"/>
              <a:t>StartX</a:t>
            </a:r>
            <a:r>
              <a:rPr lang="en-US" altLang="zh-TW" sz="2800" dirty="0"/>
              <a:t> example B (random user)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KLD-based distance vs Euclidean distance: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special case</a:t>
            </a:r>
            <a:endParaRPr lang="zh-TW" altLang="en-US" b="1" dirty="0">
              <a:solidFill>
                <a:srgbClr val="00B0F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30</a:t>
            </a:fld>
            <a:endParaRPr lang="zh-TW" alt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11352"/>
              </p:ext>
            </p:extLst>
          </p:nvPr>
        </p:nvGraphicFramePr>
        <p:xfrm>
          <a:off x="816938" y="2341563"/>
          <a:ext cx="4100111" cy="1381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82777">
                  <a:extLst>
                    <a:ext uri="{9D8B030D-6E8A-4147-A177-3AD203B41FA5}">
                      <a16:colId xmlns:a16="http://schemas.microsoft.com/office/drawing/2014/main" val="4218261345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3169450692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1572403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Number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of </a:t>
                      </a:r>
                      <a:r>
                        <a:rPr lang="en-US" baseline="0" dirty="0" err="1">
                          <a:solidFill>
                            <a:schemeClr val="tx1"/>
                          </a:solidFill>
                        </a:rPr>
                        <a:t>Occurences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Normalized as 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75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649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832401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855156"/>
              </p:ext>
            </p:extLst>
          </p:nvPr>
        </p:nvGraphicFramePr>
        <p:xfrm>
          <a:off x="816938" y="4552268"/>
          <a:ext cx="4100111" cy="1381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82777">
                  <a:extLst>
                    <a:ext uri="{9D8B030D-6E8A-4147-A177-3AD203B41FA5}">
                      <a16:colId xmlns:a16="http://schemas.microsoft.com/office/drawing/2014/main" val="4218261345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3169450692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1572403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Number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of </a:t>
                      </a:r>
                      <a:r>
                        <a:rPr lang="en-US" baseline="0" dirty="0" err="1">
                          <a:solidFill>
                            <a:schemeClr val="tx1"/>
                          </a:solidFill>
                        </a:rPr>
                        <a:t>Occurences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Normalized as 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75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649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832401"/>
                  </a:ext>
                </a:extLst>
              </a:tr>
            </a:tbl>
          </a:graphicData>
        </a:graphic>
      </p:graphicFrame>
      <p:sp>
        <p:nvSpPr>
          <p:cNvPr id="53" name="Content Placeholder 2"/>
          <p:cNvSpPr txBox="1">
            <a:spLocks/>
          </p:cNvSpPr>
          <p:nvPr/>
        </p:nvSpPr>
        <p:spPr>
          <a:xfrm>
            <a:off x="5636970" y="1670120"/>
            <a:ext cx="5354118" cy="44331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 err="1"/>
              <a:t>StartX</a:t>
            </a:r>
            <a:r>
              <a:rPr lang="en-US" altLang="zh-TW" sz="2800" dirty="0"/>
              <a:t> example C (between stable and random):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0" indent="0">
              <a:buClrTx/>
              <a:buNone/>
            </a:pPr>
            <a:endParaRPr lang="en-US" altLang="zh-TW" sz="2800" dirty="0"/>
          </a:p>
        </p:txBody>
      </p:sp>
      <p:graphicFrame>
        <p:nvGraphicFramePr>
          <p:cNvPr id="54" name="Table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919178"/>
              </p:ext>
            </p:extLst>
          </p:nvPr>
        </p:nvGraphicFramePr>
        <p:xfrm>
          <a:off x="5996930" y="2645425"/>
          <a:ext cx="4100111" cy="1381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82777">
                  <a:extLst>
                    <a:ext uri="{9D8B030D-6E8A-4147-A177-3AD203B41FA5}">
                      <a16:colId xmlns:a16="http://schemas.microsoft.com/office/drawing/2014/main" val="4218261345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3169450692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1572403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Number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of </a:t>
                      </a:r>
                      <a:r>
                        <a:rPr lang="en-US" baseline="0" dirty="0" err="1">
                          <a:solidFill>
                            <a:schemeClr val="tx1"/>
                          </a:solidFill>
                        </a:rPr>
                        <a:t>Occurences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Normalized as 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75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649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832401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996930" y="4181295"/>
            <a:ext cx="4862134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 is belong to user A or B?</a:t>
            </a:r>
          </a:p>
        </p:txBody>
      </p:sp>
    </p:spTree>
    <p:extLst>
      <p:ext uri="{BB962C8B-B14F-4D97-AF65-F5344CB8AC3E}">
        <p14:creationId xmlns:p14="http://schemas.microsoft.com/office/powerpoint/2010/main" val="3234912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5411714" y="2253374"/>
            <a:ext cx="1824514" cy="4519387"/>
            <a:chOff x="5411714" y="2253374"/>
            <a:chExt cx="1824514" cy="4519387"/>
          </a:xfrm>
        </p:grpSpPr>
        <p:pic>
          <p:nvPicPr>
            <p:cNvPr id="92" name="Picture 2" descr="Related image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61" t="3550" r="30170" b="15625"/>
            <a:stretch/>
          </p:blipFill>
          <p:spPr bwMode="auto">
            <a:xfrm>
              <a:off x="5411714" y="2253374"/>
              <a:ext cx="1824514" cy="39747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3" name="Oval 92"/>
            <p:cNvSpPr/>
            <p:nvPr/>
          </p:nvSpPr>
          <p:spPr>
            <a:xfrm>
              <a:off x="5544400" y="5497184"/>
              <a:ext cx="182711" cy="18271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/>
            <p:cNvSpPr/>
            <p:nvPr/>
          </p:nvSpPr>
          <p:spPr>
            <a:xfrm>
              <a:off x="5759440" y="5373761"/>
              <a:ext cx="182711" cy="18271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/>
            <p:cNvSpPr/>
            <p:nvPr/>
          </p:nvSpPr>
          <p:spPr>
            <a:xfrm>
              <a:off x="5942151" y="5086163"/>
              <a:ext cx="182711" cy="18271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/>
            <p:cNvSpPr/>
            <p:nvPr/>
          </p:nvSpPr>
          <p:spPr>
            <a:xfrm>
              <a:off x="5727111" y="5608916"/>
              <a:ext cx="182711" cy="18271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/>
            <p:cNvSpPr/>
            <p:nvPr/>
          </p:nvSpPr>
          <p:spPr>
            <a:xfrm>
              <a:off x="5698395" y="5138606"/>
              <a:ext cx="182711" cy="18271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/>
            <p:cNvSpPr/>
            <p:nvPr/>
          </p:nvSpPr>
          <p:spPr>
            <a:xfrm>
              <a:off x="6400786" y="5400212"/>
              <a:ext cx="182711" cy="18271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9" name="Straight Connector 98"/>
            <p:cNvCxnSpPr/>
            <p:nvPr/>
          </p:nvCxnSpPr>
          <p:spPr>
            <a:xfrm>
              <a:off x="6323971" y="2642917"/>
              <a:ext cx="0" cy="3401568"/>
            </a:xfrm>
            <a:prstGeom prst="line">
              <a:avLst/>
            </a:prstGeom>
            <a:ln w="76200">
              <a:solidFill>
                <a:schemeClr val="accent6">
                  <a:lumMod val="75000"/>
                </a:schemeClr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/>
            <p:cNvSpPr txBox="1"/>
            <p:nvPr/>
          </p:nvSpPr>
          <p:spPr>
            <a:xfrm>
              <a:off x="5673234" y="2713247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b="1" dirty="0">
                  <a:solidFill>
                    <a:schemeClr val="accent6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6509648" y="2698433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b="1" dirty="0">
                  <a:solidFill>
                    <a:schemeClr val="accent6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102" name="Oval 101"/>
            <p:cNvSpPr/>
            <p:nvPr/>
          </p:nvSpPr>
          <p:spPr>
            <a:xfrm>
              <a:off x="5931620" y="5312361"/>
              <a:ext cx="182711" cy="18271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/>
            <p:cNvSpPr/>
            <p:nvPr/>
          </p:nvSpPr>
          <p:spPr>
            <a:xfrm>
              <a:off x="5916782" y="5778108"/>
              <a:ext cx="182711" cy="18271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/>
            <p:cNvSpPr/>
            <p:nvPr/>
          </p:nvSpPr>
          <p:spPr>
            <a:xfrm>
              <a:off x="6583497" y="5685431"/>
              <a:ext cx="182711" cy="18271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/>
            <p:cNvSpPr/>
            <p:nvPr/>
          </p:nvSpPr>
          <p:spPr>
            <a:xfrm>
              <a:off x="5587944" y="5795394"/>
              <a:ext cx="182711" cy="18271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6094470" y="6249541"/>
              <a:ext cx="375424" cy="52322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C</a:t>
              </a:r>
            </a:p>
          </p:txBody>
        </p:sp>
        <p:sp>
          <p:nvSpPr>
            <p:cNvPr id="107" name="Oval 106"/>
            <p:cNvSpPr/>
            <p:nvPr/>
          </p:nvSpPr>
          <p:spPr>
            <a:xfrm>
              <a:off x="6079823" y="5635394"/>
              <a:ext cx="182711" cy="18271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/>
            <p:cNvSpPr/>
            <p:nvPr/>
          </p:nvSpPr>
          <p:spPr>
            <a:xfrm>
              <a:off x="6843135" y="5523500"/>
              <a:ext cx="182711" cy="18271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Oval 108"/>
            <p:cNvSpPr/>
            <p:nvPr/>
          </p:nvSpPr>
          <p:spPr>
            <a:xfrm>
              <a:off x="6438032" y="5049742"/>
              <a:ext cx="182711" cy="18271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/>
            <p:cNvSpPr/>
            <p:nvPr/>
          </p:nvSpPr>
          <p:spPr>
            <a:xfrm>
              <a:off x="5609920" y="5368455"/>
              <a:ext cx="182711" cy="18271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Oval 110"/>
            <p:cNvSpPr/>
            <p:nvPr/>
          </p:nvSpPr>
          <p:spPr>
            <a:xfrm>
              <a:off x="6089954" y="5836619"/>
              <a:ext cx="182711" cy="18271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/>
            <p:cNvSpPr/>
            <p:nvPr/>
          </p:nvSpPr>
          <p:spPr>
            <a:xfrm>
              <a:off x="6682504" y="5309171"/>
              <a:ext cx="182711" cy="18271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/>
            <p:cNvSpPr/>
            <p:nvPr/>
          </p:nvSpPr>
          <p:spPr>
            <a:xfrm>
              <a:off x="5507420" y="5227829"/>
              <a:ext cx="182711" cy="18271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50" name="Picture 2" descr="Related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61" t="3550" r="30170" b="15625"/>
          <a:stretch/>
        </p:blipFill>
        <p:spPr bwMode="auto">
          <a:xfrm>
            <a:off x="1123167" y="2253374"/>
            <a:ext cx="1824514" cy="3974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Intuition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31</a:t>
            </a:fld>
            <a:endParaRPr lang="zh-TW" altLang="en-US" dirty="0"/>
          </a:p>
        </p:txBody>
      </p:sp>
      <p:sp>
        <p:nvSpPr>
          <p:cNvPr id="10" name="Oval 9"/>
          <p:cNvSpPr/>
          <p:nvPr/>
        </p:nvSpPr>
        <p:spPr>
          <a:xfrm>
            <a:off x="1255853" y="5497184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470893" y="5373761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1653604" y="5086163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1438564" y="5608916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1409848" y="5138606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1661782" y="5492679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2035424" y="2642917"/>
            <a:ext cx="0" cy="3401568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384687" y="2713247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21101" y="2698433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accent6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9" name="Oval 28"/>
          <p:cNvSpPr/>
          <p:nvPr/>
        </p:nvSpPr>
        <p:spPr>
          <a:xfrm>
            <a:off x="1643073" y="5312361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1628235" y="5778108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1488608" y="4866481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1299397" y="5795394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1805923" y="6249541"/>
            <a:ext cx="402674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A</a:t>
            </a:r>
          </a:p>
        </p:txBody>
      </p:sp>
      <p:pic>
        <p:nvPicPr>
          <p:cNvPr id="36" name="Picture 2" descr="Related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61" t="3550" r="30170" b="15625"/>
          <a:stretch/>
        </p:blipFill>
        <p:spPr bwMode="auto">
          <a:xfrm>
            <a:off x="9268085" y="2294318"/>
            <a:ext cx="1824514" cy="3974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Oval 36"/>
          <p:cNvSpPr/>
          <p:nvPr/>
        </p:nvSpPr>
        <p:spPr>
          <a:xfrm>
            <a:off x="9400771" y="5538128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10731349" y="5669001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0494668" y="5679115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9583482" y="5649860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10636703" y="5474848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9806700" y="5533623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10180342" y="2683861"/>
            <a:ext cx="0" cy="3401568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529605" y="2754191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66019" y="2739377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accent6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46" name="Oval 45"/>
          <p:cNvSpPr/>
          <p:nvPr/>
        </p:nvSpPr>
        <p:spPr>
          <a:xfrm>
            <a:off x="9787991" y="5353305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9773153" y="5819052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10364902" y="5474849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0269724" y="5264376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9950841" y="6290485"/>
            <a:ext cx="386644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6462" y="1821771"/>
            <a:ext cx="2181596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Stable user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46863" y="1837455"/>
            <a:ext cx="2181596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Random user</a:t>
            </a:r>
          </a:p>
        </p:txBody>
      </p:sp>
      <p:sp>
        <p:nvSpPr>
          <p:cNvPr id="53" name="Oval 52"/>
          <p:cNvSpPr/>
          <p:nvPr/>
        </p:nvSpPr>
        <p:spPr>
          <a:xfrm>
            <a:off x="1791276" y="5635394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1317996" y="4941040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1712839" y="4875109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321373" y="5368455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1801407" y="5836619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1790073" y="5332072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1218873" y="5227829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9544000" y="5382458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9544000" y="5170594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10245191" y="5810505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10509663" y="5227828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10549991" y="6115305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10744663" y="5261949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9970646" y="5755045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10678625" y="5854405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9859485" y="5129650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9477344" y="5836618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/>
          <p:cNvSpPr txBox="1"/>
          <p:nvPr/>
        </p:nvSpPr>
        <p:spPr>
          <a:xfrm>
            <a:off x="4660830" y="1606327"/>
            <a:ext cx="3521462" cy="95410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Test data:</a:t>
            </a:r>
          </a:p>
          <a:p>
            <a:pPr algn="ctr"/>
            <a:r>
              <a:rPr lang="en-US" sz="2800" b="1" dirty="0"/>
              <a:t>in between A and B</a:t>
            </a:r>
          </a:p>
        </p:txBody>
      </p:sp>
      <p:sp>
        <p:nvSpPr>
          <p:cNvPr id="114" name="Oval 113"/>
          <p:cNvSpPr/>
          <p:nvPr/>
        </p:nvSpPr>
        <p:spPr>
          <a:xfrm>
            <a:off x="10458635" y="5038733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/>
          <p:cNvSpPr/>
          <p:nvPr/>
        </p:nvSpPr>
        <p:spPr>
          <a:xfrm>
            <a:off x="1865239" y="5027509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/>
          <p:cNvSpPr/>
          <p:nvPr/>
        </p:nvSpPr>
        <p:spPr>
          <a:xfrm>
            <a:off x="1253148" y="4743474"/>
            <a:ext cx="182711" cy="1827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/>
          <p:cNvSpPr txBox="1"/>
          <p:nvPr/>
        </p:nvSpPr>
        <p:spPr>
          <a:xfrm>
            <a:off x="3964058" y="3734984"/>
            <a:ext cx="4862134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 is belong to user A or B?</a:t>
            </a:r>
          </a:p>
        </p:txBody>
      </p:sp>
    </p:spTree>
    <p:extLst>
      <p:ext uri="{BB962C8B-B14F-4D97-AF65-F5344CB8AC3E}">
        <p14:creationId xmlns:p14="http://schemas.microsoft.com/office/powerpoint/2010/main" val="1816979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11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 txBox="1">
            <a:spLocks/>
          </p:cNvSpPr>
          <p:nvPr/>
        </p:nvSpPr>
        <p:spPr>
          <a:xfrm>
            <a:off x="428623" y="1670120"/>
            <a:ext cx="5208345" cy="44331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Euclidean distance Result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KLD-based distance vs Euclidean distance: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special case</a:t>
            </a:r>
            <a:endParaRPr lang="zh-TW" altLang="en-US" b="1" dirty="0">
              <a:solidFill>
                <a:srgbClr val="00B0F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32</a:t>
            </a:fld>
            <a:endParaRPr lang="zh-TW" alt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883742"/>
              </p:ext>
            </p:extLst>
          </p:nvPr>
        </p:nvGraphicFramePr>
        <p:xfrm>
          <a:off x="816938" y="2341563"/>
          <a:ext cx="3217334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08667">
                  <a:extLst>
                    <a:ext uri="{9D8B030D-6E8A-4147-A177-3AD203B41FA5}">
                      <a16:colId xmlns:a16="http://schemas.microsoft.com/office/drawing/2014/main" val="3169450692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1572403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 to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 to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75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0.3394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0.3394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64949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16938" y="3493076"/>
            <a:ext cx="5707390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Euclidean distance can’t determine</a:t>
            </a:r>
          </a:p>
        </p:txBody>
      </p:sp>
    </p:spTree>
    <p:extLst>
      <p:ext uri="{BB962C8B-B14F-4D97-AF65-F5344CB8AC3E}">
        <p14:creationId xmlns:p14="http://schemas.microsoft.com/office/powerpoint/2010/main" val="2316657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 txBox="1">
            <a:spLocks/>
          </p:cNvSpPr>
          <p:nvPr/>
        </p:nvSpPr>
        <p:spPr>
          <a:xfrm>
            <a:off x="428623" y="1670120"/>
            <a:ext cx="5208345" cy="44331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Euclidean distance Result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KLD-based distance result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endParaRPr lang="en-US" altLang="zh-TW" sz="28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KLD-based distance vs Euclidean distance: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special case</a:t>
            </a:r>
            <a:endParaRPr lang="zh-TW" altLang="en-US" b="1" dirty="0">
              <a:solidFill>
                <a:srgbClr val="00B0F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33</a:t>
            </a:fld>
            <a:endParaRPr lang="zh-TW" alt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411339"/>
              </p:ext>
            </p:extLst>
          </p:nvPr>
        </p:nvGraphicFramePr>
        <p:xfrm>
          <a:off x="816938" y="2341563"/>
          <a:ext cx="3217334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08667">
                  <a:extLst>
                    <a:ext uri="{9D8B030D-6E8A-4147-A177-3AD203B41FA5}">
                      <a16:colId xmlns:a16="http://schemas.microsoft.com/office/drawing/2014/main" val="3169450692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1572403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to A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 to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75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0.3394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0.3394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64949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99292"/>
              </p:ext>
            </p:extLst>
          </p:nvPr>
        </p:nvGraphicFramePr>
        <p:xfrm>
          <a:off x="816938" y="4066731"/>
          <a:ext cx="3217334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08667">
                  <a:extLst>
                    <a:ext uri="{9D8B030D-6E8A-4147-A177-3AD203B41FA5}">
                      <a16:colId xmlns:a16="http://schemas.microsoft.com/office/drawing/2014/main" val="3169450692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1572403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to A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to B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75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0.2966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0.1090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64949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16938" y="5063547"/>
            <a:ext cx="10990997" cy="138499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Using KLD, C is more likely belong to B (closer distance)</a:t>
            </a:r>
          </a:p>
          <a:p>
            <a:pPr algn="ctr"/>
            <a:r>
              <a:rPr lang="en-US" sz="2800" b="1" dirty="0"/>
              <a:t>Intuition: Because A is very stable user (low probability to be unstable), so C is likely belong to B</a:t>
            </a:r>
          </a:p>
        </p:txBody>
      </p:sp>
    </p:spTree>
    <p:extLst>
      <p:ext uri="{BB962C8B-B14F-4D97-AF65-F5344CB8AC3E}">
        <p14:creationId xmlns:p14="http://schemas.microsoft.com/office/powerpoint/2010/main" val="2118547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KL Divergence vs Euclidean Distance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7D4EC-95B5-4901-BA44-C580DFFBA774}" type="slidenum">
              <a:rPr lang="zh-TW" altLang="en-US" smtClean="0"/>
              <a:t>34</a:t>
            </a:fld>
            <a:endParaRPr lang="zh-TW" altLang="en-US" dirty="0"/>
          </a:p>
        </p:txBody>
      </p:sp>
      <p:pic>
        <p:nvPicPr>
          <p:cNvPr id="4098" name="Picture 2" descr="Related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8"/>
          <a:stretch/>
        </p:blipFill>
        <p:spPr bwMode="auto">
          <a:xfrm>
            <a:off x="867514" y="1848282"/>
            <a:ext cx="5916168" cy="4226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ounded Rectangle 6"/>
          <p:cNvSpPr/>
          <p:nvPr/>
        </p:nvSpPr>
        <p:spPr>
          <a:xfrm>
            <a:off x="9353549" y="5007815"/>
            <a:ext cx="1847850" cy="657040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400623" y="5095663"/>
            <a:ext cx="3417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1903BD"/>
                </a:solidFill>
              </a:rPr>
              <a:t>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5622" y="5266870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KLD based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4157" y="5019356"/>
            <a:ext cx="109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Euclidean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00623" y="4850079"/>
            <a:ext cx="3417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-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3599219" y="2660413"/>
            <a:ext cx="0" cy="3111737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48740" y="6048469"/>
            <a:ext cx="333995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B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6234142" y="5529263"/>
            <a:ext cx="0" cy="274286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83663" y="6059990"/>
            <a:ext cx="333995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A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4970378" y="3257550"/>
            <a:ext cx="0" cy="2505461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19899" y="6039330"/>
            <a:ext cx="333995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911774" y="2660413"/>
            <a:ext cx="2683314" cy="3111737"/>
          </a:xfrm>
          <a:prstGeom prst="line">
            <a:avLst/>
          </a:prstGeom>
          <a:ln w="317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613117" y="2680291"/>
            <a:ext cx="2735560" cy="3102598"/>
          </a:xfrm>
          <a:prstGeom prst="line">
            <a:avLst/>
          </a:prstGeom>
          <a:ln w="317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3504721" y="2564061"/>
            <a:ext cx="182711" cy="182711"/>
          </a:xfrm>
          <a:prstGeom prst="ellipse">
            <a:avLst/>
          </a:prstGeom>
          <a:solidFill>
            <a:srgbClr val="1903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4908400" y="3174536"/>
            <a:ext cx="182711" cy="182711"/>
          </a:xfrm>
          <a:prstGeom prst="ellipse">
            <a:avLst/>
          </a:prstGeom>
          <a:solidFill>
            <a:srgbClr val="1903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177146" y="5394918"/>
            <a:ext cx="182711" cy="182711"/>
          </a:xfrm>
          <a:prstGeom prst="ellipse">
            <a:avLst/>
          </a:prstGeom>
          <a:solidFill>
            <a:srgbClr val="1903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/>
          <p:cNvCxnSpPr>
            <a:endCxn id="29" idx="6"/>
          </p:cNvCxnSpPr>
          <p:nvPr/>
        </p:nvCxnSpPr>
        <p:spPr>
          <a:xfrm flipH="1" flipV="1">
            <a:off x="3687432" y="2655417"/>
            <a:ext cx="4999368" cy="4996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>
            <a:off x="5098891" y="3257550"/>
            <a:ext cx="3587909" cy="10209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H="1">
            <a:off x="6158789" y="5468200"/>
            <a:ext cx="258869" cy="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474069" y="5204022"/>
            <a:ext cx="333995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1586" y="3065837"/>
            <a:ext cx="1617379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C, using KLD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63584" y="2429899"/>
            <a:ext cx="333995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47739" y="5723493"/>
            <a:ext cx="1198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</a:t>
            </a:r>
          </a:p>
        </p:txBody>
      </p:sp>
      <p:sp>
        <p:nvSpPr>
          <p:cNvPr id="33" name="Oval 32"/>
          <p:cNvSpPr/>
          <p:nvPr/>
        </p:nvSpPr>
        <p:spPr>
          <a:xfrm>
            <a:off x="4859221" y="4124925"/>
            <a:ext cx="182711" cy="182711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/>
          <p:cNvCxnSpPr/>
          <p:nvPr/>
        </p:nvCxnSpPr>
        <p:spPr>
          <a:xfrm flipH="1">
            <a:off x="5091111" y="4231590"/>
            <a:ext cx="1249787" cy="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441888" y="4016021"/>
            <a:ext cx="3203733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C, using Euclidean distance 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8869432" y="2657284"/>
            <a:ext cx="0" cy="610475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985544" y="2552158"/>
            <a:ext cx="21170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KLD based distance will determine C belong to B</a:t>
            </a:r>
          </a:p>
        </p:txBody>
      </p:sp>
    </p:spTree>
    <p:extLst>
      <p:ext uri="{BB962C8B-B14F-4D97-AF65-F5344CB8AC3E}">
        <p14:creationId xmlns:p14="http://schemas.microsoft.com/office/powerpoint/2010/main" val="873260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9" grpId="0" animBg="1"/>
      <p:bldP spid="29" grpId="0" animBg="1"/>
      <p:bldP spid="30" grpId="0" animBg="1"/>
      <p:bldP spid="31" grpId="0" animBg="1"/>
      <p:bldP spid="39" grpId="0" animBg="1"/>
      <p:bldP spid="40" grpId="0" animBg="1"/>
      <p:bldP spid="41" grpId="0" animBg="1"/>
      <p:bldP spid="33" grpId="0" animBg="1"/>
      <p:bldP spid="38" grpId="0" animBg="1"/>
      <p:bldP spid="2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 txBox="1">
            <a:spLocks/>
          </p:cNvSpPr>
          <p:nvPr/>
        </p:nvSpPr>
        <p:spPr>
          <a:xfrm>
            <a:off x="428624" y="1857910"/>
            <a:ext cx="11515726" cy="44331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KLD-based distance considering the “randomness” of user’s pattern.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Based on our real data, the stability / instability of user is important factor for authentication </a:t>
            </a:r>
          </a:p>
          <a:p>
            <a:pPr marL="401638" indent="-401638">
              <a:buClrTx/>
              <a:buFont typeface="Wingdings" panose="05000000000000000000" pitchFamily="2" charset="2"/>
              <a:buChar char="§"/>
            </a:pPr>
            <a:r>
              <a:rPr lang="en-US" altLang="zh-TW" sz="2800" dirty="0"/>
              <a:t>In our research field (Behavior based smartphone authentication), the instability of a user is also an important factor. That’s why, sometimes we prefer to use KLD-based distance rather than Euclidean Distance.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4" y="-740"/>
            <a:ext cx="10772775" cy="1325563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KLD-based distance vs Euclidean distance: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conclusion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接點 3"/>
          <p:cNvCxnSpPr/>
          <p:nvPr/>
        </p:nvCxnSpPr>
        <p:spPr>
          <a:xfrm>
            <a:off x="428625" y="1474574"/>
            <a:ext cx="115157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397927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2">
      <a:dk1>
        <a:sysClr val="windowText" lastClr="464646"/>
      </a:dk1>
      <a:lt1>
        <a:sysClr val="window" lastClr="FCFCFC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593500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lnDef>
      <a:spPr>
        <a:ln w="254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464646"/>
      </a:dk1>
      <a:lt1>
        <a:sysClr val="window" lastClr="FCFCFC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14921</TotalTime>
  <Words>1946</Words>
  <Application>Microsoft Office PowerPoint</Application>
  <PresentationFormat>Widescreen</PresentationFormat>
  <Paragraphs>676</Paragraphs>
  <Slides>35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  <vt:variant>
        <vt:lpstr>Custom Shows</vt:lpstr>
      </vt:variant>
      <vt:variant>
        <vt:i4>1</vt:i4>
      </vt:variant>
    </vt:vector>
  </HeadingPairs>
  <TitlesOfParts>
    <vt:vector size="43" baseType="lpstr">
      <vt:lpstr>微軟正黑體</vt:lpstr>
      <vt:lpstr>Arial</vt:lpstr>
      <vt:lpstr>Calibri</vt:lpstr>
      <vt:lpstr>Calibri Light</vt:lpstr>
      <vt:lpstr>Cambria Math</vt:lpstr>
      <vt:lpstr>Wingdings</vt:lpstr>
      <vt:lpstr>Retrospect</vt:lpstr>
      <vt:lpstr>KL Divergence</vt:lpstr>
      <vt:lpstr>Authentication Problem:  Find most similar data</vt:lpstr>
      <vt:lpstr>Authentication Problem:  Find most similar data</vt:lpstr>
      <vt:lpstr>How to measure a distance?</vt:lpstr>
      <vt:lpstr>Euclidean Distance</vt:lpstr>
      <vt:lpstr>Euclidean Distance (3D)</vt:lpstr>
      <vt:lpstr>Euclidean Distance (Formal Equation)</vt:lpstr>
      <vt:lpstr>Apply Euclidean Distance to Histogram</vt:lpstr>
      <vt:lpstr>Apply Euclidean Distance to Histogram</vt:lpstr>
      <vt:lpstr>Euclidean Distance (for Histogram)</vt:lpstr>
      <vt:lpstr>Apply Euclidean Distance to Histogram</vt:lpstr>
      <vt:lpstr>Any alternative to Euclidean Distance?</vt:lpstr>
      <vt:lpstr>KL Divergence: Intuition</vt:lpstr>
      <vt:lpstr>KL Divergence: Intuition</vt:lpstr>
      <vt:lpstr>KL Divergence: Intuition</vt:lpstr>
      <vt:lpstr>KL Divergence: Intuition</vt:lpstr>
      <vt:lpstr>KL Divergence: Intuition</vt:lpstr>
      <vt:lpstr>KL Divergence: Intuition</vt:lpstr>
      <vt:lpstr>KL Divergence: Intuition</vt:lpstr>
      <vt:lpstr>KL Divergence: Intuition</vt:lpstr>
      <vt:lpstr>Cross Entropy</vt:lpstr>
      <vt:lpstr>Cross Entropy example:</vt:lpstr>
      <vt:lpstr>Cross Entropy</vt:lpstr>
      <vt:lpstr>Cross Entropy example:</vt:lpstr>
      <vt:lpstr>KL Divergence: Formal Equation</vt:lpstr>
      <vt:lpstr>KL Divergence: Equation</vt:lpstr>
      <vt:lpstr>KL Divergence as distance measurement</vt:lpstr>
      <vt:lpstr>KLD-based distance Formal Equation</vt:lpstr>
      <vt:lpstr>KLD-based distance vs Euclidean distance</vt:lpstr>
      <vt:lpstr>KLD-based distance vs Euclidean distance: special case</vt:lpstr>
      <vt:lpstr>Intuition</vt:lpstr>
      <vt:lpstr>KLD-based distance vs Euclidean distance: special case</vt:lpstr>
      <vt:lpstr>KLD-based distance vs Euclidean distance: special case</vt:lpstr>
      <vt:lpstr>KL Divergence vs Euclidean Distance</vt:lpstr>
      <vt:lpstr>KLD-based distance vs Euclidean distance: conclusion</vt:lpstr>
      <vt:lpstr>Custom Show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Review</dc:title>
  <dc:creator>sufia</dc:creator>
  <cp:lastModifiedBy>Afif Izzul Falakh</cp:lastModifiedBy>
  <cp:revision>400</cp:revision>
  <dcterms:created xsi:type="dcterms:W3CDTF">2016-04-08T12:01:43Z</dcterms:created>
  <dcterms:modified xsi:type="dcterms:W3CDTF">2022-03-25T07:34:53Z</dcterms:modified>
</cp:coreProperties>
</file>