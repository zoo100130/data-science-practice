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12192000"/>
  <p:notesSz cx="6797675" cy="98742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hGBOFETQf9rUX3CxEbHpip03e2o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馬莎琳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808650-E979-4288-88AD-1D2FC34499D3}">
  <a:tblStyle styleId="{BA808650-E979-4288-88AD-1D2FC34499D3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5EAE8"/>
          </a:solidFill>
        </a:fill>
      </a:tcStyle>
    </a:wholeTbl>
    <a:band1H>
      <a:tcTxStyle b="off" i="off"/>
      <a:tcStyle>
        <a:fill>
          <a:solidFill>
            <a:srgbClr val="EAD3C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AD3CF"/>
          </a:solidFill>
        </a:fill>
      </a:tcStyle>
    </a:band1V>
    <a:band2V>
      <a:tcTxStyle b="off" i="off"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AE838084-FBBE-4DD1-8C3F-5130072AC5FE}" styleName="Table_1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BEBEC"/>
          </a:solidFill>
        </a:fill>
      </a:tcStyle>
    </a:wholeTbl>
    <a:band1H>
      <a:tcTxStyle b="off" i="off"/>
      <a:tcStyle>
        <a:fill>
          <a:solidFill>
            <a:srgbClr val="D4D5D6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4D5D6"/>
          </a:solidFill>
        </a:fill>
      </a:tcStyle>
    </a:band1V>
    <a:band2V>
      <a:tcTxStyle b="off" i="off"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  <a:tblStyle styleId="{107DDD9C-6598-4044-B474-705835C5FEAB}" styleName="Table_2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 b="off" i="off"/>
      <a:tcStyle>
        <a:fill>
          <a:solidFill>
            <a:srgbClr val="CACA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ACA"/>
          </a:solidFill>
        </a:fill>
      </a:tcStyle>
    </a:band1V>
    <a:band2V>
      <a:tcTxStyle b="off" i="off"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 b="off" i="off"/>
    </a:neCell>
    <a:nwCell>
      <a:tcTxStyle b="off" i="off"/>
    </a:nwCell>
  </a:tblStyle>
  <a:tblStyle styleId="{65670C6B-76BA-481E-BDC5-A459F3560BF6}" styleName="Table_3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4EFE8"/>
          </a:solidFill>
        </a:fill>
      </a:tcStyle>
    </a:wholeTbl>
    <a:band1H>
      <a:tcTxStyle b="off" i="off"/>
      <a:tcStyle>
        <a:fill>
          <a:solidFill>
            <a:srgbClr val="E8DDC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8DDCF"/>
          </a:solidFill>
        </a:fill>
      </a:tcStyle>
    </a:band1V>
    <a:band2V>
      <a:tcTxStyle b="off" i="off"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 b="off" i="off"/>
    </a:neCell>
    <a:nwCell>
      <a:tcTxStyle b="off" i="off"/>
    </a:nwCell>
  </a:tblStyle>
  <a:tblStyle styleId="{0B045C37-5850-4329-BF7E-FDB4498F53B2}" styleName="Table_4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EEDEB"/>
          </a:solidFill>
        </a:fill>
      </a:tcStyle>
    </a:wholeTbl>
    <a:band1H>
      <a:tcTxStyle b="off" i="off"/>
      <a:tcStyle>
        <a:fill>
          <a:solidFill>
            <a:srgbClr val="DBDAD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BDAD4"/>
          </a:solidFill>
        </a:fill>
      </a:tcStyle>
    </a:band1V>
    <a:band2V>
      <a:tcTxStyle b="off" i="off"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 b="off" i="off"/>
    </a:neCell>
    <a:nwCell>
      <a:tcTxStyle b="off" i="off"/>
    </a:nwCell>
  </a:tblStyle>
  <a:tblStyle styleId="{62214D81-E12E-4EC8-918F-564D65296747}" styleName="Table_5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F5EAE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5EAE8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04-23T15:44:01.159">
    <p:pos x="6000" y="0"/>
    <p:text>remove accept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t-OqfVg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3-04-23T15:44:30.090">
    <p:pos x="6000" y="0"/>
    <p:text>remove accpet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t-OqfVk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659" cy="495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5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8824"/>
            <a:ext cx="2945659" cy="4954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previous section you met the paired sample </a:t>
            </a:r>
            <a:r>
              <a:rPr b="0" i="1" lang="en-US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b="0" i="0" lang="en-US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 However, there was one assumption that is not always applicable. What happens if the differences are not Normally distributed?</a:t>
            </a:r>
            <a:endParaRPr/>
          </a:p>
          <a:p>
            <a:pPr indent="-952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How to decide rank? Build initial rank to decide the final rank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 txBox="1"/>
          <p:nvPr>
            <p:ph idx="12" type="sldNum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How to decide rank?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 txBox="1"/>
          <p:nvPr>
            <p:ph idx="12" type="sldNum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 txBox="1"/>
          <p:nvPr>
            <p:ph idx="12" type="sldNum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 txBox="1"/>
          <p:nvPr>
            <p:ph idx="12" type="sldNum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5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5:notes"/>
          <p:cNvSpPr txBox="1"/>
          <p:nvPr>
            <p:ph idx="12" type="sldNum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6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7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7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18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19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0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20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1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21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2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22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3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23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23:notes"/>
          <p:cNvSpPr txBox="1"/>
          <p:nvPr>
            <p:ph idx="12" type="sldNum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24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p24:notes"/>
          <p:cNvSpPr txBox="1"/>
          <p:nvPr>
            <p:ph idx="12" type="sldNum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5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p25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6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p26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7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9" name="Google Shape;519;p27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8:notes"/>
          <p:cNvSpPr txBox="1"/>
          <p:nvPr>
            <p:ph idx="1" type="body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p28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0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9D49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0"/>
          <p:cNvSpPr/>
          <p:nvPr/>
        </p:nvSpPr>
        <p:spPr>
          <a:xfrm>
            <a:off x="24" y="8"/>
            <a:ext cx="12191978" cy="4571994"/>
          </a:xfrm>
          <a:custGeom>
            <a:rect b="b" l="l" r="r" t="t"/>
            <a:pathLst>
              <a:path extrusionOk="0" h="4571994" w="12191978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9" name="Google Shape;19;p30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" name="Google Shape;21;p30"/>
          <p:cNvSpPr txBox="1"/>
          <p:nvPr>
            <p:ph idx="10" type="dt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0"/>
          <p:cNvSpPr txBox="1"/>
          <p:nvPr>
            <p:ph idx="11" type="ftr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30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idx="1" type="body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8" name="Google Shape;28;p31"/>
          <p:cNvSpPr txBox="1"/>
          <p:nvPr>
            <p:ph idx="10" type="dt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1" type="ftr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1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6D6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2"/>
          <p:cNvSpPr/>
          <p:nvPr/>
        </p:nvSpPr>
        <p:spPr>
          <a:xfrm>
            <a:off x="24" y="8"/>
            <a:ext cx="12191978" cy="4571994"/>
          </a:xfrm>
          <a:custGeom>
            <a:rect b="b" l="l" r="r" t="t"/>
            <a:pathLst>
              <a:path extrusionOk="0" h="4571994" w="12191978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4" name="Google Shape;34;p32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32"/>
          <p:cNvSpPr txBox="1"/>
          <p:nvPr>
            <p:ph idx="10" type="dt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1" type="ftr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32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1024128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0" type="dt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3"/>
          <p:cNvSpPr txBox="1"/>
          <p:nvPr>
            <p:ph idx="11" type="ftr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34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3" type="body"/>
          </p:nvPr>
        </p:nvSpPr>
        <p:spPr>
          <a:xfrm>
            <a:off x="5989320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34"/>
          <p:cNvSpPr txBox="1"/>
          <p:nvPr>
            <p:ph idx="4" type="body"/>
          </p:nvPr>
        </p:nvSpPr>
        <p:spPr>
          <a:xfrm>
            <a:off x="5989320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0" type="dt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11" type="ftr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idx="10" type="dt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?"/>
              <a:defRPr sz="20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?"/>
              <a:defRPr sz="1600"/>
            </a:lvl9pPr>
          </a:lstStyle>
          <a:p/>
        </p:txBody>
      </p:sp>
      <p:sp>
        <p:nvSpPr>
          <p:cNvPr id="68" name="Google Shape;68;p37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7"/>
          <p:cNvSpPr txBox="1"/>
          <p:nvPr>
            <p:ph idx="10" type="dt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1" type="ftr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DCA496"/>
          </a:solidFill>
          <a:ln>
            <a:noFill/>
          </a:ln>
        </p:spPr>
      </p:sp>
      <p:sp>
        <p:nvSpPr>
          <p:cNvPr id="75" name="Google Shape;75;p38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38"/>
          <p:cNvSpPr txBox="1"/>
          <p:nvPr>
            <p:ph idx="10" type="dt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1" type="ftr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9" name="Google Shape;79;p38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9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" type="body"/>
          </p:nvPr>
        </p:nvSpPr>
        <p:spPr>
          <a:xfrm rot="5400000">
            <a:off x="3872484" y="-562355"/>
            <a:ext cx="4023360" cy="97200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0" type="dt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9"/>
          <p:cNvSpPr txBox="1"/>
          <p:nvPr>
            <p:ph idx="11" type="ftr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9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0"/>
          <p:cNvSpPr txBox="1"/>
          <p:nvPr>
            <p:ph type="title"/>
          </p:nvPr>
        </p:nvSpPr>
        <p:spPr>
          <a:xfrm rot="5400000">
            <a:off x="7334250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0"/>
          <p:cNvSpPr txBox="1"/>
          <p:nvPr>
            <p:ph idx="1" type="body"/>
          </p:nvPr>
        </p:nvSpPr>
        <p:spPr>
          <a:xfrm rot="5400000">
            <a:off x="2076450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89" name="Google Shape;89;p40"/>
          <p:cNvSpPr txBox="1"/>
          <p:nvPr>
            <p:ph idx="10" type="dt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0"/>
          <p:cNvSpPr txBox="1"/>
          <p:nvPr>
            <p:ph idx="11" type="ftr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0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2" name="Google Shape;92;p40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i="0" sz="5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b="0" i="0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29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1.xml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15.png"/><Relationship Id="rId8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comments" Target="../comments/comment2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WILCOXON TEST</a:t>
            </a:r>
            <a:endParaRPr/>
          </a:p>
        </p:txBody>
      </p:sp>
      <p:sp>
        <p:nvSpPr>
          <p:cNvPr id="98" name="Google Shape;98;p1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 class session</a:t>
            </a:r>
            <a:endParaRPr/>
          </a:p>
        </p:txBody>
      </p:sp>
      <p:sp>
        <p:nvSpPr>
          <p:cNvPr id="99" name="Google Shape;99;p1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06" name="Google Shape;106;p2"/>
          <p:cNvSpPr txBox="1"/>
          <p:nvPr>
            <p:ph idx="1" type="body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wentieth Century"/>
              <a:buAutoNum type="arabicPeriod"/>
            </a:pPr>
            <a:r>
              <a:rPr lang="en-US"/>
              <a:t>Introduction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Twentieth Century"/>
              <a:buAutoNum type="arabicPeriod"/>
            </a:pPr>
            <a:r>
              <a:rPr lang="en-US"/>
              <a:t>Exact and Approximate Methods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Twentieth Century"/>
              <a:buNone/>
            </a:pPr>
            <a:r>
              <a:t/>
            </a:r>
            <a:endParaRPr/>
          </a:p>
        </p:txBody>
      </p:sp>
      <p:sp>
        <p:nvSpPr>
          <p:cNvPr id="107" name="Google Shape;107;p2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1. INTRODUCTION</a:t>
            </a:r>
            <a:endParaRPr/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1152608" y="1823575"/>
            <a:ext cx="411937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fontScale="92500"/>
          </a:bodyPr>
          <a:lstStyle/>
          <a:p>
            <a:pPr indent="-129222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 Wilcoxon signed rank test is appropriate to use when the underlying measurement is on an ordinal scale.</a:t>
            </a:r>
            <a:endParaRPr/>
          </a:p>
          <a:p>
            <a:pPr indent="-129222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 </a:t>
            </a:r>
            <a:r>
              <a:rPr b="1" lang="en-US"/>
              <a:t>It can be used as alternative to the paired t-test when the population </a:t>
            </a:r>
            <a:r>
              <a:rPr b="1" lang="en-US" u="sng">
                <a:solidFill>
                  <a:srgbClr val="FF0000"/>
                </a:solidFill>
              </a:rPr>
              <a:t>cannot be assumed to be </a:t>
            </a:r>
            <a:r>
              <a:rPr b="1" lang="en-US" u="sng" strike="sngStrike">
                <a:solidFill>
                  <a:srgbClr val="FF0000"/>
                </a:solidFill>
              </a:rPr>
              <a:t>normally distributed</a:t>
            </a:r>
            <a:r>
              <a:rPr b="1" lang="en-US" strike="sngStrike"/>
              <a:t>.</a:t>
            </a:r>
            <a:endParaRPr/>
          </a:p>
        </p:txBody>
      </p:sp>
      <p:sp>
        <p:nvSpPr>
          <p:cNvPr id="116" name="Google Shape;116;p3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1979" y="1335024"/>
            <a:ext cx="6410542" cy="4423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2. EXACT AND APPROXIMATE METHOD</a:t>
            </a:r>
            <a:endParaRPr/>
          </a:p>
        </p:txBody>
      </p:sp>
      <p:sp>
        <p:nvSpPr>
          <p:cNvPr id="124" name="Google Shape;124;p4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4896444" y="2084832"/>
            <a:ext cx="1667319" cy="427504"/>
          </a:xfrm>
          <a:prstGeom prst="rect">
            <a:avLst/>
          </a:prstGeom>
          <a:gradFill>
            <a:gsLst>
              <a:gs pos="0">
                <a:srgbClr val="D19184"/>
              </a:gs>
              <a:gs pos="100000">
                <a:srgbClr val="E9ADA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sample set 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869282" y="2872118"/>
            <a:ext cx="1721641" cy="809019"/>
          </a:xfrm>
          <a:prstGeom prst="diamond">
            <a:avLst/>
          </a:prstGeom>
          <a:gradFill>
            <a:gsLst>
              <a:gs pos="0">
                <a:srgbClr val="D19184"/>
              </a:gs>
              <a:gs pos="100000">
                <a:srgbClr val="E9ADA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If N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≤</a:t>
            </a:r>
            <a:r>
              <a:rPr b="0" i="0" lang="en-US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735780" y="3888462"/>
            <a:ext cx="2616451" cy="68806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9184"/>
              </a:gs>
              <a:gs pos="100000">
                <a:srgbClr val="E9ADA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Approximate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2397660" y="3816034"/>
            <a:ext cx="2616451" cy="68806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9184"/>
              </a:gs>
              <a:gs pos="100000">
                <a:srgbClr val="E9ADA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Exact Method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29" name="Google Shape;129;p4"/>
          <p:cNvCxnSpPr>
            <a:stCxn id="125" idx="2"/>
            <a:endCxn id="126" idx="0"/>
          </p:cNvCxnSpPr>
          <p:nvPr/>
        </p:nvCxnSpPr>
        <p:spPr>
          <a:xfrm>
            <a:off x="5730104" y="2512336"/>
            <a:ext cx="0" cy="359700"/>
          </a:xfrm>
          <a:prstGeom prst="straightConnector1">
            <a:avLst/>
          </a:prstGeom>
          <a:gradFill>
            <a:gsLst>
              <a:gs pos="0">
                <a:srgbClr val="D19184"/>
              </a:gs>
              <a:gs pos="100000">
                <a:srgbClr val="E9ADA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" name="Google Shape;130;p4"/>
          <p:cNvCxnSpPr>
            <a:stCxn id="126" idx="1"/>
            <a:endCxn id="128" idx="0"/>
          </p:cNvCxnSpPr>
          <p:nvPr/>
        </p:nvCxnSpPr>
        <p:spPr>
          <a:xfrm flipH="1">
            <a:off x="3705882" y="3276628"/>
            <a:ext cx="1163400" cy="539400"/>
          </a:xfrm>
          <a:prstGeom prst="bentConnector2">
            <a:avLst/>
          </a:prstGeom>
          <a:gradFill>
            <a:gsLst>
              <a:gs pos="0">
                <a:srgbClr val="D19184"/>
              </a:gs>
              <a:gs pos="100000">
                <a:srgbClr val="E9ADA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" name="Google Shape;131;p4"/>
          <p:cNvCxnSpPr>
            <a:stCxn id="126" idx="3"/>
            <a:endCxn id="127" idx="0"/>
          </p:cNvCxnSpPr>
          <p:nvPr/>
        </p:nvCxnSpPr>
        <p:spPr>
          <a:xfrm>
            <a:off x="6590923" y="3276628"/>
            <a:ext cx="1453200" cy="611700"/>
          </a:xfrm>
          <a:prstGeom prst="bentConnector2">
            <a:avLst/>
          </a:prstGeom>
          <a:gradFill>
            <a:gsLst>
              <a:gs pos="0">
                <a:srgbClr val="D19184"/>
              </a:gs>
              <a:gs pos="100000">
                <a:srgbClr val="E9ADA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2" name="Google Shape;132;p4"/>
          <p:cNvSpPr txBox="1"/>
          <p:nvPr>
            <p:ph idx="1" type="body"/>
          </p:nvPr>
        </p:nvSpPr>
        <p:spPr>
          <a:xfrm>
            <a:off x="870066" y="4812109"/>
            <a:ext cx="9720071" cy="1932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33363" lvl="0" marL="23336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1800"/>
              <a:t>For large sample size, the exact and approximate p-value are very similar</a:t>
            </a:r>
            <a:endParaRPr/>
          </a:p>
          <a:p>
            <a:pPr indent="-233363" lvl="0" marL="233363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1800"/>
              <a:t>For small sample size, the exact and approximate p-value can be quite different and can be lead to different conclusion about the hypothesis interest</a:t>
            </a:r>
            <a:endParaRPr sz="1800"/>
          </a:p>
        </p:txBody>
      </p:sp>
      <p:sp>
        <p:nvSpPr>
          <p:cNvPr id="133" name="Google Shape;133;p4"/>
          <p:cNvSpPr/>
          <p:nvPr/>
        </p:nvSpPr>
        <p:spPr>
          <a:xfrm>
            <a:off x="7166610" y="3095888"/>
            <a:ext cx="587710" cy="361479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993729" y="3095888"/>
            <a:ext cx="587710" cy="361479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Yes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DETERMINE THE PROBABILITY OF W - TABLES</a:t>
            </a:r>
            <a:endParaRPr/>
          </a:p>
        </p:txBody>
      </p:sp>
      <p:sp>
        <p:nvSpPr>
          <p:cNvPr id="141" name="Google Shape;141;p5"/>
          <p:cNvSpPr txBox="1"/>
          <p:nvPr>
            <p:ph idx="1" type="body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3237" y="1975020"/>
            <a:ext cx="4772999" cy="449568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4332352" y="1638300"/>
            <a:ext cx="4703884" cy="33672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Table for EXACT method</a:t>
            </a:r>
            <a:endParaRPr b="0" i="0" sz="1800" u="none" cap="none" strike="noStrike">
              <a:solidFill>
                <a:schemeClr val="accen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522976" y="2514599"/>
            <a:ext cx="466725" cy="352425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468246" y="2514598"/>
            <a:ext cx="466725" cy="352425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7251031" y="2514598"/>
            <a:ext cx="1672370" cy="352425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332352" y="2851891"/>
            <a:ext cx="223160" cy="32945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49" name="Google Shape;1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HOW TO PERFORM WILCOXON TEST ?</a:t>
            </a:r>
            <a:endParaRPr/>
          </a:p>
        </p:txBody>
      </p:sp>
      <p:sp>
        <p:nvSpPr>
          <p:cNvPr id="155" name="Google Shape;155;p6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6" name="Google Shape;156;p6"/>
          <p:cNvGrpSpPr/>
          <p:nvPr/>
        </p:nvGrpSpPr>
        <p:grpSpPr>
          <a:xfrm>
            <a:off x="412111" y="2455753"/>
            <a:ext cx="11394990" cy="1040151"/>
            <a:chOff x="3897" y="518311"/>
            <a:chExt cx="11394990" cy="1040151"/>
          </a:xfrm>
        </p:grpSpPr>
        <p:sp>
          <p:nvSpPr>
            <p:cNvPr id="157" name="Google Shape;157;p6"/>
            <p:cNvSpPr/>
            <p:nvPr/>
          </p:nvSpPr>
          <p:spPr>
            <a:xfrm>
              <a:off x="3897" y="518311"/>
              <a:ext cx="1055091" cy="1040151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6"/>
            <p:cNvSpPr txBox="1"/>
            <p:nvPr/>
          </p:nvSpPr>
          <p:spPr>
            <a:xfrm>
              <a:off x="34362" y="548776"/>
              <a:ext cx="994161" cy="9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State the null hypothesis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1164498" y="907555"/>
              <a:ext cx="223679" cy="26166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1164498" y="959887"/>
              <a:ext cx="156575" cy="15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1481025" y="518311"/>
              <a:ext cx="1055091" cy="1040151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6"/>
            <p:cNvSpPr txBox="1"/>
            <p:nvPr/>
          </p:nvSpPr>
          <p:spPr>
            <a:xfrm>
              <a:off x="1511490" y="548776"/>
              <a:ext cx="994161" cy="9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each paired difference (D)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2641626" y="907555"/>
              <a:ext cx="223679" cy="26166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6"/>
            <p:cNvSpPr txBox="1"/>
            <p:nvPr/>
          </p:nvSpPr>
          <p:spPr>
            <a:xfrm>
              <a:off x="2641626" y="959887"/>
              <a:ext cx="156575" cy="15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2958154" y="518311"/>
              <a:ext cx="1055091" cy="1040151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6"/>
            <p:cNvSpPr txBox="1"/>
            <p:nvPr/>
          </p:nvSpPr>
          <p:spPr>
            <a:xfrm>
              <a:off x="2988619" y="548776"/>
              <a:ext cx="994161" cy="9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determining absolute difference |D|</a:t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4118755" y="907555"/>
              <a:ext cx="223679" cy="26166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6"/>
            <p:cNvSpPr txBox="1"/>
            <p:nvPr/>
          </p:nvSpPr>
          <p:spPr>
            <a:xfrm>
              <a:off x="4118755" y="959887"/>
              <a:ext cx="156575" cy="15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4435282" y="518311"/>
              <a:ext cx="1055091" cy="1040151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6"/>
            <p:cNvSpPr txBox="1"/>
            <p:nvPr/>
          </p:nvSpPr>
          <p:spPr>
            <a:xfrm>
              <a:off x="4465747" y="548776"/>
              <a:ext cx="994161" cy="9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Rank the differences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5595883" y="907555"/>
              <a:ext cx="223679" cy="26166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6"/>
            <p:cNvSpPr txBox="1"/>
            <p:nvPr/>
          </p:nvSpPr>
          <p:spPr>
            <a:xfrm>
              <a:off x="5595883" y="959887"/>
              <a:ext cx="156575" cy="15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5912411" y="518311"/>
              <a:ext cx="1055091" cy="1040151"/>
            </a:xfrm>
            <a:prstGeom prst="roundRect">
              <a:avLst>
                <a:gd fmla="val 10000" name="adj"/>
              </a:avLst>
            </a:prstGeom>
            <a:solidFill>
              <a:srgbClr val="E8C2B8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6"/>
            <p:cNvSpPr txBox="1"/>
            <p:nvPr/>
          </p:nvSpPr>
          <p:spPr>
            <a:xfrm>
              <a:off x="5942876" y="548776"/>
              <a:ext cx="994161" cy="9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w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+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 and w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-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 to determine w</a:t>
              </a:r>
              <a:r>
                <a:rPr b="0" baseline="-2500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1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 and w</a:t>
              </a:r>
              <a:r>
                <a:rPr b="0" baseline="-2500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2</a:t>
              </a:r>
              <a:endParaRPr b="0" baseline="-2500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7073012" y="907555"/>
              <a:ext cx="223679" cy="26166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6"/>
            <p:cNvSpPr txBox="1"/>
            <p:nvPr/>
          </p:nvSpPr>
          <p:spPr>
            <a:xfrm>
              <a:off x="7073012" y="959887"/>
              <a:ext cx="156575" cy="15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7389539" y="518311"/>
              <a:ext cx="1055091" cy="1040151"/>
            </a:xfrm>
            <a:prstGeom prst="roundRect">
              <a:avLst>
                <a:gd fmla="val 10000" name="adj"/>
              </a:avLst>
            </a:prstGeom>
            <a:solidFill>
              <a:srgbClr val="E8C2B8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6"/>
            <p:cNvSpPr txBox="1"/>
            <p:nvPr/>
          </p:nvSpPr>
          <p:spPr>
            <a:xfrm>
              <a:off x="7420004" y="548776"/>
              <a:ext cx="994161" cy="9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Determine the probability distribution of w</a:t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8550140" y="907555"/>
              <a:ext cx="223679" cy="26166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6"/>
            <p:cNvSpPr txBox="1"/>
            <p:nvPr/>
          </p:nvSpPr>
          <p:spPr>
            <a:xfrm>
              <a:off x="8550140" y="959887"/>
              <a:ext cx="156575" cy="15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8866668" y="518311"/>
              <a:ext cx="1055091" cy="1040151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6"/>
            <p:cNvSpPr txBox="1"/>
            <p:nvPr/>
          </p:nvSpPr>
          <p:spPr>
            <a:xfrm>
              <a:off x="8897133" y="548776"/>
              <a:ext cx="994161" cy="9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P-value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10027269" y="907555"/>
              <a:ext cx="223679" cy="26166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6"/>
            <p:cNvSpPr txBox="1"/>
            <p:nvPr/>
          </p:nvSpPr>
          <p:spPr>
            <a:xfrm>
              <a:off x="10027269" y="959887"/>
              <a:ext cx="156575" cy="15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10343796" y="518311"/>
              <a:ext cx="1055091" cy="1040151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"/>
            <p:cNvSpPr txBox="1"/>
            <p:nvPr/>
          </p:nvSpPr>
          <p:spPr>
            <a:xfrm>
              <a:off x="10374261" y="548776"/>
              <a:ext cx="994161" cy="9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Make a decision and conclusion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6"/>
          <p:cNvSpPr txBox="1"/>
          <p:nvPr>
            <p:ph idx="1" type="body"/>
          </p:nvPr>
        </p:nvSpPr>
        <p:spPr>
          <a:xfrm>
            <a:off x="1024128" y="1801910"/>
            <a:ext cx="7114937" cy="1140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US" u="sng"/>
              <a:t>Exact method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pic>
        <p:nvPicPr>
          <p:cNvPr id="188" name="Google Shape;1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EXAMPLE 1 - EXACT</a:t>
            </a:r>
            <a:endParaRPr/>
          </a:p>
        </p:txBody>
      </p:sp>
      <p:sp>
        <p:nvSpPr>
          <p:cNvPr id="195" name="Google Shape;195;p7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96" name="Google Shape;196;p7"/>
          <p:cNvGraphicFramePr/>
          <p:nvPr/>
        </p:nvGraphicFramePr>
        <p:xfrm>
          <a:off x="1379538" y="28623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  <a:gridCol w="1195950"/>
              </a:tblGrid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6F777D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</a:tbl>
          </a:graphicData>
        </a:graphic>
      </p:graphicFrame>
      <p:sp>
        <p:nvSpPr>
          <p:cNvPr id="197" name="Google Shape;197;p7"/>
          <p:cNvSpPr txBox="1"/>
          <p:nvPr/>
        </p:nvSpPr>
        <p:spPr>
          <a:xfrm>
            <a:off x="1097687" y="2308381"/>
            <a:ext cx="56164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Given the feature value of each group for this paired data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198" name="Google Shape;198;p7"/>
          <p:cNvGraphicFramePr/>
          <p:nvPr/>
        </p:nvGraphicFramePr>
        <p:xfrm>
          <a:off x="7463769" y="5852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</a:tblGrid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Group 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99" name="Google Shape;199;p7"/>
          <p:cNvGraphicFramePr/>
          <p:nvPr/>
        </p:nvGraphicFramePr>
        <p:xfrm>
          <a:off x="7463769" y="35112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{AE838084-FBBE-4DD1-8C3F-5130072AC5FE}</a:tableStyleId>
              </a:tblPr>
              <a:tblGrid>
                <a:gridCol w="601250"/>
                <a:gridCol w="989900"/>
              </a:tblGrid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Group B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168.4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00" name="Google Shape;200;p7"/>
          <p:cNvSpPr txBox="1"/>
          <p:nvPr/>
        </p:nvSpPr>
        <p:spPr>
          <a:xfrm>
            <a:off x="7718745" y="215884"/>
            <a:ext cx="10811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Feature 1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01" name="Google Shape;2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 txBox="1"/>
          <p:nvPr>
            <p:ph type="title"/>
          </p:nvPr>
        </p:nvSpPr>
        <p:spPr>
          <a:xfrm>
            <a:off x="1024128" y="585215"/>
            <a:ext cx="9720072" cy="1439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STATE THE NULL HYPOTHESIS</a:t>
            </a:r>
            <a:endParaRPr/>
          </a:p>
        </p:txBody>
      </p:sp>
      <p:sp>
        <p:nvSpPr>
          <p:cNvPr id="207" name="Google Shape;207;p8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8"/>
          <p:cNvSpPr txBox="1"/>
          <p:nvPr/>
        </p:nvSpPr>
        <p:spPr>
          <a:xfrm>
            <a:off x="1097687" y="2308381"/>
            <a:ext cx="43574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Given the feature value of each group below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420449" y="3153168"/>
            <a:ext cx="59318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Null hypothesis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The feature has no significance difference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210" name="Google Shape;210;p8"/>
          <p:cNvGraphicFramePr/>
          <p:nvPr/>
        </p:nvGraphicFramePr>
        <p:xfrm>
          <a:off x="1379538" y="28623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  <a:gridCol w="1195950"/>
              </a:tblGrid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6F777D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</a:tbl>
          </a:graphicData>
        </a:graphic>
      </p:graphicFrame>
      <p:pic>
        <p:nvPicPr>
          <p:cNvPr id="211" name="Google Shape;2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CALCULATE EACH PAIRED DIFFERENCE (D)</a:t>
            </a:r>
            <a:endParaRPr/>
          </a:p>
        </p:txBody>
      </p:sp>
      <p:sp>
        <p:nvSpPr>
          <p:cNvPr id="217" name="Google Shape;217;p9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18" name="Google Shape;218;p9"/>
          <p:cNvGraphicFramePr/>
          <p:nvPr/>
        </p:nvGraphicFramePr>
        <p:xfrm>
          <a:off x="9061752" y="2263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{107DDD9C-6598-4044-B474-705835C5FEAB}</a:tableStyleId>
              </a:tblPr>
              <a:tblGrid>
                <a:gridCol w="2177750"/>
              </a:tblGrid>
              <a:tr h="426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-1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-0.4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sp>
        <p:nvSpPr>
          <p:cNvPr id="219" name="Google Shape;219;p9"/>
          <p:cNvSpPr/>
          <p:nvPr/>
        </p:nvSpPr>
        <p:spPr>
          <a:xfrm>
            <a:off x="4947569" y="2504333"/>
            <a:ext cx="489855" cy="238700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5621581" y="2374392"/>
            <a:ext cx="263945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4437" l="0" r="0" t="-238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5621581" y="2962617"/>
            <a:ext cx="2623123" cy="19389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62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2" name="Google Shape;222;p9"/>
          <p:cNvGraphicFramePr/>
          <p:nvPr/>
        </p:nvGraphicFramePr>
        <p:xfrm>
          <a:off x="1665286" y="21491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  <a:gridCol w="1195950"/>
              </a:tblGrid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6F777D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</a:tbl>
          </a:graphicData>
        </a:graphic>
      </p:graphicFrame>
      <p:pic>
        <p:nvPicPr>
          <p:cNvPr id="223" name="Google Shape;22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DETERMINING ABSOLUTE DIFFERENCE |D|</a:t>
            </a:r>
            <a:endParaRPr/>
          </a:p>
        </p:txBody>
      </p:sp>
      <p:sp>
        <p:nvSpPr>
          <p:cNvPr id="229" name="Google Shape;229;p10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30" name="Google Shape;230;p10"/>
          <p:cNvGraphicFramePr/>
          <p:nvPr/>
        </p:nvGraphicFramePr>
        <p:xfrm>
          <a:off x="4690232" y="22347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{107DDD9C-6598-4044-B474-705835C5FEAB}</a:tableStyleId>
              </a:tblPr>
              <a:tblGrid>
                <a:gridCol w="2040775"/>
              </a:tblGrid>
              <a:tr h="43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-1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-0.4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graphicFrame>
        <p:nvGraphicFramePr>
          <p:cNvPr id="231" name="Google Shape;231;p10"/>
          <p:cNvGraphicFramePr/>
          <p:nvPr/>
        </p:nvGraphicFramePr>
        <p:xfrm>
          <a:off x="8382472" y="22347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{65670C6B-76BA-481E-BDC5-A459F3560BF6}</a:tableStyleId>
              </a:tblPr>
              <a:tblGrid>
                <a:gridCol w="2453350"/>
              </a:tblGrid>
              <a:tr h="35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|D|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2" name="Google Shape;232;p10"/>
          <p:cNvSpPr/>
          <p:nvPr/>
        </p:nvSpPr>
        <p:spPr>
          <a:xfrm>
            <a:off x="7294283" y="3470133"/>
            <a:ext cx="788885" cy="45540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233" name="Google Shape;233;p10"/>
          <p:cNvGraphicFramePr/>
          <p:nvPr/>
        </p:nvGraphicFramePr>
        <p:xfrm>
          <a:off x="1645206" y="22347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  <a:gridCol w="11959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6F777D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</a:tbl>
          </a:graphicData>
        </a:graphic>
      </p:graphicFrame>
      <p:pic>
        <p:nvPicPr>
          <p:cNvPr id="234" name="Google Shape;2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RANK THE DIFFERENCES</a:t>
            </a:r>
            <a:endParaRPr/>
          </a:p>
        </p:txBody>
      </p:sp>
      <p:sp>
        <p:nvSpPr>
          <p:cNvPr id="241" name="Google Shape;241;p11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42" name="Google Shape;242;p11"/>
          <p:cNvGraphicFramePr/>
          <p:nvPr/>
        </p:nvGraphicFramePr>
        <p:xfrm>
          <a:off x="4716368" y="2182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{107DDD9C-6598-4044-B474-705835C5FEAB}</a:tableStyleId>
              </a:tblPr>
              <a:tblGrid>
                <a:gridCol w="2148125"/>
              </a:tblGrid>
              <a:tr h="4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-1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-0.4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graphicFrame>
        <p:nvGraphicFramePr>
          <p:cNvPr id="243" name="Google Shape;243;p11"/>
          <p:cNvGraphicFramePr/>
          <p:nvPr/>
        </p:nvGraphicFramePr>
        <p:xfrm>
          <a:off x="6864482" y="22021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{65670C6B-76BA-481E-BDC5-A459F3560BF6}</a:tableStyleId>
              </a:tblPr>
              <a:tblGrid>
                <a:gridCol w="2453350"/>
              </a:tblGrid>
              <a:tr h="37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|D|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graphicFrame>
        <p:nvGraphicFramePr>
          <p:cNvPr id="244" name="Google Shape;244;p11"/>
          <p:cNvGraphicFramePr/>
          <p:nvPr/>
        </p:nvGraphicFramePr>
        <p:xfrm>
          <a:off x="9012596" y="22021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{0B045C37-5850-4329-BF7E-FDB4498F53B2}</a:tableStyleId>
              </a:tblPr>
              <a:tblGrid>
                <a:gridCol w="1589700"/>
                <a:gridCol w="15897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Initial RANK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Final Rank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45" name="Google Shape;245;p11"/>
          <p:cNvSpPr txBox="1"/>
          <p:nvPr/>
        </p:nvSpPr>
        <p:spPr>
          <a:xfrm>
            <a:off x="920882" y="5456136"/>
            <a:ext cx="5943600" cy="6183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6937093" y="4426857"/>
            <a:ext cx="2075503" cy="701361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937093" y="2613137"/>
            <a:ext cx="2075503" cy="333263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248" name="Google Shape;248;p11"/>
          <p:cNvGraphicFramePr/>
          <p:nvPr/>
        </p:nvGraphicFramePr>
        <p:xfrm>
          <a:off x="1479394" y="22021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  <a:gridCol w="1195950"/>
              </a:tblGrid>
              <a:tr h="35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6F777D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</a:tbl>
          </a:graphicData>
        </a:graphic>
      </p:graphicFrame>
      <p:pic>
        <p:nvPicPr>
          <p:cNvPr id="249" name="Google Shape;24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RANK THE DIFFERENCES</a:t>
            </a:r>
            <a:endParaRPr/>
          </a:p>
        </p:txBody>
      </p:sp>
      <p:sp>
        <p:nvSpPr>
          <p:cNvPr id="256" name="Google Shape;256;p12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57" name="Google Shape;257;p12"/>
          <p:cNvGraphicFramePr/>
          <p:nvPr/>
        </p:nvGraphicFramePr>
        <p:xfrm>
          <a:off x="4716368" y="2182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{107DDD9C-6598-4044-B474-705835C5FEAB}</a:tableStyleId>
              </a:tblPr>
              <a:tblGrid>
                <a:gridCol w="2148125"/>
              </a:tblGrid>
              <a:tr h="4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-1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-0.4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graphicFrame>
        <p:nvGraphicFramePr>
          <p:cNvPr id="258" name="Google Shape;258;p12"/>
          <p:cNvGraphicFramePr/>
          <p:nvPr/>
        </p:nvGraphicFramePr>
        <p:xfrm>
          <a:off x="6864482" y="22021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{65670C6B-76BA-481E-BDC5-A459F3560BF6}</a:tableStyleId>
              </a:tblPr>
              <a:tblGrid>
                <a:gridCol w="2453350"/>
              </a:tblGrid>
              <a:tr h="37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|D|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graphicFrame>
        <p:nvGraphicFramePr>
          <p:cNvPr id="259" name="Google Shape;259;p12"/>
          <p:cNvGraphicFramePr/>
          <p:nvPr/>
        </p:nvGraphicFramePr>
        <p:xfrm>
          <a:off x="9317824" y="22021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{0B045C37-5850-4329-BF7E-FDB4498F53B2}</a:tableStyleId>
              </a:tblPr>
              <a:tblGrid>
                <a:gridCol w="11105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RANK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60" name="Google Shape;260;p12"/>
          <p:cNvGraphicFramePr/>
          <p:nvPr/>
        </p:nvGraphicFramePr>
        <p:xfrm>
          <a:off x="1457149" y="2182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  <a:gridCol w="1195950"/>
              </a:tblGrid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6F777D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</a:tbl>
          </a:graphicData>
        </a:graphic>
      </p:graphicFrame>
      <p:pic>
        <p:nvPicPr>
          <p:cNvPr id="261" name="Google Shape;2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CALCULATE W1 AND W2</a:t>
            </a:r>
            <a:endParaRPr/>
          </a:p>
        </p:txBody>
      </p:sp>
      <p:sp>
        <p:nvSpPr>
          <p:cNvPr id="268" name="Google Shape;268;p13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69" name="Google Shape;269;p13"/>
          <p:cNvGraphicFramePr/>
          <p:nvPr/>
        </p:nvGraphicFramePr>
        <p:xfrm>
          <a:off x="4716368" y="2182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{107DDD9C-6598-4044-B474-705835C5FEAB}</a:tableStyleId>
              </a:tblPr>
              <a:tblGrid>
                <a:gridCol w="2148125"/>
              </a:tblGrid>
              <a:tr h="4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-1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-0.4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graphicFrame>
        <p:nvGraphicFramePr>
          <p:cNvPr id="270" name="Google Shape;270;p13"/>
          <p:cNvGraphicFramePr/>
          <p:nvPr/>
        </p:nvGraphicFramePr>
        <p:xfrm>
          <a:off x="6864482" y="22021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{65670C6B-76BA-481E-BDC5-A459F3560BF6}</a:tableStyleId>
              </a:tblPr>
              <a:tblGrid>
                <a:gridCol w="2453350"/>
              </a:tblGrid>
              <a:tr h="37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|D|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graphicFrame>
        <p:nvGraphicFramePr>
          <p:cNvPr id="271" name="Google Shape;271;p13"/>
          <p:cNvGraphicFramePr/>
          <p:nvPr/>
        </p:nvGraphicFramePr>
        <p:xfrm>
          <a:off x="9317824" y="22021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{0B045C37-5850-4329-BF7E-FDB4498F53B2}</a:tableStyleId>
              </a:tblPr>
              <a:tblGrid>
                <a:gridCol w="11105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RANK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72" name="Google Shape;272;p13"/>
          <p:cNvSpPr txBox="1"/>
          <p:nvPr/>
        </p:nvSpPr>
        <p:spPr>
          <a:xfrm>
            <a:off x="10743363" y="1335151"/>
            <a:ext cx="1067637" cy="369332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</a:t>
            </a: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11104393" y="3737419"/>
            <a:ext cx="798616" cy="369332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</a:t>
            </a: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10635868" y="739901"/>
            <a:ext cx="137659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Sum of the </a:t>
            </a:r>
            <a:r>
              <a:rPr b="0" i="0" lang="en-US" sz="1400" u="none" cap="none" strike="noStrike">
                <a:solidFill>
                  <a:srgbClr val="0070C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positive</a:t>
            </a:r>
            <a:r>
              <a:rPr b="0" i="0" lang="en-US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signs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 txBox="1"/>
          <p:nvPr/>
        </p:nvSpPr>
        <p:spPr>
          <a:xfrm>
            <a:off x="10815403" y="2972863"/>
            <a:ext cx="137659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Sum of the </a:t>
            </a:r>
            <a:r>
              <a:rPr b="0" i="0" lang="en-US" sz="1400" u="none" cap="none" strike="noStrike">
                <a:solidFill>
                  <a:srgbClr val="0070C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negative</a:t>
            </a:r>
            <a:r>
              <a:rPr b="0" i="0" lang="en-US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signs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11384683" y="3486255"/>
            <a:ext cx="123883" cy="161925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7614B"/>
              </a:gs>
              <a:gs pos="100000">
                <a:srgbClr val="E3725B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76200" rotWithShape="0" algn="ctr" dir="5400000" dist="254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77" name="Google Shape;277;p13"/>
          <p:cNvCxnSpPr>
            <a:endCxn id="272" idx="1"/>
          </p:cNvCxnSpPr>
          <p:nvPr/>
        </p:nvCxnSpPr>
        <p:spPr>
          <a:xfrm rot="-5400000">
            <a:off x="9806913" y="1844867"/>
            <a:ext cx="1261500" cy="6114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8" name="Google Shape;278;p13"/>
          <p:cNvSpPr/>
          <p:nvPr/>
        </p:nvSpPr>
        <p:spPr>
          <a:xfrm>
            <a:off x="10500446" y="3353212"/>
            <a:ext cx="401293" cy="558613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9549969" y="2578100"/>
            <a:ext cx="660400" cy="775112"/>
          </a:xfrm>
          <a:prstGeom prst="rect">
            <a:avLst/>
          </a:prstGeom>
          <a:solidFill>
            <a:schemeClr val="accent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9595285" y="4013200"/>
            <a:ext cx="615084" cy="1115017"/>
          </a:xfrm>
          <a:prstGeom prst="rect">
            <a:avLst/>
          </a:prstGeom>
          <a:solidFill>
            <a:schemeClr val="accent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5506423" y="3373018"/>
            <a:ext cx="660400" cy="775112"/>
          </a:xfrm>
          <a:prstGeom prst="rect">
            <a:avLst/>
          </a:prstGeom>
          <a:solidFill>
            <a:schemeClr val="accent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9282983" y="5317889"/>
            <a:ext cx="2705769" cy="92333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</a:t>
            </a:r>
            <a:r>
              <a:rPr b="0" baseline="-25000" i="0" lang="en-US" sz="18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(min[w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</a:t>
            </a: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,w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</a:t>
            </a: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])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</a:t>
            </a:r>
            <a:r>
              <a:rPr b="0" baseline="-25000" i="0" lang="en-US" sz="18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(max[w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</a:t>
            </a: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,w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</a:t>
            </a: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]) = 25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283" name="Google Shape;283;p13"/>
          <p:cNvGraphicFramePr/>
          <p:nvPr/>
        </p:nvGraphicFramePr>
        <p:xfrm>
          <a:off x="1492644" y="22021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  <a:gridCol w="1195950"/>
              </a:tblGrid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6F777D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</a:tbl>
          </a:graphicData>
        </a:graphic>
      </p:graphicFrame>
      <p:pic>
        <p:nvPicPr>
          <p:cNvPr id="284" name="Google Shape;2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"/>
          <p:cNvSpPr txBox="1"/>
          <p:nvPr>
            <p:ph type="title"/>
          </p:nvPr>
        </p:nvSpPr>
        <p:spPr>
          <a:xfrm>
            <a:off x="989838" y="32538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DETERMINE THE PROBABILITY OF W</a:t>
            </a:r>
            <a:endParaRPr/>
          </a:p>
        </p:txBody>
      </p:sp>
      <p:sp>
        <p:nvSpPr>
          <p:cNvPr id="291" name="Google Shape;291;p14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14"/>
          <p:cNvSpPr txBox="1"/>
          <p:nvPr/>
        </p:nvSpPr>
        <p:spPr>
          <a:xfrm>
            <a:off x="928571" y="2000260"/>
            <a:ext cx="298224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Input values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 (Total sample) =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= 25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9900588" y="5189754"/>
            <a:ext cx="1933945" cy="9144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04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Probability distribution of W = P(W)  = 0.039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" name="Google Shape;294;p14"/>
          <p:cNvGrpSpPr/>
          <p:nvPr/>
        </p:nvGrpSpPr>
        <p:grpSpPr>
          <a:xfrm>
            <a:off x="4157661" y="1452678"/>
            <a:ext cx="5496077" cy="5018026"/>
            <a:chOff x="4157662" y="1452678"/>
            <a:chExt cx="5374958" cy="5075710"/>
          </a:xfrm>
        </p:grpSpPr>
        <p:pic>
          <p:nvPicPr>
            <p:cNvPr id="295" name="Google Shape;295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57662" y="1452678"/>
              <a:ext cx="5374958" cy="50757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14"/>
            <p:cNvSpPr/>
            <p:nvPr/>
          </p:nvSpPr>
          <p:spPr>
            <a:xfrm>
              <a:off x="4157662" y="4908298"/>
              <a:ext cx="644691" cy="281456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5597247" y="5462792"/>
              <a:ext cx="1683663" cy="264172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8144979" y="5468368"/>
              <a:ext cx="644691" cy="281456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299" name="Google Shape;299;p14"/>
          <p:cNvSpPr/>
          <p:nvPr/>
        </p:nvSpPr>
        <p:spPr>
          <a:xfrm>
            <a:off x="9036519" y="5429036"/>
            <a:ext cx="617220" cy="287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904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5629686" y="4080900"/>
            <a:ext cx="659218" cy="27825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6692071" y="4220028"/>
            <a:ext cx="659218" cy="27825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8247613" y="4080901"/>
            <a:ext cx="659218" cy="417384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9900588" y="3706791"/>
            <a:ext cx="1910412" cy="1165604"/>
          </a:xfrm>
          <a:prstGeom prst="rect">
            <a:avLst/>
          </a:prstGeom>
          <a:gradFill>
            <a:gsLst>
              <a:gs pos="0">
                <a:srgbClr val="ABA695"/>
              </a:gs>
              <a:gs pos="100000">
                <a:srgbClr val="C8C3B4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Average these two P(W) to get the final P(W)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304" name="Google Shape;304;p14"/>
          <p:cNvCxnSpPr>
            <a:stCxn id="302" idx="3"/>
            <a:endCxn id="303" idx="1"/>
          </p:cNvCxnSpPr>
          <p:nvPr/>
        </p:nvCxnSpPr>
        <p:spPr>
          <a:xfrm>
            <a:off x="8906831" y="4289593"/>
            <a:ext cx="993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5" name="Google Shape;305;p14"/>
          <p:cNvSpPr/>
          <p:nvPr/>
        </p:nvSpPr>
        <p:spPr>
          <a:xfrm>
            <a:off x="4157661" y="3685327"/>
            <a:ext cx="659218" cy="27825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06" name="Google Shape;3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"/>
          <p:cNvSpPr txBox="1"/>
          <p:nvPr>
            <p:ph type="title"/>
          </p:nvPr>
        </p:nvSpPr>
        <p:spPr>
          <a:xfrm>
            <a:off x="924524" y="653024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CALCULATE P-VALUE</a:t>
            </a:r>
            <a:endParaRPr/>
          </a:p>
        </p:txBody>
      </p:sp>
      <p:sp>
        <p:nvSpPr>
          <p:cNvPr id="313" name="Google Shape;313;p15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15"/>
          <p:cNvSpPr txBox="1"/>
          <p:nvPr/>
        </p:nvSpPr>
        <p:spPr>
          <a:xfrm>
            <a:off x="1232806" y="2612571"/>
            <a:ext cx="578848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P(W) = 0.039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P-Value = 2 X 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P-value = 2 X 0.039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P-Value = 0.078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MAKE THE DECISION AND CONCLUSION</a:t>
            </a:r>
            <a:endParaRPr/>
          </a:p>
        </p:txBody>
      </p:sp>
      <p:sp>
        <p:nvSpPr>
          <p:cNvPr id="321" name="Google Shape;321;p16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" name="Google Shape;322;p16"/>
          <p:cNvSpPr txBox="1"/>
          <p:nvPr/>
        </p:nvSpPr>
        <p:spPr>
          <a:xfrm>
            <a:off x="4977651" y="3666541"/>
            <a:ext cx="6739428" cy="17543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857" l="-810" r="0" t="-17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4976130" y="2541937"/>
            <a:ext cx="1841594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6" l="-1982" r="-2314" t="-98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4976130" y="2938741"/>
            <a:ext cx="12426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</a:t>
            </a: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0.05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4977651" y="2116181"/>
            <a:ext cx="11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7162154" y="2754075"/>
            <a:ext cx="1198790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62" l="0" r="-3042" t="-99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6767110" y="2607918"/>
            <a:ext cx="275318" cy="585347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328" name="Google Shape;328;p16"/>
          <p:cNvGraphicFramePr/>
          <p:nvPr/>
        </p:nvGraphicFramePr>
        <p:xfrm>
          <a:off x="1258661" y="20848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  <a:gridCol w="1195950"/>
              </a:tblGrid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6F777D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168.4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</a:tbl>
          </a:graphicData>
        </a:graphic>
      </p:graphicFrame>
      <p:pic>
        <p:nvPicPr>
          <p:cNvPr id="329" name="Google Shape;3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6"/>
          <p:cNvSpPr txBox="1"/>
          <p:nvPr/>
        </p:nvSpPr>
        <p:spPr>
          <a:xfrm>
            <a:off x="7465025" y="4279325"/>
            <a:ext cx="3372300" cy="27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99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Reject </a:t>
            </a:r>
            <a:r>
              <a:rPr lang="en-US" sz="17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Alternative </a:t>
            </a:r>
            <a:r>
              <a:rPr lang="en-US" sz="17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hypothesis</a:t>
            </a:r>
            <a:endParaRPr sz="17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P-VALUE TABLES</a:t>
            </a:r>
            <a:endParaRPr/>
          </a:p>
        </p:txBody>
      </p:sp>
      <p:sp>
        <p:nvSpPr>
          <p:cNvPr id="336" name="Google Shape;336;p17"/>
          <p:cNvSpPr txBox="1"/>
          <p:nvPr>
            <p:ph idx="1" type="body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37" name="Google Shape;337;p17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8" name="Google Shape;3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0634" y="1003113"/>
            <a:ext cx="6274866" cy="51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7"/>
          <p:cNvSpPr/>
          <p:nvPr/>
        </p:nvSpPr>
        <p:spPr>
          <a:xfrm>
            <a:off x="5360636" y="465225"/>
            <a:ext cx="6274864" cy="33672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Table for APPROXIMATE method</a:t>
            </a:r>
            <a:endParaRPr b="0" i="0" sz="1800" u="none" cap="none" strike="noStrike">
              <a:solidFill>
                <a:schemeClr val="accen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6044301" y="1003113"/>
            <a:ext cx="5591199" cy="226516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11668427" y="945550"/>
            <a:ext cx="362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D4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 </a:t>
            </a:r>
            <a:endParaRPr b="0" i="0" sz="1800" u="none" cap="none" strike="noStrike">
              <a:solidFill>
                <a:srgbClr val="9D4933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42" name="Google Shape;3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8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HOW TO PERFORM WILCOXON TEST ?</a:t>
            </a:r>
            <a:endParaRPr/>
          </a:p>
        </p:txBody>
      </p:sp>
      <p:sp>
        <p:nvSpPr>
          <p:cNvPr id="348" name="Google Shape;348;p18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49" name="Google Shape;349;p18"/>
          <p:cNvGrpSpPr/>
          <p:nvPr/>
        </p:nvGrpSpPr>
        <p:grpSpPr>
          <a:xfrm>
            <a:off x="384722" y="3572588"/>
            <a:ext cx="11520091" cy="880006"/>
            <a:chOff x="3940" y="865964"/>
            <a:chExt cx="11520091" cy="880006"/>
          </a:xfrm>
        </p:grpSpPr>
        <p:sp>
          <p:nvSpPr>
            <p:cNvPr id="350" name="Google Shape;350;p18"/>
            <p:cNvSpPr/>
            <p:nvPr/>
          </p:nvSpPr>
          <p:spPr>
            <a:xfrm>
              <a:off x="3940" y="865964"/>
              <a:ext cx="1066675" cy="88000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8"/>
            <p:cNvSpPr txBox="1"/>
            <p:nvPr/>
          </p:nvSpPr>
          <p:spPr>
            <a:xfrm>
              <a:off x="29714" y="891738"/>
              <a:ext cx="1015127" cy="828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State the null hypothesis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8"/>
            <p:cNvSpPr/>
            <p:nvPr/>
          </p:nvSpPr>
          <p:spPr>
            <a:xfrm>
              <a:off x="1177282" y="1173700"/>
              <a:ext cx="226135" cy="26453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8"/>
            <p:cNvSpPr txBox="1"/>
            <p:nvPr/>
          </p:nvSpPr>
          <p:spPr>
            <a:xfrm>
              <a:off x="1177282" y="1226607"/>
              <a:ext cx="158295" cy="158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54" name="Google Shape;354;p18"/>
            <p:cNvSpPr/>
            <p:nvPr/>
          </p:nvSpPr>
          <p:spPr>
            <a:xfrm>
              <a:off x="1497285" y="865964"/>
              <a:ext cx="1066675" cy="88000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8"/>
            <p:cNvSpPr txBox="1"/>
            <p:nvPr/>
          </p:nvSpPr>
          <p:spPr>
            <a:xfrm>
              <a:off x="1523059" y="891738"/>
              <a:ext cx="1015127" cy="828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each paired difference (D)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8"/>
            <p:cNvSpPr/>
            <p:nvPr/>
          </p:nvSpPr>
          <p:spPr>
            <a:xfrm>
              <a:off x="2670628" y="1173700"/>
              <a:ext cx="226135" cy="26453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8"/>
            <p:cNvSpPr txBox="1"/>
            <p:nvPr/>
          </p:nvSpPr>
          <p:spPr>
            <a:xfrm>
              <a:off x="2670628" y="1226607"/>
              <a:ext cx="158295" cy="158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58" name="Google Shape;358;p18"/>
            <p:cNvSpPr/>
            <p:nvPr/>
          </p:nvSpPr>
          <p:spPr>
            <a:xfrm>
              <a:off x="2990630" y="865964"/>
              <a:ext cx="1066675" cy="88000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8"/>
            <p:cNvSpPr txBox="1"/>
            <p:nvPr/>
          </p:nvSpPr>
          <p:spPr>
            <a:xfrm>
              <a:off x="3016404" y="891738"/>
              <a:ext cx="1015127" cy="828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determining absolute difference |D|</a:t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60" name="Google Shape;360;p18"/>
            <p:cNvSpPr/>
            <p:nvPr/>
          </p:nvSpPr>
          <p:spPr>
            <a:xfrm>
              <a:off x="4163973" y="1173700"/>
              <a:ext cx="226135" cy="26453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8"/>
            <p:cNvSpPr txBox="1"/>
            <p:nvPr/>
          </p:nvSpPr>
          <p:spPr>
            <a:xfrm>
              <a:off x="4163973" y="1226607"/>
              <a:ext cx="158295" cy="158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62" name="Google Shape;362;p18"/>
            <p:cNvSpPr/>
            <p:nvPr/>
          </p:nvSpPr>
          <p:spPr>
            <a:xfrm>
              <a:off x="4483975" y="865964"/>
              <a:ext cx="1066675" cy="88000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8"/>
            <p:cNvSpPr txBox="1"/>
            <p:nvPr/>
          </p:nvSpPr>
          <p:spPr>
            <a:xfrm>
              <a:off x="4509749" y="891738"/>
              <a:ext cx="1015127" cy="828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Rank the differences</a:t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5657318" y="1173700"/>
              <a:ext cx="226135" cy="26453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8"/>
            <p:cNvSpPr txBox="1"/>
            <p:nvPr/>
          </p:nvSpPr>
          <p:spPr>
            <a:xfrm>
              <a:off x="5657318" y="1226607"/>
              <a:ext cx="158295" cy="158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5977321" y="865964"/>
              <a:ext cx="1066675" cy="880006"/>
            </a:xfrm>
            <a:prstGeom prst="roundRect">
              <a:avLst>
                <a:gd fmla="val 10000" name="adj"/>
              </a:avLst>
            </a:prstGeom>
            <a:solidFill>
              <a:srgbClr val="E8C2B8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8"/>
            <p:cNvSpPr txBox="1"/>
            <p:nvPr/>
          </p:nvSpPr>
          <p:spPr>
            <a:xfrm>
              <a:off x="6003095" y="891738"/>
              <a:ext cx="1015127" cy="828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w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+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 and w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-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 to determine w</a:t>
              </a:r>
              <a:r>
                <a:rPr b="0" baseline="-2500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stat</a:t>
              </a:r>
              <a:endParaRPr b="0" baseline="-2500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7150663" y="1173700"/>
              <a:ext cx="226135" cy="26453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8"/>
            <p:cNvSpPr txBox="1"/>
            <p:nvPr/>
          </p:nvSpPr>
          <p:spPr>
            <a:xfrm>
              <a:off x="7150663" y="1226607"/>
              <a:ext cx="158295" cy="158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7470666" y="865964"/>
              <a:ext cx="1066675" cy="880006"/>
            </a:xfrm>
            <a:prstGeom prst="roundRect">
              <a:avLst>
                <a:gd fmla="val 10000" name="adj"/>
              </a:avLst>
            </a:prstGeom>
            <a:solidFill>
              <a:srgbClr val="E8C2B8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8"/>
            <p:cNvSpPr txBox="1"/>
            <p:nvPr/>
          </p:nvSpPr>
          <p:spPr>
            <a:xfrm>
              <a:off x="7496440" y="891738"/>
              <a:ext cx="1015127" cy="828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Z-Score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8644008" y="1173700"/>
              <a:ext cx="226135" cy="26453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8"/>
            <p:cNvSpPr txBox="1"/>
            <p:nvPr/>
          </p:nvSpPr>
          <p:spPr>
            <a:xfrm>
              <a:off x="8644008" y="1226607"/>
              <a:ext cx="158295" cy="158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8964011" y="865964"/>
              <a:ext cx="1066675" cy="88000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8"/>
            <p:cNvSpPr txBox="1"/>
            <p:nvPr/>
          </p:nvSpPr>
          <p:spPr>
            <a:xfrm>
              <a:off x="8989785" y="891738"/>
              <a:ext cx="1015127" cy="828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P-value</a:t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10137354" y="1173700"/>
              <a:ext cx="226135" cy="26453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8"/>
            <p:cNvSpPr txBox="1"/>
            <p:nvPr/>
          </p:nvSpPr>
          <p:spPr>
            <a:xfrm>
              <a:off x="10137354" y="1226607"/>
              <a:ext cx="158295" cy="158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10457356" y="865964"/>
              <a:ext cx="1066675" cy="88000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8"/>
            <p:cNvSpPr txBox="1"/>
            <p:nvPr/>
          </p:nvSpPr>
          <p:spPr>
            <a:xfrm>
              <a:off x="10483130" y="891738"/>
              <a:ext cx="1015127" cy="828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Make a decision and conclusion</a:t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380" name="Google Shape;380;p18"/>
          <p:cNvSpPr txBox="1"/>
          <p:nvPr/>
        </p:nvSpPr>
        <p:spPr>
          <a:xfrm>
            <a:off x="996696" y="2886794"/>
            <a:ext cx="7114937" cy="1140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None/>
            </a:pPr>
            <a:r>
              <a:rPr b="1" i="0" lang="en-US" sz="2200" u="sng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Approximate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1" name="Google Shape;381;p18"/>
          <p:cNvSpPr txBox="1"/>
          <p:nvPr>
            <p:ph idx="1" type="body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pic>
        <p:nvPicPr>
          <p:cNvPr id="382" name="Google Shape;3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EXAMPLE 2 - APPROXIMATE</a:t>
            </a:r>
            <a:endParaRPr/>
          </a:p>
        </p:txBody>
      </p:sp>
      <p:sp>
        <p:nvSpPr>
          <p:cNvPr id="388" name="Google Shape;388;p19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9" name="Google Shape;389;p19"/>
          <p:cNvSpPr txBox="1"/>
          <p:nvPr/>
        </p:nvSpPr>
        <p:spPr>
          <a:xfrm>
            <a:off x="1022571" y="1900166"/>
            <a:ext cx="82364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study is made to determine whether the feature has a difference between two groups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0" name="Google Shape;390;p19"/>
          <p:cNvSpPr txBox="1"/>
          <p:nvPr/>
        </p:nvSpPr>
        <p:spPr>
          <a:xfrm>
            <a:off x="3927637" y="235686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Continued…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391" name="Google Shape;391;p19"/>
          <p:cNvGraphicFramePr/>
          <p:nvPr/>
        </p:nvGraphicFramePr>
        <p:xfrm>
          <a:off x="1022571" y="24345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  <a:gridCol w="1195950"/>
              </a:tblGrid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6F777D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2" name="Google Shape;392;p19"/>
          <p:cNvGraphicFramePr/>
          <p:nvPr/>
        </p:nvGraphicFramePr>
        <p:xfrm>
          <a:off x="4010550" y="28135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  <a:gridCol w="1195950"/>
              </a:tblGrid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6F777D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</a:tbl>
          </a:graphicData>
        </a:graphic>
      </p:graphicFrame>
      <p:pic>
        <p:nvPicPr>
          <p:cNvPr id="393" name="Google Shape;3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"/>
          <p:cNvSpPr txBox="1"/>
          <p:nvPr>
            <p:ph type="title"/>
          </p:nvPr>
        </p:nvSpPr>
        <p:spPr>
          <a:xfrm>
            <a:off x="1024128" y="585215"/>
            <a:ext cx="9720072" cy="1439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STATE THE NULL HYPOTHESIS</a:t>
            </a:r>
            <a:endParaRPr/>
          </a:p>
        </p:txBody>
      </p:sp>
      <p:sp>
        <p:nvSpPr>
          <p:cNvPr id="399" name="Google Shape;399;p20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0" name="Google Shape;400;p20"/>
          <p:cNvSpPr txBox="1"/>
          <p:nvPr/>
        </p:nvSpPr>
        <p:spPr>
          <a:xfrm>
            <a:off x="1022572" y="1945150"/>
            <a:ext cx="43574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Given the feature value of each group below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6981412" y="2218364"/>
            <a:ext cx="52105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Null hypothesis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The feature has no significance difference among two groups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2" name="Google Shape;402;p20"/>
          <p:cNvSpPr txBox="1"/>
          <p:nvPr/>
        </p:nvSpPr>
        <p:spPr>
          <a:xfrm>
            <a:off x="3927637" y="235686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Continued…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403" name="Google Shape;403;p20"/>
          <p:cNvGraphicFramePr/>
          <p:nvPr/>
        </p:nvGraphicFramePr>
        <p:xfrm>
          <a:off x="1022571" y="24345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  <a:gridCol w="1195950"/>
              </a:tblGrid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6F777D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4" name="Google Shape;404;p20"/>
          <p:cNvGraphicFramePr/>
          <p:nvPr/>
        </p:nvGraphicFramePr>
        <p:xfrm>
          <a:off x="4010550" y="28135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  <a:gridCol w="1195950"/>
              </a:tblGrid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6F777D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</a:tbl>
          </a:graphicData>
        </a:graphic>
      </p:graphicFrame>
      <p:pic>
        <p:nvPicPr>
          <p:cNvPr id="405" name="Google Shape;4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CALCULATE EACH PAIRED DIFFERENCE (D)</a:t>
            </a:r>
            <a:endParaRPr/>
          </a:p>
        </p:txBody>
      </p:sp>
      <p:sp>
        <p:nvSpPr>
          <p:cNvPr id="411" name="Google Shape;411;p21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12" name="Google Shape;412;p21"/>
          <p:cNvGraphicFramePr/>
          <p:nvPr/>
        </p:nvGraphicFramePr>
        <p:xfrm>
          <a:off x="9367173" y="6449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{107DDD9C-6598-4044-B474-705835C5FEAB}</a:tableStyleId>
              </a:tblPr>
              <a:tblGrid>
                <a:gridCol w="2177750"/>
              </a:tblGrid>
              <a:tr h="426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-6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-13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5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sp>
        <p:nvSpPr>
          <p:cNvPr id="413" name="Google Shape;413;p21"/>
          <p:cNvSpPr/>
          <p:nvPr/>
        </p:nvSpPr>
        <p:spPr>
          <a:xfrm>
            <a:off x="4947569" y="2504333"/>
            <a:ext cx="489855" cy="238700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14" name="Google Shape;414;p21"/>
          <p:cNvSpPr txBox="1"/>
          <p:nvPr/>
        </p:nvSpPr>
        <p:spPr>
          <a:xfrm>
            <a:off x="5621581" y="2374392"/>
            <a:ext cx="263945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4437" l="0" r="0" t="-238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1"/>
          <p:cNvSpPr txBox="1"/>
          <p:nvPr/>
        </p:nvSpPr>
        <p:spPr>
          <a:xfrm>
            <a:off x="5621581" y="2962617"/>
            <a:ext cx="2623123" cy="19389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62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8445190" y="3697837"/>
            <a:ext cx="731467" cy="46594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904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417" name="Google Shape;417;p21"/>
          <p:cNvGraphicFramePr/>
          <p:nvPr/>
        </p:nvGraphicFramePr>
        <p:xfrm>
          <a:off x="1712004" y="20848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  <a:gridCol w="1195950"/>
              </a:tblGrid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6F777D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</a:tbl>
          </a:graphicData>
        </a:graphic>
      </p:graphicFrame>
      <p:pic>
        <p:nvPicPr>
          <p:cNvPr id="418" name="Google Shape;41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2"/>
          <p:cNvSpPr txBox="1"/>
          <p:nvPr>
            <p:ph type="title"/>
          </p:nvPr>
        </p:nvSpPr>
        <p:spPr>
          <a:xfrm>
            <a:off x="1011428" y="-14628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DETERMINING ABSOLUTE DIFFERENCE |D|</a:t>
            </a:r>
            <a:endParaRPr/>
          </a:p>
        </p:txBody>
      </p:sp>
      <p:sp>
        <p:nvSpPr>
          <p:cNvPr id="424" name="Google Shape;424;p22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25" name="Google Shape;425;p22"/>
          <p:cNvGraphicFramePr/>
          <p:nvPr/>
        </p:nvGraphicFramePr>
        <p:xfrm>
          <a:off x="7593585" y="1066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{65670C6B-76BA-481E-BDC5-A459F3560BF6}</a:tableStyleId>
              </a:tblPr>
              <a:tblGrid>
                <a:gridCol w="2453350"/>
              </a:tblGrid>
              <a:tr h="33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|D|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2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sp>
        <p:nvSpPr>
          <p:cNvPr id="426" name="Google Shape;426;p22"/>
          <p:cNvSpPr/>
          <p:nvPr/>
        </p:nvSpPr>
        <p:spPr>
          <a:xfrm>
            <a:off x="6458816" y="3439398"/>
            <a:ext cx="788885" cy="45540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427" name="Google Shape;427;p22"/>
          <p:cNvGraphicFramePr/>
          <p:nvPr/>
        </p:nvGraphicFramePr>
        <p:xfrm>
          <a:off x="3935185" y="1066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{107DDD9C-6598-4044-B474-705835C5FEAB}</a:tableStyleId>
              </a:tblPr>
              <a:tblGrid>
                <a:gridCol w="2177750"/>
              </a:tblGrid>
              <a:tr h="33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-6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-13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7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graphicFrame>
        <p:nvGraphicFramePr>
          <p:cNvPr id="428" name="Google Shape;428;p22"/>
          <p:cNvGraphicFramePr/>
          <p:nvPr/>
        </p:nvGraphicFramePr>
        <p:xfrm>
          <a:off x="1011428" y="10479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  <a:gridCol w="1195950"/>
              </a:tblGrid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6F777D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</a:tbl>
          </a:graphicData>
        </a:graphic>
      </p:graphicFrame>
      <p:pic>
        <p:nvPicPr>
          <p:cNvPr id="429" name="Google Shape;4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3"/>
          <p:cNvSpPr txBox="1"/>
          <p:nvPr>
            <p:ph type="title"/>
          </p:nvPr>
        </p:nvSpPr>
        <p:spPr>
          <a:xfrm>
            <a:off x="926157" y="0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RANK THE DIFFERENCES</a:t>
            </a:r>
            <a:endParaRPr/>
          </a:p>
        </p:txBody>
      </p:sp>
      <p:sp>
        <p:nvSpPr>
          <p:cNvPr id="436" name="Google Shape;436;p23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37" name="Google Shape;437;p23"/>
          <p:cNvGraphicFramePr/>
          <p:nvPr/>
        </p:nvGraphicFramePr>
        <p:xfrm>
          <a:off x="8339227" y="10242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{0B045C37-5850-4329-BF7E-FDB4498F53B2}</a:tableStyleId>
              </a:tblPr>
              <a:tblGrid>
                <a:gridCol w="1490575"/>
                <a:gridCol w="895350"/>
              </a:tblGrid>
              <a:tr h="398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Initial RANK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RANK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graphicFrame>
        <p:nvGraphicFramePr>
          <p:cNvPr id="438" name="Google Shape;438;p23"/>
          <p:cNvGraphicFramePr/>
          <p:nvPr/>
        </p:nvGraphicFramePr>
        <p:xfrm>
          <a:off x="5885889" y="10428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{65670C6B-76BA-481E-BDC5-A459F3560BF6}</a:tableStyleId>
              </a:tblPr>
              <a:tblGrid>
                <a:gridCol w="2453350"/>
              </a:tblGrid>
              <a:tr h="27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|D|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graphicFrame>
        <p:nvGraphicFramePr>
          <p:cNvPr id="439" name="Google Shape;439;p23"/>
          <p:cNvGraphicFramePr/>
          <p:nvPr/>
        </p:nvGraphicFramePr>
        <p:xfrm>
          <a:off x="3708142" y="10428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{107DDD9C-6598-4044-B474-705835C5FEAB}</a:tableStyleId>
              </a:tblPr>
              <a:tblGrid>
                <a:gridCol w="2177750"/>
              </a:tblGrid>
              <a:tr h="377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-6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-13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7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graphicFrame>
        <p:nvGraphicFramePr>
          <p:cNvPr id="440" name="Google Shape;440;p23"/>
          <p:cNvGraphicFramePr/>
          <p:nvPr/>
        </p:nvGraphicFramePr>
        <p:xfrm>
          <a:off x="847237" y="10461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  <a:gridCol w="1195950"/>
              </a:tblGrid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6F777D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</a:tbl>
          </a:graphicData>
        </a:graphic>
      </p:graphicFrame>
      <p:sp>
        <p:nvSpPr>
          <p:cNvPr id="441" name="Google Shape;441;p23"/>
          <p:cNvSpPr/>
          <p:nvPr/>
        </p:nvSpPr>
        <p:spPr>
          <a:xfrm>
            <a:off x="6336083" y="6096000"/>
            <a:ext cx="1567543" cy="269966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6336083" y="3096862"/>
            <a:ext cx="1567543" cy="269966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43" name="Google Shape;443;p23"/>
          <p:cNvSpPr/>
          <p:nvPr/>
        </p:nvSpPr>
        <p:spPr>
          <a:xfrm>
            <a:off x="6331391" y="4694048"/>
            <a:ext cx="1567543" cy="738599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44" name="Google Shape;444;p23"/>
          <p:cNvSpPr/>
          <p:nvPr/>
        </p:nvSpPr>
        <p:spPr>
          <a:xfrm>
            <a:off x="6327565" y="1408645"/>
            <a:ext cx="1567543" cy="36099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45" name="Google Shape;4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4"/>
          <p:cNvSpPr txBox="1"/>
          <p:nvPr>
            <p:ph type="title"/>
          </p:nvPr>
        </p:nvSpPr>
        <p:spPr>
          <a:xfrm>
            <a:off x="926157" y="-176041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CALCULATE W1 AND W2</a:t>
            </a:r>
            <a:endParaRPr/>
          </a:p>
        </p:txBody>
      </p:sp>
      <p:sp>
        <p:nvSpPr>
          <p:cNvPr id="452" name="Google Shape;452;p24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" name="Google Shape;453;p24"/>
          <p:cNvSpPr txBox="1"/>
          <p:nvPr/>
        </p:nvSpPr>
        <p:spPr>
          <a:xfrm>
            <a:off x="9956801" y="1929529"/>
            <a:ext cx="1323739" cy="369332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</a:t>
            </a: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= 44.5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4"/>
          <p:cNvSpPr txBox="1"/>
          <p:nvPr/>
        </p:nvSpPr>
        <p:spPr>
          <a:xfrm>
            <a:off x="10127640" y="3555062"/>
            <a:ext cx="1103187" cy="369332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</a:t>
            </a: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= 91.5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4"/>
          <p:cNvSpPr txBox="1"/>
          <p:nvPr/>
        </p:nvSpPr>
        <p:spPr>
          <a:xfrm>
            <a:off x="9930373" y="1440712"/>
            <a:ext cx="137659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Sum of the </a:t>
            </a:r>
            <a:r>
              <a:rPr b="0" i="0" lang="en-US" sz="1400" u="none" cap="none" strike="noStrike">
                <a:solidFill>
                  <a:srgbClr val="0070C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positive </a:t>
            </a:r>
            <a:r>
              <a:rPr b="0" i="0" lang="en-US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signs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4"/>
          <p:cNvSpPr txBox="1"/>
          <p:nvPr/>
        </p:nvSpPr>
        <p:spPr>
          <a:xfrm>
            <a:off x="9957931" y="3073507"/>
            <a:ext cx="137659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Sum of the </a:t>
            </a:r>
            <a:r>
              <a:rPr b="0" i="0" lang="en-US" sz="1400" u="none" cap="none" strike="noStrike">
                <a:solidFill>
                  <a:srgbClr val="0070C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negative </a:t>
            </a:r>
            <a:r>
              <a:rPr b="0" i="0" lang="en-US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signs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7" name="Google Shape;457;p24"/>
          <p:cNvGraphicFramePr/>
          <p:nvPr/>
        </p:nvGraphicFramePr>
        <p:xfrm>
          <a:off x="8134969" y="8284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{0B045C37-5850-4329-BF7E-FDB4498F53B2}</a:tableStyleId>
              </a:tblPr>
              <a:tblGrid>
                <a:gridCol w="1110575"/>
              </a:tblGrid>
              <a:tr h="31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RANK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graphicFrame>
        <p:nvGraphicFramePr>
          <p:cNvPr id="458" name="Google Shape;458;p24"/>
          <p:cNvGraphicFramePr/>
          <p:nvPr/>
        </p:nvGraphicFramePr>
        <p:xfrm>
          <a:off x="5699649" y="8377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{65670C6B-76BA-481E-BDC5-A459F3560BF6}</a:tableStyleId>
              </a:tblPr>
              <a:tblGrid>
                <a:gridCol w="2453350"/>
              </a:tblGrid>
              <a:tr h="28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|D|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graphicFrame>
        <p:nvGraphicFramePr>
          <p:cNvPr id="459" name="Google Shape;459;p24"/>
          <p:cNvGraphicFramePr/>
          <p:nvPr/>
        </p:nvGraphicFramePr>
        <p:xfrm>
          <a:off x="3521902" y="8377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{107DDD9C-6598-4044-B474-705835C5FEAB}</a:tableStyleId>
              </a:tblPr>
              <a:tblGrid>
                <a:gridCol w="2177750"/>
              </a:tblGrid>
              <a:tr h="34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3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-6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-13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  <a:tr h="33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sz="1400" u="none" cap="none" strike="noStrike"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sp>
        <p:nvSpPr>
          <p:cNvPr id="460" name="Google Shape;460;p24"/>
          <p:cNvSpPr txBox="1"/>
          <p:nvPr/>
        </p:nvSpPr>
        <p:spPr>
          <a:xfrm>
            <a:off x="9862802" y="5326618"/>
            <a:ext cx="1783385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41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4"/>
          <p:cNvSpPr txBox="1"/>
          <p:nvPr/>
        </p:nvSpPr>
        <p:spPr>
          <a:xfrm>
            <a:off x="9550339" y="4476334"/>
            <a:ext cx="2408312" cy="73866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0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62" name="Google Shape;462;p24"/>
          <p:cNvGraphicFramePr/>
          <p:nvPr/>
        </p:nvGraphicFramePr>
        <p:xfrm>
          <a:off x="631093" y="8377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{BA808650-E979-4288-88AD-1D2FC34499D3}</a:tableStyleId>
              </a:tblPr>
              <a:tblGrid>
                <a:gridCol w="594250"/>
                <a:gridCol w="996900"/>
                <a:gridCol w="1195950"/>
              </a:tblGrid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F1-GB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6F777D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5D6D7"/>
                    </a:solidFill>
                  </a:tcPr>
                </a:tc>
              </a:tr>
              <a:tr h="2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BECEC"/>
                    </a:solidFill>
                  </a:tcPr>
                </a:tc>
              </a:tr>
            </a:tbl>
          </a:graphicData>
        </a:graphic>
      </p:graphicFrame>
      <p:pic>
        <p:nvPicPr>
          <p:cNvPr id="463" name="Google Shape;46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"/>
          <p:cNvSpPr txBox="1"/>
          <p:nvPr>
            <p:ph type="title"/>
          </p:nvPr>
        </p:nvSpPr>
        <p:spPr>
          <a:xfrm>
            <a:off x="876767" y="506597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CALCULATE Z-SCORE</a:t>
            </a:r>
            <a:endParaRPr/>
          </a:p>
        </p:txBody>
      </p:sp>
      <p:graphicFrame>
        <p:nvGraphicFramePr>
          <p:cNvPr id="469" name="Google Shape;469;p25"/>
          <p:cNvGraphicFramePr/>
          <p:nvPr/>
        </p:nvGraphicFramePr>
        <p:xfrm>
          <a:off x="5288916" y="18708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{62214D81-E12E-4EC8-918F-564D65296747}</a:tableStyleId>
              </a:tblPr>
              <a:tblGrid>
                <a:gridCol w="1040925"/>
                <a:gridCol w="3437100"/>
                <a:gridCol w="1749075"/>
              </a:tblGrid>
              <a:tr h="654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Notation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Meaning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Value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Wstat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min ( w</a:t>
                      </a:r>
                      <a:r>
                        <a:rPr baseline="30000" lang="en-US" sz="1600" u="none" cap="none" strike="noStrike"/>
                        <a:t>+</a:t>
                      </a:r>
                      <a:r>
                        <a:rPr lang="en-US" sz="1600" u="none" cap="none" strike="noStrike"/>
                        <a:t>, w</a:t>
                      </a:r>
                      <a:r>
                        <a:rPr baseline="30000" lang="en-US" sz="1600" u="none" cap="none" strike="noStrike"/>
                        <a:t>-</a:t>
                      </a:r>
                      <a:r>
                        <a:rPr lang="en-US" sz="1600" u="none" cap="none" strike="noStrike"/>
                        <a:t>)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44.5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n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wentieth Century"/>
                        <a:buNone/>
                      </a:pPr>
                      <a:r>
                        <a:rPr lang="en-US" sz="1600" u="none" cap="none" strike="noStrike"/>
                        <a:t>Sample size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wentieth Century"/>
                        <a:buNone/>
                      </a:pPr>
                      <a:r>
                        <a:rPr lang="en-US" sz="16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wentieth Century"/>
                        <a:buNone/>
                      </a:pPr>
                      <a:r>
                        <a:rPr lang="en-US" sz="1600" u="none" cap="none" strike="noStrike"/>
                        <a:t>Cties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0" name="Google Shape;470;p25"/>
          <p:cNvSpPr/>
          <p:nvPr/>
        </p:nvSpPr>
        <p:spPr>
          <a:xfrm>
            <a:off x="1103104" y="2006213"/>
            <a:ext cx="3577538" cy="111017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723" r="0" t="-164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5"/>
          <p:cNvSpPr/>
          <p:nvPr/>
        </p:nvSpPr>
        <p:spPr>
          <a:xfrm>
            <a:off x="1103103" y="2923810"/>
            <a:ext cx="4095277" cy="117038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237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1103104" y="3841407"/>
            <a:ext cx="3877110" cy="117038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251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1103104" y="4853886"/>
            <a:ext cx="3061490" cy="98924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318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1103104" y="5770361"/>
            <a:ext cx="3061490" cy="83099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-3185" r="0" t="-588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5" name="Google Shape;475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26"/>
          <p:cNvPicPr preferRelativeResize="0"/>
          <p:nvPr/>
        </p:nvPicPr>
        <p:blipFill rotWithShape="1">
          <a:blip r:embed="rId3">
            <a:alphaModFix/>
          </a:blip>
          <a:srcRect b="90378" l="0" r="0" t="0"/>
          <a:stretch/>
        </p:blipFill>
        <p:spPr>
          <a:xfrm>
            <a:off x="4618556" y="1901360"/>
            <a:ext cx="7446737" cy="602426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GET P-VALUE</a:t>
            </a:r>
            <a:endParaRPr/>
          </a:p>
        </p:txBody>
      </p:sp>
      <p:sp>
        <p:nvSpPr>
          <p:cNvPr id="482" name="Google Shape;482;p26"/>
          <p:cNvSpPr/>
          <p:nvPr/>
        </p:nvSpPr>
        <p:spPr>
          <a:xfrm>
            <a:off x="747563" y="3984484"/>
            <a:ext cx="8259978" cy="2400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Z-Score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= -1.18266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We got an area of 0.1251</a:t>
            </a:r>
            <a:endParaRPr b="0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Z-table here is the left of the mean, because this is a two-sided test, so we had to double the actual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p-value  = 2x 0.1251 = 0.2502</a:t>
            </a:r>
            <a:endParaRPr b="0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483" name="Google Shape;483;p26"/>
          <p:cNvCxnSpPr/>
          <p:nvPr/>
        </p:nvCxnSpPr>
        <p:spPr>
          <a:xfrm>
            <a:off x="893286" y="3013616"/>
            <a:ext cx="337135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4" name="Google Shape;484;p26"/>
          <p:cNvCxnSpPr/>
          <p:nvPr/>
        </p:nvCxnSpPr>
        <p:spPr>
          <a:xfrm rot="10800000">
            <a:off x="2602817" y="1694154"/>
            <a:ext cx="23606" cy="133089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85" name="Google Shape;485;p26"/>
          <p:cNvSpPr/>
          <p:nvPr/>
        </p:nvSpPr>
        <p:spPr>
          <a:xfrm>
            <a:off x="885335" y="1694154"/>
            <a:ext cx="3371353" cy="1216550"/>
          </a:xfrm>
          <a:custGeom>
            <a:rect b="b" l="l" r="r" t="t"/>
            <a:pathLst>
              <a:path extrusionOk="0" h="1216550" w="3371353">
                <a:moveTo>
                  <a:pt x="0" y="1160891"/>
                </a:moveTo>
                <a:cubicBezTo>
                  <a:pt x="101379" y="1194021"/>
                  <a:pt x="202759" y="1227152"/>
                  <a:pt x="492981" y="1033670"/>
                </a:cubicBezTo>
                <a:cubicBezTo>
                  <a:pt x="783204" y="840188"/>
                  <a:pt x="1355697" y="0"/>
                  <a:pt x="1741335" y="0"/>
                </a:cubicBezTo>
                <a:cubicBezTo>
                  <a:pt x="2126973" y="0"/>
                  <a:pt x="2535140" y="830912"/>
                  <a:pt x="2806810" y="1033670"/>
                </a:cubicBezTo>
                <a:cubicBezTo>
                  <a:pt x="3078480" y="1236428"/>
                  <a:pt x="3233530" y="1187395"/>
                  <a:pt x="3371353" y="1216550"/>
                </a:cubicBezTo>
              </a:path>
            </a:pathLst>
          </a:custGeom>
          <a:noFill/>
          <a:ln cap="flat" cmpd="sng" w="15875">
            <a:solidFill>
              <a:srgbClr val="904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86" name="Google Shape;486;p26"/>
          <p:cNvSpPr txBox="1"/>
          <p:nvPr/>
        </p:nvSpPr>
        <p:spPr>
          <a:xfrm>
            <a:off x="2494816" y="3066228"/>
            <a:ext cx="26000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877385" y="2813591"/>
            <a:ext cx="381416" cy="203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3875272" y="2910703"/>
            <a:ext cx="327897" cy="12048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89" name="Google Shape;489;p26"/>
          <p:cNvSpPr txBox="1"/>
          <p:nvPr/>
        </p:nvSpPr>
        <p:spPr>
          <a:xfrm>
            <a:off x="3181071" y="3051903"/>
            <a:ext cx="728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1.18266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0" name="Google Shape;490;p26"/>
          <p:cNvCxnSpPr/>
          <p:nvPr/>
        </p:nvCxnSpPr>
        <p:spPr>
          <a:xfrm>
            <a:off x="3402560" y="2973362"/>
            <a:ext cx="0" cy="10336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1" name="Google Shape;491;p26"/>
          <p:cNvSpPr txBox="1"/>
          <p:nvPr/>
        </p:nvSpPr>
        <p:spPr>
          <a:xfrm>
            <a:off x="3098182" y="3599191"/>
            <a:ext cx="840166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2" name="Google Shape;492;p26"/>
          <p:cNvCxnSpPr/>
          <p:nvPr/>
        </p:nvCxnSpPr>
        <p:spPr>
          <a:xfrm flipH="1" rot="10800000">
            <a:off x="3494605" y="3275114"/>
            <a:ext cx="1" cy="37007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3" name="Google Shape;493;p26"/>
          <p:cNvSpPr txBox="1"/>
          <p:nvPr/>
        </p:nvSpPr>
        <p:spPr>
          <a:xfrm>
            <a:off x="1692289" y="3051904"/>
            <a:ext cx="77938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-1.18266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p26"/>
          <p:cNvCxnSpPr/>
          <p:nvPr/>
        </p:nvCxnSpPr>
        <p:spPr>
          <a:xfrm>
            <a:off x="1249787" y="2992592"/>
            <a:ext cx="0" cy="10336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p26"/>
          <p:cNvSpPr txBox="1"/>
          <p:nvPr/>
        </p:nvSpPr>
        <p:spPr>
          <a:xfrm>
            <a:off x="1691015" y="3604046"/>
            <a:ext cx="84016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26"/>
          <p:cNvCxnSpPr/>
          <p:nvPr/>
        </p:nvCxnSpPr>
        <p:spPr>
          <a:xfrm flipH="1" rot="10800000">
            <a:off x="2033928" y="3278400"/>
            <a:ext cx="1" cy="37007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7" name="Google Shape;497;p26"/>
          <p:cNvSpPr/>
          <p:nvPr/>
        </p:nvSpPr>
        <p:spPr>
          <a:xfrm>
            <a:off x="1240774" y="2802581"/>
            <a:ext cx="381416" cy="203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1614240" y="2465647"/>
            <a:ext cx="384123" cy="54055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9" name="Google Shape;499;p26"/>
          <p:cNvSpPr/>
          <p:nvPr/>
        </p:nvSpPr>
        <p:spPr>
          <a:xfrm>
            <a:off x="1735595" y="2394735"/>
            <a:ext cx="262768" cy="2217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0" name="Google Shape;500;p26"/>
          <p:cNvSpPr/>
          <p:nvPr/>
        </p:nvSpPr>
        <p:spPr>
          <a:xfrm>
            <a:off x="1527822" y="2595279"/>
            <a:ext cx="262768" cy="2217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1447718" y="2695426"/>
            <a:ext cx="262768" cy="2217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1349924" y="2761400"/>
            <a:ext cx="262768" cy="2217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1822013" y="2303067"/>
            <a:ext cx="176350" cy="1625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1902544" y="2205732"/>
            <a:ext cx="95819" cy="1972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05" name="Google Shape;505;p26"/>
          <p:cNvCxnSpPr/>
          <p:nvPr/>
        </p:nvCxnSpPr>
        <p:spPr>
          <a:xfrm>
            <a:off x="1971098" y="2946143"/>
            <a:ext cx="0" cy="10336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6" name="Google Shape;506;p26"/>
          <p:cNvSpPr/>
          <p:nvPr/>
        </p:nvSpPr>
        <p:spPr>
          <a:xfrm>
            <a:off x="3383976" y="2817891"/>
            <a:ext cx="612463" cy="1992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7" name="Google Shape;507;p26"/>
          <p:cNvSpPr/>
          <p:nvPr/>
        </p:nvSpPr>
        <p:spPr>
          <a:xfrm>
            <a:off x="3390218" y="2638085"/>
            <a:ext cx="204940" cy="2400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8" name="Google Shape;508;p26"/>
          <p:cNvSpPr/>
          <p:nvPr/>
        </p:nvSpPr>
        <p:spPr>
          <a:xfrm>
            <a:off x="3384707" y="2515311"/>
            <a:ext cx="114254" cy="1227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9" name="Google Shape;509;p26"/>
          <p:cNvSpPr/>
          <p:nvPr/>
        </p:nvSpPr>
        <p:spPr>
          <a:xfrm>
            <a:off x="3524512" y="2746978"/>
            <a:ext cx="236447" cy="23455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10" name="Google Shape;510;p26"/>
          <p:cNvPicPr preferRelativeResize="0"/>
          <p:nvPr/>
        </p:nvPicPr>
        <p:blipFill rotWithShape="1">
          <a:blip r:embed="rId3">
            <a:alphaModFix/>
          </a:blip>
          <a:srcRect b="28591" l="0" r="0" t="55294"/>
          <a:stretch/>
        </p:blipFill>
        <p:spPr>
          <a:xfrm>
            <a:off x="4626508" y="2639936"/>
            <a:ext cx="7446737" cy="1008972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6"/>
          <p:cNvSpPr/>
          <p:nvPr/>
        </p:nvSpPr>
        <p:spPr>
          <a:xfrm>
            <a:off x="4678648" y="3309733"/>
            <a:ext cx="644691" cy="20617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2" name="Google Shape;512;p26"/>
          <p:cNvSpPr/>
          <p:nvPr/>
        </p:nvSpPr>
        <p:spPr>
          <a:xfrm>
            <a:off x="8686465" y="1921117"/>
            <a:ext cx="644691" cy="281456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13" name="Google Shape;513;p26"/>
          <p:cNvCxnSpPr>
            <a:stCxn id="511" idx="3"/>
            <a:endCxn id="514" idx="1"/>
          </p:cNvCxnSpPr>
          <p:nvPr/>
        </p:nvCxnSpPr>
        <p:spPr>
          <a:xfrm flipH="1" rot="10800000">
            <a:off x="5323339" y="3384919"/>
            <a:ext cx="3361800" cy="27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50800" rotWithShape="0" algn="ctr" dir="5400000" dist="12700">
              <a:srgbClr val="000000">
                <a:alpha val="49411"/>
              </a:srgbClr>
            </a:outerShdw>
          </a:effectLst>
        </p:spPr>
      </p:cxnSp>
      <p:sp>
        <p:nvSpPr>
          <p:cNvPr id="514" name="Google Shape;514;p26"/>
          <p:cNvSpPr/>
          <p:nvPr/>
        </p:nvSpPr>
        <p:spPr>
          <a:xfrm>
            <a:off x="8685196" y="3272091"/>
            <a:ext cx="644691" cy="22574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15" name="Google Shape;515;p26"/>
          <p:cNvCxnSpPr>
            <a:stCxn id="512" idx="2"/>
            <a:endCxn id="514" idx="0"/>
          </p:cNvCxnSpPr>
          <p:nvPr/>
        </p:nvCxnSpPr>
        <p:spPr>
          <a:xfrm flipH="1">
            <a:off x="9007611" y="2202573"/>
            <a:ext cx="1200" cy="1069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50800" rotWithShape="0" algn="ctr" dir="5400000" dist="12700">
              <a:srgbClr val="000000">
                <a:alpha val="49411"/>
              </a:srgbClr>
            </a:outerShdw>
          </a:effectLst>
        </p:spPr>
      </p:cxnSp>
      <p:pic>
        <p:nvPicPr>
          <p:cNvPr id="516" name="Google Shape;51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MAKE THE DECISION AND CONCLUSION</a:t>
            </a:r>
            <a:endParaRPr/>
          </a:p>
        </p:txBody>
      </p:sp>
      <p:sp>
        <p:nvSpPr>
          <p:cNvPr id="522" name="Google Shape;522;p27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3" name="Google Shape;523;p27"/>
          <p:cNvSpPr txBox="1"/>
          <p:nvPr/>
        </p:nvSpPr>
        <p:spPr>
          <a:xfrm>
            <a:off x="1248544" y="3635192"/>
            <a:ext cx="7611991" cy="20313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719" r="0" t="-149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7"/>
          <p:cNvSpPr/>
          <p:nvPr/>
        </p:nvSpPr>
        <p:spPr>
          <a:xfrm>
            <a:off x="1248544" y="2549097"/>
            <a:ext cx="203235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7" l="-2100" r="-2098" t="-819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1248544" y="2997298"/>
            <a:ext cx="12426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</a:t>
            </a: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0.05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7"/>
          <p:cNvSpPr/>
          <p:nvPr/>
        </p:nvSpPr>
        <p:spPr>
          <a:xfrm>
            <a:off x="1248545" y="2084832"/>
            <a:ext cx="1135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7"/>
          <p:cNvSpPr/>
          <p:nvPr/>
        </p:nvSpPr>
        <p:spPr>
          <a:xfrm>
            <a:off x="3433048" y="2722726"/>
            <a:ext cx="1198790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62" l="0" r="-3551" t="-99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7"/>
          <p:cNvSpPr/>
          <p:nvPr/>
        </p:nvSpPr>
        <p:spPr>
          <a:xfrm>
            <a:off x="3198657" y="2549097"/>
            <a:ext cx="275318" cy="585347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29" name="Google Shape;52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7"/>
          <p:cNvSpPr txBox="1"/>
          <p:nvPr/>
        </p:nvSpPr>
        <p:spPr>
          <a:xfrm>
            <a:off x="3749900" y="4240175"/>
            <a:ext cx="3372300" cy="27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99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Reject </a:t>
            </a: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Alternative hypothesis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8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WILCOXON TEST</a:t>
            </a:r>
            <a:endParaRPr/>
          </a:p>
        </p:txBody>
      </p:sp>
      <p:sp>
        <p:nvSpPr>
          <p:cNvPr id="536" name="Google Shape;536;p28"/>
          <p:cNvSpPr txBox="1"/>
          <p:nvPr>
            <p:ph idx="1" type="body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537" name="Google Shape;537;p28"/>
          <p:cNvSpPr txBox="1"/>
          <p:nvPr>
            <p:ph idx="12" type="sldNum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38" name="Google Shape;538;p28"/>
          <p:cNvGrpSpPr/>
          <p:nvPr/>
        </p:nvGrpSpPr>
        <p:grpSpPr>
          <a:xfrm>
            <a:off x="412111" y="2455753"/>
            <a:ext cx="11394990" cy="1040151"/>
            <a:chOff x="3897" y="518311"/>
            <a:chExt cx="11394990" cy="1040151"/>
          </a:xfrm>
        </p:grpSpPr>
        <p:sp>
          <p:nvSpPr>
            <p:cNvPr id="539" name="Google Shape;539;p28"/>
            <p:cNvSpPr/>
            <p:nvPr/>
          </p:nvSpPr>
          <p:spPr>
            <a:xfrm>
              <a:off x="3897" y="518311"/>
              <a:ext cx="1055091" cy="1040151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28"/>
            <p:cNvSpPr txBox="1"/>
            <p:nvPr/>
          </p:nvSpPr>
          <p:spPr>
            <a:xfrm>
              <a:off x="34362" y="548776"/>
              <a:ext cx="994161" cy="9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State the null hypothesis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28"/>
            <p:cNvSpPr/>
            <p:nvPr/>
          </p:nvSpPr>
          <p:spPr>
            <a:xfrm>
              <a:off x="1164498" y="907555"/>
              <a:ext cx="223679" cy="26166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28"/>
            <p:cNvSpPr txBox="1"/>
            <p:nvPr/>
          </p:nvSpPr>
          <p:spPr>
            <a:xfrm>
              <a:off x="1164498" y="959887"/>
              <a:ext cx="156575" cy="15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43" name="Google Shape;543;p28"/>
            <p:cNvSpPr/>
            <p:nvPr/>
          </p:nvSpPr>
          <p:spPr>
            <a:xfrm>
              <a:off x="1481025" y="518311"/>
              <a:ext cx="1055091" cy="1040151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8"/>
            <p:cNvSpPr txBox="1"/>
            <p:nvPr/>
          </p:nvSpPr>
          <p:spPr>
            <a:xfrm>
              <a:off x="1511490" y="548776"/>
              <a:ext cx="994161" cy="9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each paired difference (D)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28"/>
            <p:cNvSpPr/>
            <p:nvPr/>
          </p:nvSpPr>
          <p:spPr>
            <a:xfrm>
              <a:off x="2641626" y="907555"/>
              <a:ext cx="223679" cy="26166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8"/>
            <p:cNvSpPr txBox="1"/>
            <p:nvPr/>
          </p:nvSpPr>
          <p:spPr>
            <a:xfrm>
              <a:off x="2641626" y="959887"/>
              <a:ext cx="156575" cy="15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47" name="Google Shape;547;p28"/>
            <p:cNvSpPr/>
            <p:nvPr/>
          </p:nvSpPr>
          <p:spPr>
            <a:xfrm>
              <a:off x="2958154" y="518311"/>
              <a:ext cx="1055091" cy="1040151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8"/>
            <p:cNvSpPr txBox="1"/>
            <p:nvPr/>
          </p:nvSpPr>
          <p:spPr>
            <a:xfrm>
              <a:off x="2988619" y="548776"/>
              <a:ext cx="994161" cy="9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determining absolute difference |D|</a:t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49" name="Google Shape;549;p28"/>
            <p:cNvSpPr/>
            <p:nvPr/>
          </p:nvSpPr>
          <p:spPr>
            <a:xfrm>
              <a:off x="4118755" y="907555"/>
              <a:ext cx="223679" cy="26166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8"/>
            <p:cNvSpPr txBox="1"/>
            <p:nvPr/>
          </p:nvSpPr>
          <p:spPr>
            <a:xfrm>
              <a:off x="4118755" y="959887"/>
              <a:ext cx="156575" cy="15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51" name="Google Shape;551;p28"/>
            <p:cNvSpPr/>
            <p:nvPr/>
          </p:nvSpPr>
          <p:spPr>
            <a:xfrm>
              <a:off x="4435282" y="518311"/>
              <a:ext cx="1055091" cy="1040151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8"/>
            <p:cNvSpPr txBox="1"/>
            <p:nvPr/>
          </p:nvSpPr>
          <p:spPr>
            <a:xfrm>
              <a:off x="4465747" y="548776"/>
              <a:ext cx="994161" cy="9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Rank the differences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8"/>
            <p:cNvSpPr/>
            <p:nvPr/>
          </p:nvSpPr>
          <p:spPr>
            <a:xfrm>
              <a:off x="5595883" y="907555"/>
              <a:ext cx="223679" cy="26166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28"/>
            <p:cNvSpPr txBox="1"/>
            <p:nvPr/>
          </p:nvSpPr>
          <p:spPr>
            <a:xfrm>
              <a:off x="5595883" y="959887"/>
              <a:ext cx="156575" cy="15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55" name="Google Shape;555;p28"/>
            <p:cNvSpPr/>
            <p:nvPr/>
          </p:nvSpPr>
          <p:spPr>
            <a:xfrm>
              <a:off x="5912411" y="518311"/>
              <a:ext cx="1055091" cy="1040151"/>
            </a:xfrm>
            <a:prstGeom prst="roundRect">
              <a:avLst>
                <a:gd fmla="val 10000" name="adj"/>
              </a:avLst>
            </a:prstGeom>
            <a:solidFill>
              <a:srgbClr val="E8C2B8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28"/>
            <p:cNvSpPr txBox="1"/>
            <p:nvPr/>
          </p:nvSpPr>
          <p:spPr>
            <a:xfrm>
              <a:off x="5942876" y="548776"/>
              <a:ext cx="994161" cy="9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w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+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 and w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-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 to determine w</a:t>
              </a:r>
              <a:r>
                <a:rPr b="0" baseline="-2500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1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 and w</a:t>
              </a:r>
              <a:r>
                <a:rPr b="0" baseline="-2500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2</a:t>
              </a:r>
              <a:endParaRPr b="0" baseline="-2500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57" name="Google Shape;557;p28"/>
            <p:cNvSpPr/>
            <p:nvPr/>
          </p:nvSpPr>
          <p:spPr>
            <a:xfrm>
              <a:off x="7073012" y="907555"/>
              <a:ext cx="223679" cy="26166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28"/>
            <p:cNvSpPr txBox="1"/>
            <p:nvPr/>
          </p:nvSpPr>
          <p:spPr>
            <a:xfrm>
              <a:off x="7073012" y="959887"/>
              <a:ext cx="156575" cy="15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59" name="Google Shape;559;p28"/>
            <p:cNvSpPr/>
            <p:nvPr/>
          </p:nvSpPr>
          <p:spPr>
            <a:xfrm>
              <a:off x="7389539" y="518311"/>
              <a:ext cx="1055091" cy="1040151"/>
            </a:xfrm>
            <a:prstGeom prst="roundRect">
              <a:avLst>
                <a:gd fmla="val 10000" name="adj"/>
              </a:avLst>
            </a:prstGeom>
            <a:solidFill>
              <a:srgbClr val="E8C2B8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28"/>
            <p:cNvSpPr txBox="1"/>
            <p:nvPr/>
          </p:nvSpPr>
          <p:spPr>
            <a:xfrm>
              <a:off x="7420004" y="548776"/>
              <a:ext cx="994161" cy="9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Determine the probability distribution of w</a:t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61" name="Google Shape;561;p28"/>
            <p:cNvSpPr/>
            <p:nvPr/>
          </p:nvSpPr>
          <p:spPr>
            <a:xfrm>
              <a:off x="8550140" y="907555"/>
              <a:ext cx="223679" cy="26166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8"/>
            <p:cNvSpPr txBox="1"/>
            <p:nvPr/>
          </p:nvSpPr>
          <p:spPr>
            <a:xfrm>
              <a:off x="8550140" y="959887"/>
              <a:ext cx="156575" cy="15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63" name="Google Shape;563;p28"/>
            <p:cNvSpPr/>
            <p:nvPr/>
          </p:nvSpPr>
          <p:spPr>
            <a:xfrm>
              <a:off x="8866668" y="518311"/>
              <a:ext cx="1055091" cy="1040151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28"/>
            <p:cNvSpPr txBox="1"/>
            <p:nvPr/>
          </p:nvSpPr>
          <p:spPr>
            <a:xfrm>
              <a:off x="8897133" y="548776"/>
              <a:ext cx="994161" cy="9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P-value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28"/>
            <p:cNvSpPr/>
            <p:nvPr/>
          </p:nvSpPr>
          <p:spPr>
            <a:xfrm>
              <a:off x="10027269" y="907555"/>
              <a:ext cx="223679" cy="26166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28"/>
            <p:cNvSpPr txBox="1"/>
            <p:nvPr/>
          </p:nvSpPr>
          <p:spPr>
            <a:xfrm>
              <a:off x="10027269" y="959887"/>
              <a:ext cx="156575" cy="15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67" name="Google Shape;567;p28"/>
            <p:cNvSpPr/>
            <p:nvPr/>
          </p:nvSpPr>
          <p:spPr>
            <a:xfrm>
              <a:off x="10343796" y="518311"/>
              <a:ext cx="1055091" cy="1040151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8"/>
            <p:cNvSpPr txBox="1"/>
            <p:nvPr/>
          </p:nvSpPr>
          <p:spPr>
            <a:xfrm>
              <a:off x="10374261" y="548776"/>
              <a:ext cx="994161" cy="9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Make a decision and conclusion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9" name="Google Shape;569;p28"/>
          <p:cNvSpPr txBox="1"/>
          <p:nvPr/>
        </p:nvSpPr>
        <p:spPr>
          <a:xfrm>
            <a:off x="1024128" y="1801910"/>
            <a:ext cx="7114937" cy="1140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None/>
            </a:pPr>
            <a:r>
              <a:rPr b="1" i="0" lang="en-US" sz="2200" u="sng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Exact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pSp>
        <p:nvGrpSpPr>
          <p:cNvPr id="570" name="Google Shape;570;p28"/>
          <p:cNvGrpSpPr/>
          <p:nvPr/>
        </p:nvGrpSpPr>
        <p:grpSpPr>
          <a:xfrm>
            <a:off x="412154" y="4563388"/>
            <a:ext cx="11520091" cy="880006"/>
            <a:chOff x="3940" y="865964"/>
            <a:chExt cx="11520091" cy="880006"/>
          </a:xfrm>
        </p:grpSpPr>
        <p:sp>
          <p:nvSpPr>
            <p:cNvPr id="571" name="Google Shape;571;p28"/>
            <p:cNvSpPr/>
            <p:nvPr/>
          </p:nvSpPr>
          <p:spPr>
            <a:xfrm>
              <a:off x="3940" y="865964"/>
              <a:ext cx="1066675" cy="88000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28"/>
            <p:cNvSpPr txBox="1"/>
            <p:nvPr/>
          </p:nvSpPr>
          <p:spPr>
            <a:xfrm>
              <a:off x="29714" y="891738"/>
              <a:ext cx="1015127" cy="828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State the null hypothesis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28"/>
            <p:cNvSpPr/>
            <p:nvPr/>
          </p:nvSpPr>
          <p:spPr>
            <a:xfrm>
              <a:off x="1177282" y="1173700"/>
              <a:ext cx="226135" cy="26453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8"/>
            <p:cNvSpPr txBox="1"/>
            <p:nvPr/>
          </p:nvSpPr>
          <p:spPr>
            <a:xfrm>
              <a:off x="1177282" y="1226607"/>
              <a:ext cx="158295" cy="158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75" name="Google Shape;575;p28"/>
            <p:cNvSpPr/>
            <p:nvPr/>
          </p:nvSpPr>
          <p:spPr>
            <a:xfrm>
              <a:off x="1497285" y="865964"/>
              <a:ext cx="1066675" cy="88000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8"/>
            <p:cNvSpPr txBox="1"/>
            <p:nvPr/>
          </p:nvSpPr>
          <p:spPr>
            <a:xfrm>
              <a:off x="1523059" y="891738"/>
              <a:ext cx="1015127" cy="828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each paired difference (D)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8"/>
            <p:cNvSpPr/>
            <p:nvPr/>
          </p:nvSpPr>
          <p:spPr>
            <a:xfrm>
              <a:off x="2670628" y="1173700"/>
              <a:ext cx="226135" cy="26453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8"/>
            <p:cNvSpPr txBox="1"/>
            <p:nvPr/>
          </p:nvSpPr>
          <p:spPr>
            <a:xfrm>
              <a:off x="2670628" y="1226607"/>
              <a:ext cx="158295" cy="158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79" name="Google Shape;579;p28"/>
            <p:cNvSpPr/>
            <p:nvPr/>
          </p:nvSpPr>
          <p:spPr>
            <a:xfrm>
              <a:off x="2990630" y="865964"/>
              <a:ext cx="1066675" cy="88000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28"/>
            <p:cNvSpPr txBox="1"/>
            <p:nvPr/>
          </p:nvSpPr>
          <p:spPr>
            <a:xfrm>
              <a:off x="3016404" y="891738"/>
              <a:ext cx="1015127" cy="828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determining absolute difference |D|</a:t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81" name="Google Shape;581;p28"/>
            <p:cNvSpPr/>
            <p:nvPr/>
          </p:nvSpPr>
          <p:spPr>
            <a:xfrm>
              <a:off x="4163973" y="1173700"/>
              <a:ext cx="226135" cy="26453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8"/>
            <p:cNvSpPr txBox="1"/>
            <p:nvPr/>
          </p:nvSpPr>
          <p:spPr>
            <a:xfrm>
              <a:off x="4163973" y="1226607"/>
              <a:ext cx="158295" cy="158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83" name="Google Shape;583;p28"/>
            <p:cNvSpPr/>
            <p:nvPr/>
          </p:nvSpPr>
          <p:spPr>
            <a:xfrm>
              <a:off x="4483975" y="865964"/>
              <a:ext cx="1066675" cy="88000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8"/>
            <p:cNvSpPr txBox="1"/>
            <p:nvPr/>
          </p:nvSpPr>
          <p:spPr>
            <a:xfrm>
              <a:off x="4509749" y="891738"/>
              <a:ext cx="1015127" cy="828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Rank the differences</a:t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85" name="Google Shape;585;p28"/>
            <p:cNvSpPr/>
            <p:nvPr/>
          </p:nvSpPr>
          <p:spPr>
            <a:xfrm>
              <a:off x="5657318" y="1173700"/>
              <a:ext cx="226135" cy="26453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28"/>
            <p:cNvSpPr txBox="1"/>
            <p:nvPr/>
          </p:nvSpPr>
          <p:spPr>
            <a:xfrm>
              <a:off x="5657318" y="1226607"/>
              <a:ext cx="158295" cy="158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87" name="Google Shape;587;p28"/>
            <p:cNvSpPr/>
            <p:nvPr/>
          </p:nvSpPr>
          <p:spPr>
            <a:xfrm>
              <a:off x="5977321" y="865964"/>
              <a:ext cx="1066675" cy="880006"/>
            </a:xfrm>
            <a:prstGeom prst="roundRect">
              <a:avLst>
                <a:gd fmla="val 10000" name="adj"/>
              </a:avLst>
            </a:prstGeom>
            <a:solidFill>
              <a:srgbClr val="E8C2B8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8"/>
            <p:cNvSpPr txBox="1"/>
            <p:nvPr/>
          </p:nvSpPr>
          <p:spPr>
            <a:xfrm>
              <a:off x="6003095" y="891738"/>
              <a:ext cx="1015127" cy="828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w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+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 and w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-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 to determine w</a:t>
              </a:r>
              <a:r>
                <a:rPr b="0" baseline="-2500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stat</a:t>
              </a:r>
              <a:endParaRPr b="0" baseline="-2500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89" name="Google Shape;589;p28"/>
            <p:cNvSpPr/>
            <p:nvPr/>
          </p:nvSpPr>
          <p:spPr>
            <a:xfrm>
              <a:off x="7150663" y="1173700"/>
              <a:ext cx="226135" cy="26453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28"/>
            <p:cNvSpPr txBox="1"/>
            <p:nvPr/>
          </p:nvSpPr>
          <p:spPr>
            <a:xfrm>
              <a:off x="7150663" y="1226607"/>
              <a:ext cx="158295" cy="158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91" name="Google Shape;591;p28"/>
            <p:cNvSpPr/>
            <p:nvPr/>
          </p:nvSpPr>
          <p:spPr>
            <a:xfrm>
              <a:off x="7470666" y="865964"/>
              <a:ext cx="1066675" cy="880006"/>
            </a:xfrm>
            <a:prstGeom prst="roundRect">
              <a:avLst>
                <a:gd fmla="val 10000" name="adj"/>
              </a:avLst>
            </a:prstGeom>
            <a:solidFill>
              <a:srgbClr val="E8C2B8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28"/>
            <p:cNvSpPr txBox="1"/>
            <p:nvPr/>
          </p:nvSpPr>
          <p:spPr>
            <a:xfrm>
              <a:off x="7496440" y="891738"/>
              <a:ext cx="1015127" cy="828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Z-Score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28"/>
            <p:cNvSpPr/>
            <p:nvPr/>
          </p:nvSpPr>
          <p:spPr>
            <a:xfrm>
              <a:off x="8644008" y="1173700"/>
              <a:ext cx="226135" cy="26453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28"/>
            <p:cNvSpPr txBox="1"/>
            <p:nvPr/>
          </p:nvSpPr>
          <p:spPr>
            <a:xfrm>
              <a:off x="8644008" y="1226607"/>
              <a:ext cx="158295" cy="158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95" name="Google Shape;595;p28"/>
            <p:cNvSpPr/>
            <p:nvPr/>
          </p:nvSpPr>
          <p:spPr>
            <a:xfrm>
              <a:off x="8964011" y="865964"/>
              <a:ext cx="1066675" cy="88000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28"/>
            <p:cNvSpPr txBox="1"/>
            <p:nvPr/>
          </p:nvSpPr>
          <p:spPr>
            <a:xfrm>
              <a:off x="8989785" y="891738"/>
              <a:ext cx="1015127" cy="828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Calculate P-value</a:t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97" name="Google Shape;597;p28"/>
            <p:cNvSpPr/>
            <p:nvPr/>
          </p:nvSpPr>
          <p:spPr>
            <a:xfrm>
              <a:off x="10137354" y="1173700"/>
              <a:ext cx="226135" cy="26453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FB8B1"/>
            </a:soli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28"/>
            <p:cNvSpPr txBox="1"/>
            <p:nvPr/>
          </p:nvSpPr>
          <p:spPr>
            <a:xfrm>
              <a:off x="10137354" y="1226607"/>
              <a:ext cx="158295" cy="158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99" name="Google Shape;599;p28"/>
            <p:cNvSpPr/>
            <p:nvPr/>
          </p:nvSpPr>
          <p:spPr>
            <a:xfrm>
              <a:off x="10457356" y="865964"/>
              <a:ext cx="1066675" cy="88000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CECEC"/>
                </a:gs>
                <a:gs pos="100000">
                  <a:schemeClr val="lt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0800" rotWithShape="0" algn="ctr" dir="5400000" dist="12700">
                <a:srgbClr val="000000">
                  <a:alpha val="4941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28"/>
            <p:cNvSpPr txBox="1"/>
            <p:nvPr/>
          </p:nvSpPr>
          <p:spPr>
            <a:xfrm>
              <a:off x="10483130" y="891738"/>
              <a:ext cx="1015127" cy="828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Make a decision and conclusion</a:t>
              </a:r>
              <a:endPara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601" name="Google Shape;601;p28"/>
          <p:cNvSpPr txBox="1"/>
          <p:nvPr/>
        </p:nvSpPr>
        <p:spPr>
          <a:xfrm>
            <a:off x="1024128" y="3877594"/>
            <a:ext cx="7114937" cy="1140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None/>
            </a:pPr>
            <a:r>
              <a:rPr b="1" i="0" lang="en-US" sz="2200" u="sng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Approximate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602" name="Google Shape;60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2018-10-08T22:24:56Z</dcterms:created>
  <dc:creator>Windows User</dc:creator>
</cp:coreProperties>
</file>