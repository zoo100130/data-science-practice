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5E19EC-ABA1-4E9D-ACEA-A555ED9E2861}">
  <a:tblStyle styleId="{7A5E19EC-ABA1-4E9D-ACEA-A555ED9E2861}"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EF2"/>
          </a:solidFill>
        </a:fill>
      </a:tcStyle>
    </a:wholeTbl>
    <a:band1H>
      <a:tcTxStyle/>
      <a:tcStyle>
        <a:fill>
          <a:solidFill>
            <a:srgbClr val="CDDCE5"/>
          </a:solidFill>
        </a:fill>
      </a:tcStyle>
    </a:band1H>
    <a:band2H>
      <a:tcTxStyle/>
    </a:band2H>
    <a:band1V>
      <a:tcTxStyle/>
      <a:tcStyle>
        <a:fill>
          <a:solidFill>
            <a:srgbClr val="CDDCE5"/>
          </a:solidFill>
        </a:fill>
      </a:tcStyle>
    </a:band1V>
    <a:band2V>
      <a:tcTxStyle/>
    </a:band2V>
    <a:lastCol>
      <a:tcTxStyle b="on" i="off">
        <a:font>
          <a:latin typeface="Century Gothic"/>
          <a:ea typeface="Century Gothic"/>
          <a:cs typeface="Century Gothic"/>
        </a:font>
        <a:schemeClr val="lt1"/>
      </a:tcTxStyle>
      <a:tcStyle>
        <a:fill>
          <a:solidFill>
            <a:schemeClr val="accent2"/>
          </a:solidFill>
        </a:fill>
      </a:tcStyle>
    </a:lastCol>
    <a:firstCol>
      <a:tcTxStyle b="on" i="off">
        <a:font>
          <a:latin typeface="Century Gothic"/>
          <a:ea typeface="Century Gothic"/>
          <a:cs typeface="Century Gothic"/>
        </a:font>
        <a:schemeClr val="lt1"/>
      </a:tcTxStyle>
      <a:tcStyle>
        <a:fill>
          <a:solidFill>
            <a:schemeClr val="accent2"/>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 styleId="{1DB76135-3B51-489F-8FBC-EFB79693C370}" styleName="Table_1">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9ED"/>
          </a:solidFill>
        </a:fill>
      </a:tcStyle>
    </a:wholeTbl>
    <a:band1H>
      <a:tcTxStyle/>
      <a:tcStyle>
        <a:fill>
          <a:solidFill>
            <a:srgbClr val="CDD0D9"/>
          </a:solidFill>
        </a:fill>
      </a:tcStyle>
    </a:band1H>
    <a:band2H>
      <a:tcTxStyle/>
    </a:band2H>
    <a:band1V>
      <a:tcTxStyle/>
      <a:tcStyle>
        <a:fill>
          <a:solidFill>
            <a:srgbClr val="CDD0D9"/>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enturyGothic-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1128403" y="945913"/>
            <a:ext cx="8637073" cy="2618554"/>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Century Gothic"/>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
          <p:cNvSpPr txBox="1"/>
          <p:nvPr>
            <p:ph idx="1" type="subTitle"/>
          </p:nvPr>
        </p:nvSpPr>
        <p:spPr>
          <a:xfrm>
            <a:off x="1128404" y="3564467"/>
            <a:ext cx="8637072" cy="1071095"/>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1" name="Google Shape;21;p2"/>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1127124" y="329307"/>
            <a:ext cx="5943668"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2" type="sldNum"/>
          </p:nvPr>
        </p:nvSpPr>
        <p:spPr>
          <a:xfrm>
            <a:off x="9924392" y="134930"/>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24" name="Google Shape;24;p2"/>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25" name="Shape 25"/>
        <p:cNvGrpSpPr/>
        <p:nvPr/>
      </p:nvGrpSpPr>
      <p:grpSpPr>
        <a:xfrm>
          <a:off x="0" y="0"/>
          <a:ext cx="0" cy="0"/>
          <a:chOff x="0" y="0"/>
          <a:chExt cx="0" cy="0"/>
        </a:xfrm>
      </p:grpSpPr>
      <p:sp>
        <p:nvSpPr>
          <p:cNvPr id="26" name="Google Shape;26;p3"/>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5400"/>
              <a:buNone/>
              <a:defRPr b="0" sz="5400">
                <a:solidFill>
                  <a:srgbClr val="262626"/>
                </a:solidFill>
                <a:latin typeface="Century Gothic"/>
                <a:ea typeface="Century Gothic"/>
                <a:cs typeface="Century Gothic"/>
                <a:sym typeface="Century Gothic"/>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1130270" y="2171769"/>
            <a:ext cx="9603275" cy="329457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0" name="Google Shape;30;p4"/>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33" name="Google Shape;33;p4"/>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34" name="Shape 34"/>
        <p:cNvGrpSpPr/>
        <p:nvPr/>
      </p:nvGrpSpPr>
      <p:grpSpPr>
        <a:xfrm>
          <a:off x="0" y="0"/>
          <a:ext cx="0" cy="0"/>
          <a:chOff x="0" y="0"/>
          <a:chExt cx="0" cy="0"/>
        </a:xfrm>
      </p:grpSpPr>
      <p:sp>
        <p:nvSpPr>
          <p:cNvPr id="35" name="Google Shape;35;p5"/>
          <p:cNvSpPr txBox="1"/>
          <p:nvPr>
            <p:ph type="title"/>
          </p:nvPr>
        </p:nvSpPr>
        <p:spPr>
          <a:xfrm>
            <a:off x="1129167" y="1756129"/>
            <a:ext cx="8619060" cy="205006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Century Gothic"/>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1129166" y="3806195"/>
            <a:ext cx="8619060"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7" name="Google Shape;37;p5"/>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40" name="Google Shape;40;p5"/>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41" name="Shape 41"/>
        <p:cNvGrpSpPr/>
        <p:nvPr/>
      </p:nvGrpSpPr>
      <p:grpSpPr>
        <a:xfrm>
          <a:off x="0" y="0"/>
          <a:ext cx="0" cy="0"/>
          <a:chOff x="0" y="0"/>
          <a:chExt cx="0" cy="0"/>
        </a:xfrm>
      </p:grpSpPr>
      <p:sp>
        <p:nvSpPr>
          <p:cNvPr id="42" name="Google Shape;42;p6"/>
          <p:cNvSpPr txBox="1"/>
          <p:nvPr>
            <p:ph type="title"/>
          </p:nvPr>
        </p:nvSpPr>
        <p:spPr>
          <a:xfrm>
            <a:off x="1131052" y="958037"/>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1129166" y="2165621"/>
            <a:ext cx="4645152" cy="32938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4" name="Google Shape;44;p6"/>
          <p:cNvSpPr txBox="1"/>
          <p:nvPr>
            <p:ph idx="2" type="body"/>
          </p:nvPr>
        </p:nvSpPr>
        <p:spPr>
          <a:xfrm>
            <a:off x="6095606" y="2171769"/>
            <a:ext cx="4645152" cy="328709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5" name="Google Shape;45;p6"/>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48" name="Google Shape;48;p6"/>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9" name="Shape 49"/>
        <p:cNvGrpSpPr/>
        <p:nvPr/>
      </p:nvGrpSpPr>
      <p:grpSpPr>
        <a:xfrm>
          <a:off x="0" y="0"/>
          <a:ext cx="0" cy="0"/>
          <a:chOff x="0" y="0"/>
          <a:chExt cx="0" cy="0"/>
        </a:xfrm>
      </p:grpSpPr>
      <p:sp>
        <p:nvSpPr>
          <p:cNvPr id="50" name="Google Shape;50;p7"/>
          <p:cNvSpPr txBox="1"/>
          <p:nvPr>
            <p:ph type="title"/>
          </p:nvPr>
        </p:nvSpPr>
        <p:spPr>
          <a:xfrm>
            <a:off x="1129166" y="953336"/>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 type="body"/>
          </p:nvPr>
        </p:nvSpPr>
        <p:spPr>
          <a:xfrm>
            <a:off x="1129166" y="2169727"/>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800"/>
              <a:buNone/>
              <a:defRPr b="0" sz="28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2" name="Google Shape;52;p7"/>
          <p:cNvSpPr txBox="1"/>
          <p:nvPr>
            <p:ph idx="2" type="body"/>
          </p:nvPr>
        </p:nvSpPr>
        <p:spPr>
          <a:xfrm>
            <a:off x="1129166" y="2974448"/>
            <a:ext cx="4645152" cy="2493876"/>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3" name="Google Shape;53;p7"/>
          <p:cNvSpPr txBox="1"/>
          <p:nvPr>
            <p:ph idx="3" type="body"/>
          </p:nvPr>
        </p:nvSpPr>
        <p:spPr>
          <a:xfrm>
            <a:off x="6094337" y="2173181"/>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800"/>
              <a:buNone/>
              <a:defRPr b="0" sz="28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4" name="Google Shape;54;p7"/>
          <p:cNvSpPr txBox="1"/>
          <p:nvPr>
            <p:ph idx="4" type="body"/>
          </p:nvPr>
        </p:nvSpPr>
        <p:spPr>
          <a:xfrm>
            <a:off x="6094337" y="2971669"/>
            <a:ext cx="4645152" cy="248719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5" name="Google Shape;55;p7"/>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58" name="Google Shape;58;p7"/>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64" name="Google Shape;64;p8"/>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65" name="Shape 65"/>
        <p:cNvGrpSpPr/>
        <p:nvPr/>
      </p:nvGrpSpPr>
      <p:grpSpPr>
        <a:xfrm>
          <a:off x="0" y="0"/>
          <a:ext cx="0" cy="0"/>
          <a:chOff x="0" y="0"/>
          <a:chExt cx="0" cy="0"/>
        </a:xfrm>
      </p:grpSpPr>
      <p:sp>
        <p:nvSpPr>
          <p:cNvPr id="66" name="Google Shape;66;p9"/>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1124291" y="952578"/>
            <a:ext cx="3275013" cy="232217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
          <p:cNvSpPr txBox="1"/>
          <p:nvPr>
            <p:ph idx="1" type="body"/>
          </p:nvPr>
        </p:nvSpPr>
        <p:spPr>
          <a:xfrm>
            <a:off x="4723334" y="952578"/>
            <a:ext cx="6012470" cy="4505221"/>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72" name="Google Shape;72;p10"/>
          <p:cNvSpPr txBox="1"/>
          <p:nvPr>
            <p:ph idx="2" type="body"/>
          </p:nvPr>
        </p:nvSpPr>
        <p:spPr>
          <a:xfrm>
            <a:off x="1124291" y="3274754"/>
            <a:ext cx="3275013" cy="217891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3" name="Google Shape;73;p10"/>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76" name="Google Shape;76;p10"/>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77" name="Shape 77"/>
        <p:cNvGrpSpPr/>
        <p:nvPr/>
      </p:nvGrpSpPr>
      <p:grpSpPr>
        <a:xfrm>
          <a:off x="0" y="0"/>
          <a:ext cx="0" cy="0"/>
          <a:chOff x="0" y="0"/>
          <a:chExt cx="0" cy="0"/>
        </a:xfrm>
      </p:grpSpPr>
      <p:grpSp>
        <p:nvGrpSpPr>
          <p:cNvPr id="78" name="Google Shape;78;p11"/>
          <p:cNvGrpSpPr/>
          <p:nvPr/>
        </p:nvGrpSpPr>
        <p:grpSpPr>
          <a:xfrm>
            <a:off x="7477387" y="482170"/>
            <a:ext cx="4074533" cy="5149101"/>
            <a:chOff x="7477387" y="482170"/>
            <a:chExt cx="4074533" cy="5149101"/>
          </a:xfrm>
        </p:grpSpPr>
        <p:sp>
          <p:nvSpPr>
            <p:cNvPr id="79" name="Google Shape;79;p11"/>
            <p:cNvSpPr/>
            <p:nvPr/>
          </p:nvSpPr>
          <p:spPr>
            <a:xfrm>
              <a:off x="7477387" y="482170"/>
              <a:ext cx="4074533" cy="5149101"/>
            </a:xfrm>
            <a:prstGeom prst="rect">
              <a:avLst/>
            </a:prstGeom>
            <a:gradFill>
              <a:gsLst>
                <a:gs pos="0">
                  <a:srgbClr val="262626"/>
                </a:gs>
                <a:gs pos="100000">
                  <a:srgbClr val="0C0C0C"/>
                </a:gs>
              </a:gsLst>
              <a:lin ang="5400000" scaled="0"/>
            </a:gradFill>
            <a:ln>
              <a:noFill/>
            </a:ln>
            <a:effectLst>
              <a:outerShdw blurRad="127000" sx="98000" rotWithShape="0" algn="tl" dir="4740000" dist="228600" sy="98000">
                <a:srgbClr val="000000">
                  <a:alpha val="3372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1"/>
          <p:cNvSpPr txBox="1"/>
          <p:nvPr>
            <p:ph type="title"/>
          </p:nvPr>
        </p:nvSpPr>
        <p:spPr>
          <a:xfrm>
            <a:off x="1129124" y="1129513"/>
            <a:ext cx="5854872" cy="1924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p:nvPr>
            <p:ph idx="2" type="pic"/>
          </p:nvPr>
        </p:nvSpPr>
        <p:spPr>
          <a:xfrm>
            <a:off x="8124389" y="1122542"/>
            <a:ext cx="2791171" cy="3866327"/>
          </a:xfrm>
          <a:prstGeom prst="rect">
            <a:avLst/>
          </a:prstGeom>
          <a:solidFill>
            <a:srgbClr val="D8D8D8"/>
          </a:solidFill>
          <a:ln>
            <a:noFill/>
          </a:ln>
        </p:spPr>
      </p:sp>
      <p:sp>
        <p:nvSpPr>
          <p:cNvPr id="83" name="Google Shape;83;p11"/>
          <p:cNvSpPr txBox="1"/>
          <p:nvPr>
            <p:ph idx="1" type="body"/>
          </p:nvPr>
        </p:nvSpPr>
        <p:spPr>
          <a:xfrm>
            <a:off x="1128247" y="3053721"/>
            <a:ext cx="5846486" cy="209601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4" name="Google Shape;84;p11"/>
          <p:cNvSpPr txBox="1"/>
          <p:nvPr>
            <p:ph idx="10" type="dt"/>
          </p:nvPr>
        </p:nvSpPr>
        <p:spPr>
          <a:xfrm>
            <a:off x="1125300" y="5469856"/>
            <a:ext cx="5849605"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1" type="ftr"/>
          </p:nvPr>
        </p:nvSpPr>
        <p:spPr>
          <a:xfrm>
            <a:off x="1125300" y="318640"/>
            <a:ext cx="4877818"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
          <p:cNvSpPr txBox="1"/>
          <p:nvPr>
            <p:ph idx="12" type="sldNum"/>
          </p:nvPr>
        </p:nvSpPr>
        <p:spPr>
          <a:xfrm>
            <a:off x="6176794"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87" name="Google Shape;87;p11"/>
          <p:cNvPicPr preferRelativeResize="0"/>
          <p:nvPr/>
        </p:nvPicPr>
        <p:blipFill rotWithShape="1">
          <a:blip r:embed="rId2">
            <a:alphaModFix/>
          </a:blip>
          <a:srcRect b="36564" l="-115" r="48548" t="474"/>
          <a:stretch/>
        </p:blipFill>
        <p:spPr>
          <a:xfrm>
            <a:off x="1125460" y="643464"/>
            <a:ext cx="5879592" cy="15544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88" name="Shape 88"/>
        <p:cNvGrpSpPr/>
        <p:nvPr/>
      </p:nvGrpSpPr>
      <p:grpSpPr>
        <a:xfrm>
          <a:off x="0" y="0"/>
          <a:ext cx="0" cy="0"/>
          <a:chOff x="0" y="0"/>
          <a:chExt cx="0" cy="0"/>
        </a:xfrm>
      </p:grpSpPr>
      <p:sp>
        <p:nvSpPr>
          <p:cNvPr id="89" name="Google Shape;89;p12"/>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2"/>
          <p:cNvSpPr txBox="1"/>
          <p:nvPr>
            <p:ph idx="1" type="body"/>
          </p:nvPr>
        </p:nvSpPr>
        <p:spPr>
          <a:xfrm rot="5400000">
            <a:off x="4284620" y="-982580"/>
            <a:ext cx="3294576"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1" name="Google Shape;91;p12"/>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2"/>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94" name="Google Shape;94;p12"/>
          <p:cNvPicPr preferRelativeResize="0"/>
          <p:nvPr/>
        </p:nvPicPr>
        <p:blipFill rotWithShape="1">
          <a:blip r:embed="rId2">
            <a:alphaModFix/>
          </a:blip>
          <a:srcRect b="36435" l="-115" r="15827" t="0"/>
          <a:stretch/>
        </p:blipFill>
        <p:spPr>
          <a:xfrm>
            <a:off x="1125460" y="643464"/>
            <a:ext cx="9610344" cy="15544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95" name="Shape 95"/>
        <p:cNvGrpSpPr/>
        <p:nvPr/>
      </p:nvGrpSpPr>
      <p:grpSpPr>
        <a:xfrm>
          <a:off x="0" y="0"/>
          <a:ext cx="0" cy="0"/>
          <a:chOff x="0" y="0"/>
          <a:chExt cx="0" cy="0"/>
        </a:xfrm>
      </p:grpSpPr>
      <p:sp>
        <p:nvSpPr>
          <p:cNvPr id="96" name="Google Shape;96;p13"/>
          <p:cNvSpPr txBox="1"/>
          <p:nvPr>
            <p:ph type="title"/>
          </p:nvPr>
        </p:nvSpPr>
        <p:spPr>
          <a:xfrm rot="5400000">
            <a:off x="7602635"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3"/>
          <p:cNvSpPr txBox="1"/>
          <p:nvPr>
            <p:ph idx="1" type="body"/>
          </p:nvPr>
        </p:nvSpPr>
        <p:spPr>
          <a:xfrm rot="5400000">
            <a:off x="2714741"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8" name="Google Shape;98;p13"/>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3"/>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RedHashing.emf" id="101" name="Google Shape;101;p13"/>
          <p:cNvPicPr preferRelativeResize="0"/>
          <p:nvPr/>
        </p:nvPicPr>
        <p:blipFill rotWithShape="1">
          <a:blip r:embed="rId2">
            <a:alphaModFix/>
          </a:blip>
          <a:srcRect b="36435" l="-115" r="59214" t="0"/>
          <a:stretch/>
        </p:blipFill>
        <p:spPr>
          <a:xfrm rot="5400000">
            <a:off x="8642279" y="3046916"/>
            <a:ext cx="4663440" cy="1554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F8F8F8"/>
            </a:gs>
          </a:gsLst>
          <a:path path="circle">
            <a:fillToRect b="50%" l="50%" r="50%" t="50%"/>
          </a:path>
          <a:tileRect/>
        </a:gra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1538" l="0" r="0" t="1538"/>
          <a:stretch/>
        </p:blipFill>
        <p:spPr>
          <a:xfrm>
            <a:off x="0" y="6119336"/>
            <a:ext cx="12192000" cy="742950"/>
          </a:xfrm>
          <a:prstGeom prst="rect">
            <a:avLst/>
          </a:prstGeom>
          <a:noFill/>
          <a:ln>
            <a:noFill/>
          </a:ln>
        </p:spPr>
      </p:pic>
      <p:sp>
        <p:nvSpPr>
          <p:cNvPr id="11" name="Google Shape;11;p1"/>
          <p:cNvSpPr/>
          <p:nvPr/>
        </p:nvSpPr>
        <p:spPr>
          <a:xfrm>
            <a:off x="0" y="468769"/>
            <a:ext cx="12192000" cy="5647024"/>
          </a:xfrm>
          <a:prstGeom prst="rect">
            <a:avLst/>
          </a:prstGeom>
          <a:gradFill>
            <a:gsLst>
              <a:gs pos="0">
                <a:srgbClr val="DCDCE0">
                  <a:alpha val="0"/>
                </a:srgbClr>
              </a:gs>
              <a:gs pos="100000">
                <a:srgbClr val="DDDDE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1"/>
          <p:cNvCxnSpPr/>
          <p:nvPr/>
        </p:nvCxnSpPr>
        <p:spPr>
          <a:xfrm>
            <a:off x="0" y="6121269"/>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
        <p:nvSpPr>
          <p:cNvPr id="13" name="Google Shape;13;p1"/>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Century Gothic"/>
              <a:buNone/>
              <a:defRPr b="0" i="0" sz="32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
          <p:cNvSpPr txBox="1"/>
          <p:nvPr>
            <p:ph idx="1" type="body"/>
          </p:nvPr>
        </p:nvSpPr>
        <p:spPr>
          <a:xfrm>
            <a:off x="1130270" y="2171769"/>
            <a:ext cx="9603275" cy="3294576"/>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Century Gothic"/>
                <a:ea typeface="Century Gothic"/>
                <a:cs typeface="Century Gothic"/>
                <a:sym typeface="Century Gothic"/>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Century Gothic"/>
                <a:ea typeface="Century Gothic"/>
                <a:cs typeface="Century Gothic"/>
                <a:sym typeface="Century Gothic"/>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Century Gothic"/>
                <a:ea typeface="Century Gothic"/>
                <a:cs typeface="Century Gothic"/>
                <a:sym typeface="Century Gothic"/>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Century Gothic"/>
                <a:ea typeface="Century Gothic"/>
                <a:cs typeface="Century Gothic"/>
                <a:sym typeface="Century Gothic"/>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Century Gothic"/>
                <a:ea typeface="Century Gothic"/>
                <a:cs typeface="Century Gothic"/>
                <a:sym typeface="Century Gothic"/>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Century Gothic"/>
                <a:ea typeface="Century Gothic"/>
                <a:cs typeface="Century Gothic"/>
                <a:sym typeface="Century Gothic"/>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Century Gothic"/>
                <a:ea typeface="Century Gothic"/>
                <a:cs typeface="Century Gothic"/>
                <a:sym typeface="Century Gothic"/>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Century Gothic"/>
                <a:ea typeface="Century Gothic"/>
                <a:cs typeface="Century Gothic"/>
                <a:sym typeface="Century Gothic"/>
              </a:defRPr>
            </a:lvl9pPr>
          </a:lstStyle>
          <a:p/>
        </p:txBody>
      </p:sp>
      <p:sp>
        <p:nvSpPr>
          <p:cNvPr id="15" name="Google Shape;15;p1"/>
          <p:cNvSpPr txBox="1"/>
          <p:nvPr>
            <p:ph idx="10" type="dt"/>
          </p:nvPr>
        </p:nvSpPr>
        <p:spPr>
          <a:xfrm>
            <a:off x="7232830" y="330370"/>
            <a:ext cx="2515396"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6" name="Google Shape;16;p1"/>
          <p:cNvSpPr txBox="1"/>
          <p:nvPr>
            <p:ph idx="11" type="ftr"/>
          </p:nvPr>
        </p:nvSpPr>
        <p:spPr>
          <a:xfrm>
            <a:off x="1130270"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7" name="Google Shape;17;p1"/>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Century Gothic"/>
                <a:ea typeface="Century Gothic"/>
                <a:cs typeface="Century Gothic"/>
                <a:sym typeface="Century Gothic"/>
              </a:defRPr>
            </a:lvl1pPr>
            <a:lvl2pPr indent="0" lvl="1" marL="0" marR="0" rtl="0" algn="r">
              <a:spcBef>
                <a:spcPts val="0"/>
              </a:spcBef>
              <a:buNone/>
              <a:defRPr b="0" i="0" sz="2800" u="none" cap="none" strike="noStrike">
                <a:solidFill>
                  <a:schemeClr val="accent1"/>
                </a:solidFill>
                <a:latin typeface="Century Gothic"/>
                <a:ea typeface="Century Gothic"/>
                <a:cs typeface="Century Gothic"/>
                <a:sym typeface="Century Gothic"/>
              </a:defRPr>
            </a:lvl2pPr>
            <a:lvl3pPr indent="0" lvl="2" marL="0" marR="0" rtl="0" algn="r">
              <a:spcBef>
                <a:spcPts val="0"/>
              </a:spcBef>
              <a:buNone/>
              <a:defRPr b="0" i="0" sz="2800" u="none" cap="none" strike="noStrike">
                <a:solidFill>
                  <a:schemeClr val="accent1"/>
                </a:solidFill>
                <a:latin typeface="Century Gothic"/>
                <a:ea typeface="Century Gothic"/>
                <a:cs typeface="Century Gothic"/>
                <a:sym typeface="Century Gothic"/>
              </a:defRPr>
            </a:lvl3pPr>
            <a:lvl4pPr indent="0" lvl="3" marL="0" marR="0" rtl="0" algn="r">
              <a:spcBef>
                <a:spcPts val="0"/>
              </a:spcBef>
              <a:buNone/>
              <a:defRPr b="0" i="0" sz="2800" u="none" cap="none" strike="noStrike">
                <a:solidFill>
                  <a:schemeClr val="accent1"/>
                </a:solidFill>
                <a:latin typeface="Century Gothic"/>
                <a:ea typeface="Century Gothic"/>
                <a:cs typeface="Century Gothic"/>
                <a:sym typeface="Century Gothic"/>
              </a:defRPr>
            </a:lvl4pPr>
            <a:lvl5pPr indent="0" lvl="4" marL="0" marR="0" rtl="0" algn="r">
              <a:spcBef>
                <a:spcPts val="0"/>
              </a:spcBef>
              <a:buNone/>
              <a:defRPr b="0" i="0" sz="2800" u="none" cap="none" strike="noStrike">
                <a:solidFill>
                  <a:schemeClr val="accent1"/>
                </a:solidFill>
                <a:latin typeface="Century Gothic"/>
                <a:ea typeface="Century Gothic"/>
                <a:cs typeface="Century Gothic"/>
                <a:sym typeface="Century Gothic"/>
              </a:defRPr>
            </a:lvl5pPr>
            <a:lvl6pPr indent="0" lvl="5" marL="0" marR="0" rtl="0" algn="r">
              <a:spcBef>
                <a:spcPts val="0"/>
              </a:spcBef>
              <a:buNone/>
              <a:defRPr b="0" i="0" sz="2800" u="none" cap="none" strike="noStrike">
                <a:solidFill>
                  <a:schemeClr val="accent1"/>
                </a:solidFill>
                <a:latin typeface="Century Gothic"/>
                <a:ea typeface="Century Gothic"/>
                <a:cs typeface="Century Gothic"/>
                <a:sym typeface="Century Gothic"/>
              </a:defRPr>
            </a:lvl6pPr>
            <a:lvl7pPr indent="0" lvl="6" marL="0" marR="0" rtl="0" algn="r">
              <a:spcBef>
                <a:spcPts val="0"/>
              </a:spcBef>
              <a:buNone/>
              <a:defRPr b="0" i="0" sz="2800" u="none" cap="none" strike="noStrike">
                <a:solidFill>
                  <a:schemeClr val="accent1"/>
                </a:solidFill>
                <a:latin typeface="Century Gothic"/>
                <a:ea typeface="Century Gothic"/>
                <a:cs typeface="Century Gothic"/>
                <a:sym typeface="Century Gothic"/>
              </a:defRPr>
            </a:lvl7pPr>
            <a:lvl8pPr indent="0" lvl="7" marL="0" marR="0" rtl="0" algn="r">
              <a:spcBef>
                <a:spcPts val="0"/>
              </a:spcBef>
              <a:buNone/>
              <a:defRPr b="0" i="0" sz="2800" u="none" cap="none" strike="noStrike">
                <a:solidFill>
                  <a:schemeClr val="accent1"/>
                </a:solidFill>
                <a:latin typeface="Century Gothic"/>
                <a:ea typeface="Century Gothic"/>
                <a:cs typeface="Century Gothic"/>
                <a:sym typeface="Century Gothic"/>
              </a:defRPr>
            </a:lvl8pPr>
            <a:lvl9pPr indent="0" lvl="8" marL="0" marR="0" rtl="0" algn="r">
              <a:spcBef>
                <a:spcPts val="0"/>
              </a:spcBef>
              <a:buNone/>
              <a:defRPr b="0" i="0" sz="280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type="ctrTitle"/>
          </p:nvPr>
        </p:nvSpPr>
        <p:spPr>
          <a:xfrm>
            <a:off x="1128403" y="945913"/>
            <a:ext cx="9876202" cy="2618554"/>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3800"/>
              <a:buFont typeface="Century Gothic"/>
              <a:buNone/>
            </a:pPr>
            <a:r>
              <a:rPr lang="en-US" sz="3800"/>
              <a:t>Data preprocessing of analyzing outliers</a:t>
            </a:r>
            <a:endParaRPr sz="3800"/>
          </a:p>
        </p:txBody>
      </p:sp>
      <p:sp>
        <p:nvSpPr>
          <p:cNvPr id="107" name="Google Shape;107;p14"/>
          <p:cNvSpPr txBox="1"/>
          <p:nvPr>
            <p:ph idx="12" type="sldNum"/>
          </p:nvPr>
        </p:nvSpPr>
        <p:spPr>
          <a:xfrm>
            <a:off x="9924392" y="134930"/>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rmAutofit fontScale="70000" lnSpcReduction="20000"/>
          </a:bodyPr>
          <a:lstStyle/>
          <a:p>
            <a:pPr indent="0" lvl="0" marL="0" rtl="0" algn="ctr">
              <a:lnSpc>
                <a:spcPct val="120000"/>
              </a:lnSpc>
              <a:spcBef>
                <a:spcPts val="0"/>
              </a:spcBef>
              <a:spcAft>
                <a:spcPts val="0"/>
              </a:spcAft>
              <a:buSzPct val="100000"/>
              <a:buNone/>
            </a:pPr>
            <a:r>
              <a:rPr lang="en-US">
                <a:latin typeface="Times New Roman"/>
                <a:ea typeface="Times New Roman"/>
                <a:cs typeface="Times New Roman"/>
                <a:sym typeface="Times New Roman"/>
              </a:rPr>
              <a:t>Data Science Experiment Flow</a:t>
            </a:r>
            <a:endParaRPr/>
          </a:p>
        </p:txBody>
      </p:sp>
      <p:grpSp>
        <p:nvGrpSpPr>
          <p:cNvPr id="113" name="Google Shape;113;p15"/>
          <p:cNvGrpSpPr/>
          <p:nvPr/>
        </p:nvGrpSpPr>
        <p:grpSpPr>
          <a:xfrm>
            <a:off x="1167602" y="3414558"/>
            <a:ext cx="1923380" cy="1010203"/>
            <a:chOff x="721754" y="3414556"/>
            <a:chExt cx="1923380" cy="1010203"/>
          </a:xfrm>
        </p:grpSpPr>
        <p:sp>
          <p:nvSpPr>
            <p:cNvPr id="114" name="Google Shape;114;p15"/>
            <p:cNvSpPr/>
            <p:nvPr/>
          </p:nvSpPr>
          <p:spPr>
            <a:xfrm>
              <a:off x="721754" y="3414556"/>
              <a:ext cx="1923380" cy="1010203"/>
            </a:xfrm>
            <a:custGeom>
              <a:rect b="b" l="l" r="r" t="t"/>
              <a:pathLst>
                <a:path extrusionOk="0" h="1010203" w="1923380">
                  <a:moveTo>
                    <a:pt x="1418278" y="0"/>
                  </a:moveTo>
                  <a:lnTo>
                    <a:pt x="1923380" y="505102"/>
                  </a:lnTo>
                  <a:lnTo>
                    <a:pt x="1418278" y="1010203"/>
                  </a:lnTo>
                  <a:lnTo>
                    <a:pt x="1418278" y="757652"/>
                  </a:lnTo>
                  <a:lnTo>
                    <a:pt x="736602" y="757652"/>
                  </a:lnTo>
                  <a:cubicBezTo>
                    <a:pt x="662474" y="855460"/>
                    <a:pt x="544780" y="917660"/>
                    <a:pt x="412559" y="917660"/>
                  </a:cubicBezTo>
                  <a:cubicBezTo>
                    <a:pt x="184709" y="917660"/>
                    <a:pt x="0" y="732951"/>
                    <a:pt x="0" y="505101"/>
                  </a:cubicBezTo>
                  <a:cubicBezTo>
                    <a:pt x="0" y="277251"/>
                    <a:pt x="184709" y="92542"/>
                    <a:pt x="412559" y="92542"/>
                  </a:cubicBezTo>
                  <a:cubicBezTo>
                    <a:pt x="544781" y="92542"/>
                    <a:pt x="662474" y="154743"/>
                    <a:pt x="736603" y="252551"/>
                  </a:cubicBezTo>
                  <a:lnTo>
                    <a:pt x="1418278" y="252551"/>
                  </a:lnTo>
                  <a:close/>
                </a:path>
              </a:pathLst>
            </a:custGeom>
            <a:solidFill>
              <a:schemeClr val="lt1"/>
            </a:solidFill>
            <a:ln cap="flat" cmpd="sng" w="635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sp>
          <p:nvSpPr>
            <p:cNvPr id="115" name="Google Shape;115;p15"/>
            <p:cNvSpPr/>
            <p:nvPr/>
          </p:nvSpPr>
          <p:spPr>
            <a:xfrm>
              <a:off x="804223" y="3577657"/>
              <a:ext cx="684000" cy="6840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grpSp>
      <p:grpSp>
        <p:nvGrpSpPr>
          <p:cNvPr id="116" name="Google Shape;116;p15"/>
          <p:cNvGrpSpPr/>
          <p:nvPr/>
        </p:nvGrpSpPr>
        <p:grpSpPr>
          <a:xfrm>
            <a:off x="7120201" y="3414558"/>
            <a:ext cx="1923380" cy="1010203"/>
            <a:chOff x="6518705" y="3377968"/>
            <a:chExt cx="1923380" cy="1010203"/>
          </a:xfrm>
        </p:grpSpPr>
        <p:sp>
          <p:nvSpPr>
            <p:cNvPr id="117" name="Google Shape;117;p15"/>
            <p:cNvSpPr/>
            <p:nvPr/>
          </p:nvSpPr>
          <p:spPr>
            <a:xfrm>
              <a:off x="6518705" y="3377968"/>
              <a:ext cx="1923380" cy="1010203"/>
            </a:xfrm>
            <a:custGeom>
              <a:rect b="b" l="l" r="r" t="t"/>
              <a:pathLst>
                <a:path extrusionOk="0" h="1010203" w="1923380">
                  <a:moveTo>
                    <a:pt x="1418278" y="0"/>
                  </a:moveTo>
                  <a:lnTo>
                    <a:pt x="1923380" y="505102"/>
                  </a:lnTo>
                  <a:lnTo>
                    <a:pt x="1418278" y="1010203"/>
                  </a:lnTo>
                  <a:lnTo>
                    <a:pt x="1418278" y="757652"/>
                  </a:lnTo>
                  <a:lnTo>
                    <a:pt x="736602" y="757652"/>
                  </a:lnTo>
                  <a:cubicBezTo>
                    <a:pt x="662474" y="855460"/>
                    <a:pt x="544780" y="917660"/>
                    <a:pt x="412559" y="917660"/>
                  </a:cubicBezTo>
                  <a:cubicBezTo>
                    <a:pt x="184709" y="917660"/>
                    <a:pt x="0" y="732951"/>
                    <a:pt x="0" y="505101"/>
                  </a:cubicBezTo>
                  <a:cubicBezTo>
                    <a:pt x="0" y="277251"/>
                    <a:pt x="184709" y="92542"/>
                    <a:pt x="412559" y="92542"/>
                  </a:cubicBezTo>
                  <a:cubicBezTo>
                    <a:pt x="544781" y="92542"/>
                    <a:pt x="662474" y="154743"/>
                    <a:pt x="736603" y="252551"/>
                  </a:cubicBezTo>
                  <a:lnTo>
                    <a:pt x="1418278" y="252551"/>
                  </a:lnTo>
                  <a:close/>
                </a:path>
              </a:pathLst>
            </a:custGeom>
            <a:solidFill>
              <a:schemeClr val="lt1"/>
            </a:solidFill>
            <a:ln cap="flat" cmpd="sng" w="635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sp>
          <p:nvSpPr>
            <p:cNvPr id="118" name="Google Shape;118;p15"/>
            <p:cNvSpPr/>
            <p:nvPr/>
          </p:nvSpPr>
          <p:spPr>
            <a:xfrm>
              <a:off x="6587901" y="3541069"/>
              <a:ext cx="684000" cy="6840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grpSp>
      <p:sp>
        <p:nvSpPr>
          <p:cNvPr id="119" name="Google Shape;119;p15"/>
          <p:cNvSpPr txBox="1"/>
          <p:nvPr/>
        </p:nvSpPr>
        <p:spPr>
          <a:xfrm>
            <a:off x="969265" y="4708383"/>
            <a:ext cx="2069817"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3F3F3F"/>
                </a:solidFill>
                <a:latin typeface="Microsoft JhengHei"/>
                <a:ea typeface="Microsoft JhengHei"/>
                <a:cs typeface="Microsoft JhengHei"/>
                <a:sym typeface="Microsoft JhengHei"/>
              </a:rPr>
              <a:t>Data Collection </a:t>
            </a:r>
            <a:endParaRPr b="1" i="0" sz="1800" u="none" cap="none" strike="noStrike">
              <a:solidFill>
                <a:srgbClr val="3F3F3F"/>
              </a:solidFill>
              <a:latin typeface="Microsoft JhengHei"/>
              <a:ea typeface="Microsoft JhengHei"/>
              <a:cs typeface="Microsoft JhengHei"/>
              <a:sym typeface="Microsoft JhengHei"/>
            </a:endParaRPr>
          </a:p>
        </p:txBody>
      </p:sp>
      <p:grpSp>
        <p:nvGrpSpPr>
          <p:cNvPr id="120" name="Google Shape;120;p15"/>
          <p:cNvGrpSpPr/>
          <p:nvPr/>
        </p:nvGrpSpPr>
        <p:grpSpPr>
          <a:xfrm>
            <a:off x="9104400" y="3414558"/>
            <a:ext cx="1923380" cy="1010203"/>
            <a:chOff x="4586388" y="3390164"/>
            <a:chExt cx="1923380" cy="1010203"/>
          </a:xfrm>
        </p:grpSpPr>
        <p:sp>
          <p:nvSpPr>
            <p:cNvPr id="121" name="Google Shape;121;p15"/>
            <p:cNvSpPr/>
            <p:nvPr/>
          </p:nvSpPr>
          <p:spPr>
            <a:xfrm>
              <a:off x="4586388" y="3390164"/>
              <a:ext cx="1923380" cy="1010203"/>
            </a:xfrm>
            <a:custGeom>
              <a:rect b="b" l="l" r="r" t="t"/>
              <a:pathLst>
                <a:path extrusionOk="0" h="1010203" w="1923380">
                  <a:moveTo>
                    <a:pt x="1418278" y="0"/>
                  </a:moveTo>
                  <a:lnTo>
                    <a:pt x="1923380" y="505102"/>
                  </a:lnTo>
                  <a:lnTo>
                    <a:pt x="1418278" y="1010203"/>
                  </a:lnTo>
                  <a:lnTo>
                    <a:pt x="1418278" y="757652"/>
                  </a:lnTo>
                  <a:lnTo>
                    <a:pt x="736602" y="757652"/>
                  </a:lnTo>
                  <a:cubicBezTo>
                    <a:pt x="662474" y="855460"/>
                    <a:pt x="544780" y="917660"/>
                    <a:pt x="412559" y="917660"/>
                  </a:cubicBezTo>
                  <a:cubicBezTo>
                    <a:pt x="184709" y="917660"/>
                    <a:pt x="0" y="732951"/>
                    <a:pt x="0" y="505101"/>
                  </a:cubicBezTo>
                  <a:cubicBezTo>
                    <a:pt x="0" y="277251"/>
                    <a:pt x="184709" y="92542"/>
                    <a:pt x="412559" y="92542"/>
                  </a:cubicBezTo>
                  <a:cubicBezTo>
                    <a:pt x="544781" y="92542"/>
                    <a:pt x="662474" y="154743"/>
                    <a:pt x="736603" y="252551"/>
                  </a:cubicBezTo>
                  <a:lnTo>
                    <a:pt x="1418278" y="252551"/>
                  </a:lnTo>
                  <a:close/>
                </a:path>
              </a:pathLst>
            </a:custGeom>
            <a:solidFill>
              <a:schemeClr val="lt1"/>
            </a:solidFill>
            <a:ln cap="flat" cmpd="sng" w="635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sp>
          <p:nvSpPr>
            <p:cNvPr id="122" name="Google Shape;122;p15"/>
            <p:cNvSpPr/>
            <p:nvPr/>
          </p:nvSpPr>
          <p:spPr>
            <a:xfrm>
              <a:off x="4655584" y="3553265"/>
              <a:ext cx="684000" cy="6840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grpSp>
      <p:sp>
        <p:nvSpPr>
          <p:cNvPr id="123" name="Google Shape;123;p15"/>
          <p:cNvSpPr txBox="1"/>
          <p:nvPr/>
        </p:nvSpPr>
        <p:spPr>
          <a:xfrm>
            <a:off x="6899029" y="2884099"/>
            <a:ext cx="223139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Microsoft JhengHei"/>
                <a:ea typeface="Microsoft JhengHei"/>
                <a:cs typeface="Microsoft JhengHei"/>
                <a:sym typeface="Microsoft JhengHei"/>
              </a:rPr>
              <a:t>Testing</a:t>
            </a:r>
            <a:endParaRPr b="1" i="0" sz="1800" u="none" cap="none" strike="noStrike">
              <a:solidFill>
                <a:srgbClr val="3F3F3F"/>
              </a:solidFill>
              <a:latin typeface="Microsoft JhengHei"/>
              <a:ea typeface="Microsoft JhengHei"/>
              <a:cs typeface="Microsoft JhengHei"/>
              <a:sym typeface="Microsoft JhengHei"/>
            </a:endParaRPr>
          </a:p>
        </p:txBody>
      </p:sp>
      <p:sp>
        <p:nvSpPr>
          <p:cNvPr id="124" name="Google Shape;124;p15"/>
          <p:cNvSpPr txBox="1"/>
          <p:nvPr/>
        </p:nvSpPr>
        <p:spPr>
          <a:xfrm>
            <a:off x="9104400" y="4893049"/>
            <a:ext cx="223139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Microsoft JhengHei"/>
                <a:ea typeface="Microsoft JhengHei"/>
                <a:cs typeface="Microsoft JhengHei"/>
                <a:sym typeface="Microsoft JhengHei"/>
              </a:rPr>
              <a:t>Result Analysis</a:t>
            </a:r>
            <a:endParaRPr b="1" i="0" sz="1800" u="none" cap="none" strike="noStrike">
              <a:solidFill>
                <a:srgbClr val="3F3F3F"/>
              </a:solidFill>
              <a:latin typeface="Microsoft JhengHei"/>
              <a:ea typeface="Microsoft JhengHei"/>
              <a:cs typeface="Microsoft JhengHei"/>
              <a:sym typeface="Microsoft JhengHei"/>
            </a:endParaRPr>
          </a:p>
        </p:txBody>
      </p:sp>
      <p:grpSp>
        <p:nvGrpSpPr>
          <p:cNvPr id="125" name="Google Shape;125;p15"/>
          <p:cNvGrpSpPr/>
          <p:nvPr/>
        </p:nvGrpSpPr>
        <p:grpSpPr>
          <a:xfrm>
            <a:off x="3151802" y="3414558"/>
            <a:ext cx="4154777" cy="2135912"/>
            <a:chOff x="3151802" y="3414558"/>
            <a:chExt cx="4154777" cy="2135912"/>
          </a:xfrm>
        </p:grpSpPr>
        <p:grpSp>
          <p:nvGrpSpPr>
            <p:cNvPr id="126" name="Google Shape;126;p15"/>
            <p:cNvGrpSpPr/>
            <p:nvPr/>
          </p:nvGrpSpPr>
          <p:grpSpPr>
            <a:xfrm>
              <a:off x="3151802" y="3414558"/>
              <a:ext cx="1923380" cy="1010203"/>
              <a:chOff x="2654071" y="3402360"/>
              <a:chExt cx="1923380" cy="1010203"/>
            </a:xfrm>
          </p:grpSpPr>
          <p:sp>
            <p:nvSpPr>
              <p:cNvPr id="127" name="Google Shape;127;p15"/>
              <p:cNvSpPr/>
              <p:nvPr/>
            </p:nvSpPr>
            <p:spPr>
              <a:xfrm>
                <a:off x="2654071" y="3402360"/>
                <a:ext cx="1923380" cy="1010203"/>
              </a:xfrm>
              <a:custGeom>
                <a:rect b="b" l="l" r="r" t="t"/>
                <a:pathLst>
                  <a:path extrusionOk="0" h="1010203" w="1923380">
                    <a:moveTo>
                      <a:pt x="1418278" y="0"/>
                    </a:moveTo>
                    <a:lnTo>
                      <a:pt x="1923380" y="505102"/>
                    </a:lnTo>
                    <a:lnTo>
                      <a:pt x="1418278" y="1010203"/>
                    </a:lnTo>
                    <a:lnTo>
                      <a:pt x="1418278" y="757652"/>
                    </a:lnTo>
                    <a:lnTo>
                      <a:pt x="736602" y="757652"/>
                    </a:lnTo>
                    <a:cubicBezTo>
                      <a:pt x="662474" y="855460"/>
                      <a:pt x="544780" y="917660"/>
                      <a:pt x="412559" y="917660"/>
                    </a:cubicBezTo>
                    <a:cubicBezTo>
                      <a:pt x="184709" y="917660"/>
                      <a:pt x="0" y="732951"/>
                      <a:pt x="0" y="505101"/>
                    </a:cubicBezTo>
                    <a:cubicBezTo>
                      <a:pt x="0" y="277251"/>
                      <a:pt x="184709" y="92542"/>
                      <a:pt x="412559" y="92542"/>
                    </a:cubicBezTo>
                    <a:cubicBezTo>
                      <a:pt x="544781" y="92542"/>
                      <a:pt x="662474" y="154743"/>
                      <a:pt x="736603" y="252551"/>
                    </a:cubicBezTo>
                    <a:lnTo>
                      <a:pt x="1418278" y="252551"/>
                    </a:lnTo>
                    <a:close/>
                  </a:path>
                </a:pathLst>
              </a:custGeom>
              <a:solidFill>
                <a:schemeClr val="lt1"/>
              </a:solidFill>
              <a:ln cap="flat" cmpd="sng" w="635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sp>
            <p:nvSpPr>
              <p:cNvPr id="128" name="Google Shape;128;p15"/>
              <p:cNvSpPr/>
              <p:nvPr/>
            </p:nvSpPr>
            <p:spPr>
              <a:xfrm>
                <a:off x="2723267" y="3565461"/>
                <a:ext cx="684000" cy="6840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grpSp>
        <p:grpSp>
          <p:nvGrpSpPr>
            <p:cNvPr id="129" name="Google Shape;129;p15"/>
            <p:cNvGrpSpPr/>
            <p:nvPr/>
          </p:nvGrpSpPr>
          <p:grpSpPr>
            <a:xfrm>
              <a:off x="4994428" y="3414558"/>
              <a:ext cx="2312151" cy="2135912"/>
              <a:chOff x="4994428" y="3414558"/>
              <a:chExt cx="2312151" cy="2135912"/>
            </a:xfrm>
          </p:grpSpPr>
          <p:grpSp>
            <p:nvGrpSpPr>
              <p:cNvPr id="130" name="Google Shape;130;p15"/>
              <p:cNvGrpSpPr/>
              <p:nvPr/>
            </p:nvGrpSpPr>
            <p:grpSpPr>
              <a:xfrm>
                <a:off x="5136002" y="3414558"/>
                <a:ext cx="1923380" cy="1010203"/>
                <a:chOff x="4586388" y="3390164"/>
                <a:chExt cx="1923380" cy="1010203"/>
              </a:xfrm>
            </p:grpSpPr>
            <p:sp>
              <p:nvSpPr>
                <p:cNvPr id="131" name="Google Shape;131;p15"/>
                <p:cNvSpPr/>
                <p:nvPr/>
              </p:nvSpPr>
              <p:spPr>
                <a:xfrm>
                  <a:off x="4586388" y="3390164"/>
                  <a:ext cx="1923380" cy="1010203"/>
                </a:xfrm>
                <a:custGeom>
                  <a:rect b="b" l="l" r="r" t="t"/>
                  <a:pathLst>
                    <a:path extrusionOk="0" h="1010203" w="1923380">
                      <a:moveTo>
                        <a:pt x="1418278" y="0"/>
                      </a:moveTo>
                      <a:lnTo>
                        <a:pt x="1923380" y="505102"/>
                      </a:lnTo>
                      <a:lnTo>
                        <a:pt x="1418278" y="1010203"/>
                      </a:lnTo>
                      <a:lnTo>
                        <a:pt x="1418278" y="757652"/>
                      </a:lnTo>
                      <a:lnTo>
                        <a:pt x="736602" y="757652"/>
                      </a:lnTo>
                      <a:cubicBezTo>
                        <a:pt x="662474" y="855460"/>
                        <a:pt x="544780" y="917660"/>
                        <a:pt x="412559" y="917660"/>
                      </a:cubicBezTo>
                      <a:cubicBezTo>
                        <a:pt x="184709" y="917660"/>
                        <a:pt x="0" y="732951"/>
                        <a:pt x="0" y="505101"/>
                      </a:cubicBezTo>
                      <a:cubicBezTo>
                        <a:pt x="0" y="277251"/>
                        <a:pt x="184709" y="92542"/>
                        <a:pt x="412559" y="92542"/>
                      </a:cubicBezTo>
                      <a:cubicBezTo>
                        <a:pt x="544781" y="92542"/>
                        <a:pt x="662474" y="154743"/>
                        <a:pt x="736603" y="252551"/>
                      </a:cubicBezTo>
                      <a:lnTo>
                        <a:pt x="1418278" y="252551"/>
                      </a:lnTo>
                      <a:close/>
                    </a:path>
                  </a:pathLst>
                </a:custGeom>
                <a:solidFill>
                  <a:schemeClr val="lt1"/>
                </a:solidFill>
                <a:ln cap="flat" cmpd="sng" w="635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sp>
              <p:nvSpPr>
                <p:cNvPr id="132" name="Google Shape;132;p15"/>
                <p:cNvSpPr/>
                <p:nvPr/>
              </p:nvSpPr>
              <p:spPr>
                <a:xfrm>
                  <a:off x="4655584" y="3553265"/>
                  <a:ext cx="684000" cy="6840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200" u="none" cap="none" strike="noStrike">
                    <a:solidFill>
                      <a:srgbClr val="3F3F3F"/>
                    </a:solidFill>
                    <a:latin typeface="Microsoft JhengHei"/>
                    <a:ea typeface="Microsoft JhengHei"/>
                    <a:cs typeface="Microsoft JhengHei"/>
                    <a:sym typeface="Microsoft JhengHei"/>
                  </a:endParaRPr>
                </a:p>
              </p:txBody>
            </p:sp>
          </p:grpSp>
          <p:sp>
            <p:nvSpPr>
              <p:cNvPr id="133" name="Google Shape;133;p15"/>
              <p:cNvSpPr txBox="1"/>
              <p:nvPr/>
            </p:nvSpPr>
            <p:spPr>
              <a:xfrm>
                <a:off x="4994428" y="4781028"/>
                <a:ext cx="2231398"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Microsoft JhengHei"/>
                    <a:ea typeface="Microsoft JhengHei"/>
                    <a:cs typeface="Microsoft JhengHei"/>
                    <a:sym typeface="Microsoft JhengHei"/>
                  </a:rPr>
                  <a:t>Training</a:t>
                </a:r>
                <a:endParaRPr b="1" i="0" sz="1800" u="none" cap="none" strike="noStrike">
                  <a:solidFill>
                    <a:srgbClr val="3F3F3F"/>
                  </a:solidFill>
                  <a:latin typeface="Microsoft JhengHei"/>
                  <a:ea typeface="Microsoft JhengHei"/>
                  <a:cs typeface="Microsoft JhengHei"/>
                  <a:sym typeface="Microsoft JhengHei"/>
                </a:endParaRPr>
              </a:p>
            </p:txBody>
          </p:sp>
          <p:sp>
            <p:nvSpPr>
              <p:cNvPr id="134" name="Google Shape;134;p15"/>
              <p:cNvSpPr txBox="1"/>
              <p:nvPr/>
            </p:nvSpPr>
            <p:spPr>
              <a:xfrm>
                <a:off x="5075182" y="5150360"/>
                <a:ext cx="2231397"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a:t>
                </a:r>
                <a:r>
                  <a:rPr b="0" i="0" lang="en-US" sz="2000" u="none" cap="none" strike="noStrike">
                    <a:solidFill>
                      <a:schemeClr val="dk1"/>
                    </a:solidFill>
                    <a:latin typeface="Times New Roman"/>
                    <a:ea typeface="Times New Roman"/>
                    <a:cs typeface="Times New Roman"/>
                    <a:sym typeface="Times New Roman"/>
                  </a:rPr>
                  <a:t>Regression</a:t>
                </a:r>
                <a:r>
                  <a:rPr b="1" i="0" lang="en-US" sz="2000" u="none" cap="none" strike="noStrike">
                    <a:solidFill>
                      <a:schemeClr val="dk1"/>
                    </a:solidFill>
                    <a:latin typeface="Times New Roman"/>
                    <a:ea typeface="Times New Roman"/>
                    <a:cs typeface="Times New Roman"/>
                    <a:sym typeface="Times New Roman"/>
                  </a:rPr>
                  <a:t>)</a:t>
                </a:r>
                <a:endParaRPr b="1" i="0" sz="2000" u="none" cap="none" strike="noStrike">
                  <a:solidFill>
                    <a:schemeClr val="dk1"/>
                  </a:solidFill>
                  <a:latin typeface="Times New Roman"/>
                  <a:ea typeface="Times New Roman"/>
                  <a:cs typeface="Times New Roman"/>
                  <a:sym typeface="Times New Roman"/>
                </a:endParaRPr>
              </a:p>
            </p:txBody>
          </p:sp>
        </p:grpSp>
      </p:grpSp>
      <p:sp>
        <p:nvSpPr>
          <p:cNvPr id="135" name="Google Shape;135;p15"/>
          <p:cNvSpPr/>
          <p:nvPr/>
        </p:nvSpPr>
        <p:spPr>
          <a:xfrm>
            <a:off x="2835773" y="2296190"/>
            <a:ext cx="2555438" cy="1010203"/>
          </a:xfrm>
          <a:prstGeom prst="roundRect">
            <a:avLst>
              <a:gd fmla="val 16667" name="adj"/>
            </a:avLst>
          </a:prstGeom>
          <a:solidFill>
            <a:schemeClr val="accent2"/>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Data Pre-processing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6"/>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entury Gothic"/>
              <a:buNone/>
            </a:pPr>
            <a:r>
              <a:rPr lang="en-US"/>
              <a:t>Task Introduce</a:t>
            </a:r>
            <a:endParaRPr/>
          </a:p>
        </p:txBody>
      </p:sp>
      <p:sp>
        <p:nvSpPr>
          <p:cNvPr id="141" name="Google Shape;141;p16"/>
          <p:cNvSpPr txBox="1"/>
          <p:nvPr>
            <p:ph idx="1" type="body"/>
          </p:nvPr>
        </p:nvSpPr>
        <p:spPr>
          <a:xfrm>
            <a:off x="1130270" y="2171769"/>
            <a:ext cx="9603275"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latin typeface="Microsoft JhengHei"/>
                <a:ea typeface="Microsoft JhengHei"/>
                <a:cs typeface="Microsoft JhengHei"/>
                <a:sym typeface="Microsoft JhengHei"/>
              </a:rPr>
              <a:t>A factory machine efficiency analysis problem.</a:t>
            </a:r>
            <a:endParaRPr/>
          </a:p>
          <a:p>
            <a:pPr indent="-228600" lvl="0" marL="228600" rtl="0" algn="l">
              <a:lnSpc>
                <a:spcPct val="120000"/>
              </a:lnSpc>
              <a:spcBef>
                <a:spcPts val="1000"/>
              </a:spcBef>
              <a:spcAft>
                <a:spcPts val="0"/>
              </a:spcAft>
              <a:buSzPts val="2000"/>
              <a:buChar char="•"/>
            </a:pPr>
            <a:r>
              <a:rPr lang="en-US">
                <a:latin typeface="Microsoft JhengHei"/>
                <a:ea typeface="Microsoft JhengHei"/>
                <a:cs typeface="Microsoft JhengHei"/>
                <a:sym typeface="Microsoft JhengHei"/>
              </a:rPr>
              <a:t>Without any label data and reasonable operation range</a:t>
            </a:r>
            <a:endParaRPr/>
          </a:p>
          <a:p>
            <a:pPr indent="-228600" lvl="0" marL="228600" rtl="0" algn="l">
              <a:lnSpc>
                <a:spcPct val="120000"/>
              </a:lnSpc>
              <a:spcBef>
                <a:spcPts val="1000"/>
              </a:spcBef>
              <a:spcAft>
                <a:spcPts val="0"/>
              </a:spcAft>
              <a:buSzPts val="2000"/>
              <a:buChar char="•"/>
            </a:pPr>
            <a:r>
              <a:rPr lang="en-US">
                <a:latin typeface="Microsoft JhengHei"/>
                <a:ea typeface="Microsoft JhengHei"/>
                <a:cs typeface="Microsoft JhengHei"/>
                <a:sym typeface="Microsoft JhengHei"/>
              </a:rPr>
              <a:t>Target : analyze data to find out the cause.</a:t>
            </a:r>
            <a:endParaRPr/>
          </a:p>
          <a:p>
            <a:pPr indent="0" lvl="0" marL="0" rtl="0" algn="l">
              <a:lnSpc>
                <a:spcPct val="120000"/>
              </a:lnSpc>
              <a:spcBef>
                <a:spcPts val="1000"/>
              </a:spcBef>
              <a:spcAft>
                <a:spcPts val="0"/>
              </a:spcAft>
              <a:buSzPts val="2000"/>
              <a:buNone/>
            </a:pPr>
            <a:r>
              <a:t/>
            </a:r>
            <a:endParaRPr>
              <a:latin typeface="Microsoft JhengHei"/>
              <a:ea typeface="Microsoft JhengHei"/>
              <a:cs typeface="Microsoft JhengHei"/>
              <a:sym typeface="Microsoft JhengHei"/>
            </a:endParaRPr>
          </a:p>
          <a:p>
            <a:pPr indent="-101600" lvl="0" marL="228600" rtl="0" algn="l">
              <a:lnSpc>
                <a:spcPct val="120000"/>
              </a:lnSpc>
              <a:spcBef>
                <a:spcPts val="1000"/>
              </a:spcBef>
              <a:spcAft>
                <a:spcPts val="0"/>
              </a:spcAft>
              <a:buSzPts val="2000"/>
              <a:buNone/>
            </a:pPr>
            <a:r>
              <a:t/>
            </a:r>
            <a:endParaRPr/>
          </a:p>
        </p:txBody>
      </p:sp>
      <p:sp>
        <p:nvSpPr>
          <p:cNvPr id="142" name="Google Shape;142;p16"/>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entury Gothic"/>
              <a:buNone/>
            </a:pPr>
            <a:r>
              <a:rPr lang="en-US"/>
              <a:t>Task Introduce</a:t>
            </a:r>
            <a:endParaRPr/>
          </a:p>
        </p:txBody>
      </p:sp>
      <p:sp>
        <p:nvSpPr>
          <p:cNvPr id="148" name="Google Shape;148;p17"/>
          <p:cNvSpPr txBox="1"/>
          <p:nvPr>
            <p:ph idx="1" type="body"/>
          </p:nvPr>
        </p:nvSpPr>
        <p:spPr>
          <a:xfrm>
            <a:off x="1130270" y="2171769"/>
            <a:ext cx="9603275"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latin typeface="Microsoft JhengHei"/>
                <a:ea typeface="Microsoft JhengHei"/>
                <a:cs typeface="Microsoft JhengHei"/>
                <a:sym typeface="Microsoft JhengHei"/>
              </a:rPr>
              <a:t>But! Before starting to analyze, we know that outliers is largely influence the regression result. </a:t>
            </a:r>
            <a:endParaRPr/>
          </a:p>
          <a:p>
            <a:pPr indent="-228600" lvl="0" marL="228600" rtl="0" algn="l">
              <a:lnSpc>
                <a:spcPct val="120000"/>
              </a:lnSpc>
              <a:spcBef>
                <a:spcPts val="1000"/>
              </a:spcBef>
              <a:spcAft>
                <a:spcPts val="0"/>
              </a:spcAft>
              <a:buSzPts val="2000"/>
              <a:buChar char="•"/>
            </a:pPr>
            <a:r>
              <a:rPr lang="en-US">
                <a:latin typeface="Microsoft JhengHei"/>
                <a:ea typeface="Microsoft JhengHei"/>
                <a:cs typeface="Microsoft JhengHei"/>
                <a:sym typeface="Microsoft JhengHei"/>
              </a:rPr>
              <a:t>It is obvious that hand-pick outlier not a good option, so we use some machine learning algorithm to find outliers. </a:t>
            </a:r>
            <a:endParaRPr/>
          </a:p>
          <a:p>
            <a:pPr indent="-101600" lvl="0" marL="228600" rtl="0" algn="l">
              <a:lnSpc>
                <a:spcPct val="120000"/>
              </a:lnSpc>
              <a:spcBef>
                <a:spcPts val="1000"/>
              </a:spcBef>
              <a:spcAft>
                <a:spcPts val="0"/>
              </a:spcAft>
              <a:buSzPts val="2000"/>
              <a:buNone/>
            </a:pPr>
            <a:r>
              <a:t/>
            </a:r>
            <a:endParaRPr/>
          </a:p>
        </p:txBody>
      </p:sp>
      <p:sp>
        <p:nvSpPr>
          <p:cNvPr id="149" name="Google Shape;149;p17"/>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aphicFrame>
        <p:nvGraphicFramePr>
          <p:cNvPr id="154" name="Google Shape;154;p18"/>
          <p:cNvGraphicFramePr/>
          <p:nvPr/>
        </p:nvGraphicFramePr>
        <p:xfrm>
          <a:off x="2938509" y="1918151"/>
          <a:ext cx="3000000" cy="3000000"/>
        </p:xfrm>
        <a:graphic>
          <a:graphicData uri="http://schemas.openxmlformats.org/drawingml/2006/table">
            <a:tbl>
              <a:tblPr bandRow="1" firstRow="1">
                <a:noFill/>
                <a:tableStyleId>{7A5E19EC-ABA1-4E9D-ACEA-A555ED9E2861}</a:tableStyleId>
              </a:tblPr>
              <a:tblGrid>
                <a:gridCol w="2919100"/>
                <a:gridCol w="2602800"/>
              </a:tblGrid>
              <a:tr h="483750">
                <a:tc>
                  <a:txBody>
                    <a:bodyPr/>
                    <a:lstStyle/>
                    <a:p>
                      <a:pPr indent="0" lvl="0" marL="0" marR="0" rtl="0" algn="l">
                        <a:spcBef>
                          <a:spcPts val="0"/>
                        </a:spcBef>
                        <a:spcAft>
                          <a:spcPts val="0"/>
                        </a:spcAft>
                        <a:buNone/>
                      </a:pPr>
                      <a:r>
                        <a:rPr lang="en-US" sz="1800" u="none" cap="none" strike="noStrike">
                          <a:latin typeface="Microsoft JhengHei"/>
                          <a:ea typeface="Microsoft JhengHei"/>
                          <a:cs typeface="Microsoft JhengHei"/>
                          <a:sym typeface="Microsoft JhengHei"/>
                        </a:rPr>
                        <a:t> Algorithm</a:t>
                      </a:r>
                      <a:endParaRPr sz="1800" u="none" cap="none" strike="noStrike">
                        <a:latin typeface="Microsoft JhengHei"/>
                        <a:ea typeface="Microsoft JhengHei"/>
                        <a:cs typeface="Microsoft JhengHei"/>
                        <a:sym typeface="Microsoft JhengHei"/>
                      </a:endParaRPr>
                    </a:p>
                  </a:txBody>
                  <a:tcPr marT="0" marB="0" marR="68575" marL="68575" anchor="ctr"/>
                </a:tc>
                <a:tc>
                  <a:txBody>
                    <a:bodyPr/>
                    <a:lstStyle/>
                    <a:p>
                      <a:pPr indent="0" lvl="0" marL="0" marR="0" rtl="0" algn="l">
                        <a:spcBef>
                          <a:spcPts val="0"/>
                        </a:spcBef>
                        <a:spcAft>
                          <a:spcPts val="0"/>
                        </a:spcAft>
                        <a:buNone/>
                      </a:pPr>
                      <a:r>
                        <a:rPr lang="en-US" sz="1800" u="none" cap="none" strike="noStrike">
                          <a:latin typeface="Microsoft JhengHei"/>
                          <a:ea typeface="Microsoft JhengHei"/>
                          <a:cs typeface="Microsoft JhengHei"/>
                          <a:sym typeface="Microsoft JhengHei"/>
                        </a:rPr>
                        <a:t>Base on </a:t>
                      </a:r>
                      <a:endParaRPr sz="1800" u="none" cap="none" strike="noStrike">
                        <a:latin typeface="Microsoft JhengHei"/>
                        <a:ea typeface="Microsoft JhengHei"/>
                        <a:cs typeface="Microsoft JhengHei"/>
                        <a:sym typeface="Microsoft JhengHei"/>
                      </a:endParaRPr>
                    </a:p>
                  </a:txBody>
                  <a:tcPr marT="45725" marB="45725" marR="91450" marL="91450" anchor="ctr"/>
                </a:tc>
              </a:tr>
              <a:tr h="483750">
                <a:tc>
                  <a:txBody>
                    <a:bodyPr/>
                    <a:lstStyle/>
                    <a:p>
                      <a:pPr indent="0" lvl="0" marL="0" marR="0" rtl="0" algn="l">
                        <a:spcBef>
                          <a:spcPts val="0"/>
                        </a:spcBef>
                        <a:spcAft>
                          <a:spcPts val="0"/>
                        </a:spcAft>
                        <a:buNone/>
                      </a:pPr>
                      <a:r>
                        <a:rPr lang="en-US" sz="1800" u="none" cap="none" strike="noStrike">
                          <a:solidFill>
                            <a:srgbClr val="000000"/>
                          </a:solidFill>
                          <a:latin typeface="Microsoft JhengHei"/>
                          <a:ea typeface="Microsoft JhengHei"/>
                          <a:cs typeface="Microsoft JhengHei"/>
                          <a:sym typeface="Microsoft JhengHei"/>
                        </a:rPr>
                        <a:t>Box</a:t>
                      </a:r>
                      <a:endParaRPr sz="1800" u="none" cap="none" strike="noStrike">
                        <a:latin typeface="Microsoft JhengHei"/>
                        <a:ea typeface="Microsoft JhengHei"/>
                        <a:cs typeface="Microsoft JhengHei"/>
                        <a:sym typeface="Microsoft JhengHei"/>
                      </a:endParaRPr>
                    </a:p>
                  </a:txBody>
                  <a:tcPr marT="0" marB="0" marR="68575" marL="68575" anchor="ctr"/>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Statistics</a:t>
                      </a:r>
                      <a:endParaRPr sz="1800" u="none" cap="none" strike="noStrike">
                        <a:latin typeface="Times New Roman"/>
                        <a:ea typeface="Times New Roman"/>
                        <a:cs typeface="Times New Roman"/>
                        <a:sym typeface="Times New Roman"/>
                      </a:endParaRPr>
                    </a:p>
                  </a:txBody>
                  <a:tcPr marT="0" marB="0" marR="68575" marL="68575" anchor="ctr"/>
                </a:tc>
              </a:tr>
              <a:tr h="483750">
                <a:tc>
                  <a:txBody>
                    <a:bodyPr/>
                    <a:lstStyle/>
                    <a:p>
                      <a:pPr indent="0" lvl="0" marL="0" marR="0" rtl="0" algn="l">
                        <a:spcBef>
                          <a:spcPts val="0"/>
                        </a:spcBef>
                        <a:spcAft>
                          <a:spcPts val="0"/>
                        </a:spcAft>
                        <a:buNone/>
                      </a:pPr>
                      <a:r>
                        <a:rPr lang="en-US" sz="1800" u="none" cap="none" strike="noStrike">
                          <a:solidFill>
                            <a:srgbClr val="000000"/>
                          </a:solidFill>
                          <a:latin typeface="Microsoft JhengHei"/>
                          <a:ea typeface="Microsoft JhengHei"/>
                          <a:cs typeface="Microsoft JhengHei"/>
                          <a:sym typeface="Microsoft JhengHei"/>
                        </a:rPr>
                        <a:t>ABOD</a:t>
                      </a:r>
                      <a:endParaRPr sz="1800" u="none" cap="none" strike="noStrike">
                        <a:latin typeface="Microsoft JhengHei"/>
                        <a:ea typeface="Microsoft JhengHei"/>
                        <a:cs typeface="Microsoft JhengHei"/>
                        <a:sym typeface="Microsoft JhengHei"/>
                      </a:endParaRPr>
                    </a:p>
                  </a:txBody>
                  <a:tcPr marT="0" marB="0" marR="68575" marL="68575" anchor="ctr"/>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Angle-base</a:t>
                      </a:r>
                      <a:endParaRPr sz="1800" u="none" cap="none" strike="noStrike">
                        <a:latin typeface="Times New Roman"/>
                        <a:ea typeface="Times New Roman"/>
                        <a:cs typeface="Times New Roman"/>
                        <a:sym typeface="Times New Roman"/>
                      </a:endParaRPr>
                    </a:p>
                  </a:txBody>
                  <a:tcPr marT="0" marB="0" marR="68575" marL="68575" anchor="ctr"/>
                </a:tc>
              </a:tr>
              <a:tr h="483750">
                <a:tc>
                  <a:txBody>
                    <a:bodyPr/>
                    <a:lstStyle/>
                    <a:p>
                      <a:pPr indent="0" lvl="0" marL="0" marR="0" rtl="0" algn="l">
                        <a:spcBef>
                          <a:spcPts val="0"/>
                        </a:spcBef>
                        <a:spcAft>
                          <a:spcPts val="0"/>
                        </a:spcAft>
                        <a:buNone/>
                      </a:pPr>
                      <a:r>
                        <a:rPr lang="en-US" sz="1800" u="none" cap="none" strike="noStrike">
                          <a:solidFill>
                            <a:srgbClr val="000000"/>
                          </a:solidFill>
                          <a:latin typeface="Microsoft JhengHei"/>
                          <a:ea typeface="Microsoft JhengHei"/>
                          <a:cs typeface="Microsoft JhengHei"/>
                          <a:sym typeface="Microsoft JhengHei"/>
                        </a:rPr>
                        <a:t>CBLOF</a:t>
                      </a:r>
                      <a:endParaRPr sz="1800" u="none" cap="none" strike="noStrike">
                        <a:latin typeface="Microsoft JhengHei"/>
                        <a:ea typeface="Microsoft JhengHei"/>
                        <a:cs typeface="Microsoft JhengHei"/>
                        <a:sym typeface="Microsoft JhengHei"/>
                      </a:endParaRPr>
                    </a:p>
                  </a:txBody>
                  <a:tcPr marT="0" marB="0" marR="68575" marL="68575" anchor="ctr"/>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Clustering-based</a:t>
                      </a:r>
                      <a:endParaRPr sz="1800" u="none" cap="none" strike="noStrike">
                        <a:latin typeface="Times New Roman"/>
                        <a:ea typeface="Times New Roman"/>
                        <a:cs typeface="Times New Roman"/>
                        <a:sym typeface="Times New Roman"/>
                      </a:endParaRPr>
                    </a:p>
                  </a:txBody>
                  <a:tcPr marT="0" marB="0" marR="68575" marL="68575" anchor="ctr"/>
                </a:tc>
              </a:tr>
              <a:tr h="483750">
                <a:tc>
                  <a:txBody>
                    <a:bodyPr/>
                    <a:lstStyle/>
                    <a:p>
                      <a:pPr indent="0" lvl="0" marL="0" marR="0" rtl="0" algn="l">
                        <a:spcBef>
                          <a:spcPts val="0"/>
                        </a:spcBef>
                        <a:spcAft>
                          <a:spcPts val="0"/>
                        </a:spcAft>
                        <a:buNone/>
                      </a:pPr>
                      <a:r>
                        <a:rPr lang="en-US" sz="1800" u="none" cap="none" strike="noStrike">
                          <a:solidFill>
                            <a:srgbClr val="000000"/>
                          </a:solidFill>
                          <a:latin typeface="Microsoft JhengHei"/>
                          <a:ea typeface="Microsoft JhengHei"/>
                          <a:cs typeface="Microsoft JhengHei"/>
                          <a:sym typeface="Microsoft JhengHei"/>
                        </a:rPr>
                        <a:t>IForest</a:t>
                      </a:r>
                      <a:endParaRPr sz="1800" u="none" cap="none" strike="noStrike">
                        <a:latin typeface="Microsoft JhengHei"/>
                        <a:ea typeface="Microsoft JhengHei"/>
                        <a:cs typeface="Microsoft JhengHei"/>
                        <a:sym typeface="Microsoft JhengHei"/>
                      </a:endParaRPr>
                    </a:p>
                  </a:txBody>
                  <a:tcPr marT="0" marB="0" marR="68575" marL="68575" anchor="ctr"/>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Ensemble</a:t>
                      </a:r>
                      <a:endParaRPr sz="1800" u="none" cap="none" strike="noStrike">
                        <a:latin typeface="Times New Roman"/>
                        <a:ea typeface="Times New Roman"/>
                        <a:cs typeface="Times New Roman"/>
                        <a:sym typeface="Times New Roman"/>
                      </a:endParaRPr>
                    </a:p>
                  </a:txBody>
                  <a:tcPr marT="0" marB="0" marR="68575" marL="68575" anchor="ctr"/>
                </a:tc>
              </a:tr>
              <a:tr h="483750">
                <a:tc>
                  <a:txBody>
                    <a:bodyPr/>
                    <a:lstStyle/>
                    <a:p>
                      <a:pPr indent="0" lvl="0" marL="0" marR="0" rtl="0" algn="l">
                        <a:spcBef>
                          <a:spcPts val="0"/>
                        </a:spcBef>
                        <a:spcAft>
                          <a:spcPts val="0"/>
                        </a:spcAft>
                        <a:buNone/>
                      </a:pPr>
                      <a:r>
                        <a:rPr lang="en-US" sz="1800" u="none" cap="none" strike="noStrike">
                          <a:solidFill>
                            <a:srgbClr val="000000"/>
                          </a:solidFill>
                          <a:latin typeface="Microsoft JhengHei"/>
                          <a:ea typeface="Microsoft JhengHei"/>
                          <a:cs typeface="Microsoft JhengHei"/>
                          <a:sym typeface="Microsoft JhengHei"/>
                        </a:rPr>
                        <a:t>Feature Bagging</a:t>
                      </a:r>
                      <a:endParaRPr sz="1800" u="none" cap="none" strike="noStrike">
                        <a:latin typeface="Microsoft JhengHei"/>
                        <a:ea typeface="Microsoft JhengHei"/>
                        <a:cs typeface="Microsoft JhengHei"/>
                        <a:sym typeface="Microsoft JhengHei"/>
                      </a:endParaRPr>
                    </a:p>
                  </a:txBody>
                  <a:tcPr marT="0" marB="0" marR="68575" marL="68575" anchor="ctr"/>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Ensemble</a:t>
                      </a:r>
                      <a:endParaRPr sz="1800" u="none" cap="none" strike="noStrike">
                        <a:latin typeface="Times New Roman"/>
                        <a:ea typeface="Times New Roman"/>
                        <a:cs typeface="Times New Roman"/>
                        <a:sym typeface="Times New Roman"/>
                      </a:endParaRPr>
                    </a:p>
                  </a:txBody>
                  <a:tcPr marT="0" marB="0" marR="68575" marL="68575" anchor="ctr"/>
                </a:tc>
              </a:tr>
            </a:tbl>
          </a:graphicData>
        </a:graphic>
      </p:graphicFrame>
      <p:sp>
        <p:nvSpPr>
          <p:cNvPr id="155" name="Google Shape;155;p18"/>
          <p:cNvSpPr/>
          <p:nvPr/>
        </p:nvSpPr>
        <p:spPr>
          <a:xfrm>
            <a:off x="5699464" y="3858011"/>
            <a:ext cx="1624614" cy="878889"/>
          </a:xfrm>
          <a:prstGeom prst="roundRect">
            <a:avLst>
              <a:gd fmla="val 16667" name="adj"/>
            </a:avLst>
          </a:prstGeom>
          <a:noFill/>
          <a:ln cap="flat" cmpd="sng" w="5715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5"/>
              </a:buClr>
              <a:buSzPts val="1800"/>
              <a:buFont typeface="Century Gothic"/>
              <a:buNone/>
            </a:pPr>
            <a:r>
              <a:t/>
            </a:r>
            <a:endParaRPr b="0" i="0" sz="1800" u="none" cap="none" strike="noStrike">
              <a:solidFill>
                <a:srgbClr val="DF8822"/>
              </a:solidFill>
              <a:latin typeface="Century Gothic"/>
              <a:ea typeface="Century Gothic"/>
              <a:cs typeface="Century Gothic"/>
              <a:sym typeface="Century Gothic"/>
            </a:endParaRPr>
          </a:p>
        </p:txBody>
      </p:sp>
      <p:sp>
        <p:nvSpPr>
          <p:cNvPr id="156" name="Google Shape;156;p18"/>
          <p:cNvSpPr/>
          <p:nvPr/>
        </p:nvSpPr>
        <p:spPr>
          <a:xfrm>
            <a:off x="5584769" y="4859775"/>
            <a:ext cx="3126912" cy="563730"/>
          </a:xfrm>
          <a:prstGeom prst="roundRect">
            <a:avLst>
              <a:gd fmla="val 16667" name="adj"/>
            </a:avLst>
          </a:prstGeom>
          <a:solidFill>
            <a:schemeClr val="accent1"/>
          </a:solidFill>
          <a:ln cap="flat" cmpd="sng" w="15875">
            <a:solidFill>
              <a:srgbClr val="2F3E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imes New Roman"/>
              <a:buNone/>
            </a:pPr>
            <a:r>
              <a:rPr b="0" i="0" lang="en-US" sz="1800" u="none" cap="none" strike="noStrike">
                <a:solidFill>
                  <a:srgbClr val="FFFFFF"/>
                </a:solidFill>
                <a:latin typeface="Times New Roman"/>
                <a:ea typeface="Times New Roman"/>
                <a:cs typeface="Times New Roman"/>
                <a:sym typeface="Times New Roman"/>
              </a:rPr>
              <a:t>Combine some weak classifier to become a strong classifier</a:t>
            </a:r>
            <a:endParaRPr b="0" i="0" sz="1800" u="none" cap="none" strike="noStrike">
              <a:solidFill>
                <a:srgbClr val="FFFFFF"/>
              </a:solidFill>
              <a:latin typeface="Times New Roman"/>
              <a:ea typeface="Times New Roman"/>
              <a:cs typeface="Times New Roman"/>
              <a:sym typeface="Times New Roman"/>
            </a:endParaRPr>
          </a:p>
        </p:txBody>
      </p:sp>
      <p:sp>
        <p:nvSpPr>
          <p:cNvPr id="157" name="Google Shape;157;p18"/>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415588"/>
              </a:buClr>
              <a:buSzPts val="2800"/>
              <a:buFont typeface="Century Gothic"/>
              <a:buNone/>
            </a:pPr>
            <a:fld id="{00000000-1234-1234-1234-123412341234}" type="slidenum">
              <a:rPr b="0" i="0" lang="en-US" sz="2800" u="none" cap="none" strike="noStrike">
                <a:solidFill>
                  <a:srgbClr val="415588"/>
                </a:solidFill>
                <a:latin typeface="Century Gothic"/>
                <a:ea typeface="Century Gothic"/>
                <a:cs typeface="Century Gothic"/>
                <a:sym typeface="Century Gothic"/>
              </a:rPr>
              <a:t>‹#›</a:t>
            </a:fld>
            <a:endParaRPr b="0" i="0" sz="2800" u="none" cap="none" strike="noStrike">
              <a:solidFill>
                <a:srgbClr val="415588"/>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Box</a:t>
            </a:r>
            <a:endParaRPr/>
          </a:p>
        </p:txBody>
      </p:sp>
      <p:sp>
        <p:nvSpPr>
          <p:cNvPr id="163" name="Google Shape;163;p19"/>
          <p:cNvSpPr txBox="1"/>
          <p:nvPr>
            <p:ph idx="1" type="body"/>
          </p:nvPr>
        </p:nvSpPr>
        <p:spPr>
          <a:xfrm>
            <a:off x="1125820" y="1725560"/>
            <a:ext cx="9603275" cy="3294576"/>
          </a:xfrm>
          <a:prstGeom prst="rect">
            <a:avLst/>
          </a:prstGeom>
          <a:blipFill rotWithShape="1">
            <a:blip r:embed="rId3">
              <a:alphaModFix/>
            </a:blip>
            <a:stretch>
              <a:fillRect b="0" l="-570" r="0" t="0"/>
            </a:stretch>
          </a:blip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 </a:t>
            </a:r>
            <a:endParaRPr/>
          </a:p>
        </p:txBody>
      </p:sp>
      <p:pic>
        <p:nvPicPr>
          <p:cNvPr descr="Understanding Boxplots. The image above is a boxplot. A boxplot… | by  Michael Galarnyk | Towards Data Science" id="164" name="Google Shape;164;p19"/>
          <p:cNvPicPr preferRelativeResize="0"/>
          <p:nvPr/>
        </p:nvPicPr>
        <p:blipFill rotWithShape="1">
          <a:blip r:embed="rId4">
            <a:alphaModFix/>
          </a:blip>
          <a:srcRect b="0" l="0" r="0" t="0"/>
          <a:stretch/>
        </p:blipFill>
        <p:spPr>
          <a:xfrm>
            <a:off x="4402624" y="2648890"/>
            <a:ext cx="6970450" cy="3485225"/>
          </a:xfrm>
          <a:prstGeom prst="rect">
            <a:avLst/>
          </a:prstGeom>
          <a:noFill/>
          <a:ln>
            <a:noFill/>
          </a:ln>
        </p:spPr>
      </p:pic>
      <p:sp>
        <p:nvSpPr>
          <p:cNvPr id="165" name="Google Shape;165;p19"/>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3200"/>
              <a:buFont typeface="Microsoft JhengHei"/>
              <a:buNone/>
            </a:pPr>
            <a:r>
              <a:rPr lang="en-US">
                <a:solidFill>
                  <a:srgbClr val="000000"/>
                </a:solidFill>
                <a:latin typeface="Microsoft JhengHei"/>
                <a:ea typeface="Microsoft JhengHei"/>
                <a:cs typeface="Microsoft JhengHei"/>
                <a:sym typeface="Microsoft JhengHei"/>
              </a:rPr>
              <a:t>ABOD</a:t>
            </a:r>
            <a:endParaRPr/>
          </a:p>
        </p:txBody>
      </p:sp>
      <p:sp>
        <p:nvSpPr>
          <p:cNvPr id="171" name="Google Shape;171;p20"/>
          <p:cNvSpPr txBox="1"/>
          <p:nvPr>
            <p:ph idx="1" type="body"/>
          </p:nvPr>
        </p:nvSpPr>
        <p:spPr>
          <a:xfrm>
            <a:off x="1130270" y="1600200"/>
            <a:ext cx="9603275" cy="386614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Angle-based</a:t>
            </a:r>
            <a:endParaRPr/>
          </a:p>
          <a:p>
            <a:pPr indent="-228600" lvl="0" marL="228600" rtl="0" algn="l">
              <a:lnSpc>
                <a:spcPct val="120000"/>
              </a:lnSpc>
              <a:spcBef>
                <a:spcPts val="1000"/>
              </a:spcBef>
              <a:spcAft>
                <a:spcPts val="0"/>
              </a:spcAft>
              <a:buSzPts val="2000"/>
              <a:buChar char="•"/>
            </a:pPr>
            <a:r>
              <a:rPr lang="en-US"/>
              <a:t>The performance is more stable than distance in high dimensional</a:t>
            </a:r>
            <a:endParaRPr/>
          </a:p>
          <a:p>
            <a:pPr indent="-101600" lvl="0" marL="228600" rtl="0" algn="l">
              <a:lnSpc>
                <a:spcPct val="120000"/>
              </a:lnSpc>
              <a:spcBef>
                <a:spcPts val="1000"/>
              </a:spcBef>
              <a:spcAft>
                <a:spcPts val="0"/>
              </a:spcAft>
              <a:buSzPts val="2000"/>
              <a:buNone/>
            </a:pPr>
            <a:r>
              <a:t/>
            </a:r>
            <a:endParaRPr/>
          </a:p>
        </p:txBody>
      </p:sp>
      <p:sp>
        <p:nvSpPr>
          <p:cNvPr id="172" name="Google Shape;172;p20"/>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3" name="Google Shape;173;p20"/>
          <p:cNvPicPr preferRelativeResize="0"/>
          <p:nvPr/>
        </p:nvPicPr>
        <p:blipFill rotWithShape="1">
          <a:blip r:embed="rId3">
            <a:alphaModFix/>
          </a:blip>
          <a:srcRect b="0" l="0" r="0" t="0"/>
          <a:stretch/>
        </p:blipFill>
        <p:spPr>
          <a:xfrm>
            <a:off x="8450930" y="2933378"/>
            <a:ext cx="3478734" cy="2802507"/>
          </a:xfrm>
          <a:prstGeom prst="rect">
            <a:avLst/>
          </a:prstGeom>
          <a:noFill/>
          <a:ln>
            <a:noFill/>
          </a:ln>
        </p:spPr>
      </p:pic>
      <p:sp>
        <p:nvSpPr>
          <p:cNvPr id="174" name="Google Shape;174;p20"/>
          <p:cNvSpPr/>
          <p:nvPr/>
        </p:nvSpPr>
        <p:spPr>
          <a:xfrm>
            <a:off x="1477482" y="3457468"/>
            <a:ext cx="6626237" cy="1754326"/>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Arial"/>
                <a:ea typeface="Arial"/>
                <a:cs typeface="Arial"/>
                <a:sym typeface="Arial"/>
              </a:rPr>
              <a:t>In the right graph, the </a:t>
            </a:r>
            <a:r>
              <a:rPr b="0" i="0" lang="en-US" sz="1800" u="none" cap="none" strike="noStrike">
                <a:solidFill>
                  <a:srgbClr val="FF0000"/>
                </a:solidFill>
                <a:latin typeface="Arial"/>
                <a:ea typeface="Arial"/>
                <a:cs typeface="Arial"/>
                <a:sym typeface="Arial"/>
              </a:rPr>
              <a:t>variance</a:t>
            </a:r>
            <a:r>
              <a:rPr b="0" i="0" lang="en-US" sz="1800" u="none" cap="none" strike="noStrike">
                <a:solidFill>
                  <a:schemeClr val="dk1"/>
                </a:solidFill>
                <a:latin typeface="Arial"/>
                <a:ea typeface="Arial"/>
                <a:cs typeface="Arial"/>
                <a:sym typeface="Arial"/>
              </a:rPr>
              <a:t> ( of all the possible angles to rest of the data points)  for the farthest data point P will be lesser as compared to the nearer data points. Thus </a:t>
            </a:r>
            <a:r>
              <a:rPr b="0" i="0" lang="en-US" sz="1800" u="none" cap="none" strike="noStrike">
                <a:solidFill>
                  <a:srgbClr val="FF0000"/>
                </a:solidFill>
                <a:latin typeface="Arial"/>
                <a:ea typeface="Arial"/>
                <a:cs typeface="Arial"/>
                <a:sym typeface="Arial"/>
              </a:rPr>
              <a:t>the data point with less variance of angle will be considered as an outlier</a:t>
            </a: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CBLOF</a:t>
            </a:r>
            <a:endParaRPr/>
          </a:p>
        </p:txBody>
      </p:sp>
      <p:sp>
        <p:nvSpPr>
          <p:cNvPr id="180" name="Google Shape;180;p21"/>
          <p:cNvSpPr txBox="1"/>
          <p:nvPr>
            <p:ph idx="1" type="body"/>
          </p:nvPr>
        </p:nvSpPr>
        <p:spPr>
          <a:xfrm>
            <a:off x="1130270" y="1684999"/>
            <a:ext cx="9603275"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Clustering Based Local Outlier Factor</a:t>
            </a:r>
            <a:endParaRPr/>
          </a:p>
        </p:txBody>
      </p:sp>
      <p:sp>
        <p:nvSpPr>
          <p:cNvPr id="181" name="Google Shape;181;p21"/>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2" name="Google Shape;182;p21"/>
          <p:cNvPicPr preferRelativeResize="0"/>
          <p:nvPr/>
        </p:nvPicPr>
        <p:blipFill rotWithShape="1">
          <a:blip r:embed="rId3">
            <a:alphaModFix/>
          </a:blip>
          <a:srcRect b="0" l="0" r="0" t="0"/>
          <a:stretch/>
        </p:blipFill>
        <p:spPr>
          <a:xfrm>
            <a:off x="7623436" y="2460904"/>
            <a:ext cx="4272464" cy="3309153"/>
          </a:xfrm>
          <a:prstGeom prst="rect">
            <a:avLst/>
          </a:prstGeom>
          <a:noFill/>
          <a:ln>
            <a:noFill/>
          </a:ln>
        </p:spPr>
      </p:pic>
      <p:sp>
        <p:nvSpPr>
          <p:cNvPr id="183" name="Google Shape;183;p21"/>
          <p:cNvSpPr/>
          <p:nvPr/>
        </p:nvSpPr>
        <p:spPr>
          <a:xfrm>
            <a:off x="1346867" y="2611979"/>
            <a:ext cx="6189105" cy="300082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Arial"/>
                <a:ea typeface="Arial"/>
                <a:cs typeface="Arial"/>
                <a:sym typeface="Arial"/>
              </a:rPr>
              <a:t>When a point is closer to a large cluster, the probability of it being a normal point is higher. Then, we will use k-means algorithm to cluster data in CBLOF. So, we have the four clusters in the right picture. Here, we can clearly see that C2, C3, C4 are three large clusters, and the remaining C1 is a small cluster. Then, </a:t>
            </a:r>
            <a:r>
              <a:rPr b="0" i="0" lang="en-US" sz="1800" u="none" cap="none" strike="noStrike">
                <a:solidFill>
                  <a:srgbClr val="FF0000"/>
                </a:solidFill>
                <a:latin typeface="Arial"/>
                <a:ea typeface="Arial"/>
                <a:cs typeface="Arial"/>
                <a:sym typeface="Arial"/>
              </a:rPr>
              <a:t>the closer it is to the center of C2, C3 or C4, the more normal it is</a:t>
            </a:r>
            <a:r>
              <a:rPr b="0" i="0" lang="en-US" sz="1800" u="none" cap="none" strike="noStrike">
                <a:solidFill>
                  <a:schemeClr val="dk1"/>
                </a:solidFill>
                <a:latin typeface="Arial"/>
                <a:ea typeface="Arial"/>
                <a:cs typeface="Arial"/>
                <a:sym typeface="Arial"/>
              </a:rPr>
              <a:t>, and vice versa.</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KNN in PyOD(NearestNeighbors)</a:t>
            </a:r>
            <a:endParaRPr/>
          </a:p>
        </p:txBody>
      </p:sp>
      <p:sp>
        <p:nvSpPr>
          <p:cNvPr id="189" name="Google Shape;189;p22"/>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0" name="Google Shape;190;p22"/>
          <p:cNvSpPr/>
          <p:nvPr/>
        </p:nvSpPr>
        <p:spPr>
          <a:xfrm>
            <a:off x="1622665" y="2070532"/>
            <a:ext cx="8618484" cy="300082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Arial"/>
                <a:ea typeface="Arial"/>
                <a:cs typeface="Arial"/>
                <a:sym typeface="Arial"/>
              </a:rPr>
              <a:t>The traditional KNN is a supervised algorithm, and the data must be labeled in advance. Here we use the KNN algorithm in PyOD, which is a scalable Python toolkit for detecting outliers in multivariate data. After checking the code content of the PyOD KNN algorithm, it uses the </a:t>
            </a:r>
            <a:r>
              <a:rPr b="0" i="0" lang="en-US" sz="1800" u="none" cap="none" strike="noStrike">
                <a:solidFill>
                  <a:srgbClr val="FF0000"/>
                </a:solidFill>
                <a:latin typeface="Arial"/>
                <a:ea typeface="Arial"/>
                <a:cs typeface="Arial"/>
                <a:sym typeface="Arial"/>
              </a:rPr>
              <a:t>NearestNeighbors</a:t>
            </a:r>
            <a:r>
              <a:rPr b="0" i="0" lang="en-US" sz="1800" u="none" cap="none" strike="noStrike">
                <a:solidFill>
                  <a:schemeClr val="dk1"/>
                </a:solidFill>
                <a:latin typeface="Arial"/>
                <a:ea typeface="Arial"/>
                <a:cs typeface="Arial"/>
                <a:sym typeface="Arial"/>
              </a:rPr>
              <a:t> method, which is different from the original KNN, this is an </a:t>
            </a:r>
            <a:r>
              <a:rPr b="0" i="0" lang="en-US" sz="1800" u="none" cap="none" strike="noStrike">
                <a:solidFill>
                  <a:srgbClr val="FF0000"/>
                </a:solidFill>
                <a:latin typeface="Arial"/>
                <a:ea typeface="Arial"/>
                <a:cs typeface="Arial"/>
                <a:sym typeface="Arial"/>
              </a:rPr>
              <a:t>unsupervised</a:t>
            </a:r>
            <a:r>
              <a:rPr b="0" i="0" lang="en-US" sz="1800" u="none" cap="none" strike="noStrike">
                <a:solidFill>
                  <a:schemeClr val="dk1"/>
                </a:solidFill>
                <a:latin typeface="Arial"/>
                <a:ea typeface="Arial"/>
                <a:cs typeface="Arial"/>
                <a:sym typeface="Arial"/>
              </a:rPr>
              <a:t> algorithm.</a:t>
            </a:r>
            <a:endParaRPr/>
          </a:p>
          <a:p>
            <a:pPr indent="0" lvl="0" marL="0" marR="0" rtl="0" algn="l">
              <a:lnSpc>
                <a:spcPct val="150000"/>
              </a:lnSpc>
              <a:spcBef>
                <a:spcPts val="0"/>
              </a:spcBef>
              <a:spcAft>
                <a:spcPts val="0"/>
              </a:spcAft>
              <a:buNone/>
            </a:pPr>
            <a:r>
              <a:rPr b="0" i="0" lang="en-US" sz="1800" u="none" cap="none" strike="noStrike">
                <a:solidFill>
                  <a:schemeClr val="dk1"/>
                </a:solidFill>
                <a:latin typeface="Arial"/>
                <a:ea typeface="Arial"/>
                <a:cs typeface="Arial"/>
                <a:sym typeface="Arial"/>
              </a:rPr>
              <a:t>Because our data are </a:t>
            </a:r>
            <a:r>
              <a:rPr b="0" i="0" lang="en-US" sz="1800" u="none" cap="none" strike="noStrike">
                <a:solidFill>
                  <a:srgbClr val="FF0000"/>
                </a:solidFill>
                <a:latin typeface="Arial"/>
                <a:ea typeface="Arial"/>
                <a:cs typeface="Arial"/>
                <a:sym typeface="Arial"/>
              </a:rPr>
              <a:t>without any label data and reasonable operation range</a:t>
            </a:r>
            <a:r>
              <a:rPr b="0" i="0" lang="en-US" sz="1800" u="none" cap="none" strike="noStrike">
                <a:solidFill>
                  <a:schemeClr val="dk1"/>
                </a:solidFill>
                <a:latin typeface="Arial"/>
                <a:ea typeface="Arial"/>
                <a:cs typeface="Arial"/>
                <a:sym typeface="Arial"/>
              </a:rPr>
              <a:t>, we </a:t>
            </a:r>
            <a:r>
              <a:rPr b="0" i="0" lang="en-US" sz="1800" u="none" cap="none" strike="noStrike">
                <a:solidFill>
                  <a:srgbClr val="FF0000"/>
                </a:solidFill>
                <a:latin typeface="Arial"/>
                <a:ea typeface="Arial"/>
                <a:cs typeface="Arial"/>
                <a:sym typeface="Arial"/>
              </a:rPr>
              <a:t>can’t use supervised</a:t>
            </a:r>
            <a:r>
              <a:rPr b="0" i="0" lang="en-US" sz="1800" u="none" cap="none" strike="noStrike">
                <a:solidFill>
                  <a:schemeClr val="dk1"/>
                </a:solidFill>
                <a:latin typeface="Arial"/>
                <a:ea typeface="Arial"/>
                <a:cs typeface="Arial"/>
                <a:sym typeface="Arial"/>
              </a:rPr>
              <a:t> algorithm.</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6" name="Google Shape;196;p23"/>
          <p:cNvPicPr preferRelativeResize="0"/>
          <p:nvPr/>
        </p:nvPicPr>
        <p:blipFill rotWithShape="1">
          <a:blip r:embed="rId3">
            <a:alphaModFix/>
          </a:blip>
          <a:srcRect b="0" l="0" r="0" t="0"/>
          <a:stretch/>
        </p:blipFill>
        <p:spPr>
          <a:xfrm>
            <a:off x="2724478" y="863533"/>
            <a:ext cx="6230337" cy="5892925"/>
          </a:xfrm>
          <a:prstGeom prst="rect">
            <a:avLst/>
          </a:prstGeom>
          <a:noFill/>
          <a:ln>
            <a:noFill/>
          </a:ln>
        </p:spPr>
      </p:pic>
      <p:sp>
        <p:nvSpPr>
          <p:cNvPr id="197" name="Google Shape;197;p23"/>
          <p:cNvSpPr/>
          <p:nvPr/>
        </p:nvSpPr>
        <p:spPr>
          <a:xfrm>
            <a:off x="1140043" y="129159"/>
            <a:ext cx="6364243"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Century Gothic"/>
                <a:ea typeface="Century Gothic"/>
                <a:cs typeface="Century Gothic"/>
                <a:sym typeface="Century Gothic"/>
              </a:rPr>
              <a:t>Part of Source code for PyOD.models.knn</a:t>
            </a:r>
            <a:endParaRPr sz="2400">
              <a:solidFill>
                <a:schemeClr val="dk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1130270" y="953324"/>
            <a:ext cx="6523889"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Flow chart of outlier detection based on KNN algorithm</a:t>
            </a:r>
            <a:endParaRPr/>
          </a:p>
        </p:txBody>
      </p:sp>
      <p:sp>
        <p:nvSpPr>
          <p:cNvPr id="203" name="Google Shape;203;p24"/>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4" name="Google Shape;204;p24"/>
          <p:cNvPicPr preferRelativeResize="0"/>
          <p:nvPr/>
        </p:nvPicPr>
        <p:blipFill rotWithShape="1">
          <a:blip r:embed="rId3">
            <a:alphaModFix/>
          </a:blip>
          <a:srcRect b="0" l="0" r="0" t="0"/>
          <a:stretch/>
        </p:blipFill>
        <p:spPr>
          <a:xfrm>
            <a:off x="8689193" y="1143000"/>
            <a:ext cx="1973832" cy="55740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Ensemble</a:t>
            </a:r>
            <a:endParaRPr/>
          </a:p>
        </p:txBody>
      </p:sp>
      <p:sp>
        <p:nvSpPr>
          <p:cNvPr id="210" name="Google Shape;210;p25"/>
          <p:cNvSpPr txBox="1"/>
          <p:nvPr>
            <p:ph idx="1" type="body"/>
          </p:nvPr>
        </p:nvSpPr>
        <p:spPr>
          <a:xfrm>
            <a:off x="1125820" y="1659389"/>
            <a:ext cx="6425863" cy="1296645"/>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Iforest  </a:t>
            </a:r>
            <a:endParaRPr/>
          </a:p>
          <a:p>
            <a:pPr indent="-228600" lvl="1" marL="685800" rtl="0" algn="l">
              <a:lnSpc>
                <a:spcPct val="120000"/>
              </a:lnSpc>
              <a:spcBef>
                <a:spcPts val="500"/>
              </a:spcBef>
              <a:spcAft>
                <a:spcPts val="0"/>
              </a:spcAft>
              <a:buSzPts val="1800"/>
              <a:buChar char="•"/>
            </a:pPr>
            <a:r>
              <a:rPr lang="en-US"/>
              <a:t>Use multiple independent trees to train. </a:t>
            </a:r>
            <a:endParaRPr/>
          </a:p>
          <a:p>
            <a:pPr indent="-228600" lvl="1" marL="685800" rtl="0" algn="l">
              <a:lnSpc>
                <a:spcPct val="120000"/>
              </a:lnSpc>
              <a:spcBef>
                <a:spcPts val="500"/>
              </a:spcBef>
              <a:spcAft>
                <a:spcPts val="0"/>
              </a:spcAft>
              <a:buSzPts val="1800"/>
              <a:buChar char="•"/>
            </a:pPr>
            <a:r>
              <a:rPr lang="en-US"/>
              <a:t>Result use average of each tree score. </a:t>
            </a:r>
            <a:endParaRPr/>
          </a:p>
        </p:txBody>
      </p:sp>
      <p:sp>
        <p:nvSpPr>
          <p:cNvPr id="211" name="Google Shape;211;p25"/>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2" name="Google Shape;212;p25"/>
          <p:cNvPicPr preferRelativeResize="0"/>
          <p:nvPr/>
        </p:nvPicPr>
        <p:blipFill rotWithShape="1">
          <a:blip r:embed="rId3">
            <a:alphaModFix/>
          </a:blip>
          <a:srcRect b="0" l="0" r="0" t="0"/>
          <a:stretch/>
        </p:blipFill>
        <p:spPr>
          <a:xfrm>
            <a:off x="3482162" y="3105806"/>
            <a:ext cx="4899489" cy="26722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Ensemble</a:t>
            </a:r>
            <a:endParaRPr/>
          </a:p>
        </p:txBody>
      </p:sp>
      <p:sp>
        <p:nvSpPr>
          <p:cNvPr id="218" name="Google Shape;218;p26"/>
          <p:cNvSpPr txBox="1"/>
          <p:nvPr>
            <p:ph idx="1" type="body"/>
          </p:nvPr>
        </p:nvSpPr>
        <p:spPr>
          <a:xfrm>
            <a:off x="1125820" y="1643624"/>
            <a:ext cx="9603275"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Feature Bagging</a:t>
            </a:r>
            <a:endParaRPr/>
          </a:p>
          <a:p>
            <a:pPr indent="-228600" lvl="1" marL="685800" rtl="0" algn="l">
              <a:lnSpc>
                <a:spcPct val="120000"/>
              </a:lnSpc>
              <a:spcBef>
                <a:spcPts val="500"/>
              </a:spcBef>
              <a:spcAft>
                <a:spcPts val="0"/>
              </a:spcAft>
              <a:buSzPts val="1800"/>
              <a:buChar char="•"/>
            </a:pPr>
            <a:r>
              <a:rPr lang="en-US"/>
              <a:t>Randomly draw and put data back</a:t>
            </a:r>
            <a:endParaRPr/>
          </a:p>
          <a:p>
            <a:pPr indent="-228600" lvl="1" marL="685800" rtl="0" algn="l">
              <a:lnSpc>
                <a:spcPct val="120000"/>
              </a:lnSpc>
              <a:spcBef>
                <a:spcPts val="500"/>
              </a:spcBef>
              <a:spcAft>
                <a:spcPts val="0"/>
              </a:spcAft>
              <a:buSzPts val="1800"/>
              <a:buChar char="•"/>
            </a:pPr>
            <a:r>
              <a:rPr lang="en-US"/>
              <a:t>Train each weak classifier, </a:t>
            </a:r>
            <a:endParaRPr/>
          </a:p>
          <a:p>
            <a:pPr indent="-228600" lvl="1" marL="685800" rtl="0" algn="l">
              <a:lnSpc>
                <a:spcPct val="120000"/>
              </a:lnSpc>
              <a:spcBef>
                <a:spcPts val="500"/>
              </a:spcBef>
              <a:spcAft>
                <a:spcPts val="0"/>
              </a:spcAft>
              <a:buSzPts val="1800"/>
              <a:buChar char="•"/>
            </a:pPr>
            <a:r>
              <a:rPr lang="en-US"/>
              <a:t>Result is determine by voting.</a:t>
            </a:r>
            <a:endParaRPr/>
          </a:p>
        </p:txBody>
      </p:sp>
      <p:sp>
        <p:nvSpPr>
          <p:cNvPr id="219" name="Google Shape;219;p26"/>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How to evaluate</a:t>
            </a:r>
            <a:endParaRPr/>
          </a:p>
        </p:txBody>
      </p:sp>
      <p:sp>
        <p:nvSpPr>
          <p:cNvPr id="225" name="Google Shape;225;p27"/>
          <p:cNvSpPr txBox="1"/>
          <p:nvPr>
            <p:ph idx="1" type="body"/>
          </p:nvPr>
        </p:nvSpPr>
        <p:spPr>
          <a:xfrm>
            <a:off x="1130270" y="2215311"/>
            <a:ext cx="10665586"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Each of algorithm base on its rule ( XXX-base) to give their result…</a:t>
            </a:r>
            <a:endParaRPr/>
          </a:p>
          <a:p>
            <a:pPr indent="-228600" lvl="0" marL="228600" rtl="0" algn="l">
              <a:lnSpc>
                <a:spcPct val="120000"/>
              </a:lnSpc>
              <a:spcBef>
                <a:spcPts val="1000"/>
              </a:spcBef>
              <a:spcAft>
                <a:spcPts val="0"/>
              </a:spcAft>
              <a:buSzPts val="2000"/>
              <a:buChar char="•"/>
            </a:pPr>
            <a:r>
              <a:rPr lang="en-US"/>
              <a:t>We need a way to judge whether the results are good or bad</a:t>
            </a:r>
            <a:endParaRPr/>
          </a:p>
          <a:p>
            <a:pPr indent="-228600" lvl="0" marL="228600" rtl="0" algn="l">
              <a:lnSpc>
                <a:spcPct val="120000"/>
              </a:lnSpc>
              <a:spcBef>
                <a:spcPts val="1000"/>
              </a:spcBef>
              <a:spcAft>
                <a:spcPts val="0"/>
              </a:spcAft>
              <a:buSzPts val="2000"/>
              <a:buChar char="•"/>
            </a:pPr>
            <a:r>
              <a:rPr lang="en-US"/>
              <a:t>Our proposal is</a:t>
            </a:r>
            <a:endParaRPr/>
          </a:p>
          <a:p>
            <a:pPr indent="-457200" lvl="1" marL="914400" rtl="0" algn="l">
              <a:lnSpc>
                <a:spcPct val="120000"/>
              </a:lnSpc>
              <a:spcBef>
                <a:spcPts val="500"/>
              </a:spcBef>
              <a:spcAft>
                <a:spcPts val="0"/>
              </a:spcAft>
              <a:buSzPts val="1800"/>
              <a:buAutoNum type="arabicPeriod"/>
            </a:pPr>
            <a:r>
              <a:rPr lang="en-US"/>
              <a:t>Calculate the distance between each data(Compare each data with other n-1 data)</a:t>
            </a:r>
            <a:endParaRPr/>
          </a:p>
          <a:p>
            <a:pPr indent="-457200" lvl="1" marL="914400" rtl="0" algn="l">
              <a:lnSpc>
                <a:spcPct val="120000"/>
              </a:lnSpc>
              <a:spcBef>
                <a:spcPts val="500"/>
              </a:spcBef>
              <a:spcAft>
                <a:spcPts val="0"/>
              </a:spcAft>
              <a:buSzPts val="1800"/>
              <a:buAutoNum type="arabicPeriod"/>
            </a:pPr>
            <a:r>
              <a:rPr lang="en-US"/>
              <a:t>Sort from small to large.</a:t>
            </a:r>
            <a:endParaRPr/>
          </a:p>
          <a:p>
            <a:pPr indent="-457200" lvl="1" marL="914400" rtl="0" algn="l">
              <a:lnSpc>
                <a:spcPct val="120000"/>
              </a:lnSpc>
              <a:spcBef>
                <a:spcPts val="500"/>
              </a:spcBef>
              <a:spcAft>
                <a:spcPts val="0"/>
              </a:spcAft>
              <a:buSzPts val="1800"/>
              <a:buAutoNum type="arabicPeriod"/>
            </a:pPr>
            <a:r>
              <a:rPr lang="en-US"/>
              <a:t>Calculate the average, variance, max and min. </a:t>
            </a:r>
            <a:endParaRPr/>
          </a:p>
          <a:p>
            <a:pPr indent="0" lvl="1" marL="457200" rtl="0" algn="l">
              <a:lnSpc>
                <a:spcPct val="120000"/>
              </a:lnSpc>
              <a:spcBef>
                <a:spcPts val="500"/>
              </a:spcBef>
              <a:spcAft>
                <a:spcPts val="0"/>
              </a:spcAft>
              <a:buSzPts val="1800"/>
              <a:buNone/>
            </a:pPr>
            <a:r>
              <a:rPr lang="en-US"/>
              <a:t>       (Outliers with outliers ; Inliers with inliers)</a:t>
            </a:r>
            <a:endParaRPr/>
          </a:p>
          <a:p>
            <a:pPr indent="-330200" lvl="0" marL="4572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a:p>
            <a:pPr indent="-101600" lvl="0" marL="228600" rtl="0" algn="l">
              <a:lnSpc>
                <a:spcPct val="120000"/>
              </a:lnSpc>
              <a:spcBef>
                <a:spcPts val="1000"/>
              </a:spcBef>
              <a:spcAft>
                <a:spcPts val="0"/>
              </a:spcAft>
              <a:buSzPts val="2000"/>
              <a:buNone/>
            </a:pPr>
            <a:r>
              <a:t/>
            </a:r>
            <a:endParaRPr/>
          </a:p>
        </p:txBody>
      </p:sp>
      <p:sp>
        <p:nvSpPr>
          <p:cNvPr id="226" name="Google Shape;226;p27"/>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idx="1" type="body"/>
          </p:nvPr>
        </p:nvSpPr>
        <p:spPr>
          <a:xfrm>
            <a:off x="1130270" y="1636490"/>
            <a:ext cx="9603275" cy="4337589"/>
          </a:xfrm>
          <a:prstGeom prst="rect">
            <a:avLst/>
          </a:prstGeom>
          <a:noFill/>
          <a:ln>
            <a:noFill/>
          </a:ln>
        </p:spPr>
        <p:txBody>
          <a:bodyPr anchorCtr="0" anchor="t" bIns="45700" lIns="91425" spcFirstLastPara="1" rIns="91425" wrap="square" tIns="45700">
            <a:noAutofit/>
          </a:bodyPr>
          <a:lstStyle/>
          <a:p>
            <a:pPr indent="-457200" lvl="0" marL="457200" rtl="0" algn="l">
              <a:lnSpc>
                <a:spcPct val="120000"/>
              </a:lnSpc>
              <a:spcBef>
                <a:spcPts val="0"/>
              </a:spcBef>
              <a:spcAft>
                <a:spcPts val="0"/>
              </a:spcAft>
              <a:buSzPts val="1800"/>
              <a:buAutoNum type="arabicPeriod"/>
            </a:pPr>
            <a:r>
              <a:rPr lang="en-US" sz="1800">
                <a:latin typeface="Arial"/>
                <a:ea typeface="Arial"/>
                <a:cs typeface="Arial"/>
                <a:sym typeface="Arial"/>
              </a:rPr>
              <a:t>Determine how many percent of the data to filter, and set the contamination (representing outlier_fraction) of the algorithm in PyOD</a:t>
            </a:r>
            <a:endParaRPr/>
          </a:p>
          <a:p>
            <a:pPr indent="-457200" lvl="0" marL="457200" rtl="0" algn="l">
              <a:lnSpc>
                <a:spcPct val="120000"/>
              </a:lnSpc>
              <a:spcBef>
                <a:spcPts val="1000"/>
              </a:spcBef>
              <a:spcAft>
                <a:spcPts val="0"/>
              </a:spcAft>
              <a:buSzPts val="1800"/>
              <a:buAutoNum type="arabicPeriod"/>
            </a:pPr>
            <a:r>
              <a:rPr lang="en-US" sz="1800">
                <a:latin typeface="Arial"/>
                <a:ea typeface="Arial"/>
                <a:cs typeface="Arial"/>
                <a:sym typeface="Arial"/>
              </a:rPr>
              <a:t>If we have data 1, 2, 3, 4, 5, 6. The Iforest, KNN, CBLOF, will first generate their own outliers and non-outliers ((outlier), (non-outlier)), such as: ((1,2,3),(4,5,6)), ((1,3,5),(2,4,6)), ((1,2,4),(3,5,6))</a:t>
            </a:r>
            <a:endParaRPr/>
          </a:p>
          <a:p>
            <a:pPr indent="-457200" lvl="0" marL="457200" rtl="0" algn="l">
              <a:lnSpc>
                <a:spcPct val="120000"/>
              </a:lnSpc>
              <a:spcBef>
                <a:spcPts val="1000"/>
              </a:spcBef>
              <a:spcAft>
                <a:spcPts val="0"/>
              </a:spcAft>
              <a:buSzPts val="1800"/>
              <a:buAutoNum type="arabicPeriod"/>
            </a:pPr>
            <a:r>
              <a:rPr lang="en-US" sz="1800">
                <a:latin typeface="Arial"/>
                <a:ea typeface="Arial"/>
                <a:cs typeface="Arial"/>
                <a:sym typeface="Arial"/>
              </a:rPr>
              <a:t>Calculate the distance between 1 vs 2~6, 2 vs 1,3,4,5,…, 6 vs 1~5 and sort the distance in ascending order</a:t>
            </a:r>
            <a:endParaRPr/>
          </a:p>
          <a:p>
            <a:pPr indent="-457200" lvl="0" marL="457200" rtl="0" algn="l">
              <a:lnSpc>
                <a:spcPct val="120000"/>
              </a:lnSpc>
              <a:spcBef>
                <a:spcPts val="1000"/>
              </a:spcBef>
              <a:spcAft>
                <a:spcPts val="0"/>
              </a:spcAft>
              <a:buSzPts val="1800"/>
              <a:buAutoNum type="arabicPeriod"/>
            </a:pPr>
            <a:r>
              <a:rPr lang="en-US" sz="1800">
                <a:latin typeface="Arial"/>
                <a:ea typeface="Arial"/>
                <a:cs typeface="Arial"/>
                <a:sym typeface="Arial"/>
              </a:rPr>
              <a:t>When calculating the indicators (avg, std, etc.), the first outliers calculate the indicators together, and the second calculate the indicators together..., and the same for inliers</a:t>
            </a:r>
            <a:endParaRPr/>
          </a:p>
          <a:p>
            <a:pPr indent="-457200" lvl="0" marL="457200" rtl="0" algn="l">
              <a:lnSpc>
                <a:spcPct val="120000"/>
              </a:lnSpc>
              <a:spcBef>
                <a:spcPts val="1000"/>
              </a:spcBef>
              <a:spcAft>
                <a:spcPts val="0"/>
              </a:spcAft>
              <a:buSzPts val="1800"/>
              <a:buAutoNum type="arabicPeriod"/>
            </a:pPr>
            <a:r>
              <a:rPr lang="en-US" sz="1800">
                <a:latin typeface="Arial"/>
                <a:ea typeface="Arial"/>
                <a:cs typeface="Arial"/>
                <a:sym typeface="Arial"/>
              </a:rPr>
              <a:t>Finally we can judge whether the various algorithms are good or bad</a:t>
            </a:r>
            <a:endParaRPr sz="1800">
              <a:latin typeface="Arial"/>
              <a:ea typeface="Arial"/>
              <a:cs typeface="Arial"/>
              <a:sym typeface="Arial"/>
            </a:endParaRPr>
          </a:p>
        </p:txBody>
      </p:sp>
      <p:sp>
        <p:nvSpPr>
          <p:cNvPr id="232" name="Google Shape;232;p28"/>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3" name="Google Shape;233;p28"/>
          <p:cNvSpPr txBox="1"/>
          <p:nvPr>
            <p:ph type="title"/>
          </p:nvPr>
        </p:nvSpPr>
        <p:spPr>
          <a:xfrm>
            <a:off x="1130270" y="953324"/>
            <a:ext cx="6071719" cy="56196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Detailed steps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9" name="Google Shape;239;p29"/>
          <p:cNvSpPr txBox="1"/>
          <p:nvPr>
            <p:ph type="title"/>
          </p:nvPr>
        </p:nvSpPr>
        <p:spPr>
          <a:xfrm>
            <a:off x="1130270" y="953324"/>
            <a:ext cx="6071719" cy="561967"/>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entury Gothic"/>
              <a:buNone/>
            </a:pPr>
            <a:r>
              <a:rPr lang="en-US"/>
              <a:t>Take result of Iforest for example </a:t>
            </a:r>
            <a:endParaRPr/>
          </a:p>
        </p:txBody>
      </p:sp>
      <p:graphicFrame>
        <p:nvGraphicFramePr>
          <p:cNvPr id="240" name="Google Shape;240;p29"/>
          <p:cNvGraphicFramePr/>
          <p:nvPr/>
        </p:nvGraphicFramePr>
        <p:xfrm>
          <a:off x="7688095" y="2699857"/>
          <a:ext cx="3000000" cy="3000000"/>
        </p:xfrm>
        <a:graphic>
          <a:graphicData uri="http://schemas.openxmlformats.org/drawingml/2006/table">
            <a:tbl>
              <a:tblPr bandRow="1" firstRow="1">
                <a:noFill/>
                <a:tableStyleId>{1DB76135-3B51-489F-8FBC-EFB79693C370}</a:tableStyleId>
              </a:tblPr>
              <a:tblGrid>
                <a:gridCol w="953175"/>
                <a:gridCol w="695950"/>
                <a:gridCol w="695950"/>
                <a:gridCol w="695950"/>
              </a:tblGrid>
              <a:tr h="370850">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Outliers</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1</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2</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3</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2</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3</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2</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3</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4</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5</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5</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7</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8</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6</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8</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9</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7</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9</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9</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r>
            </a:tbl>
          </a:graphicData>
        </a:graphic>
      </p:graphicFrame>
      <p:cxnSp>
        <p:nvCxnSpPr>
          <p:cNvPr id="241" name="Google Shape;241;p29"/>
          <p:cNvCxnSpPr/>
          <p:nvPr/>
        </p:nvCxnSpPr>
        <p:spPr>
          <a:xfrm flipH="1" rot="10800000">
            <a:off x="3497565" y="2693607"/>
            <a:ext cx="5717400" cy="12600"/>
          </a:xfrm>
          <a:prstGeom prst="curvedConnector3">
            <a:avLst>
              <a:gd fmla="val 0" name="adj1"/>
            </a:avLst>
          </a:prstGeom>
          <a:noFill/>
          <a:ln cap="flat" cmpd="sng" w="9525">
            <a:solidFill>
              <a:schemeClr val="accent1"/>
            </a:solidFill>
            <a:prstDash val="solid"/>
            <a:round/>
            <a:headEnd len="sm" w="sm" type="none"/>
            <a:tailEnd len="med" w="med" type="triangle"/>
          </a:ln>
        </p:spPr>
      </p:cxnSp>
      <p:sp>
        <p:nvSpPr>
          <p:cNvPr id="242" name="Google Shape;242;p29"/>
          <p:cNvSpPr/>
          <p:nvPr/>
        </p:nvSpPr>
        <p:spPr>
          <a:xfrm>
            <a:off x="4975164" y="1643039"/>
            <a:ext cx="346921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Sort the distance in ascending order</a:t>
            </a:r>
            <a:endParaRPr/>
          </a:p>
        </p:txBody>
      </p:sp>
      <p:sp>
        <p:nvSpPr>
          <p:cNvPr id="243" name="Google Shape;243;p29"/>
          <p:cNvSpPr/>
          <p:nvPr/>
        </p:nvSpPr>
        <p:spPr>
          <a:xfrm>
            <a:off x="8638903" y="2713625"/>
            <a:ext cx="2090192" cy="330926"/>
          </a:xfrm>
          <a:prstGeom prst="rect">
            <a:avLst/>
          </a:prstGeom>
          <a:noFill/>
          <a:ln cap="flat" cmpd="sng" w="381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4" name="Google Shape;244;p29"/>
          <p:cNvSpPr/>
          <p:nvPr/>
        </p:nvSpPr>
        <p:spPr>
          <a:xfrm>
            <a:off x="7124753" y="2693507"/>
            <a:ext cx="563359"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rgbClr val="FFC000"/>
                </a:solidFill>
                <a:latin typeface="Arial"/>
                <a:ea typeface="Arial"/>
                <a:cs typeface="Arial"/>
                <a:sym typeface="Arial"/>
              </a:rPr>
              <a:t>Avg</a:t>
            </a:r>
            <a:endParaRPr b="1" sz="1600">
              <a:solidFill>
                <a:srgbClr val="FFC000"/>
              </a:solidFill>
              <a:latin typeface="Arial"/>
              <a:ea typeface="Arial"/>
              <a:cs typeface="Arial"/>
              <a:sym typeface="Arial"/>
            </a:endParaRPr>
          </a:p>
        </p:txBody>
      </p:sp>
      <p:graphicFrame>
        <p:nvGraphicFramePr>
          <p:cNvPr id="245" name="Google Shape;245;p29"/>
          <p:cNvGraphicFramePr/>
          <p:nvPr/>
        </p:nvGraphicFramePr>
        <p:xfrm>
          <a:off x="974089" y="2473294"/>
          <a:ext cx="3000000" cy="3000000"/>
        </p:xfrm>
        <a:graphic>
          <a:graphicData uri="http://schemas.openxmlformats.org/drawingml/2006/table">
            <a:tbl>
              <a:tblPr bandRow="1" firstRow="1">
                <a:noFill/>
                <a:tableStyleId>{1DB76135-3B51-489F-8FBC-EFB79693C370}</a:tableStyleId>
              </a:tblPr>
              <a:tblGrid>
                <a:gridCol w="714375"/>
                <a:gridCol w="714375"/>
                <a:gridCol w="714375"/>
                <a:gridCol w="714375"/>
                <a:gridCol w="714375"/>
                <a:gridCol w="714375"/>
                <a:gridCol w="714375"/>
              </a:tblGrid>
              <a:tr h="370850">
                <a:tc>
                  <a:txBody>
                    <a:bodyPr/>
                    <a:lstStyle/>
                    <a:p>
                      <a:pPr indent="0" lvl="0" marL="0" marR="0" rtl="0" algn="ctr">
                        <a:spcBef>
                          <a:spcPts val="0"/>
                        </a:spcBef>
                        <a:spcAft>
                          <a:spcPts val="0"/>
                        </a:spcAft>
                        <a:buNone/>
                      </a:pPr>
                      <a:r>
                        <a:rPr lang="en-US" sz="1600" u="none" cap="none" strike="noStrike">
                          <a:solidFill>
                            <a:schemeClr val="dk1"/>
                          </a:solidFill>
                          <a:latin typeface="Arial"/>
                          <a:ea typeface="Arial"/>
                          <a:cs typeface="Arial"/>
                          <a:sym typeface="Arial"/>
                        </a:rPr>
                        <a:t>vs</a:t>
                      </a:r>
                      <a:endParaRPr sz="16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800" u="none" cap="none" strike="noStrike">
                          <a:solidFill>
                            <a:schemeClr val="dk1"/>
                          </a:solidFill>
                          <a:latin typeface="Arial"/>
                          <a:ea typeface="Arial"/>
                          <a:cs typeface="Arial"/>
                          <a:sym typeface="Arial"/>
                        </a:rPr>
                        <a:t>1</a:t>
                      </a:r>
                      <a:endParaRPr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800" u="none" cap="none" strike="noStrike">
                          <a:solidFill>
                            <a:schemeClr val="dk1"/>
                          </a:solidFill>
                          <a:latin typeface="Arial"/>
                          <a:ea typeface="Arial"/>
                          <a:cs typeface="Arial"/>
                          <a:sym typeface="Arial"/>
                        </a:rPr>
                        <a:t>2</a:t>
                      </a:r>
                      <a:endParaRPr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800" u="none" cap="none" strike="noStrike">
                          <a:solidFill>
                            <a:schemeClr val="dk1"/>
                          </a:solidFill>
                          <a:latin typeface="Arial"/>
                          <a:ea typeface="Arial"/>
                          <a:cs typeface="Arial"/>
                          <a:sym typeface="Arial"/>
                        </a:rPr>
                        <a:t>3</a:t>
                      </a:r>
                      <a:endParaRPr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800" u="none" cap="none" strike="noStrike">
                          <a:solidFill>
                            <a:schemeClr val="dk1"/>
                          </a:solidFill>
                          <a:latin typeface="Arial"/>
                          <a:ea typeface="Arial"/>
                          <a:cs typeface="Arial"/>
                          <a:sym typeface="Arial"/>
                        </a:rPr>
                        <a:t>4</a:t>
                      </a:r>
                      <a:endParaRPr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800" u="none" cap="none" strike="noStrike">
                          <a:solidFill>
                            <a:schemeClr val="dk1"/>
                          </a:solidFill>
                          <a:latin typeface="Arial"/>
                          <a:ea typeface="Arial"/>
                          <a:cs typeface="Arial"/>
                          <a:sym typeface="Arial"/>
                        </a:rPr>
                        <a:t>5</a:t>
                      </a:r>
                      <a:endParaRPr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800" u="none" cap="none" strike="noStrike">
                          <a:solidFill>
                            <a:schemeClr val="dk1"/>
                          </a:solidFill>
                          <a:latin typeface="Arial"/>
                          <a:ea typeface="Arial"/>
                          <a:cs typeface="Arial"/>
                          <a:sym typeface="Arial"/>
                        </a:rPr>
                        <a:t>6</a:t>
                      </a:r>
                      <a:endParaRPr sz="1800" u="none" cap="none" strike="noStrike">
                        <a:solidFill>
                          <a:schemeClr val="dk1"/>
                        </a:solidFill>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rPr b="0" lang="en-US" sz="1800" u="none" cap="none" strike="noStrike">
                          <a:solidFill>
                            <a:schemeClr val="dk1"/>
                          </a:solidFill>
                          <a:latin typeface="Arial"/>
                          <a:ea typeface="Arial"/>
                          <a:cs typeface="Arial"/>
                          <a:sym typeface="Arial"/>
                        </a:rPr>
                        <a:t>1</a:t>
                      </a:r>
                      <a:endParaRPr b="0"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3</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2</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5</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7</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6</a:t>
                      </a:r>
                      <a:endParaRPr sz="1600" u="none" cap="none" strike="noStrike">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rPr b="0" lang="en-US" sz="1800" u="none" cap="none" strike="noStrike">
                          <a:solidFill>
                            <a:schemeClr val="dk1"/>
                          </a:solidFill>
                          <a:latin typeface="Arial"/>
                          <a:ea typeface="Arial"/>
                          <a:cs typeface="Arial"/>
                          <a:sym typeface="Arial"/>
                        </a:rPr>
                        <a:t>2</a:t>
                      </a:r>
                      <a:endParaRPr b="0"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3</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8</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9</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7</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4</a:t>
                      </a:r>
                      <a:endParaRPr sz="1600" u="none" cap="none" strike="noStrike">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rPr b="0" lang="en-US" sz="1800" u="none" cap="none" strike="noStrike">
                          <a:solidFill>
                            <a:schemeClr val="dk1"/>
                          </a:solidFill>
                          <a:latin typeface="Arial"/>
                          <a:ea typeface="Arial"/>
                          <a:cs typeface="Arial"/>
                          <a:sym typeface="Arial"/>
                        </a:rPr>
                        <a:t>3</a:t>
                      </a:r>
                      <a:endParaRPr b="0"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2</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8</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5</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9</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9</a:t>
                      </a:r>
                      <a:endParaRPr sz="1600" u="none" cap="none" strike="noStrike">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rPr b="0" lang="en-US" sz="1800" u="none" cap="none" strike="noStrike">
                          <a:solidFill>
                            <a:schemeClr val="dk1"/>
                          </a:solidFill>
                          <a:latin typeface="Arial"/>
                          <a:ea typeface="Arial"/>
                          <a:cs typeface="Arial"/>
                          <a:sym typeface="Arial"/>
                        </a:rPr>
                        <a:t>4</a:t>
                      </a:r>
                      <a:endParaRPr b="0"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5</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9</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5</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6</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8</a:t>
                      </a:r>
                      <a:endParaRPr sz="1600" u="none" cap="none" strike="noStrike">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rPr b="0" lang="en-US" sz="1800" u="none" cap="none" strike="noStrike">
                          <a:solidFill>
                            <a:schemeClr val="dk1"/>
                          </a:solidFill>
                          <a:latin typeface="Arial"/>
                          <a:ea typeface="Arial"/>
                          <a:cs typeface="Arial"/>
                          <a:sym typeface="Arial"/>
                        </a:rPr>
                        <a:t>5</a:t>
                      </a:r>
                      <a:endParaRPr b="0"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7</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7</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9</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6</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3</a:t>
                      </a:r>
                      <a:endParaRPr sz="1600" u="none" cap="none" strike="noStrike">
                        <a:latin typeface="Arial"/>
                        <a:ea typeface="Arial"/>
                        <a:cs typeface="Arial"/>
                        <a:sym typeface="Arial"/>
                      </a:endParaRPr>
                    </a:p>
                  </a:txBody>
                  <a:tcPr marT="45725" marB="45725" marR="91450" marL="91450">
                    <a:solidFill>
                      <a:schemeClr val="lt2"/>
                    </a:solidFill>
                  </a:tcPr>
                </a:tc>
              </a:tr>
              <a:tr h="370850">
                <a:tc>
                  <a:txBody>
                    <a:bodyPr/>
                    <a:lstStyle/>
                    <a:p>
                      <a:pPr indent="0" lvl="0" marL="0" marR="0" rtl="0" algn="ctr">
                        <a:spcBef>
                          <a:spcPts val="0"/>
                        </a:spcBef>
                        <a:spcAft>
                          <a:spcPts val="0"/>
                        </a:spcAft>
                        <a:buNone/>
                      </a:pPr>
                      <a:r>
                        <a:rPr b="0" lang="en-US" sz="1800" u="none" cap="none" strike="noStrike">
                          <a:solidFill>
                            <a:schemeClr val="dk1"/>
                          </a:solidFill>
                          <a:latin typeface="Arial"/>
                          <a:ea typeface="Arial"/>
                          <a:cs typeface="Arial"/>
                          <a:sym typeface="Arial"/>
                        </a:rPr>
                        <a:t>6</a:t>
                      </a:r>
                      <a:endParaRPr b="0" sz="1800" u="none" cap="none" strike="noStrike">
                        <a:solidFill>
                          <a:schemeClr val="dk1"/>
                        </a:solidFill>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6</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4</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9</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8</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3</a:t>
                      </a:r>
                      <a:endParaRPr sz="1600" u="none" cap="none" strike="noStrike">
                        <a:latin typeface="Arial"/>
                        <a:ea typeface="Arial"/>
                        <a:cs typeface="Arial"/>
                        <a:sym typeface="Arial"/>
                      </a:endParaRPr>
                    </a:p>
                  </a:txBody>
                  <a:tcPr marT="45725" marB="45725" marR="91450" marL="91450">
                    <a:solidFill>
                      <a:schemeClr val="lt2"/>
                    </a:solidFill>
                  </a:tcPr>
                </a:tc>
                <a:tc>
                  <a:txBody>
                    <a:bodyPr/>
                    <a:lstStyle/>
                    <a:p>
                      <a:pPr indent="0" lvl="0" marL="0" marR="0" rtl="0" algn="ctr">
                        <a:spcBef>
                          <a:spcPts val="0"/>
                        </a:spcBef>
                        <a:spcAft>
                          <a:spcPts val="0"/>
                        </a:spcAft>
                        <a:buNone/>
                      </a:pPr>
                      <a:r>
                        <a:rPr lang="en-US" sz="1600" u="none" cap="none" strike="noStrike">
                          <a:latin typeface="Arial"/>
                          <a:ea typeface="Arial"/>
                          <a:cs typeface="Arial"/>
                          <a:sym typeface="Arial"/>
                        </a:rPr>
                        <a:t>0</a:t>
                      </a:r>
                      <a:endParaRPr sz="1600" u="none" cap="none" strike="noStrike">
                        <a:latin typeface="Arial"/>
                        <a:ea typeface="Arial"/>
                        <a:cs typeface="Arial"/>
                        <a:sym typeface="Arial"/>
                      </a:endParaRPr>
                    </a:p>
                  </a:txBody>
                  <a:tcPr marT="45725" marB="45725" marR="91450" marL="91450">
                    <a:solidFill>
                      <a:schemeClr val="lt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0"/>
          <p:cNvPicPr preferRelativeResize="0"/>
          <p:nvPr/>
        </p:nvPicPr>
        <p:blipFill rotWithShape="1">
          <a:blip r:embed="rId3">
            <a:alphaModFix/>
          </a:blip>
          <a:srcRect b="8335" l="9988" r="8634" t="8484"/>
          <a:stretch/>
        </p:blipFill>
        <p:spPr>
          <a:xfrm>
            <a:off x="2221119" y="848455"/>
            <a:ext cx="6732381" cy="5161090"/>
          </a:xfrm>
          <a:prstGeom prst="rect">
            <a:avLst/>
          </a:prstGeom>
          <a:noFill/>
          <a:ln>
            <a:noFill/>
          </a:ln>
        </p:spPr>
      </p:pic>
      <p:sp>
        <p:nvSpPr>
          <p:cNvPr id="251" name="Google Shape;251;p30"/>
          <p:cNvSpPr/>
          <p:nvPr/>
        </p:nvSpPr>
        <p:spPr>
          <a:xfrm>
            <a:off x="276114" y="1135524"/>
            <a:ext cx="988332" cy="332838"/>
          </a:xfrm>
          <a:prstGeom prst="roundRect">
            <a:avLst>
              <a:gd fmla="val 16667" name="adj"/>
            </a:avLst>
          </a:prstGeom>
          <a:solidFill>
            <a:schemeClr val="accent6"/>
          </a:solidFill>
          <a:ln cap="flat" cmpd="sng" w="15875">
            <a:solidFill>
              <a:srgbClr val="892F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Outlier</a:t>
            </a:r>
            <a:endParaRPr sz="1800">
              <a:solidFill>
                <a:schemeClr val="lt1"/>
              </a:solidFill>
              <a:latin typeface="Times New Roman"/>
              <a:ea typeface="Times New Roman"/>
              <a:cs typeface="Times New Roman"/>
              <a:sym typeface="Times New Roman"/>
            </a:endParaRPr>
          </a:p>
        </p:txBody>
      </p:sp>
      <p:sp>
        <p:nvSpPr>
          <p:cNvPr id="252" name="Google Shape;252;p30"/>
          <p:cNvSpPr/>
          <p:nvPr/>
        </p:nvSpPr>
        <p:spPr>
          <a:xfrm>
            <a:off x="276114" y="1527957"/>
            <a:ext cx="988332" cy="317492"/>
          </a:xfrm>
          <a:prstGeom prst="roundRect">
            <a:avLst>
              <a:gd fmla="val 16667" name="adj"/>
            </a:avLst>
          </a:prstGeom>
          <a:solidFill>
            <a:schemeClr val="accent2"/>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Inlier</a:t>
            </a:r>
            <a:endParaRPr sz="1800">
              <a:solidFill>
                <a:schemeClr val="lt1"/>
              </a:solidFill>
              <a:latin typeface="Times New Roman"/>
              <a:ea typeface="Times New Roman"/>
              <a:cs typeface="Times New Roman"/>
              <a:sym typeface="Times New Roman"/>
            </a:endParaRPr>
          </a:p>
        </p:txBody>
      </p:sp>
      <p:sp>
        <p:nvSpPr>
          <p:cNvPr id="253" name="Google Shape;253;p30"/>
          <p:cNvSpPr/>
          <p:nvPr/>
        </p:nvSpPr>
        <p:spPr>
          <a:xfrm>
            <a:off x="3506994" y="1845449"/>
            <a:ext cx="2589006" cy="605402"/>
          </a:xfrm>
          <a:prstGeom prst="roundRect">
            <a:avLst>
              <a:gd fmla="val 16667" name="adj"/>
            </a:avLst>
          </a:prstGeom>
          <a:solidFill>
            <a:srgbClr val="FF0000"/>
          </a:solidFill>
          <a:ln cap="flat" cmpd="sng" w="15875">
            <a:solidFill>
              <a:srgbClr val="892F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Average of  Distance for all point</a:t>
            </a:r>
            <a:endParaRPr sz="1800">
              <a:solidFill>
                <a:schemeClr val="lt1"/>
              </a:solidFill>
              <a:latin typeface="Times New Roman"/>
              <a:ea typeface="Times New Roman"/>
              <a:cs typeface="Times New Roman"/>
              <a:sym typeface="Times New Roman"/>
            </a:endParaRPr>
          </a:p>
        </p:txBody>
      </p:sp>
      <p:cxnSp>
        <p:nvCxnSpPr>
          <p:cNvPr id="254" name="Google Shape;254;p30"/>
          <p:cNvCxnSpPr/>
          <p:nvPr/>
        </p:nvCxnSpPr>
        <p:spPr>
          <a:xfrm>
            <a:off x="4773712" y="2460952"/>
            <a:ext cx="1627200" cy="1012800"/>
          </a:xfrm>
          <a:prstGeom prst="curvedConnector3">
            <a:avLst>
              <a:gd fmla="val 49997" name="adj1"/>
            </a:avLst>
          </a:prstGeom>
          <a:noFill/>
          <a:ln cap="flat" cmpd="sng" w="9525">
            <a:solidFill>
              <a:schemeClr val="accent1"/>
            </a:solidFill>
            <a:prstDash val="solid"/>
            <a:round/>
            <a:headEnd len="sm" w="sm" type="none"/>
            <a:tailEnd len="med" w="med" type="triangle"/>
          </a:ln>
        </p:spPr>
      </p:cxnSp>
      <p:sp>
        <p:nvSpPr>
          <p:cNvPr id="255" name="Google Shape;255;p30"/>
          <p:cNvSpPr/>
          <p:nvPr/>
        </p:nvSpPr>
        <p:spPr>
          <a:xfrm>
            <a:off x="5221746" y="5177776"/>
            <a:ext cx="2589006" cy="605803"/>
          </a:xfrm>
          <a:prstGeom prst="roundRect">
            <a:avLst>
              <a:gd fmla="val 16667" name="adj"/>
            </a:avLst>
          </a:prstGeom>
          <a:solidFill>
            <a:srgbClr val="0070C0"/>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Average of  Distance for all point</a:t>
            </a:r>
            <a:endParaRPr sz="1800">
              <a:solidFill>
                <a:schemeClr val="lt1"/>
              </a:solidFill>
              <a:latin typeface="Times New Roman"/>
              <a:ea typeface="Times New Roman"/>
              <a:cs typeface="Times New Roman"/>
              <a:sym typeface="Times New Roman"/>
            </a:endParaRPr>
          </a:p>
        </p:txBody>
      </p:sp>
      <p:cxnSp>
        <p:nvCxnSpPr>
          <p:cNvPr id="256" name="Google Shape;256;p30"/>
          <p:cNvCxnSpPr/>
          <p:nvPr/>
        </p:nvCxnSpPr>
        <p:spPr>
          <a:xfrm rot="-5400000">
            <a:off x="6395499" y="4077977"/>
            <a:ext cx="1223400" cy="981900"/>
          </a:xfrm>
          <a:prstGeom prst="curvedConnector3">
            <a:avLst>
              <a:gd fmla="val 49997" name="adj1"/>
            </a:avLst>
          </a:prstGeom>
          <a:noFill/>
          <a:ln cap="flat" cmpd="sng" w="9525">
            <a:solidFill>
              <a:schemeClr val="accent1"/>
            </a:solidFill>
            <a:prstDash val="solid"/>
            <a:round/>
            <a:headEnd len="sm" w="sm" type="none"/>
            <a:tailEnd len="med" w="med" type="triangle"/>
          </a:ln>
        </p:spPr>
      </p:cxnSp>
      <p:cxnSp>
        <p:nvCxnSpPr>
          <p:cNvPr id="257" name="Google Shape;257;p30"/>
          <p:cNvCxnSpPr/>
          <p:nvPr/>
        </p:nvCxnSpPr>
        <p:spPr>
          <a:xfrm>
            <a:off x="3581400" y="2514600"/>
            <a:ext cx="0" cy="3214716"/>
          </a:xfrm>
          <a:prstGeom prst="straightConnector1">
            <a:avLst/>
          </a:prstGeom>
          <a:noFill/>
          <a:ln cap="flat" cmpd="sng" w="22225">
            <a:solidFill>
              <a:srgbClr val="FFC000"/>
            </a:solidFill>
            <a:prstDash val="solid"/>
            <a:round/>
            <a:headEnd len="sm" w="sm" type="none"/>
            <a:tailEnd len="sm" w="sm" type="none"/>
          </a:ln>
        </p:spPr>
      </p:cxnSp>
      <p:sp>
        <p:nvSpPr>
          <p:cNvPr id="258" name="Google Shape;258;p30"/>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59" name="Google Shape;259;p30"/>
          <p:cNvCxnSpPr/>
          <p:nvPr/>
        </p:nvCxnSpPr>
        <p:spPr>
          <a:xfrm flipH="1" rot="10800000">
            <a:off x="2118790" y="5085807"/>
            <a:ext cx="1462610" cy="217713"/>
          </a:xfrm>
          <a:prstGeom prst="straightConnector1">
            <a:avLst/>
          </a:prstGeom>
          <a:noFill/>
          <a:ln cap="flat" cmpd="sng" w="57150">
            <a:solidFill>
              <a:srgbClr val="FFC000"/>
            </a:solidFill>
            <a:prstDash val="solid"/>
            <a:round/>
            <a:headEnd len="sm" w="sm" type="none"/>
            <a:tailEnd len="med" w="med" type="triangle"/>
          </a:ln>
        </p:spPr>
      </p:cxnSp>
      <p:sp>
        <p:nvSpPr>
          <p:cNvPr id="260" name="Google Shape;260;p30"/>
          <p:cNvSpPr/>
          <p:nvPr/>
        </p:nvSpPr>
        <p:spPr>
          <a:xfrm>
            <a:off x="5971607" y="3244334"/>
            <a:ext cx="248786"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a:t>
            </a:r>
            <a:endParaRPr/>
          </a:p>
        </p:txBody>
      </p:sp>
      <p:sp>
        <p:nvSpPr>
          <p:cNvPr id="261" name="Google Shape;261;p30"/>
          <p:cNvSpPr/>
          <p:nvPr/>
        </p:nvSpPr>
        <p:spPr>
          <a:xfrm>
            <a:off x="0" y="4054755"/>
            <a:ext cx="2221119" cy="206210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Average of their distances to the 200th for all inliers (each with its own 200th rank of the 200th closest, average the values as in the last slide)</a:t>
            </a:r>
            <a:endParaRPr sz="16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1"/>
          <p:cNvPicPr preferRelativeResize="0"/>
          <p:nvPr/>
        </p:nvPicPr>
        <p:blipFill rotWithShape="1">
          <a:blip r:embed="rId3">
            <a:alphaModFix/>
          </a:blip>
          <a:srcRect b="8335" l="9988" r="8634" t="8484"/>
          <a:stretch/>
        </p:blipFill>
        <p:spPr>
          <a:xfrm>
            <a:off x="2221119" y="848455"/>
            <a:ext cx="6732381" cy="5161090"/>
          </a:xfrm>
          <a:prstGeom prst="rect">
            <a:avLst/>
          </a:prstGeom>
          <a:noFill/>
          <a:ln>
            <a:noFill/>
          </a:ln>
        </p:spPr>
      </p:pic>
      <p:cxnSp>
        <p:nvCxnSpPr>
          <p:cNvPr id="267" name="Google Shape;267;p31"/>
          <p:cNvCxnSpPr>
            <a:stCxn id="268" idx="1"/>
          </p:cNvCxnSpPr>
          <p:nvPr/>
        </p:nvCxnSpPr>
        <p:spPr>
          <a:xfrm rot="10800000">
            <a:off x="7543862" y="4428423"/>
            <a:ext cx="1569000" cy="865200"/>
          </a:xfrm>
          <a:prstGeom prst="curvedConnector3">
            <a:avLst>
              <a:gd fmla="val 50002" name="adj1"/>
            </a:avLst>
          </a:prstGeom>
          <a:noFill/>
          <a:ln cap="flat" cmpd="sng" w="9525">
            <a:solidFill>
              <a:schemeClr val="accent1"/>
            </a:solidFill>
            <a:prstDash val="solid"/>
            <a:round/>
            <a:headEnd len="sm" w="sm" type="none"/>
            <a:tailEnd len="med" w="med" type="triangle"/>
          </a:ln>
        </p:spPr>
      </p:cxnSp>
      <p:sp>
        <p:nvSpPr>
          <p:cNvPr id="269" name="Google Shape;269;p31"/>
          <p:cNvSpPr/>
          <p:nvPr/>
        </p:nvSpPr>
        <p:spPr>
          <a:xfrm>
            <a:off x="193906" y="2647834"/>
            <a:ext cx="2589006" cy="590666"/>
          </a:xfrm>
          <a:prstGeom prst="roundRect">
            <a:avLst>
              <a:gd fmla="val 16667" name="adj"/>
            </a:avLst>
          </a:prstGeom>
          <a:solidFill>
            <a:schemeClr val="accent6"/>
          </a:solidFill>
          <a:ln cap="flat" cmpd="sng" w="15875">
            <a:solidFill>
              <a:srgbClr val="892F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Max Distance to each point for outlier point.</a:t>
            </a:r>
            <a:endParaRPr sz="1800">
              <a:solidFill>
                <a:schemeClr val="lt1"/>
              </a:solidFill>
              <a:latin typeface="Times New Roman"/>
              <a:ea typeface="Times New Roman"/>
              <a:cs typeface="Times New Roman"/>
              <a:sym typeface="Times New Roman"/>
            </a:endParaRPr>
          </a:p>
        </p:txBody>
      </p:sp>
      <p:cxnSp>
        <p:nvCxnSpPr>
          <p:cNvPr id="270" name="Google Shape;270;p31"/>
          <p:cNvCxnSpPr/>
          <p:nvPr/>
        </p:nvCxnSpPr>
        <p:spPr>
          <a:xfrm rot="10800000">
            <a:off x="7876262" y="2943289"/>
            <a:ext cx="1236600" cy="1225500"/>
          </a:xfrm>
          <a:prstGeom prst="curvedConnector3">
            <a:avLst>
              <a:gd fmla="val 50004" name="adj1"/>
            </a:avLst>
          </a:prstGeom>
          <a:noFill/>
          <a:ln cap="flat" cmpd="sng" w="9525">
            <a:solidFill>
              <a:schemeClr val="accent1"/>
            </a:solidFill>
            <a:prstDash val="solid"/>
            <a:round/>
            <a:headEnd len="sm" w="sm" type="none"/>
            <a:tailEnd len="med" w="med" type="triangle"/>
          </a:ln>
        </p:spPr>
      </p:cxnSp>
      <p:sp>
        <p:nvSpPr>
          <p:cNvPr id="271" name="Google Shape;271;p31"/>
          <p:cNvSpPr/>
          <p:nvPr/>
        </p:nvSpPr>
        <p:spPr>
          <a:xfrm>
            <a:off x="8560662" y="1592557"/>
            <a:ext cx="988332" cy="332838"/>
          </a:xfrm>
          <a:prstGeom prst="roundRect">
            <a:avLst>
              <a:gd fmla="val 16667" name="adj"/>
            </a:avLst>
          </a:prstGeom>
          <a:solidFill>
            <a:schemeClr val="accent6"/>
          </a:solidFill>
          <a:ln cap="flat" cmpd="sng" w="15875">
            <a:solidFill>
              <a:srgbClr val="892F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Outlier</a:t>
            </a:r>
            <a:endParaRPr sz="1800">
              <a:solidFill>
                <a:schemeClr val="lt1"/>
              </a:solidFill>
              <a:latin typeface="Times New Roman"/>
              <a:ea typeface="Times New Roman"/>
              <a:cs typeface="Times New Roman"/>
              <a:sym typeface="Times New Roman"/>
            </a:endParaRPr>
          </a:p>
        </p:txBody>
      </p:sp>
      <p:sp>
        <p:nvSpPr>
          <p:cNvPr id="272" name="Google Shape;272;p31"/>
          <p:cNvSpPr/>
          <p:nvPr/>
        </p:nvSpPr>
        <p:spPr>
          <a:xfrm>
            <a:off x="8580650" y="2784421"/>
            <a:ext cx="988332" cy="317492"/>
          </a:xfrm>
          <a:prstGeom prst="roundRect">
            <a:avLst>
              <a:gd fmla="val 16667" name="adj"/>
            </a:avLst>
          </a:prstGeom>
          <a:solidFill>
            <a:schemeClr val="accent2"/>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Inlier</a:t>
            </a:r>
            <a:endParaRPr sz="1800">
              <a:solidFill>
                <a:schemeClr val="lt1"/>
              </a:solidFill>
              <a:latin typeface="Times New Roman"/>
              <a:ea typeface="Times New Roman"/>
              <a:cs typeface="Times New Roman"/>
              <a:sym typeface="Times New Roman"/>
            </a:endParaRPr>
          </a:p>
        </p:txBody>
      </p:sp>
      <p:cxnSp>
        <p:nvCxnSpPr>
          <p:cNvPr id="273" name="Google Shape;273;p31"/>
          <p:cNvCxnSpPr/>
          <p:nvPr/>
        </p:nvCxnSpPr>
        <p:spPr>
          <a:xfrm>
            <a:off x="2099803" y="3262653"/>
            <a:ext cx="1597800" cy="694500"/>
          </a:xfrm>
          <a:prstGeom prst="curvedConnector2">
            <a:avLst/>
          </a:prstGeom>
          <a:noFill/>
          <a:ln cap="flat" cmpd="sng" w="9525">
            <a:solidFill>
              <a:schemeClr val="accent1"/>
            </a:solidFill>
            <a:prstDash val="solid"/>
            <a:round/>
            <a:headEnd len="sm" w="sm" type="none"/>
            <a:tailEnd len="med" w="med" type="triangle"/>
          </a:ln>
        </p:spPr>
      </p:cxnSp>
      <p:sp>
        <p:nvSpPr>
          <p:cNvPr id="274" name="Google Shape;274;p31"/>
          <p:cNvSpPr/>
          <p:nvPr/>
        </p:nvSpPr>
        <p:spPr>
          <a:xfrm>
            <a:off x="124190" y="3905419"/>
            <a:ext cx="2589006" cy="590666"/>
          </a:xfrm>
          <a:prstGeom prst="roundRect">
            <a:avLst>
              <a:gd fmla="val 16667" name="adj"/>
            </a:avLst>
          </a:prstGeom>
          <a:solidFill>
            <a:schemeClr val="accent6"/>
          </a:solidFill>
          <a:ln cap="flat" cmpd="sng" w="15875">
            <a:solidFill>
              <a:srgbClr val="892F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Min Distance to each point for outlier point.</a:t>
            </a:r>
            <a:endParaRPr sz="1800">
              <a:solidFill>
                <a:schemeClr val="lt1"/>
              </a:solidFill>
              <a:latin typeface="Times New Roman"/>
              <a:ea typeface="Times New Roman"/>
              <a:cs typeface="Times New Roman"/>
              <a:sym typeface="Times New Roman"/>
            </a:endParaRPr>
          </a:p>
        </p:txBody>
      </p:sp>
      <p:cxnSp>
        <p:nvCxnSpPr>
          <p:cNvPr id="275" name="Google Shape;275;p31"/>
          <p:cNvCxnSpPr/>
          <p:nvPr/>
        </p:nvCxnSpPr>
        <p:spPr>
          <a:xfrm>
            <a:off x="2221121" y="4496087"/>
            <a:ext cx="1701300" cy="362700"/>
          </a:xfrm>
          <a:prstGeom prst="curvedConnector3">
            <a:avLst>
              <a:gd fmla="val -4194" name="adj1"/>
            </a:avLst>
          </a:prstGeom>
          <a:noFill/>
          <a:ln cap="flat" cmpd="sng" w="9525">
            <a:solidFill>
              <a:schemeClr val="accent1"/>
            </a:solidFill>
            <a:prstDash val="solid"/>
            <a:round/>
            <a:headEnd len="sm" w="sm" type="none"/>
            <a:tailEnd len="med" w="med" type="triangle"/>
          </a:ln>
        </p:spPr>
      </p:cxnSp>
      <p:sp>
        <p:nvSpPr>
          <p:cNvPr id="276" name="Google Shape;276;p31"/>
          <p:cNvSpPr/>
          <p:nvPr/>
        </p:nvSpPr>
        <p:spPr>
          <a:xfrm>
            <a:off x="9112862" y="3873456"/>
            <a:ext cx="2589006" cy="590666"/>
          </a:xfrm>
          <a:prstGeom prst="roundRect">
            <a:avLst>
              <a:gd fmla="val 16667" name="adj"/>
            </a:avLst>
          </a:prstGeom>
          <a:solidFill>
            <a:schemeClr val="accent2"/>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Max Distance to each point for inlier point.</a:t>
            </a:r>
            <a:endParaRPr sz="1800">
              <a:solidFill>
                <a:schemeClr val="lt1"/>
              </a:solidFill>
              <a:latin typeface="Times New Roman"/>
              <a:ea typeface="Times New Roman"/>
              <a:cs typeface="Times New Roman"/>
              <a:sym typeface="Times New Roman"/>
            </a:endParaRPr>
          </a:p>
        </p:txBody>
      </p:sp>
      <p:sp>
        <p:nvSpPr>
          <p:cNvPr id="268" name="Google Shape;268;p31"/>
          <p:cNvSpPr/>
          <p:nvPr/>
        </p:nvSpPr>
        <p:spPr>
          <a:xfrm>
            <a:off x="9112862" y="4998290"/>
            <a:ext cx="2589006" cy="590666"/>
          </a:xfrm>
          <a:prstGeom prst="roundRect">
            <a:avLst>
              <a:gd fmla="val 16667" name="adj"/>
            </a:avLst>
          </a:prstGeom>
          <a:solidFill>
            <a:schemeClr val="accent2"/>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Min Distance to each point for inlier point.</a:t>
            </a:r>
            <a:endParaRPr sz="1800">
              <a:solidFill>
                <a:schemeClr val="lt1"/>
              </a:solidFill>
              <a:latin typeface="Times New Roman"/>
              <a:ea typeface="Times New Roman"/>
              <a:cs typeface="Times New Roman"/>
              <a:sym typeface="Times New Roman"/>
            </a:endParaRPr>
          </a:p>
        </p:txBody>
      </p:sp>
      <p:sp>
        <p:nvSpPr>
          <p:cNvPr id="277" name="Google Shape;277;p31"/>
          <p:cNvSpPr/>
          <p:nvPr/>
        </p:nvSpPr>
        <p:spPr>
          <a:xfrm>
            <a:off x="3506994" y="1756207"/>
            <a:ext cx="2589006" cy="694643"/>
          </a:xfrm>
          <a:prstGeom prst="roundRect">
            <a:avLst>
              <a:gd fmla="val 16667" name="adj"/>
            </a:avLst>
          </a:prstGeom>
          <a:solidFill>
            <a:srgbClr val="FF0000"/>
          </a:solidFill>
          <a:ln cap="flat" cmpd="sng" w="15875">
            <a:solidFill>
              <a:srgbClr val="892F0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Variance of  Distance</a:t>
            </a:r>
            <a:endParaRPr/>
          </a:p>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(Dark shadow)</a:t>
            </a:r>
            <a:endParaRPr sz="1800">
              <a:solidFill>
                <a:schemeClr val="lt1"/>
              </a:solidFill>
              <a:latin typeface="Times New Roman"/>
              <a:ea typeface="Times New Roman"/>
              <a:cs typeface="Times New Roman"/>
              <a:sym typeface="Times New Roman"/>
            </a:endParaRPr>
          </a:p>
        </p:txBody>
      </p:sp>
      <p:cxnSp>
        <p:nvCxnSpPr>
          <p:cNvPr id="278" name="Google Shape;278;p31"/>
          <p:cNvCxnSpPr/>
          <p:nvPr/>
        </p:nvCxnSpPr>
        <p:spPr>
          <a:xfrm>
            <a:off x="4773712" y="2460952"/>
            <a:ext cx="1627200" cy="1012800"/>
          </a:xfrm>
          <a:prstGeom prst="curvedConnector3">
            <a:avLst>
              <a:gd fmla="val 49997" name="adj1"/>
            </a:avLst>
          </a:prstGeom>
          <a:noFill/>
          <a:ln cap="flat" cmpd="sng" w="9525">
            <a:solidFill>
              <a:schemeClr val="accent1"/>
            </a:solidFill>
            <a:prstDash val="solid"/>
            <a:round/>
            <a:headEnd len="sm" w="sm" type="none"/>
            <a:tailEnd len="med" w="med" type="triangle"/>
          </a:ln>
        </p:spPr>
      </p:cxnSp>
      <p:sp>
        <p:nvSpPr>
          <p:cNvPr id="279" name="Google Shape;279;p31"/>
          <p:cNvSpPr/>
          <p:nvPr/>
        </p:nvSpPr>
        <p:spPr>
          <a:xfrm>
            <a:off x="4697019" y="5430210"/>
            <a:ext cx="2589006" cy="694643"/>
          </a:xfrm>
          <a:prstGeom prst="roundRect">
            <a:avLst>
              <a:gd fmla="val 16667" name="adj"/>
            </a:avLst>
          </a:prstGeom>
          <a:solidFill>
            <a:srgbClr val="0070C0"/>
          </a:solidFill>
          <a:ln cap="flat" cmpd="sng" w="15875">
            <a:solidFill>
              <a:srgbClr val="306C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Variance of  Distance</a:t>
            </a:r>
            <a:endParaRPr/>
          </a:p>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(Dark shadow)</a:t>
            </a:r>
            <a:endParaRPr sz="1800">
              <a:solidFill>
                <a:schemeClr val="lt1"/>
              </a:solidFill>
              <a:latin typeface="Times New Roman"/>
              <a:ea typeface="Times New Roman"/>
              <a:cs typeface="Times New Roman"/>
              <a:sym typeface="Times New Roman"/>
            </a:endParaRPr>
          </a:p>
        </p:txBody>
      </p:sp>
      <p:cxnSp>
        <p:nvCxnSpPr>
          <p:cNvPr id="280" name="Google Shape;280;p31"/>
          <p:cNvCxnSpPr/>
          <p:nvPr/>
        </p:nvCxnSpPr>
        <p:spPr>
          <a:xfrm rot="-5400000">
            <a:off x="5961159" y="4310399"/>
            <a:ext cx="1223400" cy="981900"/>
          </a:xfrm>
          <a:prstGeom prst="curvedConnector3">
            <a:avLst>
              <a:gd fmla="val 49997" name="adj1"/>
            </a:avLst>
          </a:prstGeom>
          <a:noFill/>
          <a:ln cap="flat" cmpd="sng" w="9525">
            <a:solidFill>
              <a:schemeClr val="accent1"/>
            </a:solidFill>
            <a:prstDash val="solid"/>
            <a:round/>
            <a:headEnd len="sm" w="sm" type="none"/>
            <a:tailEnd len="med" w="med" type="triangle"/>
          </a:ln>
        </p:spPr>
      </p:cxnSp>
      <p:sp>
        <p:nvSpPr>
          <p:cNvPr id="281" name="Google Shape;281;p31"/>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Analysis : Outliers</a:t>
            </a:r>
            <a:endParaRPr/>
          </a:p>
        </p:txBody>
      </p:sp>
      <p:sp>
        <p:nvSpPr>
          <p:cNvPr id="287" name="Google Shape;287;p32"/>
          <p:cNvSpPr txBox="1"/>
          <p:nvPr>
            <p:ph idx="1" type="body"/>
          </p:nvPr>
        </p:nvSpPr>
        <p:spPr>
          <a:xfrm>
            <a:off x="1130270" y="2171769"/>
            <a:ext cx="9603275"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Outliers have low variance and high average than inlier.</a:t>
            </a:r>
            <a:endParaRPr/>
          </a:p>
          <a:p>
            <a:pPr indent="-228600" lvl="1" marL="685800" rtl="0" algn="l">
              <a:lnSpc>
                <a:spcPct val="120000"/>
              </a:lnSpc>
              <a:spcBef>
                <a:spcPts val="500"/>
              </a:spcBef>
              <a:spcAft>
                <a:spcPts val="0"/>
              </a:spcAft>
              <a:buSzPts val="1800"/>
              <a:buChar char="•"/>
            </a:pPr>
            <a:r>
              <a:rPr lang="en-US"/>
              <a:t>Outliers are scattered or just some small clusters and far from inlier.</a:t>
            </a:r>
            <a:endParaRPr/>
          </a:p>
          <a:p>
            <a:pPr indent="-228600" lvl="1" marL="685800" rtl="0" algn="l">
              <a:lnSpc>
                <a:spcPct val="120000"/>
              </a:lnSpc>
              <a:spcBef>
                <a:spcPts val="500"/>
              </a:spcBef>
              <a:spcAft>
                <a:spcPts val="0"/>
              </a:spcAft>
              <a:buSzPts val="1800"/>
              <a:buChar char="•"/>
            </a:pPr>
            <a:r>
              <a:rPr lang="en-US"/>
              <a:t>So each of outliers has a large distance which make average high and low variance.</a:t>
            </a:r>
            <a:endParaRPr/>
          </a:p>
          <a:p>
            <a:pPr indent="-114300" lvl="1" marL="685800" rtl="0" algn="l">
              <a:lnSpc>
                <a:spcPct val="120000"/>
              </a:lnSpc>
              <a:spcBef>
                <a:spcPts val="500"/>
              </a:spcBef>
              <a:spcAft>
                <a:spcPts val="0"/>
              </a:spcAft>
              <a:buSzPts val="1800"/>
              <a:buNone/>
            </a:pPr>
            <a:r>
              <a:t/>
            </a:r>
            <a:endParaRPr/>
          </a:p>
          <a:p>
            <a:pPr indent="-101600" lvl="0" marL="228600" rtl="0" algn="l">
              <a:lnSpc>
                <a:spcPct val="120000"/>
              </a:lnSpc>
              <a:spcBef>
                <a:spcPts val="1000"/>
              </a:spcBef>
              <a:spcAft>
                <a:spcPts val="0"/>
              </a:spcAft>
              <a:buSzPts val="2000"/>
              <a:buNone/>
            </a:pPr>
            <a:r>
              <a:t/>
            </a:r>
            <a:endParaRPr/>
          </a:p>
        </p:txBody>
      </p:sp>
      <p:sp>
        <p:nvSpPr>
          <p:cNvPr id="288" name="Google Shape;288;p32"/>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Analysis : Inliers</a:t>
            </a:r>
            <a:endParaRPr/>
          </a:p>
        </p:txBody>
      </p:sp>
      <p:sp>
        <p:nvSpPr>
          <p:cNvPr id="294" name="Google Shape;294;p33"/>
          <p:cNvSpPr txBox="1"/>
          <p:nvPr>
            <p:ph idx="1" type="body"/>
          </p:nvPr>
        </p:nvSpPr>
        <p:spPr>
          <a:xfrm>
            <a:off x="1130270" y="2171769"/>
            <a:ext cx="9603275" cy="3294576"/>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Average of inlier is far from outlier, that is good. </a:t>
            </a:r>
            <a:endParaRPr/>
          </a:p>
          <a:p>
            <a:pPr indent="-228600" lvl="0" marL="228600" rtl="0" algn="l">
              <a:lnSpc>
                <a:spcPct val="120000"/>
              </a:lnSpc>
              <a:spcBef>
                <a:spcPts val="1000"/>
              </a:spcBef>
              <a:spcAft>
                <a:spcPts val="0"/>
              </a:spcAft>
              <a:buSzPts val="2000"/>
              <a:buChar char="•"/>
            </a:pPr>
            <a:r>
              <a:rPr lang="en-US"/>
              <a:t>Max of distance of inlier is lower than average of outlier</a:t>
            </a:r>
            <a:endParaRPr/>
          </a:p>
          <a:p>
            <a:pPr indent="0" lvl="0" marL="0" rtl="0" algn="l">
              <a:lnSpc>
                <a:spcPct val="120000"/>
              </a:lnSpc>
              <a:spcBef>
                <a:spcPts val="1000"/>
              </a:spcBef>
              <a:spcAft>
                <a:spcPts val="0"/>
              </a:spcAft>
              <a:buSzPts val="2000"/>
              <a:buNone/>
            </a:pPr>
            <a:r>
              <a:rPr lang="en-US"/>
              <a:t>   🡺 Inlier and outlier is very separate. </a:t>
            </a:r>
            <a:endParaRPr/>
          </a:p>
          <a:p>
            <a:pPr indent="0" lvl="0" marL="0" rtl="0" algn="l">
              <a:lnSpc>
                <a:spcPct val="120000"/>
              </a:lnSpc>
              <a:spcBef>
                <a:spcPts val="1000"/>
              </a:spcBef>
              <a:spcAft>
                <a:spcPts val="0"/>
              </a:spcAft>
              <a:buSzPts val="2000"/>
              <a:buNone/>
            </a:pPr>
            <a:r>
              <a:rPr lang="en-US"/>
              <a:t> </a:t>
            </a:r>
            <a:endParaRPr/>
          </a:p>
          <a:p>
            <a:pPr indent="-101600" lvl="0" marL="228600" rtl="0" algn="l">
              <a:lnSpc>
                <a:spcPct val="120000"/>
              </a:lnSpc>
              <a:spcBef>
                <a:spcPts val="1000"/>
              </a:spcBef>
              <a:spcAft>
                <a:spcPts val="0"/>
              </a:spcAft>
              <a:buSzPts val="2000"/>
              <a:buNone/>
            </a:pPr>
            <a:r>
              <a:t/>
            </a:r>
            <a:endParaRPr/>
          </a:p>
        </p:txBody>
      </p:sp>
      <p:sp>
        <p:nvSpPr>
          <p:cNvPr id="295" name="Google Shape;295;p33"/>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4"/>
          <p:cNvSpPr txBox="1"/>
          <p:nvPr>
            <p:ph type="title"/>
          </p:nvPr>
        </p:nvSpPr>
        <p:spPr>
          <a:xfrm>
            <a:off x="1130270" y="953324"/>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Compare</a:t>
            </a:r>
            <a:endParaRPr/>
          </a:p>
        </p:txBody>
      </p:sp>
      <p:pic>
        <p:nvPicPr>
          <p:cNvPr id="301" name="Google Shape;301;p34"/>
          <p:cNvPicPr preferRelativeResize="0"/>
          <p:nvPr/>
        </p:nvPicPr>
        <p:blipFill rotWithShape="1">
          <a:blip r:embed="rId3">
            <a:alphaModFix/>
          </a:blip>
          <a:srcRect b="8335" l="9676" r="8944" t="8484"/>
          <a:stretch/>
        </p:blipFill>
        <p:spPr>
          <a:xfrm>
            <a:off x="3986074" y="2138773"/>
            <a:ext cx="3906175" cy="2994501"/>
          </a:xfrm>
          <a:prstGeom prst="rect">
            <a:avLst/>
          </a:prstGeom>
          <a:noFill/>
          <a:ln>
            <a:noFill/>
          </a:ln>
        </p:spPr>
      </p:pic>
      <p:pic>
        <p:nvPicPr>
          <p:cNvPr id="302" name="Google Shape;302;p34"/>
          <p:cNvPicPr preferRelativeResize="0"/>
          <p:nvPr/>
        </p:nvPicPr>
        <p:blipFill rotWithShape="1">
          <a:blip r:embed="rId4">
            <a:alphaModFix/>
          </a:blip>
          <a:srcRect b="8410" l="9431" r="9188" t="9326"/>
          <a:stretch/>
        </p:blipFill>
        <p:spPr>
          <a:xfrm>
            <a:off x="7892249" y="2138773"/>
            <a:ext cx="3906175" cy="2961505"/>
          </a:xfrm>
          <a:prstGeom prst="rect">
            <a:avLst/>
          </a:prstGeom>
          <a:noFill/>
          <a:ln>
            <a:noFill/>
          </a:ln>
        </p:spPr>
      </p:pic>
      <p:pic>
        <p:nvPicPr>
          <p:cNvPr id="303" name="Google Shape;303;p34"/>
          <p:cNvPicPr preferRelativeResize="0"/>
          <p:nvPr/>
        </p:nvPicPr>
        <p:blipFill rotWithShape="1">
          <a:blip r:embed="rId5">
            <a:alphaModFix/>
          </a:blip>
          <a:srcRect b="8335" l="9988" r="8634" t="8484"/>
          <a:stretch/>
        </p:blipFill>
        <p:spPr>
          <a:xfrm>
            <a:off x="79899" y="2138773"/>
            <a:ext cx="3906175" cy="2994501"/>
          </a:xfrm>
          <a:prstGeom prst="rect">
            <a:avLst/>
          </a:prstGeom>
          <a:noFill/>
          <a:ln>
            <a:noFill/>
          </a:ln>
        </p:spPr>
      </p:pic>
      <p:sp>
        <p:nvSpPr>
          <p:cNvPr id="304" name="Google Shape;304;p34"/>
          <p:cNvSpPr/>
          <p:nvPr/>
        </p:nvSpPr>
        <p:spPr>
          <a:xfrm>
            <a:off x="623409" y="5110181"/>
            <a:ext cx="3126912" cy="563730"/>
          </a:xfrm>
          <a:prstGeom prst="roundRect">
            <a:avLst>
              <a:gd fmla="val 16667" name="adj"/>
            </a:avLst>
          </a:prstGeom>
          <a:solidFill>
            <a:srgbClr val="00B0F0"/>
          </a:solidFill>
          <a:ln cap="flat" cmpd="sng" w="15875">
            <a:solidFill>
              <a:srgbClr val="20844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IForest</a:t>
            </a:r>
            <a:endParaRPr sz="1800">
              <a:solidFill>
                <a:schemeClr val="lt1"/>
              </a:solidFill>
              <a:latin typeface="Times New Roman"/>
              <a:ea typeface="Times New Roman"/>
              <a:cs typeface="Times New Roman"/>
              <a:sym typeface="Times New Roman"/>
            </a:endParaRPr>
          </a:p>
        </p:txBody>
      </p:sp>
      <p:sp>
        <p:nvSpPr>
          <p:cNvPr id="305" name="Google Shape;305;p34"/>
          <p:cNvSpPr/>
          <p:nvPr/>
        </p:nvSpPr>
        <p:spPr>
          <a:xfrm>
            <a:off x="4532544" y="5133274"/>
            <a:ext cx="3126912" cy="563730"/>
          </a:xfrm>
          <a:prstGeom prst="roundRect">
            <a:avLst>
              <a:gd fmla="val 16667" name="adj"/>
            </a:avLst>
          </a:prstGeom>
          <a:solidFill>
            <a:schemeClr val="accent1"/>
          </a:solidFill>
          <a:ln cap="flat" cmpd="sng" w="15875">
            <a:solidFill>
              <a:srgbClr val="2F3E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kNN</a:t>
            </a:r>
            <a:endParaRPr sz="1800">
              <a:solidFill>
                <a:schemeClr val="lt1"/>
              </a:solidFill>
              <a:latin typeface="Times New Roman"/>
              <a:ea typeface="Times New Roman"/>
              <a:cs typeface="Times New Roman"/>
              <a:sym typeface="Times New Roman"/>
            </a:endParaRPr>
          </a:p>
        </p:txBody>
      </p:sp>
      <p:sp>
        <p:nvSpPr>
          <p:cNvPr id="306" name="Google Shape;306;p34"/>
          <p:cNvSpPr/>
          <p:nvPr/>
        </p:nvSpPr>
        <p:spPr>
          <a:xfrm>
            <a:off x="8438719" y="5110181"/>
            <a:ext cx="3126912" cy="563730"/>
          </a:xfrm>
          <a:prstGeom prst="roundRect">
            <a:avLst>
              <a:gd fmla="val 16667" name="adj"/>
            </a:avLst>
          </a:prstGeom>
          <a:solidFill>
            <a:schemeClr val="accent1"/>
          </a:solidFill>
          <a:ln cap="flat" cmpd="sng" w="15875">
            <a:solidFill>
              <a:srgbClr val="2F3E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CBLOF</a:t>
            </a:r>
            <a:endParaRPr sz="1800">
              <a:solidFill>
                <a:schemeClr val="lt1"/>
              </a:solidFill>
              <a:latin typeface="Times New Roman"/>
              <a:ea typeface="Times New Roman"/>
              <a:cs typeface="Times New Roman"/>
              <a:sym typeface="Times New Roman"/>
            </a:endParaRPr>
          </a:p>
        </p:txBody>
      </p:sp>
      <p:sp>
        <p:nvSpPr>
          <p:cNvPr id="307" name="Google Shape;307;p34"/>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5"/>
          <p:cNvSpPr txBox="1"/>
          <p:nvPr>
            <p:ph type="title"/>
          </p:nvPr>
        </p:nvSpPr>
        <p:spPr>
          <a:xfrm>
            <a:off x="4544029" y="3113050"/>
            <a:ext cx="2553457" cy="5706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entury Gothic"/>
              <a:buNone/>
            </a:pPr>
            <a:r>
              <a:rPr lang="en-US"/>
              <a:t>Conclusion</a:t>
            </a:r>
            <a:endParaRPr/>
          </a:p>
        </p:txBody>
      </p:sp>
      <p:sp>
        <p:nvSpPr>
          <p:cNvPr id="313" name="Google Shape;313;p35"/>
          <p:cNvSpPr txBox="1"/>
          <p:nvPr>
            <p:ph idx="12" type="sldNum"/>
          </p:nvPr>
        </p:nvSpPr>
        <p:spPr>
          <a:xfrm>
            <a:off x="9918076" y="137408"/>
            <a:ext cx="811019" cy="503578"/>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圖庫">
  <a:themeElements>
    <a:clrScheme name="圖庫">
      <a:dk1>
        <a:srgbClr val="000000"/>
      </a:dk1>
      <a:lt1>
        <a:srgbClr val="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