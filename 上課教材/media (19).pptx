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81" r:id="rId3"/>
    <p:sldId id="276" r:id="rId4"/>
    <p:sldId id="262" r:id="rId5"/>
    <p:sldId id="258" r:id="rId6"/>
    <p:sldId id="261" r:id="rId7"/>
    <p:sldId id="277" r:id="rId8"/>
    <p:sldId id="268" r:id="rId9"/>
    <p:sldId id="282" r:id="rId10"/>
    <p:sldId id="259" r:id="rId11"/>
    <p:sldId id="271" r:id="rId12"/>
    <p:sldId id="275" r:id="rId13"/>
    <p:sldId id="280" r:id="rId14"/>
    <p:sldId id="263" r:id="rId15"/>
    <p:sldId id="265" r:id="rId16"/>
    <p:sldId id="272" r:id="rId17"/>
    <p:sldId id="264" r:id="rId18"/>
    <p:sldId id="266" r:id="rId19"/>
    <p:sldId id="278" r:id="rId20"/>
    <p:sldId id="279" r:id="rId21"/>
    <p:sldId id="283" r:id="rId22"/>
    <p:sldId id="257" r:id="rId23"/>
    <p:sldId id="269" r:id="rId24"/>
    <p:sldId id="284" r:id="rId25"/>
    <p:sldId id="285" r:id="rId26"/>
    <p:sldId id="270" r:id="rId27"/>
    <p:sldId id="286" r:id="rId28"/>
    <p:sldId id="287" r:id="rId29"/>
    <p:sldId id="273" r:id="rId30"/>
    <p:sldId id="27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135F6C7-B890-9542-9637-C30B43A162F6}">
          <p14:sldIdLst>
            <p14:sldId id="256"/>
            <p14:sldId id="281"/>
            <p14:sldId id="276"/>
            <p14:sldId id="262"/>
            <p14:sldId id="258"/>
            <p14:sldId id="261"/>
            <p14:sldId id="277"/>
            <p14:sldId id="268"/>
            <p14:sldId id="282"/>
            <p14:sldId id="259"/>
            <p14:sldId id="271"/>
            <p14:sldId id="275"/>
            <p14:sldId id="280"/>
            <p14:sldId id="263"/>
            <p14:sldId id="265"/>
            <p14:sldId id="272"/>
            <p14:sldId id="264"/>
            <p14:sldId id="266"/>
            <p14:sldId id="278"/>
            <p14:sldId id="279"/>
          </p14:sldIdLst>
        </p14:section>
        <p14:section name="LAB SECTION" id="{2B298524-7795-684A-B534-3AFB97AB95D2}">
          <p14:sldIdLst>
            <p14:sldId id="283"/>
            <p14:sldId id="257"/>
            <p14:sldId id="269"/>
            <p14:sldId id="284"/>
            <p14:sldId id="285"/>
            <p14:sldId id="270"/>
            <p14:sldId id="286"/>
            <p14:sldId id="287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0D0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07" autoAdjust="0"/>
    <p:restoredTop sz="95829" autoAdjust="0"/>
  </p:normalViewPr>
  <p:slideViewPr>
    <p:cSldViewPr snapToGrid="0">
      <p:cViewPr varScale="1">
        <p:scale>
          <a:sx n="106" d="100"/>
          <a:sy n="106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C9B963-8720-46E9-AEB7-1F3836CEF61E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62D8E-2E00-4C57-9EB1-2C94F89EE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740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</a:t>
            </a:r>
            <a:r>
              <a:rPr lang="en-US" baseline="0" dirty="0"/>
              <a:t> EM algorithm application is Modelling step in the data science 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7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From the example: We can conclude that L1R1 indicate the low frequency better than L1R0.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762D8E-2E00-4C57-9EB1-2C94F89EE40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89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It is hard to distinguish raw signals, </a:t>
            </a:r>
            <a:r>
              <a:rPr lang="en-US" sz="1200" dirty="0" err="1"/>
              <a:t>expecially</a:t>
            </a:r>
            <a:r>
              <a:rPr lang="en-US" sz="1200" dirty="0"/>
              <a:t> the non-stationary and non-linear signal</a:t>
            </a:r>
          </a:p>
          <a:p>
            <a:r>
              <a:rPr lang="en-US" sz="1200" dirty="0"/>
              <a:t>But it is easier to distinguish the HHT signal.</a:t>
            </a:r>
          </a:p>
          <a:p>
            <a:endParaRPr lang="en-US" sz="1200" dirty="0"/>
          </a:p>
          <a:p>
            <a:r>
              <a:rPr lang="en-US" sz="1200" dirty="0"/>
              <a:t>Since the signal is decomposed in time domain and the length of the IMFs is the same as the original signal, HHT preserves the characteristics of the varying frequency</a:t>
            </a:r>
          </a:p>
          <a:p>
            <a:endParaRPr lang="en-US" dirty="0"/>
          </a:p>
          <a:p>
            <a:r>
              <a:rPr lang="en-US" dirty="0"/>
              <a:t>We can distinguish classes</a:t>
            </a:r>
            <a:r>
              <a:rPr lang="en-US" baseline="0" dirty="0"/>
              <a:t> well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762D8E-2E00-4C57-9EB1-2C94F89EE40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361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3CCA-13B4-4BC9-975F-05471B422D4D}" type="datetime1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150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7EE92-5905-402C-8545-CD07DF57A12D}" type="datetime1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34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5453A-62AE-4C6F-BFBE-FF352508904F}" type="datetime1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826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3D61-26B1-4779-A6B1-347373165205}" type="datetime1">
              <a:rPr lang="en-US" smtClean="0"/>
              <a:t>3/19/2024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799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AD99-C516-4EE6-A9E8-38B2C5240C4D}" type="datetime1">
              <a:rPr lang="en-US" smtClean="0"/>
              <a:t>3/19/2024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58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B7F7-B458-429A-ADFD-13C70BC44F0D}" type="datetime1">
              <a:rPr lang="en-US" smtClean="0"/>
              <a:t>3/19/2024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692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DD32-6D3F-4553-92DC-2676127DD5A9}" type="datetime1">
              <a:rPr lang="en-US" smtClean="0"/>
              <a:t>3/19/2024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42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46A65-06CD-40F3-8853-D42B5D2F83C4}" type="datetime1">
              <a:rPr lang="en-US" smtClean="0"/>
              <a:t>3/19/2024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216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4A865-4C2B-46AF-8BE7-168A88872D7D}" type="datetime1">
              <a:rPr lang="en-US" smtClean="0"/>
              <a:t>3/19/2024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236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6B482-D9E2-462C-BB70-A0C129CB1C4D}" type="datetime1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91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BA71B-91B7-473A-93C2-583942EACF7A}" type="datetime1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79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933CFAB-99B5-442A-BE77-E0593881FD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861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AA614A-07B9-4515-B72E-BA4E499D1957}" type="datetime1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E1750-F18F-4B95-99EC-F1AAED31E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113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eeclass.ncu.edu.tw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Hilbert Huang Transform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Transform your data into frequency domain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481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577"/>
    </mc:Choice>
    <mc:Fallback xmlns="">
      <p:transition spd="slow" advTm="1357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545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184647" y="188640"/>
            <a:ext cx="384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Data Science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5323" y="715375"/>
            <a:ext cx="3848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Lato Black" panose="020F0A02020204030203" pitchFamily="34" charset="0"/>
                <a:cs typeface="Lato Black" panose="020F0A02020204030203" pitchFamily="34" charset="0"/>
              </a:rPr>
              <a:t>Start!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5777" y="1053929"/>
            <a:ext cx="646331" cy="45719"/>
          </a:xfrm>
          <a:prstGeom prst="rect">
            <a:avLst/>
          </a:prstGeom>
          <a:solidFill>
            <a:srgbClr val="0087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/>
          <p:cNvCxnSpPr>
            <a:cxnSpLocks/>
            <a:stCxn id="22" idx="2"/>
          </p:cNvCxnSpPr>
          <p:nvPr/>
        </p:nvCxnSpPr>
        <p:spPr>
          <a:xfrm flipH="1">
            <a:off x="6088941" y="1099647"/>
            <a:ext cx="2" cy="420624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351030" y="1447462"/>
            <a:ext cx="65890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ardrop 8"/>
          <p:cNvSpPr/>
          <p:nvPr/>
        </p:nvSpPr>
        <p:spPr>
          <a:xfrm rot="2700000">
            <a:off x="4698167" y="1215103"/>
            <a:ext cx="457200" cy="457200"/>
          </a:xfrm>
          <a:prstGeom prst="teardrop">
            <a:avLst/>
          </a:prstGeom>
          <a:noFill/>
          <a:ln w="57150">
            <a:solidFill>
              <a:srgbClr val="0087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022558" y="1372084"/>
            <a:ext cx="150756" cy="150756"/>
          </a:xfrm>
          <a:prstGeom prst="ellipse">
            <a:avLst/>
          </a:prstGeom>
          <a:solidFill>
            <a:srgbClr val="0087B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6232553" y="2070426"/>
            <a:ext cx="65890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ardrop 12"/>
          <p:cNvSpPr/>
          <p:nvPr/>
        </p:nvSpPr>
        <p:spPr>
          <a:xfrm rot="13500000">
            <a:off x="7043144" y="1841826"/>
            <a:ext cx="457200" cy="457200"/>
          </a:xfrm>
          <a:prstGeom prst="teardrop">
            <a:avLst/>
          </a:prstGeom>
          <a:noFill/>
          <a:ln w="57150">
            <a:solidFill>
              <a:srgbClr val="FF86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015274" y="1995048"/>
            <a:ext cx="150756" cy="150756"/>
          </a:xfrm>
          <a:prstGeom prst="ellipse">
            <a:avLst/>
          </a:prstGeom>
          <a:solidFill>
            <a:srgbClr val="FF860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5349066" y="2739542"/>
            <a:ext cx="65890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ardrop 17"/>
          <p:cNvSpPr/>
          <p:nvPr/>
        </p:nvSpPr>
        <p:spPr>
          <a:xfrm rot="2700000">
            <a:off x="4698166" y="2514658"/>
            <a:ext cx="457200" cy="457200"/>
          </a:xfrm>
          <a:prstGeom prst="teardrop">
            <a:avLst/>
          </a:prstGeom>
          <a:noFill/>
          <a:ln w="57150">
            <a:solidFill>
              <a:srgbClr val="A1BB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020594" y="2664164"/>
            <a:ext cx="150756" cy="150756"/>
          </a:xfrm>
          <a:prstGeom prst="ellipse">
            <a:avLst/>
          </a:prstGeom>
          <a:solidFill>
            <a:srgbClr val="A1BB2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>
            <a:off x="6232553" y="3382800"/>
            <a:ext cx="65890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ardrop 20"/>
          <p:cNvSpPr/>
          <p:nvPr/>
        </p:nvSpPr>
        <p:spPr>
          <a:xfrm rot="13500000">
            <a:off x="7043144" y="3149086"/>
            <a:ext cx="457200" cy="457200"/>
          </a:xfrm>
          <a:prstGeom prst="teardrop">
            <a:avLst/>
          </a:prstGeom>
          <a:noFill/>
          <a:ln w="57150">
            <a:solidFill>
              <a:srgbClr val="0126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024799" y="3307422"/>
            <a:ext cx="150756" cy="150756"/>
          </a:xfrm>
          <a:prstGeom prst="ellipse">
            <a:avLst/>
          </a:prstGeom>
          <a:solidFill>
            <a:srgbClr val="01264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6211206" y="1053481"/>
            <a:ext cx="4961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>
                    <a:lumMod val="8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24849" y="1642624"/>
            <a:ext cx="4961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>
                    <a:lumMod val="8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205" y="2358537"/>
            <a:ext cx="4961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>
                    <a:lumMod val="8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8684" y="2992965"/>
            <a:ext cx="4961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>
                    <a:lumMod val="8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5980" y="1200153"/>
            <a:ext cx="384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Data Collection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53620" y="1736170"/>
            <a:ext cx="384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Data Preprocessing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9703" y="2478043"/>
            <a:ext cx="384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Feature Extraction, Transformation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49785" y="3088846"/>
            <a:ext cx="384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Modeling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5342035" y="4021992"/>
            <a:ext cx="65890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ardrop 52"/>
          <p:cNvSpPr/>
          <p:nvPr/>
        </p:nvSpPr>
        <p:spPr>
          <a:xfrm rot="2700000">
            <a:off x="4694891" y="3793391"/>
            <a:ext cx="457200" cy="457200"/>
          </a:xfrm>
          <a:prstGeom prst="teardrop">
            <a:avLst/>
          </a:prstGeom>
          <a:noFill/>
          <a:ln w="57150">
            <a:solidFill>
              <a:srgbClr val="3DBF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6023502" y="3946614"/>
            <a:ext cx="150756" cy="150756"/>
          </a:xfrm>
          <a:prstGeom prst="ellipse">
            <a:avLst/>
          </a:prstGeom>
          <a:solidFill>
            <a:srgbClr val="3DBF9C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5" name="Straight Connector 54"/>
          <p:cNvCxnSpPr/>
          <p:nvPr/>
        </p:nvCxnSpPr>
        <p:spPr>
          <a:xfrm>
            <a:off x="6228348" y="4682441"/>
            <a:ext cx="658905" cy="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ardrop 55"/>
          <p:cNvSpPr/>
          <p:nvPr/>
        </p:nvSpPr>
        <p:spPr>
          <a:xfrm rot="13500000">
            <a:off x="7038940" y="4461023"/>
            <a:ext cx="457200" cy="457200"/>
          </a:xfrm>
          <a:prstGeom prst="teardrop">
            <a:avLst/>
          </a:prstGeom>
          <a:noFill/>
          <a:ln w="57150">
            <a:solidFill>
              <a:srgbClr val="D43E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Oval 56"/>
          <p:cNvSpPr/>
          <p:nvPr/>
        </p:nvSpPr>
        <p:spPr>
          <a:xfrm>
            <a:off x="6020594" y="4607063"/>
            <a:ext cx="150756" cy="150756"/>
          </a:xfrm>
          <a:prstGeom prst="ellipse">
            <a:avLst/>
          </a:prstGeom>
          <a:solidFill>
            <a:srgbClr val="D43E0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Teardrop 57"/>
          <p:cNvSpPr/>
          <p:nvPr/>
        </p:nvSpPr>
        <p:spPr>
          <a:xfrm rot="18900000">
            <a:off x="5857847" y="5419752"/>
            <a:ext cx="457200" cy="457200"/>
          </a:xfrm>
          <a:prstGeom prst="teardrop">
            <a:avLst/>
          </a:prstGeom>
          <a:noFill/>
          <a:ln w="57150">
            <a:solidFill>
              <a:srgbClr val="0087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6206387" y="3645024"/>
            <a:ext cx="4961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>
                    <a:lumMod val="8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28296" y="4285283"/>
            <a:ext cx="4961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>
                    <a:lumMod val="8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80196" y="4373234"/>
            <a:ext cx="384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Evaluation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71922" y="5931470"/>
            <a:ext cx="384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Result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69703" y="3758280"/>
            <a:ext cx="4598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cs typeface="Lato" panose="020F0502020204030203" pitchFamily="34" charset="0"/>
              </a:rPr>
              <a:t>Testing</a:t>
            </a:r>
          </a:p>
        </p:txBody>
      </p:sp>
      <p:sp>
        <p:nvSpPr>
          <p:cNvPr id="2" name="矩形 1"/>
          <p:cNvSpPr/>
          <p:nvPr/>
        </p:nvSpPr>
        <p:spPr>
          <a:xfrm>
            <a:off x="3153398" y="2362426"/>
            <a:ext cx="6862273" cy="7413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6473E-7418-4677-9E96-FAA09C7D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45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34"/>
    </mc:Choice>
    <mc:Fallback xmlns="">
      <p:transition spd="slow" advTm="157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2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2" grpId="0" animBg="1"/>
      <p:bldP spid="9" grpId="0" animBg="1"/>
      <p:bldP spid="10" grpId="0" animBg="1"/>
      <p:bldP spid="13" grpId="0" animBg="1"/>
      <p:bldP spid="14" grpId="0" animBg="1"/>
      <p:bldP spid="18" grpId="0" animBg="1"/>
      <p:bldP spid="19" grpId="0" animBg="1"/>
      <p:bldP spid="21" grpId="0" animBg="1"/>
      <p:bldP spid="23" grpId="0" animBg="1"/>
      <p:bldP spid="25" grpId="0"/>
      <p:bldP spid="26" grpId="0"/>
      <p:bldP spid="27" grpId="0"/>
      <p:bldP spid="28" grpId="0"/>
      <p:bldP spid="29" grpId="0"/>
      <p:bldP spid="31" grpId="0"/>
      <p:bldP spid="33" grpId="0"/>
      <p:bldP spid="35" grpId="0"/>
      <p:bldP spid="53" grpId="0" animBg="1"/>
      <p:bldP spid="54" grpId="0" animBg="1"/>
      <p:bldP spid="56" grpId="0" animBg="1"/>
      <p:bldP spid="57" grpId="0" animBg="1"/>
      <p:bldP spid="58" grpId="0" animBg="1"/>
      <p:bldP spid="59" grpId="0"/>
      <p:bldP spid="60" grpId="0"/>
      <p:bldP spid="62" grpId="0"/>
      <p:bldP spid="64" grpId="0"/>
      <p:bldP spid="6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2"/>
            <a:ext cx="10058400" cy="4023360"/>
          </a:xfrm>
        </p:spPr>
        <p:txBody>
          <a:bodyPr/>
          <a:lstStyle/>
          <a:p>
            <a:r>
              <a:rPr lang="en-US" dirty="0"/>
              <a:t>Learned Previously: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Learned on This Session: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70351-947A-4E07-9670-11236DD68188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Rounded Rectangle 4"/>
          <p:cNvSpPr/>
          <p:nvPr/>
        </p:nvSpPr>
        <p:spPr>
          <a:xfrm>
            <a:off x="3401226" y="2409912"/>
            <a:ext cx="1418602" cy="55547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Histogram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19828" y="2409911"/>
            <a:ext cx="1418602" cy="55547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Earth Movement Distance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8430" y="2409910"/>
            <a:ext cx="1418602" cy="55547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K-Means Clustering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57032" y="2409910"/>
            <a:ext cx="1418602" cy="55547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Kernel Mapping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226" y="3964310"/>
            <a:ext cx="1418602" cy="555477"/>
          </a:xfrm>
          <a:prstGeom prst="roundRect">
            <a:avLst/>
          </a:prstGeom>
          <a:solidFill>
            <a:srgbClr val="92D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GMM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19828" y="3964310"/>
            <a:ext cx="1418602" cy="555477"/>
          </a:xfrm>
          <a:prstGeom prst="roundRect">
            <a:avLst/>
          </a:prstGeom>
          <a:solidFill>
            <a:srgbClr val="92D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8430" y="3964308"/>
            <a:ext cx="1418602" cy="55547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PCA</a:t>
            </a:r>
          </a:p>
        </p:txBody>
      </p:sp>
    </p:spTree>
    <p:extLst>
      <p:ext uri="{BB962C8B-B14F-4D97-AF65-F5344CB8AC3E}">
        <p14:creationId xmlns:p14="http://schemas.microsoft.com/office/powerpoint/2010/main" val="4007218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915"/>
    </mc:Choice>
    <mc:Fallback xmlns="">
      <p:transition spd="slow" advTm="1891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32389" y="2546647"/>
            <a:ext cx="104087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way to decompose a signal into so-called intrinsic mode functions (IMF) along with a trend, and obtain instantaneous frequency data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HHT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86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599"/>
    </mc:Choice>
    <mc:Fallback xmlns="">
      <p:transition spd="slow" advTm="1759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024" y="905854"/>
            <a:ext cx="1129754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Open Sans" panose="020B0606030504020204"/>
              </a:rPr>
              <a:t>|</a:t>
            </a:r>
            <a:r>
              <a:rPr lang="en-US" sz="4400" dirty="0">
                <a:solidFill>
                  <a:srgbClr val="606060"/>
                </a:solidFill>
                <a:latin typeface="Open Sans" panose="020B0606030504020204"/>
              </a:rPr>
              <a:t> Purpose</a:t>
            </a:r>
          </a:p>
          <a:p>
            <a:pPr marL="1084263" indent="-5715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tabLst>
                <a:tab pos="803275" algn="l"/>
              </a:tabLst>
            </a:pPr>
            <a:r>
              <a:rPr lang="en-US" sz="4400" dirty="0">
                <a:solidFill>
                  <a:srgbClr val="606060"/>
                </a:solidFill>
                <a:latin typeface="Open Sans" panose="020B0606030504020204"/>
              </a:rPr>
              <a:t> to transform the signal from time domain into the frequency domain</a:t>
            </a:r>
          </a:p>
          <a:p>
            <a:pPr marL="1084263" indent="-5715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tabLst>
                <a:tab pos="803275" algn="l"/>
              </a:tabLst>
            </a:pPr>
            <a:r>
              <a:rPr lang="en-US" sz="4400" dirty="0">
                <a:solidFill>
                  <a:srgbClr val="606060"/>
                </a:solidFill>
                <a:latin typeface="Open Sans" panose="020B0606030504020204"/>
              </a:rPr>
              <a:t>Because, we want to analyze the “</a:t>
            </a:r>
            <a:r>
              <a:rPr lang="en-US" sz="4400" i="1" dirty="0">
                <a:solidFill>
                  <a:srgbClr val="606060"/>
                </a:solidFill>
                <a:latin typeface="Open Sans" panose="020B0606030504020204"/>
              </a:rPr>
              <a:t>vibration</a:t>
            </a:r>
            <a:r>
              <a:rPr lang="en-US" sz="4400" dirty="0">
                <a:solidFill>
                  <a:srgbClr val="606060"/>
                </a:solidFill>
                <a:latin typeface="Open Sans" panose="020B0606030504020204"/>
              </a:rPr>
              <a:t>”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09771" y="589658"/>
            <a:ext cx="6024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853E7-5CB0-4B4E-BEF0-45EA19539D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105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10"/>
    </mc:Choice>
    <mc:Fallback xmlns="">
      <p:transition spd="slow" advTm="1381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024" y="905854"/>
            <a:ext cx="112975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Open Sans" panose="020B0606030504020204"/>
              </a:rPr>
              <a:t>|</a:t>
            </a:r>
            <a:r>
              <a:rPr lang="en-US" sz="4400" dirty="0">
                <a:solidFill>
                  <a:srgbClr val="606060"/>
                </a:solidFill>
                <a:latin typeface="Open Sans" panose="020B0606030504020204"/>
              </a:rPr>
              <a:t> Why HHT?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09771" y="589658"/>
            <a:ext cx="6024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853E7-5CB0-4B4E-BEF0-45EA19539D73}" type="slidenum">
              <a:rPr lang="en-US" smtClean="0"/>
              <a:t>6</a:t>
            </a:fld>
            <a:endParaRPr lang="en-US"/>
          </a:p>
        </p:txBody>
      </p:sp>
      <p:pic>
        <p:nvPicPr>
          <p:cNvPr id="6" name="image12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335" y="2678287"/>
            <a:ext cx="4572952" cy="2551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31335" y="5230247"/>
            <a:ext cx="42947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PMingLiU"/>
              </a:rPr>
              <a:t>In 2 dimensions: Non-stationary raw signals</a:t>
            </a:r>
            <a:endParaRPr lang="en-US" dirty="0"/>
          </a:p>
        </p:txBody>
      </p:sp>
      <p:pic>
        <p:nvPicPr>
          <p:cNvPr id="8" name="image21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164" y="2678287"/>
            <a:ext cx="3012393" cy="25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22164" y="5223850"/>
            <a:ext cx="45961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PMingLiU"/>
              </a:rPr>
              <a:t>In 3 </a:t>
            </a:r>
            <a:r>
              <a:rPr lang="en-US" dirty="0" err="1">
                <a:latin typeface="Times New Roman" panose="02020603050405020304" pitchFamily="18" charset="0"/>
                <a:ea typeface="PMingLiU"/>
              </a:rPr>
              <a:t>dimensons</a:t>
            </a:r>
            <a:r>
              <a:rPr lang="en-US" dirty="0">
                <a:latin typeface="Times New Roman" panose="02020603050405020304" pitchFamily="18" charset="0"/>
                <a:ea typeface="PMingLiU"/>
              </a:rPr>
              <a:t> distribution : Non-linear signals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742267" y="1921517"/>
            <a:ext cx="4097866" cy="381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Raw data: non-stationary non-linear</a:t>
            </a:r>
          </a:p>
        </p:txBody>
      </p:sp>
    </p:spTree>
    <p:extLst>
      <p:ext uri="{BB962C8B-B14F-4D97-AF65-F5344CB8AC3E}">
        <p14:creationId xmlns:p14="http://schemas.microsoft.com/office/powerpoint/2010/main" val="3958727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351"/>
    </mc:Choice>
    <mc:Fallback xmlns="">
      <p:transition spd="slow" advTm="3235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024" y="905854"/>
            <a:ext cx="1129754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Open Sans" panose="020B0606030504020204"/>
              </a:rPr>
              <a:t>|</a:t>
            </a:r>
            <a:r>
              <a:rPr lang="en-US" sz="4400" dirty="0">
                <a:solidFill>
                  <a:srgbClr val="606060"/>
                </a:solidFill>
                <a:latin typeface="Open Sans" panose="020B0606030504020204"/>
              </a:rPr>
              <a:t> Why HHT?</a:t>
            </a:r>
          </a:p>
          <a:p>
            <a:pPr marL="1084263" indent="-5715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  <a:tabLst>
                <a:tab pos="803275" algn="l"/>
              </a:tabLst>
            </a:pPr>
            <a:r>
              <a:rPr lang="en-US" sz="4400" dirty="0">
                <a:solidFill>
                  <a:srgbClr val="606060"/>
                </a:solidFill>
                <a:latin typeface="Open Sans" panose="020B0606030504020204"/>
              </a:rPr>
              <a:t> because it is work well for data that is non-stationary and non-linear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09771" y="589658"/>
            <a:ext cx="6024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853E7-5CB0-4B4E-BEF0-45EA19539D73}" type="slidenum">
              <a:rPr lang="en-US" smtClean="0"/>
              <a:t>7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075" y="3469654"/>
            <a:ext cx="7305675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623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474"/>
    </mc:Choice>
    <mc:Fallback xmlns="">
      <p:transition spd="slow" advTm="1747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/>
          <p:cNvSpPr>
            <a:spLocks noGrp="1"/>
          </p:cNvSpPr>
          <p:nvPr>
            <p:ph type="title"/>
          </p:nvPr>
        </p:nvSpPr>
        <p:spPr>
          <a:xfrm>
            <a:off x="804019" y="0"/>
            <a:ext cx="10515600" cy="1325563"/>
          </a:xfrm>
        </p:spPr>
        <p:txBody>
          <a:bodyPr/>
          <a:lstStyle/>
          <a:p>
            <a:r>
              <a:rPr lang="en-US" dirty="0"/>
              <a:t>Architecture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1087873" y="1324247"/>
            <a:ext cx="2512194" cy="1081271"/>
            <a:chOff x="1084849" y="2018082"/>
            <a:chExt cx="2512194" cy="1081271"/>
          </a:xfrm>
        </p:grpSpPr>
        <p:sp>
          <p:nvSpPr>
            <p:cNvPr id="77" name="Rectangle 76"/>
            <p:cNvSpPr/>
            <p:nvPr/>
          </p:nvSpPr>
          <p:spPr>
            <a:xfrm>
              <a:off x="1084849" y="2018082"/>
              <a:ext cx="2512194" cy="108127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146547" y="2018082"/>
              <a:ext cx="23887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Smartwatch</a:t>
              </a:r>
              <a:r>
                <a:rPr lang="en-US" dirty="0"/>
                <a:t> raw signals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1365155" y="2471130"/>
              <a:ext cx="2064283" cy="49088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Accelerometer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1087871" y="2684020"/>
            <a:ext cx="2512194" cy="1081271"/>
            <a:chOff x="1084847" y="3715915"/>
            <a:chExt cx="2512194" cy="1081271"/>
          </a:xfrm>
        </p:grpSpPr>
        <p:sp>
          <p:nvSpPr>
            <p:cNvPr id="74" name="Rectangle 73"/>
            <p:cNvSpPr/>
            <p:nvPr/>
          </p:nvSpPr>
          <p:spPr>
            <a:xfrm>
              <a:off x="1084847" y="3715915"/>
              <a:ext cx="2512194" cy="1081271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308802" y="4177929"/>
              <a:ext cx="2064283" cy="49088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Partitioning</a:t>
              </a:r>
              <a:br>
                <a:rPr lang="en-US" dirty="0"/>
              </a:br>
              <a:r>
                <a:rPr lang="en-US" sz="1100" i="1" dirty="0"/>
                <a:t>time window = 2.5s</a:t>
              </a:r>
              <a:endParaRPr lang="en-US" i="1" dirty="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594873" y="3728055"/>
              <a:ext cx="14921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Preprocessing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1087873" y="4243063"/>
            <a:ext cx="2512194" cy="1961041"/>
            <a:chOff x="6743527" y="1863168"/>
            <a:chExt cx="2512194" cy="1961041"/>
          </a:xfrm>
        </p:grpSpPr>
        <p:sp>
          <p:nvSpPr>
            <p:cNvPr id="69" name="Rectangle 68"/>
            <p:cNvSpPr/>
            <p:nvPr/>
          </p:nvSpPr>
          <p:spPr>
            <a:xfrm>
              <a:off x="6743527" y="1863168"/>
              <a:ext cx="2512194" cy="1961041"/>
            </a:xfrm>
            <a:prstGeom prst="rect">
              <a:avLst/>
            </a:prstGeom>
            <a:ln w="57150"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6967486" y="2337321"/>
              <a:ext cx="2064283" cy="49088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EMD</a:t>
              </a:r>
              <a:endParaRPr lang="en-US" i="1" dirty="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6818824" y="1867651"/>
              <a:ext cx="23616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Feature Transformation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6967486" y="3168996"/>
              <a:ext cx="2064283" cy="49088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HHT Spectrum</a:t>
              </a:r>
              <a:endParaRPr lang="en-US" i="1" dirty="0"/>
            </a:p>
          </p:txBody>
        </p:sp>
        <p:cxnSp>
          <p:nvCxnSpPr>
            <p:cNvPr id="73" name="Straight Arrow Connector 72"/>
            <p:cNvCxnSpPr>
              <a:stCxn id="70" idx="2"/>
            </p:cNvCxnSpPr>
            <p:nvPr/>
          </p:nvCxnSpPr>
          <p:spPr>
            <a:xfrm flipH="1">
              <a:off x="7999624" y="2828209"/>
              <a:ext cx="4" cy="340787"/>
            </a:xfrm>
            <a:prstGeom prst="straightConnector1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Flowchart: Multidocument 50"/>
          <p:cNvSpPr/>
          <p:nvPr/>
        </p:nvSpPr>
        <p:spPr>
          <a:xfrm>
            <a:off x="4169542" y="1074455"/>
            <a:ext cx="1761424" cy="755569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Raw Features</a:t>
            </a:r>
          </a:p>
        </p:txBody>
      </p:sp>
      <p:grpSp>
        <p:nvGrpSpPr>
          <p:cNvPr id="115" name="Group 114"/>
          <p:cNvGrpSpPr/>
          <p:nvPr/>
        </p:nvGrpSpPr>
        <p:grpSpPr>
          <a:xfrm>
            <a:off x="7948838" y="3560300"/>
            <a:ext cx="2512194" cy="1964419"/>
            <a:chOff x="7970650" y="3624289"/>
            <a:chExt cx="2512194" cy="1964419"/>
          </a:xfrm>
        </p:grpSpPr>
        <p:sp>
          <p:nvSpPr>
            <p:cNvPr id="64" name="Rectangle 63"/>
            <p:cNvSpPr/>
            <p:nvPr/>
          </p:nvSpPr>
          <p:spPr>
            <a:xfrm>
              <a:off x="7970650" y="3627667"/>
              <a:ext cx="2512194" cy="1961041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983866" y="3624289"/>
              <a:ext cx="8393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Testing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8194604" y="4781205"/>
              <a:ext cx="2064283" cy="64317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SVM Classification</a:t>
              </a:r>
              <a:endParaRPr lang="en-US" i="1" dirty="0"/>
            </a:p>
          </p:txBody>
        </p:sp>
      </p:grpSp>
      <p:cxnSp>
        <p:nvCxnSpPr>
          <p:cNvPr id="53" name="Elbow Connector 52"/>
          <p:cNvCxnSpPr>
            <a:stCxn id="79" idx="2"/>
            <a:endCxn id="75" idx="1"/>
          </p:cNvCxnSpPr>
          <p:nvPr/>
        </p:nvCxnSpPr>
        <p:spPr>
          <a:xfrm rot="5400000">
            <a:off x="1270733" y="2318241"/>
            <a:ext cx="1114330" cy="1032144"/>
          </a:xfrm>
          <a:prstGeom prst="bentConnector4">
            <a:avLst>
              <a:gd name="adj1" fmla="val 29486"/>
              <a:gd name="adj2" fmla="val 133339"/>
            </a:avLst>
          </a:prstGeom>
          <a:ln w="31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Elbow Connector 53"/>
          <p:cNvCxnSpPr>
            <a:stCxn id="75" idx="2"/>
            <a:endCxn id="70" idx="1"/>
          </p:cNvCxnSpPr>
          <p:nvPr/>
        </p:nvCxnSpPr>
        <p:spPr>
          <a:xfrm rot="5400000">
            <a:off x="1165031" y="3783723"/>
            <a:ext cx="1325738" cy="1032136"/>
          </a:xfrm>
          <a:prstGeom prst="bentConnector4">
            <a:avLst>
              <a:gd name="adj1" fmla="val 40743"/>
              <a:gd name="adj2" fmla="val 133339"/>
            </a:avLst>
          </a:prstGeom>
          <a:ln w="3175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Elbow Connector 54"/>
          <p:cNvCxnSpPr>
            <a:stCxn id="72" idx="3"/>
            <a:endCxn id="51" idx="1"/>
          </p:cNvCxnSpPr>
          <p:nvPr/>
        </p:nvCxnSpPr>
        <p:spPr>
          <a:xfrm flipV="1">
            <a:off x="3376115" y="1452240"/>
            <a:ext cx="793427" cy="4342095"/>
          </a:xfrm>
          <a:prstGeom prst="bentConnector3">
            <a:avLst>
              <a:gd name="adj1" fmla="val 50000"/>
            </a:avLst>
          </a:prstGeom>
          <a:ln w="3175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8" name="Flowchart: Multidocument 57"/>
          <p:cNvSpPr/>
          <p:nvPr/>
        </p:nvSpPr>
        <p:spPr>
          <a:xfrm>
            <a:off x="4925814" y="5533330"/>
            <a:ext cx="1761424" cy="755569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</a:p>
        </p:txBody>
      </p:sp>
      <p:cxnSp>
        <p:nvCxnSpPr>
          <p:cNvPr id="61" name="Elbow Connector 60"/>
          <p:cNvCxnSpPr>
            <a:stCxn id="58" idx="3"/>
            <a:endCxn id="67" idx="1"/>
          </p:cNvCxnSpPr>
          <p:nvPr/>
        </p:nvCxnSpPr>
        <p:spPr>
          <a:xfrm flipV="1">
            <a:off x="6687238" y="5038805"/>
            <a:ext cx="1485554" cy="872310"/>
          </a:xfrm>
          <a:prstGeom prst="bentConnector3">
            <a:avLst/>
          </a:prstGeom>
          <a:ln w="3175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638446" y="5886785"/>
            <a:ext cx="203568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Classification Result</a:t>
            </a:r>
          </a:p>
        </p:txBody>
      </p:sp>
      <p:cxnSp>
        <p:nvCxnSpPr>
          <p:cNvPr id="63" name="Straight Arrow Connector 62"/>
          <p:cNvCxnSpPr>
            <a:stCxn id="67" idx="2"/>
            <a:endCxn id="62" idx="0"/>
          </p:cNvCxnSpPr>
          <p:nvPr/>
        </p:nvCxnSpPr>
        <p:spPr>
          <a:xfrm>
            <a:off x="9204934" y="5360394"/>
            <a:ext cx="451355" cy="526391"/>
          </a:xfrm>
          <a:prstGeom prst="straightConnector1">
            <a:avLst/>
          </a:prstGeom>
          <a:ln w="3175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4" name="Slide Number Placeholder 83"/>
          <p:cNvSpPr>
            <a:spLocks noGrp="1"/>
          </p:cNvSpPr>
          <p:nvPr>
            <p:ph type="sldNum" sz="quarter" idx="12"/>
          </p:nvPr>
        </p:nvSpPr>
        <p:spPr>
          <a:xfrm>
            <a:off x="8576417" y="5991225"/>
            <a:ext cx="2743200" cy="365125"/>
          </a:xfrm>
        </p:spPr>
        <p:txBody>
          <a:bodyPr/>
          <a:lstStyle/>
          <a:p>
            <a:fld id="{5E37034B-740B-4F65-8FDE-D2FB7CB47958}" type="slidenum">
              <a:rPr lang="en-US" smtClean="0"/>
              <a:t>8</a:t>
            </a:fld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6312246" y="1151002"/>
            <a:ext cx="1717314" cy="6177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Split Training &amp; Testing</a:t>
            </a:r>
            <a:endParaRPr lang="en-US" i="1" dirty="0"/>
          </a:p>
        </p:txBody>
      </p:sp>
      <p:cxnSp>
        <p:nvCxnSpPr>
          <p:cNvPr id="101" name="Straight Arrow Connector 100"/>
          <p:cNvCxnSpPr>
            <a:stCxn id="51" idx="3"/>
            <a:endCxn id="98" idx="1"/>
          </p:cNvCxnSpPr>
          <p:nvPr/>
        </p:nvCxnSpPr>
        <p:spPr>
          <a:xfrm>
            <a:off x="5930966" y="1452240"/>
            <a:ext cx="381280" cy="7628"/>
          </a:xfrm>
          <a:prstGeom prst="straightConnector1">
            <a:avLst/>
          </a:prstGeom>
          <a:ln w="3175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6" name="Group 115"/>
          <p:cNvGrpSpPr/>
          <p:nvPr/>
        </p:nvGrpSpPr>
        <p:grpSpPr>
          <a:xfrm>
            <a:off x="4632203" y="3560300"/>
            <a:ext cx="2538700" cy="1738485"/>
            <a:chOff x="4652640" y="3419298"/>
            <a:chExt cx="2538700" cy="1738485"/>
          </a:xfrm>
        </p:grpSpPr>
        <p:sp>
          <p:nvSpPr>
            <p:cNvPr id="80" name="Rectangle 79"/>
            <p:cNvSpPr/>
            <p:nvPr/>
          </p:nvSpPr>
          <p:spPr>
            <a:xfrm>
              <a:off x="4679146" y="3430617"/>
              <a:ext cx="2512194" cy="1727166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4652640" y="3419298"/>
              <a:ext cx="9267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Training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4903101" y="4576214"/>
              <a:ext cx="2064283" cy="399320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SVM Training</a:t>
              </a:r>
              <a:endParaRPr lang="en-US" i="1" dirty="0"/>
            </a:p>
          </p:txBody>
        </p:sp>
      </p:grpSp>
      <p:cxnSp>
        <p:nvCxnSpPr>
          <p:cNvPr id="59" name="Straight Arrow Connector 58"/>
          <p:cNvCxnSpPr>
            <a:stCxn id="83" idx="2"/>
            <a:endCxn id="58" idx="0"/>
          </p:cNvCxnSpPr>
          <p:nvPr/>
        </p:nvCxnSpPr>
        <p:spPr>
          <a:xfrm>
            <a:off x="5914806" y="5116536"/>
            <a:ext cx="12899" cy="416794"/>
          </a:xfrm>
          <a:prstGeom prst="straightConnector1">
            <a:avLst/>
          </a:prstGeom>
          <a:ln w="3175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Elbow Connector 84"/>
          <p:cNvCxnSpPr>
            <a:stCxn id="98" idx="3"/>
            <a:endCxn id="114" idx="0"/>
          </p:cNvCxnSpPr>
          <p:nvPr/>
        </p:nvCxnSpPr>
        <p:spPr>
          <a:xfrm>
            <a:off x="8029560" y="1459868"/>
            <a:ext cx="1175373" cy="259241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Elbow Connector 98"/>
          <p:cNvCxnSpPr>
            <a:stCxn id="98" idx="3"/>
            <a:endCxn id="113" idx="0"/>
          </p:cNvCxnSpPr>
          <p:nvPr/>
        </p:nvCxnSpPr>
        <p:spPr>
          <a:xfrm flipH="1">
            <a:off x="5914805" y="1459868"/>
            <a:ext cx="2114755" cy="2556747"/>
          </a:xfrm>
          <a:prstGeom prst="bentConnector4">
            <a:avLst>
              <a:gd name="adj1" fmla="val -56070"/>
              <a:gd name="adj2" fmla="val 5604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112"/>
          <p:cNvSpPr/>
          <p:nvPr/>
        </p:nvSpPr>
        <p:spPr>
          <a:xfrm>
            <a:off x="4882663" y="4016615"/>
            <a:ext cx="2064283" cy="500941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Training Sample</a:t>
            </a:r>
            <a:endParaRPr lang="en-US" i="1" dirty="0"/>
          </a:p>
        </p:txBody>
      </p:sp>
      <p:sp>
        <p:nvSpPr>
          <p:cNvPr id="114" name="Rectangle 113"/>
          <p:cNvSpPr/>
          <p:nvPr/>
        </p:nvSpPr>
        <p:spPr>
          <a:xfrm>
            <a:off x="8172791" y="4052283"/>
            <a:ext cx="2064283" cy="500941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Testing Sample</a:t>
            </a:r>
            <a:endParaRPr lang="en-US" i="1" dirty="0"/>
          </a:p>
        </p:txBody>
      </p:sp>
      <p:cxnSp>
        <p:nvCxnSpPr>
          <p:cNvPr id="118" name="Straight Arrow Connector 117"/>
          <p:cNvCxnSpPr>
            <a:stCxn id="113" idx="2"/>
            <a:endCxn id="83" idx="0"/>
          </p:cNvCxnSpPr>
          <p:nvPr/>
        </p:nvCxnSpPr>
        <p:spPr>
          <a:xfrm>
            <a:off x="5914805" y="4517556"/>
            <a:ext cx="1" cy="199660"/>
          </a:xfrm>
          <a:prstGeom prst="straightConnector1">
            <a:avLst/>
          </a:prstGeom>
          <a:ln w="3175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>
            <a:stCxn id="114" idx="2"/>
            <a:endCxn id="67" idx="0"/>
          </p:cNvCxnSpPr>
          <p:nvPr/>
        </p:nvCxnSpPr>
        <p:spPr>
          <a:xfrm>
            <a:off x="9204933" y="4553224"/>
            <a:ext cx="1" cy="163992"/>
          </a:xfrm>
          <a:prstGeom prst="straightConnector1">
            <a:avLst/>
          </a:prstGeom>
          <a:ln w="3175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650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056"/>
    </mc:Choice>
    <mc:Fallback xmlns="">
      <p:transition spd="slow" advTm="5905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HHT Implementation example</a:t>
            </a:r>
            <a:br>
              <a:rPr lang="en-US" dirty="0"/>
            </a:br>
            <a:r>
              <a:rPr lang="en-US" altLang="en-US" dirty="0">
                <a:solidFill>
                  <a:srgbClr val="000000">
                    <a:lumMod val="75000"/>
                    <a:lumOff val="25000"/>
                  </a:srgbClr>
                </a:solidFill>
                <a:latin typeface="Calibri" panose="020F0502020204030204"/>
              </a:rPr>
              <a:t>(in driver recognition case)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70351-947A-4E07-9670-11236DD68188}" type="slidenum">
              <a:rPr lang="zh-TW" altLang="en-US" smtClean="0"/>
              <a:t>9</a:t>
            </a:fld>
            <a:endParaRPr lang="zh-TW" alt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692" y="2666286"/>
            <a:ext cx="3720832" cy="28371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200" y="2296954"/>
            <a:ext cx="3367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Steering Wheel Handling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28232" y="1948441"/>
            <a:ext cx="2119357" cy="9571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L1R1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28232" y="3606288"/>
            <a:ext cx="2119357" cy="9571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L0R1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28232" y="5264135"/>
            <a:ext cx="2119357" cy="9571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L1R0</a:t>
            </a:r>
          </a:p>
        </p:txBody>
      </p:sp>
      <p:cxnSp>
        <p:nvCxnSpPr>
          <p:cNvPr id="18" name="Elbow Connector 17"/>
          <p:cNvCxnSpPr>
            <a:stCxn id="12" idx="3"/>
            <a:endCxn id="14" idx="1"/>
          </p:cNvCxnSpPr>
          <p:nvPr/>
        </p:nvCxnSpPr>
        <p:spPr>
          <a:xfrm flipV="1">
            <a:off x="4586524" y="2427006"/>
            <a:ext cx="1241708" cy="1657848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12" idx="3"/>
            <a:endCxn id="16" idx="1"/>
          </p:cNvCxnSpPr>
          <p:nvPr/>
        </p:nvCxnSpPr>
        <p:spPr>
          <a:xfrm flipV="1">
            <a:off x="4586524" y="4084853"/>
            <a:ext cx="1241708" cy="1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12" idx="3"/>
            <a:endCxn id="17" idx="1"/>
          </p:cNvCxnSpPr>
          <p:nvPr/>
        </p:nvCxnSpPr>
        <p:spPr>
          <a:xfrm>
            <a:off x="4586524" y="4084854"/>
            <a:ext cx="1241708" cy="1657846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54525" y="2079855"/>
            <a:ext cx="2632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 and Right hands on the steering wheel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4525" y="3617938"/>
            <a:ext cx="26321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 out of the steering wheel, Right hand on the steering wheel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4525" y="5264135"/>
            <a:ext cx="26321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 hand on the steering wheel, Right hand out of steering wheel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1002" y="3823243"/>
            <a:ext cx="504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class</a:t>
            </a:r>
          </a:p>
        </p:txBody>
      </p:sp>
    </p:spTree>
    <p:extLst>
      <p:ext uri="{BB962C8B-B14F-4D97-AF65-F5344CB8AC3E}">
        <p14:creationId xmlns:p14="http://schemas.microsoft.com/office/powerpoint/2010/main" val="4247156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903"/>
    </mc:Choice>
    <mc:Fallback xmlns="">
      <p:transition spd="slow" advTm="3990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804017" y="373670"/>
            <a:ext cx="10515600" cy="814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Open Sans" panose="020B0606030504020204"/>
              </a:rPr>
              <a:t>| </a:t>
            </a:r>
            <a:r>
              <a:rPr lang="en-US" sz="4000" dirty="0">
                <a:solidFill>
                  <a:srgbClr val="606060"/>
                </a:solidFill>
                <a:latin typeface="Open Sans" panose="020B0606030504020204"/>
              </a:rPr>
              <a:t>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1417" y="3863520"/>
            <a:ext cx="10030732" cy="1141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3088" indent="-573088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Empirical mode decomposition (EMD)</a:t>
            </a:r>
          </a:p>
          <a:p>
            <a:pPr marL="573088" indent="-573088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Hilbert spectral analysis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10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027768" y="1455885"/>
            <a:ext cx="2512194" cy="1961041"/>
            <a:chOff x="6743527" y="1863168"/>
            <a:chExt cx="2512194" cy="1961041"/>
          </a:xfrm>
        </p:grpSpPr>
        <p:sp>
          <p:nvSpPr>
            <p:cNvPr id="7" name="Rectangle 6"/>
            <p:cNvSpPr/>
            <p:nvPr/>
          </p:nvSpPr>
          <p:spPr>
            <a:xfrm>
              <a:off x="6743527" y="1863168"/>
              <a:ext cx="2512194" cy="1961041"/>
            </a:xfrm>
            <a:prstGeom prst="rect">
              <a:avLst/>
            </a:prstGeom>
            <a:ln w="57150"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967486" y="2337321"/>
              <a:ext cx="2064283" cy="49088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EMD</a:t>
              </a:r>
              <a:endParaRPr lang="en-US" i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049143" y="1867651"/>
              <a:ext cx="1900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Feature extraction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967486" y="3168996"/>
              <a:ext cx="2064283" cy="49088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HHT Spectrum</a:t>
              </a:r>
              <a:endParaRPr lang="en-US" i="1" dirty="0"/>
            </a:p>
          </p:txBody>
        </p:sp>
        <p:cxnSp>
          <p:nvCxnSpPr>
            <p:cNvPr id="12" name="Straight Arrow Connector 11"/>
            <p:cNvCxnSpPr>
              <a:stCxn id="9" idx="2"/>
            </p:cNvCxnSpPr>
            <p:nvPr/>
          </p:nvCxnSpPr>
          <p:spPr>
            <a:xfrm flipH="1">
              <a:off x="7999624" y="2828209"/>
              <a:ext cx="4" cy="340787"/>
            </a:xfrm>
            <a:prstGeom prst="straightConnector1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8388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501"/>
    </mc:Choice>
    <mc:Fallback xmlns="">
      <p:transition spd="slow" advTm="1350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04017" y="373670"/>
            <a:ext cx="10515600" cy="814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chemeClr val="accent1">
                  <a:lumMod val="75000"/>
                </a:schemeClr>
              </a:buClr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Open Sans" panose="020B0606030504020204"/>
              </a:rPr>
              <a:t>| </a:t>
            </a:r>
            <a:r>
              <a:rPr lang="en-US" sz="40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Empirical mode decomposition (EMD)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751" y="1439177"/>
            <a:ext cx="4901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1">
                  <a:lumMod val="75000"/>
                </a:schemeClr>
              </a:buClr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Breaking down signals into various components, which called as </a:t>
            </a:r>
            <a:r>
              <a:rPr lang="en-US" sz="1400" b="1" i="1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intrinsic mode functions (IMF)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1088751" y="2414116"/>
            <a:ext cx="1519653" cy="2422241"/>
            <a:chOff x="1088751" y="2414116"/>
            <a:chExt cx="1519653" cy="2422241"/>
          </a:xfrm>
        </p:grpSpPr>
        <p:sp>
          <p:nvSpPr>
            <p:cNvPr id="7" name="Flowchart: Multidocument 6"/>
            <p:cNvSpPr/>
            <p:nvPr/>
          </p:nvSpPr>
          <p:spPr>
            <a:xfrm>
              <a:off x="1088752" y="2414116"/>
              <a:ext cx="1466440" cy="619642"/>
            </a:xfrm>
            <a:prstGeom prst="flowChartMulti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Raw Sample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1839641" y="2965391"/>
              <a:ext cx="0" cy="3802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1114387" y="3345609"/>
              <a:ext cx="1494017" cy="49088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EMD</a:t>
              </a:r>
              <a:endParaRPr lang="en-US" i="1" dirty="0"/>
            </a:p>
          </p:txBody>
        </p:sp>
        <p:sp>
          <p:nvSpPr>
            <p:cNvPr id="14" name="Flowchart: Multidocument 13"/>
            <p:cNvSpPr/>
            <p:nvPr/>
          </p:nvSpPr>
          <p:spPr>
            <a:xfrm>
              <a:off x="1088751" y="4216715"/>
              <a:ext cx="1466440" cy="619642"/>
            </a:xfrm>
            <a:prstGeom prst="flowChartMulti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IMF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>
              <a:off x="1839641" y="3836497"/>
              <a:ext cx="0" cy="3802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3333657" y="2552426"/>
            <a:ext cx="49017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2575" indent="-282575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do the EMD step, previously we have to know about the local extreme value. </a:t>
            </a:r>
          </a:p>
          <a:p>
            <a:pPr marL="288925">
              <a:buClr>
                <a:schemeClr val="accent1">
                  <a:lumMod val="75000"/>
                </a:schemeClr>
              </a:buClr>
            </a:pPr>
            <a:r>
              <a:rPr lang="en-US" sz="1400" dirty="0">
                <a:latin typeface="Open Sans" panose="020B0606030504020204"/>
              </a:rPr>
              <a:t>Local extreme is maxima and minima value. Maxima is a peak of wave and minima is a valley</a:t>
            </a:r>
            <a:endParaRPr lang="en-US" sz="1400" dirty="0">
              <a:solidFill>
                <a:schemeClr val="accent3">
                  <a:lumMod val="50000"/>
                </a:schemeClr>
              </a:solidFill>
              <a:latin typeface="Open Sans" panose="020B0606030504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3960794-D118-460F-9408-DFC72F415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348" y="3641730"/>
            <a:ext cx="3236351" cy="23892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15593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425"/>
    </mc:Choice>
    <mc:Fallback xmlns="">
      <p:transition spd="slow" advTm="324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4866861" cy="976658"/>
          </a:xfrm>
        </p:spPr>
        <p:txBody>
          <a:bodyPr/>
          <a:lstStyle/>
          <a:p>
            <a:r>
              <a:rPr lang="en-US" dirty="0"/>
              <a:t>EMD Step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610139"/>
            <a:ext cx="609600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buClr>
                <a:schemeClr val="accent1">
                  <a:lumMod val="75000"/>
                </a:schemeClr>
              </a:buClr>
              <a:buAutoNum type="arabicPeriod"/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Identify all the local extrema in the test data</a:t>
            </a:r>
          </a:p>
          <a:p>
            <a:pPr marL="800100" lvl="1" indent="-342900" algn="just">
              <a:buClr>
                <a:schemeClr val="accent1">
                  <a:lumMod val="75000"/>
                </a:schemeClr>
              </a:buClr>
              <a:buAutoNum type="arabicPeriod"/>
            </a:pP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lvl="1" indent="-342900" algn="just">
              <a:buClr>
                <a:schemeClr val="accent1">
                  <a:lumMod val="75000"/>
                </a:schemeClr>
              </a:buClr>
              <a:buAutoNum type="arabicPeriod"/>
            </a:pPr>
            <a:r>
              <a:rPr lang="en-US" sz="1400" dirty="0">
                <a:latin typeface="Open Sans" panose="020B0606030504020204"/>
              </a:rPr>
              <a:t>Create an envelope of minima and maxima from the array of minima and maxima. </a:t>
            </a:r>
          </a:p>
          <a:p>
            <a:pPr marL="804863" lvl="2" algn="just">
              <a:buClr>
                <a:schemeClr val="accent1">
                  <a:lumMod val="75000"/>
                </a:schemeClr>
              </a:buClr>
            </a:pPr>
            <a:r>
              <a:rPr lang="en-US" sz="1200" dirty="0">
                <a:latin typeface="Open Sans" panose="020B0606030504020204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Connect all the local maxima by a cubic spline line as the upper envelope and Repeat the procedure for the local minima to produce the lower envelope)</a:t>
            </a:r>
          </a:p>
          <a:p>
            <a:pPr marL="804863" lvl="2" algn="just">
              <a:buClr>
                <a:schemeClr val="accent1">
                  <a:lumMod val="75000"/>
                </a:schemeClr>
              </a:buClr>
            </a:pP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lvl="1" indent="-342900" algn="just">
              <a:buClr>
                <a:schemeClr val="accent1">
                  <a:lumMod val="75000"/>
                </a:schemeClr>
              </a:buClr>
              <a:buFontTx/>
              <a:buAutoNum type="arabicPeriod"/>
            </a:pPr>
            <a:r>
              <a:rPr lang="en-US" sz="1400" dirty="0">
                <a:latin typeface="Open Sans" panose="020B0606030504020204"/>
              </a:rPr>
              <a:t>Get the mean value, from the envelope of minima and maxima</a:t>
            </a:r>
          </a:p>
          <a:p>
            <a:pPr marL="800100" lvl="1" indent="-342900" algn="just">
              <a:buClr>
                <a:schemeClr val="accent1">
                  <a:lumMod val="75000"/>
                </a:schemeClr>
              </a:buClr>
              <a:buFontTx/>
              <a:buAutoNum type="arabicPeriod"/>
            </a:pPr>
            <a:endParaRPr lang="en-US" sz="1400" dirty="0">
              <a:latin typeface="Open Sans" panose="020B0606030504020204"/>
            </a:endParaRPr>
          </a:p>
          <a:p>
            <a:pPr marL="800100" lvl="1" indent="-342900" algn="just">
              <a:buClr>
                <a:schemeClr val="accent1">
                  <a:lumMod val="75000"/>
                </a:schemeClr>
              </a:buClr>
              <a:buFontTx/>
              <a:buAutoNum type="arabicPeriod"/>
            </a:pPr>
            <a:r>
              <a:rPr lang="en-US" sz="1400" dirty="0">
                <a:latin typeface="Open Sans" panose="020B0606030504020204"/>
              </a:rPr>
              <a:t>Decrease the value of signal by the mean value of the envelope</a:t>
            </a:r>
          </a:p>
          <a:p>
            <a:pPr marL="800100" lvl="1" indent="-342900" algn="just">
              <a:buClr>
                <a:schemeClr val="accent1">
                  <a:lumMod val="75000"/>
                </a:schemeClr>
              </a:buClr>
              <a:buFontTx/>
              <a:buAutoNum type="arabicPeriod"/>
            </a:pPr>
            <a:endParaRPr lang="en-US" sz="1400" dirty="0">
              <a:latin typeface="Open Sans" panose="020B0606030504020204"/>
            </a:endParaRPr>
          </a:p>
          <a:p>
            <a:pPr marL="800100" lvl="1" indent="-342900" algn="just">
              <a:buClr>
                <a:schemeClr val="accent1">
                  <a:lumMod val="75000"/>
                </a:schemeClr>
              </a:buClr>
              <a:buFontTx/>
              <a:buAutoNum type="arabicPeriod"/>
            </a:pPr>
            <a:r>
              <a:rPr lang="en-US" sz="1400" dirty="0">
                <a:latin typeface="Open Sans" panose="020B0606030504020204"/>
                <a:ea typeface="Open Sans" panose="020B0606030504020204" pitchFamily="34" charset="0"/>
                <a:cs typeface="Open Sans" panose="020B0606030504020204" pitchFamily="34" charset="0"/>
              </a:rPr>
              <a:t>Repeat all the procedure until </a:t>
            </a:r>
            <a:r>
              <a:rPr lang="en-US" sz="1400" b="1" dirty="0">
                <a:latin typeface="Open Sans" panose="020B0606030504020204"/>
                <a:ea typeface="Open Sans" panose="020B0606030504020204" pitchFamily="34" charset="0"/>
                <a:cs typeface="Open Sans" panose="020B0606030504020204" pitchFamily="34" charset="0"/>
              </a:rPr>
              <a:t>M</a:t>
            </a:r>
            <a:r>
              <a:rPr lang="en-US" sz="1400" dirty="0">
                <a:latin typeface="Open Sans" panose="020B0606030504020204"/>
                <a:ea typeface="Open Sans" panose="020B0606030504020204" pitchFamily="34" charset="0"/>
                <a:cs typeface="Open Sans" panose="020B0606030504020204" pitchFamily="34" charset="0"/>
              </a:rPr>
              <a:t> times</a:t>
            </a:r>
          </a:p>
          <a:p>
            <a:pPr marL="804863" lvl="1" indent="-347663" algn="just">
              <a:buClr>
                <a:schemeClr val="accent1">
                  <a:lumMod val="75000"/>
                </a:schemeClr>
              </a:buClr>
            </a:pPr>
            <a:r>
              <a:rPr lang="en-US" sz="1400" dirty="0">
                <a:latin typeface="Open Sans" panose="020B0606030504020204"/>
                <a:ea typeface="Open Sans" panose="020B0606030504020204" pitchFamily="34" charset="0"/>
                <a:cs typeface="Open Sans" panose="020B0606030504020204" pitchFamily="34" charset="0"/>
              </a:rPr>
              <a:t>	M = fix(log2(N))-1, where N is number of data</a:t>
            </a:r>
          </a:p>
          <a:p>
            <a:pPr marL="804863" lvl="1" indent="-347663" algn="just">
              <a:buClr>
                <a:schemeClr val="accent1">
                  <a:lumMod val="75000"/>
                </a:schemeClr>
              </a:buClr>
            </a:pPr>
            <a:r>
              <a:rPr lang="en-US" sz="1400" dirty="0">
                <a:latin typeface="Open Sans" panose="020B0606030504020204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the end we will have M number of IMF, also we will get M+1 data, which is called as </a:t>
            </a:r>
            <a:r>
              <a:rPr lang="en-US" sz="1400" b="1" i="1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residue</a:t>
            </a:r>
          </a:p>
          <a:p>
            <a:pPr marL="804863" lvl="1" indent="-347663" algn="just">
              <a:buClr>
                <a:schemeClr val="accent1">
                  <a:lumMod val="75000"/>
                </a:schemeClr>
              </a:buClr>
            </a:pPr>
            <a:endParaRPr lang="en-US" sz="1400" dirty="0">
              <a:latin typeface="Open Sans" panose="020B0606030504020204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lvl="1" indent="-342900" algn="just">
              <a:buClr>
                <a:schemeClr val="accent1">
                  <a:lumMod val="75000"/>
                </a:schemeClr>
              </a:buClr>
              <a:buFontTx/>
              <a:buAutoNum type="arabicPeriod"/>
            </a:pPr>
            <a:endParaRPr lang="en-US" sz="1400" dirty="0">
              <a:latin typeface="Open Sans" panose="020B0606030504020204"/>
            </a:endParaRPr>
          </a:p>
          <a:p>
            <a:pPr marL="804863" lvl="2" algn="just">
              <a:buClr>
                <a:schemeClr val="accent1">
                  <a:lumMod val="75000"/>
                </a:schemeClr>
              </a:buClr>
            </a:pP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898DA1C-3EA8-4A1F-8B98-C29AF6DD5F6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1778" y="272544"/>
            <a:ext cx="3816626" cy="118850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A71C313-8F21-41C1-9B01-E59394E50D6C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803" y="1541600"/>
            <a:ext cx="3700601" cy="105250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A8AEDB0-726D-4769-A591-F2C921FC57D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815" y="2691838"/>
            <a:ext cx="3700601" cy="105250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1B7C32E-DAA2-4AFF-9437-42531365391B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789" y="3824895"/>
            <a:ext cx="3892827" cy="105250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DE92493-FB0E-4135-8C26-C3D417ADA115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1689" y="5380756"/>
            <a:ext cx="4010441" cy="105250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35FD639-BC33-4F86-8A91-1105C27BC544}"/>
              </a:ext>
            </a:extLst>
          </p:cNvPr>
          <p:cNvSpPr txBox="1"/>
          <p:nvPr/>
        </p:nvSpPr>
        <p:spPr>
          <a:xfrm>
            <a:off x="7971181" y="4820285"/>
            <a:ext cx="2683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……..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CEF2D04-E31D-4CBC-A894-EC71C7ADEB16}"/>
              </a:ext>
            </a:extLst>
          </p:cNvPr>
          <p:cNvSpPr/>
          <p:nvPr/>
        </p:nvSpPr>
        <p:spPr>
          <a:xfrm>
            <a:off x="6332920" y="467139"/>
            <a:ext cx="506896" cy="5068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Open Sans" panose="020B0606030504020204"/>
              </a:rPr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0A484D0-1707-438F-BC32-4815505253BD}"/>
              </a:ext>
            </a:extLst>
          </p:cNvPr>
          <p:cNvSpPr/>
          <p:nvPr/>
        </p:nvSpPr>
        <p:spPr>
          <a:xfrm>
            <a:off x="6359458" y="1683026"/>
            <a:ext cx="506896" cy="5068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Open Sans" panose="020B0606030504020204"/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BC65878-DBC5-4BBE-95E6-633569B274EF}"/>
              </a:ext>
            </a:extLst>
          </p:cNvPr>
          <p:cNvSpPr/>
          <p:nvPr/>
        </p:nvSpPr>
        <p:spPr>
          <a:xfrm>
            <a:off x="6349446" y="2898913"/>
            <a:ext cx="506896" cy="5068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Open Sans" panose="020B0606030504020204"/>
              </a:rPr>
              <a:t>3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AC4E76-C632-4440-B3EF-BD75EE9C3DE1}"/>
              </a:ext>
            </a:extLst>
          </p:cNvPr>
          <p:cNvSpPr/>
          <p:nvPr/>
        </p:nvSpPr>
        <p:spPr>
          <a:xfrm>
            <a:off x="6405801" y="4076699"/>
            <a:ext cx="506896" cy="5068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Open Sans" panose="020B0606030504020204"/>
              </a:rPr>
              <a:t>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A68B364-5ABA-4D03-A59D-887669D3F2F9}"/>
              </a:ext>
            </a:extLst>
          </p:cNvPr>
          <p:cNvSpPr/>
          <p:nvPr/>
        </p:nvSpPr>
        <p:spPr>
          <a:xfrm>
            <a:off x="6404143" y="5549348"/>
            <a:ext cx="506896" cy="5068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Open Sans" panose="020B0606030504020204"/>
              </a:rPr>
              <a:t>5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2A1B326-ADF3-42D8-85C7-665180F595D6}"/>
              </a:ext>
            </a:extLst>
          </p:cNvPr>
          <p:cNvCxnSpPr/>
          <p:nvPr/>
        </p:nvCxnSpPr>
        <p:spPr>
          <a:xfrm flipH="1">
            <a:off x="10336696" y="1461052"/>
            <a:ext cx="589720" cy="221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003AF82-7A0D-42FB-9455-927F74A1B45D}"/>
              </a:ext>
            </a:extLst>
          </p:cNvPr>
          <p:cNvSpPr txBox="1"/>
          <p:nvPr/>
        </p:nvSpPr>
        <p:spPr>
          <a:xfrm>
            <a:off x="10846904" y="1279085"/>
            <a:ext cx="10137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upper envelope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F6ABA78-1B63-4751-AD51-574A30998AC1}"/>
              </a:ext>
            </a:extLst>
          </p:cNvPr>
          <p:cNvCxnSpPr>
            <a:cxnSpLocks/>
          </p:cNvCxnSpPr>
          <p:nvPr/>
        </p:nvCxnSpPr>
        <p:spPr>
          <a:xfrm flipH="1" flipV="1">
            <a:off x="10545417" y="2379625"/>
            <a:ext cx="460511" cy="197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54E15F8-289A-4207-920F-239E3FECF487}"/>
              </a:ext>
            </a:extLst>
          </p:cNvPr>
          <p:cNvSpPr txBox="1"/>
          <p:nvPr/>
        </p:nvSpPr>
        <p:spPr>
          <a:xfrm>
            <a:off x="10926416" y="2394960"/>
            <a:ext cx="10137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lower envelope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9879F4A-EA45-4950-AFA5-58AEC06027BB}"/>
              </a:ext>
            </a:extLst>
          </p:cNvPr>
          <p:cNvCxnSpPr>
            <a:cxnSpLocks/>
          </p:cNvCxnSpPr>
          <p:nvPr/>
        </p:nvCxnSpPr>
        <p:spPr>
          <a:xfrm flipH="1" flipV="1">
            <a:off x="10638179" y="3174875"/>
            <a:ext cx="460511" cy="197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F838EB0-DB27-4363-ADA2-C27197044548}"/>
              </a:ext>
            </a:extLst>
          </p:cNvPr>
          <p:cNvSpPr txBox="1"/>
          <p:nvPr/>
        </p:nvSpPr>
        <p:spPr>
          <a:xfrm>
            <a:off x="10979424" y="3346554"/>
            <a:ext cx="10137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mean value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6297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049"/>
    </mc:Choice>
    <mc:Fallback xmlns="">
      <p:transition spd="slow" advTm="770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 animBg="1"/>
      <p:bldP spid="25" grpId="0" animBg="1"/>
      <p:bldP spid="26" grpId="0" animBg="1"/>
      <p:bldP spid="27" grpId="0" animBg="1"/>
      <p:bldP spid="28" grpId="0" animBg="1"/>
      <p:bldP spid="32" grpId="0"/>
      <p:bldP spid="34" grpId="0"/>
      <p:bldP spid="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13</a:t>
            </a:fld>
            <a:endParaRPr lang="en-US"/>
          </a:p>
        </p:txBody>
      </p:sp>
      <p:pic>
        <p:nvPicPr>
          <p:cNvPr id="1026" name="Picture 2" descr="Hilbert-Huang transform - MATLAB hh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6602" y="1617470"/>
            <a:ext cx="6079322" cy="4559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911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84"/>
    </mc:Choice>
    <mc:Fallback xmlns="">
      <p:transition spd="slow" advTm="1018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804017" y="373670"/>
            <a:ext cx="10515600" cy="814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chemeClr val="accent1">
                  <a:lumMod val="75000"/>
                </a:schemeClr>
              </a:buClr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Open Sans" panose="020B0606030504020204"/>
              </a:rPr>
              <a:t>| </a:t>
            </a:r>
            <a:r>
              <a:rPr lang="en-US" sz="40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Empirical mode decomposition (EMD) </a:t>
            </a:r>
            <a:r>
              <a:rPr lang="en-US" sz="4000" dirty="0" err="1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Ilustration</a:t>
            </a:r>
            <a:endParaRPr lang="en-US" sz="4000" dirty="0">
              <a:solidFill>
                <a:schemeClr val="accent3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29270" y="5908243"/>
            <a:ext cx="62238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EMD illustration</a:t>
            </a:r>
            <a:endParaRPr lang="en-US" sz="1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14</a:t>
            </a:fld>
            <a:endParaRPr lang="en-US"/>
          </a:p>
        </p:txBody>
      </p:sp>
      <p:pic>
        <p:nvPicPr>
          <p:cNvPr id="11" name="4243B9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50473" y="1455075"/>
            <a:ext cx="6983215" cy="389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56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073"/>
    </mc:Choice>
    <mc:Fallback xmlns="">
      <p:transition spd="slow" advTm="22073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  <p:extLst>
    <p:ext uri="{E180D4A7-C9FB-4DFB-919C-405C955672EB}">
      <p14:showEvtLst xmlns:p14="http://schemas.microsoft.com/office/powerpoint/2010/main">
        <p14:playEvt time="5946" objId="11"/>
        <p14:stopEvt time="19429" objId="11"/>
      </p14:showEvt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804017" y="373670"/>
            <a:ext cx="10515600" cy="814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chemeClr val="accent1">
                  <a:lumMod val="75000"/>
                </a:schemeClr>
              </a:buClr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Open Sans" panose="020B0606030504020204"/>
              </a:rPr>
              <a:t>| </a:t>
            </a:r>
            <a:r>
              <a:rPr lang="en-US" sz="40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Hilbert spectral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680" y="1144288"/>
            <a:ext cx="9148994" cy="381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2575" indent="-282575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method for examining each IMF's </a:t>
            </a:r>
            <a:r>
              <a:rPr lang="en-US" sz="1400" b="1" i="1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instantaneous frequency 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 functions of time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15</a:t>
            </a:fld>
            <a:endParaRPr lang="en-US"/>
          </a:p>
        </p:txBody>
      </p:sp>
      <p:sp>
        <p:nvSpPr>
          <p:cNvPr id="10" name="Flowchart: Multidocument 9"/>
          <p:cNvSpPr/>
          <p:nvPr/>
        </p:nvSpPr>
        <p:spPr>
          <a:xfrm>
            <a:off x="3772246" y="1803122"/>
            <a:ext cx="1466440" cy="619642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IMF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72247" y="2695112"/>
            <a:ext cx="1466440" cy="49088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Hilbert Transform</a:t>
            </a:r>
            <a:endParaRPr lang="en-US" sz="1400" i="1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4505926" y="2357623"/>
            <a:ext cx="0" cy="3374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772246" y="3536419"/>
            <a:ext cx="1466440" cy="531379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Calculate </a:t>
            </a:r>
            <a:r>
              <a:rPr lang="en-US" sz="1400" dirty="0" err="1"/>
              <a:t>inst</a:t>
            </a:r>
            <a:r>
              <a:rPr lang="en-US" sz="1400" dirty="0"/>
              <a:t> frequency</a:t>
            </a:r>
            <a:endParaRPr lang="en-US" sz="1400" i="1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505466" y="3198930"/>
            <a:ext cx="0" cy="3374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71905" y="2671855"/>
            <a:ext cx="3187581" cy="5232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Get instantaneous amplitude, </a:t>
            </a:r>
          </a:p>
          <a:p>
            <a:r>
              <a:rPr lang="en-US" sz="1000" dirty="0"/>
              <a:t>(use </a:t>
            </a:r>
            <a:r>
              <a:rPr lang="en-US" sz="1000" dirty="0" err="1"/>
              <a:t>hilbert.m</a:t>
            </a:r>
            <a:r>
              <a:rPr lang="en-US" sz="1000" dirty="0"/>
              <a:t> </a:t>
            </a:r>
            <a:r>
              <a:rPr lang="en-US" sz="1000" dirty="0" err="1"/>
              <a:t>matlab</a:t>
            </a:r>
            <a:r>
              <a:rPr lang="en-US" sz="1000" dirty="0"/>
              <a:t> function)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906" y="3536419"/>
            <a:ext cx="3187581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Fs/(2*pi)*diff(unwrap(angle(z)))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9355" y="3899877"/>
            <a:ext cx="31875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Fs = frequency sample (50 Hz)</a:t>
            </a:r>
          </a:p>
          <a:p>
            <a:r>
              <a:rPr lang="en-US" sz="1000" dirty="0"/>
              <a:t>Pi = 3.14</a:t>
            </a:r>
          </a:p>
          <a:p>
            <a:r>
              <a:rPr lang="en-US" sz="1000" dirty="0"/>
              <a:t>Z = instantaneous amplitude</a:t>
            </a:r>
          </a:p>
        </p:txBody>
      </p:sp>
      <p:sp>
        <p:nvSpPr>
          <p:cNvPr id="19" name="Flowchart: Predefined Process 18">
            <a:hlinkClick r:id="rId3" action="ppaction://hlinksldjump"/>
          </p:cNvPr>
          <p:cNvSpPr/>
          <p:nvPr/>
        </p:nvSpPr>
        <p:spPr>
          <a:xfrm>
            <a:off x="3772246" y="4460906"/>
            <a:ext cx="1466440" cy="720548"/>
          </a:xfrm>
          <a:prstGeom prst="flowChartPredefinedProcess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Spectrum extraction</a:t>
            </a:r>
          </a:p>
        </p:txBody>
      </p:sp>
      <p:cxnSp>
        <p:nvCxnSpPr>
          <p:cNvPr id="20" name="Straight Arrow Connector 19"/>
          <p:cNvCxnSpPr>
            <a:endCxn id="19" idx="0"/>
          </p:cNvCxnSpPr>
          <p:nvPr/>
        </p:nvCxnSpPr>
        <p:spPr>
          <a:xfrm>
            <a:off x="4505466" y="4067798"/>
            <a:ext cx="0" cy="3931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514420" y="5181454"/>
            <a:ext cx="0" cy="3931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lowchart: Multidocument 24"/>
          <p:cNvSpPr/>
          <p:nvPr/>
        </p:nvSpPr>
        <p:spPr>
          <a:xfrm>
            <a:off x="3781200" y="5567030"/>
            <a:ext cx="1466440" cy="728079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HHT Spectrum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5270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212"/>
    </mc:Choice>
    <mc:Fallback xmlns="">
      <p:transition spd="slow" advTm="382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3" grpId="0" animBg="1"/>
      <p:bldP spid="15" grpId="0" animBg="1"/>
      <p:bldP spid="7" grpId="0" animBg="1"/>
      <p:bldP spid="17" grpId="0" animBg="1"/>
      <p:bldP spid="18" grpId="0"/>
      <p:bldP spid="19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35043" y="5174133"/>
            <a:ext cx="91489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2575" indent="-282575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After we get </a:t>
            </a:r>
            <a:r>
              <a:rPr lang="en-US" sz="1400" b="1" i="1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instantaneous frequency 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</a:t>
            </a:r>
            <a:r>
              <a:rPr lang="en-US" sz="1400" b="1" i="1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instantaneous amplitude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we put them into spectrum block</a:t>
            </a:r>
          </a:p>
          <a:p>
            <a:pPr marL="282575" indent="-282575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block represent some range of frequency that we desired</a:t>
            </a:r>
          </a:p>
          <a:p>
            <a:pPr marL="282575" indent="-282575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Then, put each instantaneous amplitude into the right block, depends on its value of </a:t>
            </a:r>
            <a:r>
              <a:rPr lang="en-US" sz="1400" b="1" i="1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instantaneous frequency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804017" y="373670"/>
            <a:ext cx="10515600" cy="814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chemeClr val="accent1">
                  <a:lumMod val="75000"/>
                </a:schemeClr>
              </a:buClr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Open Sans" panose="020B0606030504020204"/>
              </a:rPr>
              <a:t>| </a:t>
            </a:r>
            <a:r>
              <a:rPr lang="en-US" sz="40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HHT Spectrum</a:t>
            </a:r>
          </a:p>
        </p:txBody>
      </p:sp>
      <p:sp>
        <p:nvSpPr>
          <p:cNvPr id="7" name="Flowchart: Multidocument 6"/>
          <p:cNvSpPr/>
          <p:nvPr/>
        </p:nvSpPr>
        <p:spPr>
          <a:xfrm>
            <a:off x="3823520" y="1822785"/>
            <a:ext cx="1466440" cy="619642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Inst</a:t>
            </a:r>
            <a:r>
              <a:rPr lang="en-US" sz="1400" dirty="0"/>
              <a:t> Frequency</a:t>
            </a:r>
          </a:p>
        </p:txBody>
      </p:sp>
      <p:sp>
        <p:nvSpPr>
          <p:cNvPr id="8" name="Flowchart: Multidocument 7"/>
          <p:cNvSpPr/>
          <p:nvPr/>
        </p:nvSpPr>
        <p:spPr>
          <a:xfrm>
            <a:off x="5786442" y="1822785"/>
            <a:ext cx="1466440" cy="619642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Inst</a:t>
            </a:r>
            <a:r>
              <a:rPr lang="en-US" sz="1400" dirty="0"/>
              <a:t> Amplitude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56740" y="2940817"/>
            <a:ext cx="1466440" cy="490888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Plotting spectrum</a:t>
            </a:r>
            <a:endParaRPr lang="en-US" sz="1400" i="1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5289960" y="3425558"/>
            <a:ext cx="0" cy="3931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owchart: Multidocument 12"/>
          <p:cNvSpPr/>
          <p:nvPr/>
        </p:nvSpPr>
        <p:spPr>
          <a:xfrm>
            <a:off x="4556740" y="3811134"/>
            <a:ext cx="1466440" cy="728079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HHT Spectrum</a:t>
            </a:r>
          </a:p>
        </p:txBody>
      </p:sp>
      <p:cxnSp>
        <p:nvCxnSpPr>
          <p:cNvPr id="15" name="Elbow Connector 14"/>
          <p:cNvCxnSpPr>
            <a:stCxn id="7" idx="2"/>
            <a:endCxn id="9" idx="0"/>
          </p:cNvCxnSpPr>
          <p:nvPr/>
        </p:nvCxnSpPr>
        <p:spPr>
          <a:xfrm rot="16200000" flipH="1">
            <a:off x="4611436" y="2262293"/>
            <a:ext cx="521856" cy="83519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8" idx="2"/>
            <a:endCxn id="9" idx="0"/>
          </p:cNvCxnSpPr>
          <p:nvPr/>
        </p:nvCxnSpPr>
        <p:spPr>
          <a:xfrm rot="5400000">
            <a:off x="5592897" y="2116024"/>
            <a:ext cx="521856" cy="112773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817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284"/>
    </mc:Choice>
    <mc:Fallback xmlns="">
      <p:transition spd="slow" advTm="20284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6842818" y="2343494"/>
            <a:ext cx="588162" cy="17678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8 &lt; f ≤ 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33855" y="2166692"/>
            <a:ext cx="588162" cy="17678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7 &lt; f ≤ 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42818" y="2013106"/>
            <a:ext cx="588162" cy="17678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6 &lt; f ≤ 7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85" y="798409"/>
            <a:ext cx="3629025" cy="14668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7464" y="2265259"/>
            <a:ext cx="420704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Instantaneous frequency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843" y="5545420"/>
            <a:ext cx="420704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Instantaneous amplitude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272" y="3911881"/>
            <a:ext cx="3676650" cy="1495425"/>
          </a:xfrm>
          <a:prstGeom prst="rect">
            <a:avLst/>
          </a:prstGeom>
        </p:spPr>
      </p:pic>
      <p:sp>
        <p:nvSpPr>
          <p:cNvPr id="9" name="Flowchart: Process 8"/>
          <p:cNvSpPr/>
          <p:nvPr/>
        </p:nvSpPr>
        <p:spPr>
          <a:xfrm>
            <a:off x="1693936" y="1399802"/>
            <a:ext cx="801436" cy="210964"/>
          </a:xfrm>
          <a:prstGeom prst="flowChartProcess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495372" y="1622536"/>
            <a:ext cx="4966389" cy="952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895802"/>
              </p:ext>
            </p:extLst>
          </p:nvPr>
        </p:nvGraphicFramePr>
        <p:xfrm>
          <a:off x="7441889" y="920839"/>
          <a:ext cx="556971" cy="4429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6971">
                  <a:extLst>
                    <a:ext uri="{9D8B030D-6E8A-4147-A177-3AD203B41FA5}">
                      <a16:colId xmlns:a16="http://schemas.microsoft.com/office/drawing/2014/main" val="3491333201"/>
                    </a:ext>
                  </a:extLst>
                </a:gridCol>
              </a:tblGrid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603574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93261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93908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1181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417157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98580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70515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77145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71080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6093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52523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66683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912004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36524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54103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76220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468035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58563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64225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3943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571924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97097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2827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406337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033845"/>
                  </a:ext>
                </a:extLst>
              </a:tr>
            </a:tbl>
          </a:graphicData>
        </a:graphic>
      </p:graphicFrame>
      <p:sp>
        <p:nvSpPr>
          <p:cNvPr id="16" name="Flowchart: Process 15"/>
          <p:cNvSpPr/>
          <p:nvPr/>
        </p:nvSpPr>
        <p:spPr>
          <a:xfrm>
            <a:off x="1693936" y="4554908"/>
            <a:ext cx="801436" cy="247828"/>
          </a:xfrm>
          <a:prstGeom prst="flowChartProcess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>
            <a:stCxn id="16" idx="3"/>
          </p:cNvCxnSpPr>
          <p:nvPr/>
        </p:nvCxnSpPr>
        <p:spPr>
          <a:xfrm flipV="1">
            <a:off x="2495372" y="2601810"/>
            <a:ext cx="4922367" cy="2077012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700541" y="496420"/>
            <a:ext cx="20396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Frequency blocks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887911"/>
              </p:ext>
            </p:extLst>
          </p:nvPr>
        </p:nvGraphicFramePr>
        <p:xfrm>
          <a:off x="7998860" y="920838"/>
          <a:ext cx="556971" cy="4429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6971">
                  <a:extLst>
                    <a:ext uri="{9D8B030D-6E8A-4147-A177-3AD203B41FA5}">
                      <a16:colId xmlns:a16="http://schemas.microsoft.com/office/drawing/2014/main" val="3491333201"/>
                    </a:ext>
                  </a:extLst>
                </a:gridCol>
              </a:tblGrid>
              <a:tr h="174054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603574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93261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93908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1181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417157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98580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70515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77145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71080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0.0126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6093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52523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66683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912004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36524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54103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76220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468035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58563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64225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3943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571924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97097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2827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406337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033845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17</a:t>
            </a:fld>
            <a:endParaRPr lang="en-US" dirty="0"/>
          </a:p>
        </p:txBody>
      </p:sp>
      <p:sp>
        <p:nvSpPr>
          <p:cNvPr id="15" name="Flowchart: Process 14"/>
          <p:cNvSpPr/>
          <p:nvPr/>
        </p:nvSpPr>
        <p:spPr>
          <a:xfrm>
            <a:off x="2412963" y="1413208"/>
            <a:ext cx="801436" cy="210964"/>
          </a:xfrm>
          <a:prstGeom prst="flowChartProcess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stCxn id="15" idx="3"/>
          </p:cNvCxnSpPr>
          <p:nvPr/>
        </p:nvCxnSpPr>
        <p:spPr>
          <a:xfrm>
            <a:off x="3214399" y="1518690"/>
            <a:ext cx="4227490" cy="547069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Process 18"/>
          <p:cNvSpPr/>
          <p:nvPr/>
        </p:nvSpPr>
        <p:spPr>
          <a:xfrm>
            <a:off x="2412963" y="4540707"/>
            <a:ext cx="801436" cy="247828"/>
          </a:xfrm>
          <a:prstGeom prst="flowChartProcess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19" idx="3"/>
          </p:cNvCxnSpPr>
          <p:nvPr/>
        </p:nvCxnSpPr>
        <p:spPr>
          <a:xfrm flipV="1">
            <a:off x="3214399" y="2079165"/>
            <a:ext cx="4227490" cy="258545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64447" y="1954328"/>
            <a:ext cx="6757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0.0116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68E1AD-2558-46F6-9317-2C1329181C96}"/>
              </a:ext>
            </a:extLst>
          </p:cNvPr>
          <p:cNvSpPr/>
          <p:nvPr/>
        </p:nvSpPr>
        <p:spPr>
          <a:xfrm>
            <a:off x="9253779" y="519926"/>
            <a:ext cx="2608141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HHT Spectrum Step</a:t>
            </a:r>
          </a:p>
          <a:p>
            <a:endParaRPr lang="en-US" sz="1400" dirty="0">
              <a:solidFill>
                <a:schemeClr val="accent3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get </a:t>
            </a:r>
            <a:r>
              <a:rPr lang="en-US" sz="1400" b="1" i="1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instantaneous amplitude (IA) 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</a:t>
            </a:r>
            <a:r>
              <a:rPr lang="en-US" sz="1400" b="1" i="1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instantaneous frequency (IF)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have frequency block that represent some range of frequency that we desired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put each instantaneous amplitude into the right block, depends on its value of </a:t>
            </a:r>
            <a:r>
              <a:rPr lang="en-US" sz="1400" b="1" i="1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instantaneous frequency, 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start from line 1,column 1 [1,1]</a:t>
            </a:r>
          </a:p>
          <a:p>
            <a:pPr marL="347663"/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</a:rPr>
              <a:t>Ex 1: on [3,2] </a:t>
            </a:r>
          </a:p>
          <a:p>
            <a:pPr marL="633413" indent="-285750">
              <a:buFont typeface="Wingdings" panose="05000000000000000000" pitchFamily="2" charset="2"/>
              <a:buChar char="à"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sym typeface="Wingdings" panose="05000000000000000000" pitchFamily="2" charset="2"/>
              </a:rPr>
              <a:t>IF=9.0594</a:t>
            </a:r>
          </a:p>
          <a:p>
            <a:pPr marL="633413" indent="-285750">
              <a:buFont typeface="Wingdings" panose="05000000000000000000" pitchFamily="2" charset="2"/>
              <a:buChar char="à"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sym typeface="Wingdings" panose="05000000000000000000" pitchFamily="2" charset="2"/>
              </a:rPr>
              <a:t>On the </a:t>
            </a:r>
            <a:r>
              <a:rPr lang="en-US" sz="1400" dirty="0" err="1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sym typeface="Wingdings" panose="05000000000000000000" pitchFamily="2" charset="2"/>
              </a:rPr>
              <a:t>freq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sym typeface="Wingdings" panose="05000000000000000000" pitchFamily="2" charset="2"/>
              </a:rPr>
              <a:t> block, we find that value in the range </a:t>
            </a:r>
            <a:r>
              <a:rPr lang="en-US" sz="1400" dirty="0" err="1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sym typeface="Wingdings" panose="05000000000000000000" pitchFamily="2" charset="2"/>
              </a:rPr>
              <a:t>freq</a:t>
            </a:r>
            <a:r>
              <a:rPr lang="en-US" sz="140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sym typeface="Wingdings" panose="05000000000000000000" pitchFamily="2" charset="2"/>
              </a:rPr>
              <a:t> of block 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sym typeface="Wingdings" panose="05000000000000000000" pitchFamily="2" charset="2"/>
              </a:rPr>
              <a:t>“9”</a:t>
            </a:r>
          </a:p>
          <a:p>
            <a:pPr marL="633413" indent="-285750">
              <a:buFont typeface="Wingdings" panose="05000000000000000000" pitchFamily="2" charset="2"/>
              <a:buChar char="à"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sym typeface="Wingdings" panose="05000000000000000000" pitchFamily="2" charset="2"/>
              </a:rPr>
              <a:t>IA=0.0126</a:t>
            </a:r>
          </a:p>
          <a:p>
            <a:pPr marL="633413" indent="-285750">
              <a:buFont typeface="Wingdings" panose="05000000000000000000" pitchFamily="2" charset="2"/>
              <a:buChar char="à"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sym typeface="Wingdings" panose="05000000000000000000" pitchFamily="2" charset="2"/>
              </a:rPr>
              <a:t>then put the IA on the side of the block</a:t>
            </a:r>
          </a:p>
          <a:p>
            <a:pPr marL="347663"/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sym typeface="Wingdings" panose="05000000000000000000" pitchFamily="2" charset="2"/>
              </a:rPr>
              <a:t>Ex 2: on [3,3]</a:t>
            </a:r>
            <a:endParaRPr lang="en-US" sz="1400" dirty="0"/>
          </a:p>
          <a:p>
            <a:pPr marL="633413" indent="-285750">
              <a:buFont typeface="Wingdings" panose="05000000000000000000" pitchFamily="2" charset="2"/>
              <a:buChar char="à"/>
            </a:pPr>
            <a:endParaRPr lang="en-US" sz="1400" dirty="0">
              <a:solidFill>
                <a:schemeClr val="accent3">
                  <a:lumMod val="50000"/>
                </a:schemeClr>
              </a:solidFill>
              <a:latin typeface="Open Sans" panose="020B0606030504020204" pitchFamily="34" charset="0"/>
              <a:sym typeface="Wingdings" panose="05000000000000000000" pitchFamily="2" charset="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3727" y="920837"/>
            <a:ext cx="588162" cy="17678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0 &lt; f ≤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3727" y="1098690"/>
            <a:ext cx="588162" cy="17678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1 &lt; f ≤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3727" y="1275479"/>
            <a:ext cx="588162" cy="17678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2 &lt; f ≤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3727" y="1442530"/>
            <a:ext cx="588162" cy="17678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3 &lt; f ≤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3727" y="1629057"/>
            <a:ext cx="588162" cy="17678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4 &lt; f ≤ 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48826" y="1817488"/>
            <a:ext cx="588162" cy="17678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5 &lt; f ≤ 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43941" y="5173174"/>
            <a:ext cx="673798" cy="22447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24 &lt; f ≤ 25</a:t>
            </a:r>
          </a:p>
        </p:txBody>
      </p:sp>
      <p:sp>
        <p:nvSpPr>
          <p:cNvPr id="32" name="Rectangle 31"/>
          <p:cNvSpPr/>
          <p:nvPr/>
        </p:nvSpPr>
        <p:spPr>
          <a:xfrm rot="5400000">
            <a:off x="6880852" y="3458999"/>
            <a:ext cx="588162" cy="17678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……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57171" y="5456664"/>
            <a:ext cx="660568" cy="26901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Range of </a:t>
            </a:r>
            <a:r>
              <a:rPr lang="en-US" sz="900" dirty="0" err="1"/>
              <a:t>freq</a:t>
            </a:r>
            <a:endParaRPr lang="en-US" sz="9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7974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182"/>
    </mc:Choice>
    <mc:Fallback xmlns="">
      <p:transition spd="slow" advTm="701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 animBg="1"/>
      <p:bldP spid="16" grpId="0" animBg="1"/>
      <p:bldP spid="21" grpId="0"/>
      <p:bldP spid="15" grpId="0" animBg="1"/>
      <p:bldP spid="19" grpId="0" animBg="1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963" y="926142"/>
            <a:ext cx="7132231" cy="420988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18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38200" y="-43191"/>
            <a:ext cx="10515600" cy="814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chemeClr val="accent1">
                  <a:lumMod val="75000"/>
                </a:schemeClr>
              </a:buClr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Open Sans" panose="020B0606030504020204"/>
              </a:rPr>
              <a:t>| </a:t>
            </a:r>
            <a:r>
              <a:rPr lang="en-US" sz="40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Visualization of Raw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7373" y="1447591"/>
            <a:ext cx="854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L1R1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8383" y="4365019"/>
            <a:ext cx="854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L1R0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1608" y="556810"/>
            <a:ext cx="743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Acc</a:t>
            </a:r>
            <a:r>
              <a:rPr lang="en-US" dirty="0"/>
              <a:t>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917" y="541052"/>
            <a:ext cx="743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Acc</a:t>
            </a:r>
            <a:r>
              <a:rPr lang="en-US" dirty="0"/>
              <a:t> 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38226" y="465363"/>
            <a:ext cx="743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Acc</a:t>
            </a:r>
            <a:r>
              <a:rPr lang="en-US" dirty="0"/>
              <a:t> z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476640" y="5426579"/>
            <a:ext cx="70485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1999" y="5440138"/>
            <a:ext cx="1922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Data point in time order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 flipV="1">
            <a:off x="3224821" y="1136590"/>
            <a:ext cx="25637" cy="3999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 rot="16200000">
            <a:off x="2728733" y="2809799"/>
            <a:ext cx="8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Frequency</a:t>
            </a:r>
          </a:p>
        </p:txBody>
      </p:sp>
      <p:cxnSp>
        <p:nvCxnSpPr>
          <p:cNvPr id="21" name="Straight Arrow Connector 20"/>
          <p:cNvCxnSpPr>
            <a:endCxn id="22" idx="1"/>
          </p:cNvCxnSpPr>
          <p:nvPr/>
        </p:nvCxnSpPr>
        <p:spPr>
          <a:xfrm flipV="1">
            <a:off x="10167996" y="1495418"/>
            <a:ext cx="726393" cy="5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894389" y="1264585"/>
            <a:ext cx="1187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Inst. Amplitude color scale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5967" y="2310912"/>
            <a:ext cx="2045901" cy="17635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/>
                </a:solidFill>
              </a:rPr>
              <a:t>Both L1R1 and L1R0 show a strong intensity of the low frequency (1-2.5 Hz). </a:t>
            </a:r>
          </a:p>
          <a:p>
            <a:r>
              <a:rPr lang="en-US" sz="1100" dirty="0">
                <a:solidFill>
                  <a:schemeClr val="tx1"/>
                </a:solidFill>
              </a:rPr>
              <a:t>L1R1 have a stronger intensity on high frequency compared to L1R0.</a:t>
            </a:r>
          </a:p>
          <a:p>
            <a:r>
              <a:rPr lang="en-US" sz="900" i="1" dirty="0">
                <a:solidFill>
                  <a:schemeClr val="tx1"/>
                </a:solidFill>
              </a:rPr>
              <a:t>We assume that the low frequency is the hand movement from the wheel, the high </a:t>
            </a:r>
            <a:r>
              <a:rPr lang="en-US" sz="900" i="1" dirty="0" err="1">
                <a:solidFill>
                  <a:schemeClr val="tx1"/>
                </a:solidFill>
              </a:rPr>
              <a:t>freq</a:t>
            </a:r>
            <a:r>
              <a:rPr lang="en-US" sz="900" i="1" dirty="0">
                <a:solidFill>
                  <a:schemeClr val="tx1"/>
                </a:solidFill>
              </a:rPr>
              <a:t> is the car engine vibrations</a:t>
            </a:r>
          </a:p>
        </p:txBody>
      </p:sp>
      <p:sp>
        <p:nvSpPr>
          <p:cNvPr id="49" name="Left Brace 48"/>
          <p:cNvSpPr/>
          <p:nvPr/>
        </p:nvSpPr>
        <p:spPr>
          <a:xfrm>
            <a:off x="2507373" y="2042445"/>
            <a:ext cx="1158773" cy="2032017"/>
          </a:xfrm>
          <a:prstGeom prst="leftBrace">
            <a:avLst>
              <a:gd name="adj1" fmla="val 3908"/>
              <a:gd name="adj2" fmla="val 46448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217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868"/>
    </mc:Choice>
    <mc:Fallback xmlns="">
      <p:transition spd="slow" advTm="518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4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  <a:p>
            <a:r>
              <a:rPr lang="en-US" dirty="0"/>
              <a:t>PPT Lab Session</a:t>
            </a:r>
          </a:p>
          <a:p>
            <a:r>
              <a:rPr lang="en-US" dirty="0"/>
              <a:t>Lab Session Exercise (word)</a:t>
            </a:r>
          </a:p>
          <a:p>
            <a:pPr marL="0" indent="0">
              <a:buNone/>
            </a:pPr>
            <a:r>
              <a:rPr lang="en-US" dirty="0"/>
              <a:t>You can download on the </a:t>
            </a:r>
            <a:r>
              <a:rPr lang="en-US" dirty="0" err="1"/>
              <a:t>ee</a:t>
            </a:r>
            <a:r>
              <a:rPr lang="en-US" dirty="0"/>
              <a:t>-class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31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612"/>
    </mc:Choice>
    <mc:Fallback xmlns="">
      <p:transition spd="slow" advTm="22612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249" y="93907"/>
            <a:ext cx="10515600" cy="1325563"/>
          </a:xfrm>
        </p:spPr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20</a:t>
            </a:fld>
            <a:endParaRPr lang="en-US"/>
          </a:p>
        </p:txBody>
      </p:sp>
      <p:pic>
        <p:nvPicPr>
          <p:cNvPr id="5" name="image12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6249" y="1429472"/>
            <a:ext cx="2307520" cy="1546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6249" y="2976260"/>
            <a:ext cx="22810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 non stationary and non-linear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9953" y="1429472"/>
            <a:ext cx="1068224" cy="154678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Hard to distinguish</a:t>
            </a:r>
          </a:p>
        </p:txBody>
      </p:sp>
      <p:sp>
        <p:nvSpPr>
          <p:cNvPr id="8" name="Rectangle 7"/>
          <p:cNvSpPr/>
          <p:nvPr/>
        </p:nvSpPr>
        <p:spPr>
          <a:xfrm>
            <a:off x="4896886" y="1429472"/>
            <a:ext cx="1005179" cy="154678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Proper</a:t>
            </a:r>
          </a:p>
          <a:p>
            <a:pPr algn="ctr"/>
            <a:r>
              <a:rPr lang="en-US" dirty="0"/>
              <a:t>method: Use HHT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583" y="1281202"/>
            <a:ext cx="2377109" cy="184332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499285" y="1429472"/>
            <a:ext cx="1068224" cy="154678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Easier to distinguish </a:t>
            </a:r>
            <a:r>
              <a:rPr lang="en-US" sz="1100" dirty="0">
                <a:sym typeface="Wingdings" panose="05000000000000000000" pitchFamily="2" charset="2"/>
              </a:rPr>
              <a:t> </a:t>
            </a:r>
            <a:r>
              <a:rPr lang="en-US" sz="1100" dirty="0"/>
              <a:t>build a  proper model (modeling)</a:t>
            </a:r>
          </a:p>
          <a:p>
            <a:pPr algn="ctr"/>
            <a:r>
              <a:rPr lang="en-US" sz="1100" dirty="0"/>
              <a:t>Ex: for classification</a:t>
            </a:r>
          </a:p>
        </p:txBody>
      </p:sp>
      <p:cxnSp>
        <p:nvCxnSpPr>
          <p:cNvPr id="13" name="Straight Arrow Connector 12"/>
          <p:cNvCxnSpPr>
            <a:stCxn id="5" idx="3"/>
            <a:endCxn id="7" idx="1"/>
          </p:cNvCxnSpPr>
          <p:nvPr/>
        </p:nvCxnSpPr>
        <p:spPr>
          <a:xfrm>
            <a:off x="3003769" y="2202866"/>
            <a:ext cx="34618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3"/>
            <a:endCxn id="8" idx="1"/>
          </p:cNvCxnSpPr>
          <p:nvPr/>
        </p:nvCxnSpPr>
        <p:spPr>
          <a:xfrm>
            <a:off x="4418177" y="2202866"/>
            <a:ext cx="47870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3"/>
            <a:endCxn id="9" idx="1"/>
          </p:cNvCxnSpPr>
          <p:nvPr/>
        </p:nvCxnSpPr>
        <p:spPr>
          <a:xfrm>
            <a:off x="5902065" y="2202866"/>
            <a:ext cx="61651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9" idx="3"/>
            <a:endCxn id="11" idx="1"/>
          </p:cNvCxnSpPr>
          <p:nvPr/>
        </p:nvCxnSpPr>
        <p:spPr>
          <a:xfrm>
            <a:off x="8895692" y="2202866"/>
            <a:ext cx="60359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5841" y="3759656"/>
            <a:ext cx="3089985" cy="296555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52263" y="3363877"/>
            <a:ext cx="28971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Raw Signal versus HHT Signal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93" y="1279321"/>
            <a:ext cx="10559083" cy="19828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16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815"/>
    </mc:Choice>
    <mc:Fallback xmlns="">
      <p:transition spd="slow" advTm="50815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4A786-3BD5-D74B-8B7E-DAF4689E2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LAB SESSION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0F1FBC-78E1-44F0-8063-BF2E26DA2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9EAFE-12EC-F04E-9D3D-FDA0DFFC2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1750-F18F-4B95-99EC-F1AAED31E88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230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74"/>
    </mc:Choice>
    <mc:Fallback xmlns="">
      <p:transition spd="slow" advTm="2674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5E27326-440A-41AE-AE21-00A6D0305D7F}"/>
              </a:ext>
            </a:extLst>
          </p:cNvPr>
          <p:cNvGrpSpPr/>
          <p:nvPr/>
        </p:nvGrpSpPr>
        <p:grpSpPr>
          <a:xfrm>
            <a:off x="1594564" y="2138951"/>
            <a:ext cx="8784521" cy="1508106"/>
            <a:chOff x="1439406" y="2828835"/>
            <a:chExt cx="8784521" cy="150810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C90DFB-9003-43A4-B627-D5CF43080F9B}"/>
                </a:ext>
              </a:extLst>
            </p:cNvPr>
            <p:cNvSpPr txBox="1"/>
            <p:nvPr/>
          </p:nvSpPr>
          <p:spPr>
            <a:xfrm>
              <a:off x="1439406" y="2828835"/>
              <a:ext cx="878452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5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Hilbert Huang Transform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F3FAAB1-73E9-437A-B02F-6FFDEFC368D4}"/>
                </a:ext>
              </a:extLst>
            </p:cNvPr>
            <p:cNvSpPr txBox="1"/>
            <p:nvPr/>
          </p:nvSpPr>
          <p:spPr>
            <a:xfrm>
              <a:off x="4819211" y="4029164"/>
              <a:ext cx="20249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spc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Lab-Session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8914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55"/>
    </mc:Choice>
    <mc:Fallback xmlns="">
      <p:transition spd="slow" advTm="6855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804017" y="373670"/>
            <a:ext cx="10515600" cy="814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Open Sans" panose="020B0606030504020204"/>
              </a:rPr>
              <a:t>| </a:t>
            </a:r>
            <a:r>
              <a:rPr lang="en-US" sz="4000" dirty="0">
                <a:solidFill>
                  <a:srgbClr val="606060"/>
                </a:solidFill>
                <a:latin typeface="Open Sans" panose="020B0606030504020204"/>
              </a:rPr>
              <a:t>What Students Have To Do in HHT Lab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037" y="1350235"/>
            <a:ext cx="105198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eriod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Preparation</a:t>
            </a:r>
          </a:p>
          <a:p>
            <a:pPr marL="342900" indent="-342900">
              <a:buAutoNum type="alphaUcPeriod"/>
            </a:pP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AutoNum type="alphaUcPeriod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The Code and Run it on the </a:t>
            </a:r>
            <a:r>
              <a:rPr lang="en-U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Matlab</a:t>
            </a: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AutoNum type="alphaUcPeriod"/>
            </a:pP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AutoNum type="alphaUcPeriod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 the Task and submit the task requirement to the </a:t>
            </a:r>
            <a:r>
              <a:rPr lang="en-U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ee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-class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31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14"/>
    </mc:Choice>
    <mc:Fallback xmlns="">
      <p:transition spd="slow" advTm="15114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804017" y="373670"/>
            <a:ext cx="10515600" cy="814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Open Sans" panose="020B0606030504020204"/>
              </a:rPr>
              <a:t>| </a:t>
            </a:r>
            <a:r>
              <a:rPr lang="en-US" sz="4000" dirty="0">
                <a:solidFill>
                  <a:schemeClr val="accent2">
                    <a:lumMod val="50000"/>
                  </a:schemeClr>
                </a:solidFill>
                <a:latin typeface="Open Sans" panose="020B0606030504020204"/>
              </a:rPr>
              <a:t>A.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037" y="1350235"/>
            <a:ext cx="1051987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Tools: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Installed </a:t>
            </a:r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Matlab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2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1"/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Prepare the driver’s raw data &amp; needed function: </a:t>
            </a:r>
          </a:p>
          <a:p>
            <a:pPr marL="747713" lvl="1" indent="-290513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Download the driver’s raw data </a:t>
            </a:r>
            <a:r>
              <a:rPr lang="en-US" sz="20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(the data will be provided in </a:t>
            </a:r>
            <a:r>
              <a:rPr lang="en-US" sz="2000" dirty="0" err="1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ee</a:t>
            </a:r>
            <a:r>
              <a:rPr lang="en-US" sz="20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-class)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Extract it into 1 folder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Copy the code of Lab Session word file into </a:t>
            </a:r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Matlab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worksheet and save it into the same folder with the data</a:t>
            </a:r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the folder  to </a:t>
            </a:r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matlab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path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540" y="3590187"/>
            <a:ext cx="2310584" cy="299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08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515"/>
    </mc:Choice>
    <mc:Fallback xmlns="">
      <p:transition spd="slow" advTm="17515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804017" y="373670"/>
            <a:ext cx="10515600" cy="814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Open Sans" panose="020B0606030504020204"/>
              </a:rPr>
              <a:t>| </a:t>
            </a:r>
            <a:r>
              <a:rPr lang="en-US" sz="4000" dirty="0">
                <a:solidFill>
                  <a:schemeClr val="accent2">
                    <a:lumMod val="50000"/>
                  </a:schemeClr>
                </a:solidFill>
                <a:latin typeface="Open Sans" panose="020B0606030504020204"/>
              </a:rPr>
              <a:t>B. Complete The Code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37" y="1466614"/>
            <a:ext cx="437403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Load the mat file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 EMD Process for L1R1 data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 HHT Spectrum Process for L1R1 data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 EMD Process for L1R0 data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 HHT Spectrum Process for L1R0 data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820227" y="1670003"/>
            <a:ext cx="4837734" cy="4380099"/>
            <a:chOff x="3913967" y="1008404"/>
            <a:chExt cx="4963689" cy="4905287"/>
          </a:xfrm>
        </p:grpSpPr>
        <p:sp>
          <p:nvSpPr>
            <p:cNvPr id="9" name="Rectangle 8"/>
            <p:cNvSpPr/>
            <p:nvPr/>
          </p:nvSpPr>
          <p:spPr>
            <a:xfrm>
              <a:off x="3913973" y="1008404"/>
              <a:ext cx="1709159" cy="50420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Load mat File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L1R1 &amp; L1R0</a:t>
              </a:r>
            </a:p>
          </p:txBody>
        </p:sp>
        <p:sp>
          <p:nvSpPr>
            <p:cNvPr id="10" name="Hexagon 9"/>
            <p:cNvSpPr/>
            <p:nvPr/>
          </p:nvSpPr>
          <p:spPr>
            <a:xfrm>
              <a:off x="3913973" y="1786073"/>
              <a:ext cx="1709158" cy="709301"/>
            </a:xfrm>
            <a:prstGeom prst="hexag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For each sample of L1R1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13973" y="2852872"/>
              <a:ext cx="1709159" cy="50420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HHT Process</a:t>
              </a:r>
            </a:p>
          </p:txBody>
        </p:sp>
        <p:sp>
          <p:nvSpPr>
            <p:cNvPr id="12" name="Hexagon 11"/>
            <p:cNvSpPr/>
            <p:nvPr/>
          </p:nvSpPr>
          <p:spPr>
            <a:xfrm>
              <a:off x="3913967" y="4297114"/>
              <a:ext cx="1709158" cy="709301"/>
            </a:xfrm>
            <a:prstGeom prst="hexag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For each sample of L1R0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13969" y="5409489"/>
              <a:ext cx="1709159" cy="50420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HHT Process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168497" y="1008404"/>
              <a:ext cx="1709159" cy="50420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Visualization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168497" y="1991172"/>
              <a:ext cx="1709159" cy="50420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Save result into .mat file</a:t>
              </a:r>
            </a:p>
          </p:txBody>
        </p:sp>
        <p:cxnSp>
          <p:nvCxnSpPr>
            <p:cNvPr id="16" name="Straight Arrow Connector 15"/>
            <p:cNvCxnSpPr>
              <a:stCxn id="9" idx="2"/>
            </p:cNvCxnSpPr>
            <p:nvPr/>
          </p:nvCxnSpPr>
          <p:spPr>
            <a:xfrm flipH="1">
              <a:off x="4768551" y="1512606"/>
              <a:ext cx="2" cy="27346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endCxn id="11" idx="0"/>
            </p:cNvCxnSpPr>
            <p:nvPr/>
          </p:nvCxnSpPr>
          <p:spPr>
            <a:xfrm>
              <a:off x="4768551" y="2495374"/>
              <a:ext cx="2" cy="3574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4768549" y="2495374"/>
              <a:ext cx="2" cy="3574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endCxn id="13" idx="0"/>
            </p:cNvCxnSpPr>
            <p:nvPr/>
          </p:nvCxnSpPr>
          <p:spPr>
            <a:xfrm>
              <a:off x="4768546" y="5006415"/>
              <a:ext cx="3" cy="40307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4" idx="2"/>
              <a:endCxn id="15" idx="0"/>
            </p:cNvCxnSpPr>
            <p:nvPr/>
          </p:nvCxnSpPr>
          <p:spPr>
            <a:xfrm>
              <a:off x="8023077" y="1512606"/>
              <a:ext cx="0" cy="4785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Elbow Connector 20"/>
            <p:cNvCxnSpPr>
              <a:stCxn id="11" idx="2"/>
              <a:endCxn id="10" idx="3"/>
            </p:cNvCxnSpPr>
            <p:nvPr/>
          </p:nvCxnSpPr>
          <p:spPr>
            <a:xfrm rot="5400000" flipH="1">
              <a:off x="3733088" y="2321609"/>
              <a:ext cx="1216350" cy="854580"/>
            </a:xfrm>
            <a:prstGeom prst="bentConnector4">
              <a:avLst>
                <a:gd name="adj1" fmla="val -18794"/>
                <a:gd name="adj2" fmla="val 12675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lbow Connector 21"/>
            <p:cNvCxnSpPr>
              <a:stCxn id="10" idx="0"/>
            </p:cNvCxnSpPr>
            <p:nvPr/>
          </p:nvCxnSpPr>
          <p:spPr>
            <a:xfrm flipH="1">
              <a:off x="4768545" y="2140724"/>
              <a:ext cx="854586" cy="2156390"/>
            </a:xfrm>
            <a:prstGeom prst="bentConnector4">
              <a:avLst>
                <a:gd name="adj1" fmla="val -26750"/>
                <a:gd name="adj2" fmla="val 77642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lbow Connector 22"/>
            <p:cNvCxnSpPr>
              <a:stCxn id="13" idx="2"/>
            </p:cNvCxnSpPr>
            <p:nvPr/>
          </p:nvCxnSpPr>
          <p:spPr>
            <a:xfrm rot="5400000" flipH="1">
              <a:off x="3733084" y="4878226"/>
              <a:ext cx="1216350" cy="854580"/>
            </a:xfrm>
            <a:prstGeom prst="bentConnector4">
              <a:avLst>
                <a:gd name="adj1" fmla="val -18794"/>
                <a:gd name="adj2" fmla="val 12675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/>
            <p:cNvCxnSpPr>
              <a:stCxn id="13" idx="3"/>
              <a:endCxn id="14" idx="1"/>
            </p:cNvCxnSpPr>
            <p:nvPr/>
          </p:nvCxnSpPr>
          <p:spPr>
            <a:xfrm flipV="1">
              <a:off x="5623128" y="1260505"/>
              <a:ext cx="1545369" cy="4401085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>
          <a:xfrm flipH="1">
            <a:off x="6820227" y="1096673"/>
            <a:ext cx="3489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HHT Lab Exercise flow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9568966" y="3729106"/>
            <a:ext cx="2484489" cy="1510857"/>
            <a:chOff x="6743527" y="1863168"/>
            <a:chExt cx="2512194" cy="1961041"/>
          </a:xfrm>
        </p:grpSpPr>
        <p:sp>
          <p:nvSpPr>
            <p:cNvPr id="27" name="Rectangle 26"/>
            <p:cNvSpPr/>
            <p:nvPr/>
          </p:nvSpPr>
          <p:spPr>
            <a:xfrm>
              <a:off x="6743527" y="1863168"/>
              <a:ext cx="2512194" cy="1961041"/>
            </a:xfrm>
            <a:prstGeom prst="rect">
              <a:avLst/>
            </a:prstGeom>
            <a:ln w="57150"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967486" y="2337321"/>
              <a:ext cx="2064283" cy="49088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EMD</a:t>
              </a:r>
              <a:endParaRPr lang="en-US" i="1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17998" y="1867652"/>
              <a:ext cx="1363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HHT Process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967486" y="3168996"/>
              <a:ext cx="2064283" cy="49088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HHT Spectrum</a:t>
              </a:r>
              <a:endParaRPr lang="en-US" i="1" dirty="0"/>
            </a:p>
          </p:txBody>
        </p:sp>
        <p:cxnSp>
          <p:nvCxnSpPr>
            <p:cNvPr id="31" name="Straight Arrow Connector 30"/>
            <p:cNvCxnSpPr>
              <a:stCxn id="28" idx="2"/>
            </p:cNvCxnSpPr>
            <p:nvPr/>
          </p:nvCxnSpPr>
          <p:spPr>
            <a:xfrm flipH="1">
              <a:off x="7999624" y="2828209"/>
              <a:ext cx="4" cy="340787"/>
            </a:xfrm>
            <a:prstGeom prst="straightConnector1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5" name="Pentagon 44"/>
          <p:cNvSpPr/>
          <p:nvPr/>
        </p:nvSpPr>
        <p:spPr>
          <a:xfrm rot="10800000">
            <a:off x="5813319" y="1624346"/>
            <a:ext cx="465433" cy="1071248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/>
          <p:cNvGrpSpPr/>
          <p:nvPr/>
        </p:nvGrpSpPr>
        <p:grpSpPr>
          <a:xfrm>
            <a:off x="141381" y="3860053"/>
            <a:ext cx="6137372" cy="2701667"/>
            <a:chOff x="112337" y="3882013"/>
            <a:chExt cx="6137372" cy="2701667"/>
          </a:xfrm>
        </p:grpSpPr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907" y="4348919"/>
              <a:ext cx="2009503" cy="2015531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112337" y="3882013"/>
              <a:ext cx="35833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/>
                <a:t>Purpose of the HHT exercise: </a:t>
              </a:r>
            </a:p>
            <a:p>
              <a:pPr algn="ctr"/>
              <a:r>
                <a:rPr lang="en-US" sz="1600" b="1" i="1" dirty="0"/>
                <a:t>classify steering wheel handling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431809" y="4591752"/>
              <a:ext cx="742484" cy="49137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L1R1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431809" y="5791978"/>
              <a:ext cx="742484" cy="49137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L1R0</a:t>
              </a:r>
            </a:p>
          </p:txBody>
        </p:sp>
        <p:cxnSp>
          <p:nvCxnSpPr>
            <p:cNvPr id="39" name="Elbow Connector 38"/>
            <p:cNvCxnSpPr>
              <a:stCxn id="34" idx="3"/>
              <a:endCxn id="36" idx="1"/>
            </p:cNvCxnSpPr>
            <p:nvPr/>
          </p:nvCxnSpPr>
          <p:spPr>
            <a:xfrm flipV="1">
              <a:off x="2772410" y="4837438"/>
              <a:ext cx="659399" cy="519247"/>
            </a:xfrm>
            <a:prstGeom prst="bentConnector3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Elbow Connector 40"/>
            <p:cNvCxnSpPr>
              <a:stCxn id="34" idx="3"/>
              <a:endCxn id="38" idx="1"/>
            </p:cNvCxnSpPr>
            <p:nvPr/>
          </p:nvCxnSpPr>
          <p:spPr>
            <a:xfrm>
              <a:off x="2772410" y="5356685"/>
              <a:ext cx="659399" cy="680979"/>
            </a:xfrm>
            <a:prstGeom prst="bentConnector3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4232667" y="4606605"/>
              <a:ext cx="18435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C00000"/>
                  </a:solidFill>
                </a:rPr>
                <a:t>Left hand on the wheel, </a:t>
              </a:r>
            </a:p>
            <a:p>
              <a:r>
                <a:rPr lang="en-US" sz="1200" dirty="0">
                  <a:solidFill>
                    <a:srgbClr val="C00000"/>
                  </a:solidFill>
                </a:rPr>
                <a:t>Right hand on the wheel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232963" y="5821685"/>
              <a:ext cx="20167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C00000"/>
                  </a:solidFill>
                </a:rPr>
                <a:t>Left hand on the wheel, </a:t>
              </a:r>
            </a:p>
            <a:p>
              <a:r>
                <a:rPr lang="en-US" sz="1200" dirty="0">
                  <a:solidFill>
                    <a:srgbClr val="C00000"/>
                  </a:solidFill>
                </a:rPr>
                <a:t>Right hand out  of the wheel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12337" y="3882013"/>
              <a:ext cx="6137372" cy="27016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72008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310"/>
    </mc:Choice>
    <mc:Fallback xmlns="">
      <p:transition spd="slow" advTm="3431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804017" y="373670"/>
            <a:ext cx="10515600" cy="814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Open Sans" panose="020B0606030504020204"/>
              </a:rPr>
              <a:t>| </a:t>
            </a:r>
            <a:r>
              <a:rPr lang="en-US" sz="4000" dirty="0">
                <a:solidFill>
                  <a:schemeClr val="accent2">
                    <a:lumMod val="50000"/>
                  </a:schemeClr>
                </a:solidFill>
                <a:latin typeface="Open Sans" panose="020B0606030504020204"/>
              </a:rPr>
              <a:t>B. Complete The Code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413" y="1715996"/>
            <a:ext cx="935111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Load the mat file</a:t>
            </a:r>
          </a:p>
          <a:p>
            <a:endParaRPr lang="en-US" sz="2000" dirty="0">
              <a:solidFill>
                <a:schemeClr val="accent2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1"/>
            <a:r>
              <a:rPr lang="en-US" i="1" dirty="0"/>
              <a:t>Load the mat file (</a:t>
            </a:r>
            <a:r>
              <a:rPr lang="en-US" b="1" i="1" dirty="0"/>
              <a:t>driver_data_L1R0.mat and driver_data_L1R1.mat </a:t>
            </a:r>
            <a:r>
              <a:rPr lang="en-US" i="1" dirty="0"/>
              <a:t>on mat files folder)</a:t>
            </a:r>
          </a:p>
          <a:p>
            <a:r>
              <a:rPr lang="en-US" sz="2000" dirty="0">
                <a:solidFill>
                  <a:schemeClr val="accent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Load(filename)</a:t>
            </a:r>
          </a:p>
        </p:txBody>
      </p:sp>
    </p:spTree>
    <p:extLst>
      <p:ext uri="{BB962C8B-B14F-4D97-AF65-F5344CB8AC3E}">
        <p14:creationId xmlns:p14="http://schemas.microsoft.com/office/powerpoint/2010/main" val="873219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563"/>
    </mc:Choice>
    <mc:Fallback xmlns="">
      <p:transition spd="slow" advTm="19563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804017" y="373670"/>
            <a:ext cx="10515600" cy="814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Open Sans" panose="020B0606030504020204"/>
              </a:rPr>
              <a:t>| </a:t>
            </a:r>
            <a:r>
              <a:rPr lang="en-US" sz="4000" dirty="0">
                <a:solidFill>
                  <a:schemeClr val="accent2">
                    <a:lumMod val="50000"/>
                  </a:schemeClr>
                </a:solidFill>
                <a:latin typeface="Open Sans" panose="020B0606030504020204"/>
              </a:rPr>
              <a:t>B. Complete The Code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413" y="1715996"/>
            <a:ext cx="9351118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dirty="0">
                <a:solidFill>
                  <a:srgbClr val="ED7D31">
                    <a:lumMod val="50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Do EMD Process for L1R1 data</a:t>
            </a:r>
          </a:p>
          <a:p>
            <a:endParaRPr lang="en-US" sz="2000" dirty="0">
              <a:solidFill>
                <a:schemeClr val="accent2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65138" indent="-231775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Call function “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hht_extraction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”</a:t>
            </a:r>
          </a:p>
          <a:p>
            <a:pPr marL="465138" indent="-231775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input are one partition (125 samples) of driver’s raw signal</a:t>
            </a:r>
          </a:p>
          <a:p>
            <a:pPr marL="465138" indent="-231775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3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65138" indent="-231775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3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33363">
              <a:lnSpc>
                <a:spcPct val="150000"/>
              </a:lnSpc>
              <a:buClr>
                <a:schemeClr val="accent1">
                  <a:lumMod val="75000"/>
                </a:schemeClr>
              </a:buClr>
            </a:pPr>
            <a:endParaRPr lang="en-US" sz="2000" dirty="0">
              <a:solidFill>
                <a:schemeClr val="accent3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65138" lvl="0" indent="-231775">
              <a:lnSpc>
                <a:spcPct val="150000"/>
              </a:lnSpc>
              <a:buClr>
                <a:srgbClr val="5B9BD5">
                  <a:lumMod val="75000"/>
                </a:srgb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A5A5A5">
                    <a:lumMod val="50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Output are </a:t>
            </a:r>
            <a:r>
              <a:rPr lang="en-US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instantaneous frequency </a:t>
            </a:r>
            <a:r>
              <a:rPr lang="en-US" dirty="0">
                <a:solidFill>
                  <a:srgbClr val="A5A5A5">
                    <a:lumMod val="50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</a:t>
            </a:r>
            <a:r>
              <a:rPr lang="en-US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instantaneous amplitude </a:t>
            </a:r>
            <a:r>
              <a:rPr lang="en-US" dirty="0">
                <a:solidFill>
                  <a:srgbClr val="A5A5A5">
                    <a:lumMod val="50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 the raw signals </a:t>
            </a:r>
          </a:p>
          <a:p>
            <a:endParaRPr lang="en-US" sz="2000" dirty="0">
              <a:solidFill>
                <a:schemeClr val="accent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286" y="3457313"/>
            <a:ext cx="7972866" cy="7156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475" r="-1"/>
          <a:stretch/>
        </p:blipFill>
        <p:spPr>
          <a:xfrm>
            <a:off x="1502285" y="5179256"/>
            <a:ext cx="2969961" cy="5847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2130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555"/>
    </mc:Choice>
    <mc:Fallback xmlns="">
      <p:transition spd="slow" advTm="35555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804017" y="373670"/>
            <a:ext cx="10515600" cy="814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Open Sans" panose="020B0606030504020204"/>
              </a:rPr>
              <a:t>| </a:t>
            </a:r>
            <a:r>
              <a:rPr lang="en-US" sz="4000" dirty="0">
                <a:solidFill>
                  <a:schemeClr val="accent2">
                    <a:lumMod val="50000"/>
                  </a:schemeClr>
                </a:solidFill>
                <a:latin typeface="Open Sans" panose="020B0606030504020204"/>
              </a:rPr>
              <a:t>B. Complete The Code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413" y="1715996"/>
            <a:ext cx="9351118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dirty="0">
                <a:solidFill>
                  <a:srgbClr val="ED7D31">
                    <a:lumMod val="50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Do HHT Spectrum Process for L1R1 data</a:t>
            </a:r>
          </a:p>
          <a:p>
            <a:pPr marL="465138" indent="-231775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Call function called “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spectrum_extraction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”</a:t>
            </a:r>
          </a:p>
          <a:p>
            <a:pPr marL="465138" indent="-231775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input are </a:t>
            </a:r>
            <a:r>
              <a:rPr lang="en-US" sz="2000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instantaneous frequency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</a:t>
            </a:r>
            <a:r>
              <a:rPr lang="en-US" sz="2000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instantaneous amplitude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from 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hht_extraction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function</a:t>
            </a:r>
          </a:p>
          <a:p>
            <a:pPr marL="465138" indent="-231775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3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65138" indent="-231775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3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65138" indent="-231775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output of this function is 25 blocks of amplitude in every frequency range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285" y="3537565"/>
            <a:ext cx="7974224" cy="7351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285" y="4886206"/>
            <a:ext cx="2232562" cy="177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80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981"/>
    </mc:Choice>
    <mc:Fallback xmlns="">
      <p:transition spd="slow" advTm="3198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804017" y="373670"/>
            <a:ext cx="10515600" cy="814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Open Sans" panose="020B0606030504020204"/>
              </a:rPr>
              <a:t>| </a:t>
            </a:r>
            <a:r>
              <a:rPr lang="en-US" sz="4000" dirty="0">
                <a:solidFill>
                  <a:schemeClr val="accent2">
                    <a:lumMod val="50000"/>
                  </a:schemeClr>
                </a:solidFill>
                <a:latin typeface="Open Sans" panose="020B0606030504020204"/>
              </a:rPr>
              <a:t>B. Complete The Code and Run it on the </a:t>
            </a:r>
            <a:r>
              <a:rPr lang="en-US" sz="4000" dirty="0" err="1">
                <a:solidFill>
                  <a:schemeClr val="accent2">
                    <a:lumMod val="50000"/>
                  </a:schemeClr>
                </a:solidFill>
                <a:latin typeface="Open Sans" panose="020B0606030504020204"/>
              </a:rPr>
              <a:t>Matlab</a:t>
            </a:r>
            <a:r>
              <a:rPr lang="en-US" sz="4000" dirty="0">
                <a:solidFill>
                  <a:schemeClr val="accent2">
                    <a:lumMod val="50000"/>
                  </a:schemeClr>
                </a:solidFill>
                <a:latin typeface="Open Sans" panose="020B0606030504020204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413" y="1715996"/>
            <a:ext cx="93511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dirty="0">
                <a:solidFill>
                  <a:srgbClr val="ED7D31">
                    <a:lumMod val="50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4. Do EMD Process for L1R0 data</a:t>
            </a:r>
          </a:p>
          <a:p>
            <a:pPr marL="233363" lvl="0"/>
            <a:r>
              <a:rPr lang="en-US" sz="2000" dirty="0">
                <a:solidFill>
                  <a:schemeClr val="accent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Same as [2], page 27</a:t>
            </a:r>
          </a:p>
          <a:p>
            <a:pPr lvl="0"/>
            <a:endParaRPr lang="en-US" sz="2000" dirty="0">
              <a:solidFill>
                <a:srgbClr val="ED7D31">
                  <a:lumMod val="50000"/>
                </a:srgb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/>
            <a:r>
              <a:rPr lang="en-US" sz="2000" dirty="0">
                <a:solidFill>
                  <a:srgbClr val="ED7D31">
                    <a:lumMod val="50000"/>
                  </a:srgb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5. Do HHT Spectrum Process for L1R0 data</a:t>
            </a:r>
          </a:p>
          <a:p>
            <a:pPr marL="233363"/>
            <a:r>
              <a:rPr lang="en-US" sz="2000" dirty="0">
                <a:solidFill>
                  <a:schemeClr val="accent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Same as [3], page 28</a:t>
            </a:r>
          </a:p>
          <a:p>
            <a:pPr marL="233363" lvl="0"/>
            <a:endParaRPr lang="en-US" sz="2000" dirty="0">
              <a:solidFill>
                <a:srgbClr val="ED7D31">
                  <a:lumMod val="50000"/>
                </a:srgb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940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525"/>
    </mc:Choice>
    <mc:Fallback xmlns="">
      <p:transition spd="slow" advTm="37525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804017" y="373670"/>
            <a:ext cx="10515600" cy="814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Open Sans" panose="020B0606030504020204"/>
              </a:rPr>
              <a:t>| </a:t>
            </a:r>
            <a:r>
              <a:rPr lang="en-US" sz="4000" dirty="0">
                <a:solidFill>
                  <a:schemeClr val="accent2">
                    <a:lumMod val="50000"/>
                  </a:schemeClr>
                </a:solidFill>
                <a:latin typeface="Open Sans" panose="020B0606030504020204"/>
              </a:rPr>
              <a:t>C. </a:t>
            </a:r>
            <a:r>
              <a:rPr lang="en-US" sz="4000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 the Task and send the task requirement to the </a:t>
            </a:r>
            <a:r>
              <a:rPr lang="en-US" sz="4000" dirty="0" err="1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ee</a:t>
            </a:r>
            <a:r>
              <a:rPr lang="en-US" sz="4000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-class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413" y="1715995"/>
            <a:ext cx="976675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base">
              <a:buFont typeface="Wingdings" panose="05000000000000000000" pitchFamily="2" charset="2"/>
              <a:buChar char="§"/>
            </a:pPr>
            <a:r>
              <a:rPr lang="en-US" sz="2000" dirty="0"/>
              <a:t>Compress(.zip,.</a:t>
            </a:r>
            <a:r>
              <a:rPr lang="en-US" sz="2000" dirty="0" err="1"/>
              <a:t>rar</a:t>
            </a:r>
            <a:r>
              <a:rPr lang="en-US" sz="2000" dirty="0"/>
              <a:t>) the following file with the name of the group (e.g. group_1.zip)</a:t>
            </a:r>
          </a:p>
          <a:p>
            <a:pPr lvl="2" fontAlgn="base"/>
            <a:r>
              <a:rPr lang="en-US" sz="2000" dirty="0" err="1"/>
              <a:t>i</a:t>
            </a:r>
            <a:r>
              <a:rPr lang="en-US" sz="2000" dirty="0"/>
              <a:t>. Code(*.m)</a:t>
            </a:r>
          </a:p>
          <a:p>
            <a:pPr lvl="2" fontAlgn="base"/>
            <a:r>
              <a:rPr lang="en-US" sz="2000" dirty="0"/>
              <a:t>ii. Report(*.doc)</a:t>
            </a:r>
          </a:p>
          <a:p>
            <a:pPr marL="1714500" lvl="3" indent="-342900" fontAlgn="base">
              <a:buFont typeface="Wingdings" panose="05000000000000000000" pitchFamily="2" charset="2"/>
              <a:buChar char="q"/>
            </a:pPr>
            <a:r>
              <a:rPr lang="en-US" sz="2000" dirty="0"/>
              <a:t>Result of HHT Spectrum (table and figure).</a:t>
            </a:r>
          </a:p>
          <a:p>
            <a:pPr marL="1714500" lvl="3" indent="-342900" fontAlgn="base">
              <a:buFont typeface="Wingdings" panose="05000000000000000000" pitchFamily="2" charset="2"/>
              <a:buChar char="q"/>
            </a:pPr>
            <a:r>
              <a:rPr lang="en-US" sz="2000" dirty="0"/>
              <a:t>Conclusion of result (</a:t>
            </a:r>
            <a:r>
              <a:rPr lang="en-US" dirty="0"/>
              <a:t>Conclusion of result: analyze the different of L1R1 and L1R0 HHT Spectrum and what is the beneficial of using HHT Spectrum).</a:t>
            </a:r>
          </a:p>
          <a:p>
            <a:pPr lvl="3" fontAlgn="base"/>
            <a:endParaRPr lang="en-US" sz="2000" dirty="0"/>
          </a:p>
          <a:p>
            <a:pPr marL="285750" lvl="0" indent="-285750" fontAlgn="base">
              <a:buFont typeface="Wingdings" panose="05000000000000000000" pitchFamily="2" charset="2"/>
              <a:buChar char="§"/>
            </a:pPr>
            <a:r>
              <a:rPr lang="en-US" sz="2000" dirty="0"/>
              <a:t>To update the contents of report can be directly re-upload file with the name of version (e.g. Group_1_v2.zip)</a:t>
            </a:r>
          </a:p>
          <a:p>
            <a:pPr marL="285750" lvl="0" indent="-285750" fontAlgn="base">
              <a:buFont typeface="Wingdings" panose="05000000000000000000" pitchFamily="2" charset="2"/>
              <a:buChar char="§"/>
            </a:pPr>
            <a:endParaRPr lang="en-US" sz="2000" dirty="0"/>
          </a:p>
          <a:p>
            <a:pPr lvl="0" fontAlgn="base"/>
            <a:endParaRPr lang="en-US" sz="2000" dirty="0"/>
          </a:p>
          <a:p>
            <a:r>
              <a:rPr lang="en-US" i="1" dirty="0"/>
              <a:t>Note</a:t>
            </a:r>
            <a:r>
              <a:rPr lang="ko-KR" altLang="en-US" i="1" dirty="0"/>
              <a:t>：</a:t>
            </a:r>
            <a:endParaRPr lang="en-US" i="1" dirty="0"/>
          </a:p>
          <a:p>
            <a:pPr lvl="0" fontAlgn="base"/>
            <a:r>
              <a:rPr lang="en-US" i="1" dirty="0"/>
              <a:t>Each group, one report</a:t>
            </a:r>
          </a:p>
          <a:p>
            <a:pPr lvl="0" fontAlgn="base"/>
            <a:r>
              <a:rPr lang="en-US" i="1" dirty="0"/>
              <a:t>Upload the file before the deadline on </a:t>
            </a:r>
            <a:r>
              <a:rPr lang="en-US" i="1" dirty="0" err="1"/>
              <a:t>ee</a:t>
            </a:r>
            <a:r>
              <a:rPr lang="en-US" i="1" dirty="0"/>
              <a:t>-class(</a:t>
            </a:r>
            <a:r>
              <a:rPr lang="en-US" i="1" u="sng" dirty="0">
                <a:hlinkClick r:id="rId2"/>
              </a:rPr>
              <a:t>https://eeclass.ncu.edu.tw</a:t>
            </a:r>
            <a:r>
              <a:rPr lang="en-US" i="1" dirty="0"/>
              <a:t>) to complete.</a:t>
            </a:r>
          </a:p>
          <a:p>
            <a:pPr lvl="0" fontAlgn="base"/>
            <a:endParaRPr lang="en-US" sz="2000" dirty="0"/>
          </a:p>
          <a:p>
            <a:pPr marL="233363" lvl="0"/>
            <a:endParaRPr lang="en-US" sz="2000" dirty="0">
              <a:solidFill>
                <a:srgbClr val="ED7D31">
                  <a:lumMod val="50000"/>
                </a:srgb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900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684"/>
    </mc:Choice>
    <mc:Fallback xmlns="">
      <p:transition spd="slow" advTm="26684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7|1.4|7.5|6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6|1.4|1.1|7.6|1.1|1.3|1.1|1.1|5|1.3|6.8|0.8|1.6|1.4|3.2|7.6|0.9|1.5|19|1.7|0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6|3.9|1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0.9|5.6|3.4|1.5|6.7|2.2|10.2|2.6|1.9|1|8.6|7.6|1.6|4.9|1.4|1.6|1.4|0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1|12.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10142</TotalTime>
  <Words>1548</Words>
  <Application>Microsoft Office PowerPoint</Application>
  <PresentationFormat>Widescreen</PresentationFormat>
  <Paragraphs>324</Paragraphs>
  <Slides>30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Arial</vt:lpstr>
      <vt:lpstr>Calibri</vt:lpstr>
      <vt:lpstr>Calibri Light</vt:lpstr>
      <vt:lpstr>Lato</vt:lpstr>
      <vt:lpstr>Lato Black</vt:lpstr>
      <vt:lpstr>Lato Light</vt:lpstr>
      <vt:lpstr>Open Sans</vt:lpstr>
      <vt:lpstr>Times New Roman</vt:lpstr>
      <vt:lpstr>Wingdings</vt:lpstr>
      <vt:lpstr>Office Theme</vt:lpstr>
      <vt:lpstr>Hilbert Huang Transform</vt:lpstr>
      <vt:lpstr>PowerPoint Presentation</vt:lpstr>
      <vt:lpstr>Feature Extraction</vt:lpstr>
      <vt:lpstr>What is HHT</vt:lpstr>
      <vt:lpstr>PowerPoint Presentation</vt:lpstr>
      <vt:lpstr>PowerPoint Presentation</vt:lpstr>
      <vt:lpstr>PowerPoint Presentation</vt:lpstr>
      <vt:lpstr>Architecture</vt:lpstr>
      <vt:lpstr>HHT Implementation example (in driver recognition case)</vt:lpstr>
      <vt:lpstr>PowerPoint Presentation</vt:lpstr>
      <vt:lpstr>PowerPoint Presentation</vt:lpstr>
      <vt:lpstr>EMD Step</vt:lpstr>
      <vt:lpstr>IMF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Lab Session</vt:lpstr>
      <vt:lpstr>Conclusions</vt:lpstr>
      <vt:lpstr>LAB SESSION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Hilbert Huang Transform</dc:title>
  <dc:creator>Windows User</dc:creator>
  <cp:lastModifiedBy>Ika Putri</cp:lastModifiedBy>
  <cp:revision>103</cp:revision>
  <dcterms:created xsi:type="dcterms:W3CDTF">2019-01-27T12:44:59Z</dcterms:created>
  <dcterms:modified xsi:type="dcterms:W3CDTF">2024-03-19T06:13:31Z</dcterms:modified>
</cp:coreProperties>
</file>