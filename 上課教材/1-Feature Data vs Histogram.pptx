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Ex1.xml" ContentType="application/vnd.ms-office.chartex+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charts/chart5.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5.xml" ContentType="application/vnd.openxmlformats-officedocument.presentationml.notesSlid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6.xml" ContentType="application/vnd.openxmlformats-officedocument.presentationml.notesSlid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5.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6.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7.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18.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19.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0.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1.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98" r:id="rId2"/>
  </p:sldMasterIdLst>
  <p:notesMasterIdLst>
    <p:notesMasterId r:id="rId25"/>
  </p:notesMasterIdLst>
  <p:sldIdLst>
    <p:sldId id="256" r:id="rId3"/>
    <p:sldId id="258" r:id="rId4"/>
    <p:sldId id="262" r:id="rId5"/>
    <p:sldId id="263" r:id="rId6"/>
    <p:sldId id="422" r:id="rId7"/>
    <p:sldId id="328" r:id="rId8"/>
    <p:sldId id="407" r:id="rId9"/>
    <p:sldId id="408" r:id="rId10"/>
    <p:sldId id="409" r:id="rId11"/>
    <p:sldId id="410" r:id="rId12"/>
    <p:sldId id="412" r:id="rId13"/>
    <p:sldId id="417" r:id="rId14"/>
    <p:sldId id="435" r:id="rId15"/>
    <p:sldId id="416" r:id="rId16"/>
    <p:sldId id="415" r:id="rId17"/>
    <p:sldId id="423" r:id="rId18"/>
    <p:sldId id="424" r:id="rId19"/>
    <p:sldId id="426" r:id="rId20"/>
    <p:sldId id="418" r:id="rId21"/>
    <p:sldId id="419" r:id="rId22"/>
    <p:sldId id="436" r:id="rId23"/>
    <p:sldId id="43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641"/>
    <a:srgbClr val="3DBF9C"/>
    <a:srgbClr val="A1BB22"/>
    <a:srgbClr val="FE8301"/>
    <a:srgbClr val="0087B1"/>
    <a:srgbClr val="71DDFF"/>
    <a:srgbClr val="E1F8FF"/>
    <a:srgbClr val="11C6FF"/>
    <a:srgbClr val="5B9BD5"/>
    <a:srgbClr val="3098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5268" autoAdjust="0"/>
  </p:normalViewPr>
  <p:slideViewPr>
    <p:cSldViewPr snapToGrid="0">
      <p:cViewPr>
        <p:scale>
          <a:sx n="125" d="100"/>
          <a:sy n="125" d="100"/>
        </p:scale>
        <p:origin x="72" y="-845"/>
      </p:cViewPr>
      <p:guideLst>
        <p:guide orient="horz" pos="2112"/>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6" d="100"/>
          <a:sy n="86" d="100"/>
        </p:scale>
        <p:origin x="3786"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0-Research\CodeReview_KeyConcept%232\KLDiv_Excel.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D:\0-Research\CodeReview_KeyConcept%232\KLDiv_Excel.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D:\0-Research\CodeReview_KeyConcept%232\KLDiv_Excel.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7.xml"/><Relationship Id="rId1" Type="http://schemas.microsoft.com/office/2011/relationships/chartStyle" Target="style7.xml"/></Relationships>
</file>

<file path=ppt/charts/_rels/chart6.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8.xml"/><Relationship Id="rId1" Type="http://schemas.microsoft.com/office/2011/relationships/chartStyle" Target="style8.xml"/></Relationships>
</file>

<file path=ppt/charts/_rels/chart7.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2.xml"/><Relationship Id="rId1" Type="http://schemas.microsoft.com/office/2011/relationships/chartStyle" Target="style12.xml"/></Relationships>
</file>

<file path=ppt/charts/_rels/chart11.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6.xml"/><Relationship Id="rId1" Type="http://schemas.microsoft.com/office/2011/relationships/chartStyle" Target="style16.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maliaka\Downloads\Histogram-Teaching%20Material%20(1).xlsx" TargetMode="External"/><Relationship Id="rId2" Type="http://schemas.microsoft.com/office/2011/relationships/chartColorStyle" Target="colors17.xml"/><Relationship Id="rId1" Type="http://schemas.microsoft.com/office/2011/relationships/chartStyle" Target="style17.xml"/></Relationships>
</file>

<file path=ppt/charts/_rels/chart16.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8.xml"/><Relationship Id="rId1" Type="http://schemas.microsoft.com/office/2011/relationships/chartStyle" Target="style18.xml"/></Relationships>
</file>

<file path=ppt/charts/_rels/chart17.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9.xml"/><Relationship Id="rId1" Type="http://schemas.microsoft.com/office/2011/relationships/chartStyle" Target="style19.xml"/></Relationships>
</file>

<file path=ppt/charts/_rels/chart18.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20.xml"/><Relationship Id="rId1" Type="http://schemas.microsoft.com/office/2011/relationships/chartStyle" Target="style20.xml"/></Relationships>
</file>

<file path=ppt/charts/_rels/chart19.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21.xml"/><Relationship Id="rId1" Type="http://schemas.microsoft.com/office/2011/relationships/chartStyle" Target="style21.xml"/></Relationships>
</file>

<file path=ppt/charts/_rels/chart20.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22.xml"/><Relationship Id="rId1" Type="http://schemas.microsoft.com/office/2011/relationships/chartStyle" Target="style22.xml"/></Relationships>
</file>

<file path=ppt/charts/_rels/chart21.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23.xml"/><Relationship Id="rId1" Type="http://schemas.microsoft.com/office/2011/relationships/chartStyle" Target="style23.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Book4"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Book4"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Income</c:v>
                </c:pt>
              </c:strCache>
            </c:strRef>
          </c:tx>
          <c:spPr>
            <a:solidFill>
              <a:srgbClr val="363636"/>
            </a:solidFill>
            <a:ln>
              <a:noFill/>
            </a:ln>
            <a:effectLst/>
          </c:spPr>
          <c:invertIfNegative val="0"/>
          <c:cat>
            <c:strRef>
              <c:f>Sheet1!$A$2:$A$5</c:f>
              <c:strCache>
                <c:ptCount val="4"/>
                <c:pt idx="0">
                  <c:v>New Jersey</c:v>
                </c:pt>
                <c:pt idx="1">
                  <c:v>New Hampshire</c:v>
                </c:pt>
                <c:pt idx="2">
                  <c:v>New York</c:v>
                </c:pt>
                <c:pt idx="3">
                  <c:v>New Mexico</c:v>
                </c:pt>
              </c:strCache>
            </c:strRef>
          </c:cat>
          <c:val>
            <c:numRef>
              <c:f>Sheet1!$B$2:$B$5</c:f>
              <c:numCache>
                <c:formatCode>"$"#,##0</c:formatCode>
                <c:ptCount val="4"/>
                <c:pt idx="0">
                  <c:v>39000</c:v>
                </c:pt>
                <c:pt idx="1">
                  <c:v>33000</c:v>
                </c:pt>
                <c:pt idx="2">
                  <c:v>32000</c:v>
                </c:pt>
                <c:pt idx="3">
                  <c:v>25000</c:v>
                </c:pt>
              </c:numCache>
            </c:numRef>
          </c:val>
          <c:extLst>
            <c:ext xmlns:c16="http://schemas.microsoft.com/office/drawing/2014/chart" uri="{C3380CC4-5D6E-409C-BE32-E72D297353CC}">
              <c16:uniqueId val="{00000000-5EF9-4C05-BB59-22E9C64A2AA3}"/>
            </c:ext>
          </c:extLst>
        </c:ser>
        <c:dLbls>
          <c:showLegendKey val="0"/>
          <c:showVal val="0"/>
          <c:showCatName val="0"/>
          <c:showSerName val="0"/>
          <c:showPercent val="0"/>
          <c:showBubbleSize val="0"/>
        </c:dLbls>
        <c:gapWidth val="182"/>
        <c:axId val="851986688"/>
        <c:axId val="851983360"/>
      </c:barChart>
      <c:catAx>
        <c:axId val="851986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51983360"/>
        <c:crosses val="autoZero"/>
        <c:auto val="1"/>
        <c:lblAlgn val="ctr"/>
        <c:lblOffset val="100"/>
        <c:noMultiLvlLbl val="0"/>
      </c:catAx>
      <c:valAx>
        <c:axId val="851983360"/>
        <c:scaling>
          <c:orientation val="minMax"/>
          <c:max val="40000"/>
          <c:min val="0"/>
        </c:scaling>
        <c:delete val="0"/>
        <c:axPos val="l"/>
        <c:majorGridlines>
          <c:spPr>
            <a:ln w="9525" cap="flat" cmpd="sng" algn="ctr">
              <a:solidFill>
                <a:schemeClr val="tx1">
                  <a:lumMod val="15000"/>
                  <a:lumOff val="85000"/>
                </a:schemeClr>
              </a:solidFill>
              <a:round/>
            </a:ln>
            <a:effectLst/>
          </c:spPr>
        </c:majorGridlines>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51986688"/>
        <c:crosses val="autoZero"/>
        <c:crossBetween val="between"/>
        <c:majorUnit val="12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Training</a:t>
            </a:r>
            <a:r>
              <a:rPr lang="en-US" baseline="0" dirty="0"/>
              <a:t> Data</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solidFill>
                <a:schemeClr val="bg2"/>
              </a:solidFill>
            </a:ln>
            <a:effectLst/>
          </c:spPr>
          <c:invertIfNegative val="0"/>
          <c:cat>
            <c:numRef>
              <c:f>Sheet1!$A$8:$F$8</c:f>
              <c:numCache>
                <c:formatCode>General</c:formatCode>
                <c:ptCount val="6"/>
                <c:pt idx="0">
                  <c:v>10</c:v>
                </c:pt>
                <c:pt idx="1">
                  <c:v>20</c:v>
                </c:pt>
                <c:pt idx="2">
                  <c:v>30</c:v>
                </c:pt>
                <c:pt idx="3">
                  <c:v>40</c:v>
                </c:pt>
                <c:pt idx="4">
                  <c:v>50</c:v>
                </c:pt>
                <c:pt idx="5">
                  <c:v>60</c:v>
                </c:pt>
              </c:numCache>
            </c:numRef>
          </c:cat>
          <c:val>
            <c:numRef>
              <c:f>Sheet1!$A$9:$F$9</c:f>
              <c:numCache>
                <c:formatCode>General</c:formatCode>
                <c:ptCount val="6"/>
                <c:pt idx="0">
                  <c:v>7</c:v>
                </c:pt>
                <c:pt idx="1">
                  <c:v>10</c:v>
                </c:pt>
                <c:pt idx="2">
                  <c:v>21</c:v>
                </c:pt>
                <c:pt idx="3">
                  <c:v>25</c:v>
                </c:pt>
                <c:pt idx="4">
                  <c:v>29</c:v>
                </c:pt>
                <c:pt idx="5">
                  <c:v>8</c:v>
                </c:pt>
              </c:numCache>
            </c:numRef>
          </c:val>
          <c:extLst>
            <c:ext xmlns:c16="http://schemas.microsoft.com/office/drawing/2014/chart" uri="{C3380CC4-5D6E-409C-BE32-E72D297353CC}">
              <c16:uniqueId val="{00000000-819F-4046-9BEE-4826E1FB4D72}"/>
            </c:ext>
          </c:extLst>
        </c:ser>
        <c:dLbls>
          <c:showLegendKey val="0"/>
          <c:showVal val="0"/>
          <c:showCatName val="0"/>
          <c:showSerName val="0"/>
          <c:showPercent val="0"/>
          <c:showBubbleSize val="0"/>
        </c:dLbls>
        <c:gapWidth val="0"/>
        <c:axId val="1865051663"/>
        <c:axId val="1865052911"/>
      </c:barChart>
      <c:catAx>
        <c:axId val="1865051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5052911"/>
        <c:crosses val="autoZero"/>
        <c:auto val="1"/>
        <c:lblAlgn val="ctr"/>
        <c:lblOffset val="100"/>
        <c:noMultiLvlLbl val="0"/>
      </c:catAx>
      <c:valAx>
        <c:axId val="1865052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5051663"/>
        <c:crosses val="autoZero"/>
        <c:crossBetween val="between"/>
      </c:valAx>
      <c:spPr>
        <a:noFill/>
        <a:ln>
          <a:noFill/>
        </a:ln>
        <a:effectLst/>
      </c:spPr>
    </c:plotArea>
    <c:plotVisOnly val="1"/>
    <c:dispBlanksAs val="gap"/>
    <c:showDLblsOverMax val="0"/>
  </c:chart>
  <c:spPr>
    <a:noFill/>
    <a:ln>
      <a:solidFill>
        <a:schemeClr val="bg2"/>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Testing Data 1</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E8301"/>
            </a:solidFill>
            <a:ln>
              <a:solidFill>
                <a:schemeClr val="bg2"/>
              </a:solidFill>
            </a:ln>
            <a:effectLst/>
          </c:spPr>
          <c:invertIfNegative val="0"/>
          <c:cat>
            <c:numRef>
              <c:f>Sheet1!$A$12:$F$12</c:f>
              <c:numCache>
                <c:formatCode>General</c:formatCode>
                <c:ptCount val="6"/>
                <c:pt idx="0">
                  <c:v>10</c:v>
                </c:pt>
                <c:pt idx="1">
                  <c:v>20</c:v>
                </c:pt>
                <c:pt idx="2">
                  <c:v>30</c:v>
                </c:pt>
                <c:pt idx="3">
                  <c:v>40</c:v>
                </c:pt>
                <c:pt idx="4">
                  <c:v>50</c:v>
                </c:pt>
                <c:pt idx="5">
                  <c:v>60</c:v>
                </c:pt>
              </c:numCache>
            </c:numRef>
          </c:cat>
          <c:val>
            <c:numRef>
              <c:f>Sheet1!$A$13:$F$13</c:f>
              <c:numCache>
                <c:formatCode>General</c:formatCode>
                <c:ptCount val="6"/>
                <c:pt idx="0">
                  <c:v>5</c:v>
                </c:pt>
                <c:pt idx="1">
                  <c:v>12</c:v>
                </c:pt>
                <c:pt idx="2">
                  <c:v>19</c:v>
                </c:pt>
                <c:pt idx="3">
                  <c:v>27</c:v>
                </c:pt>
                <c:pt idx="4">
                  <c:v>31</c:v>
                </c:pt>
                <c:pt idx="5">
                  <c:v>6</c:v>
                </c:pt>
              </c:numCache>
            </c:numRef>
          </c:val>
          <c:extLst>
            <c:ext xmlns:c16="http://schemas.microsoft.com/office/drawing/2014/chart" uri="{C3380CC4-5D6E-409C-BE32-E72D297353CC}">
              <c16:uniqueId val="{00000000-E095-4BBC-ADEB-2232E2269FAA}"/>
            </c:ext>
          </c:extLst>
        </c:ser>
        <c:dLbls>
          <c:showLegendKey val="0"/>
          <c:showVal val="0"/>
          <c:showCatName val="0"/>
          <c:showSerName val="0"/>
          <c:showPercent val="0"/>
          <c:showBubbleSize val="0"/>
        </c:dLbls>
        <c:gapWidth val="0"/>
        <c:axId val="1865042095"/>
        <c:axId val="1865049167"/>
      </c:barChart>
      <c:catAx>
        <c:axId val="1865042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5049167"/>
        <c:crosses val="autoZero"/>
        <c:auto val="1"/>
        <c:lblAlgn val="ctr"/>
        <c:lblOffset val="100"/>
        <c:noMultiLvlLbl val="0"/>
      </c:catAx>
      <c:valAx>
        <c:axId val="1865049167"/>
        <c:scaling>
          <c:orientation val="minMax"/>
          <c:max val="3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5042095"/>
        <c:crosses val="autoZero"/>
        <c:crossBetween val="between"/>
        <c:majorUnit val="5"/>
      </c:valAx>
      <c:spPr>
        <a:noFill/>
        <a:ln>
          <a:noFill/>
        </a:ln>
        <a:effectLst/>
      </c:spPr>
    </c:plotArea>
    <c:plotVisOnly val="1"/>
    <c:dispBlanksAs val="gap"/>
    <c:showDLblsOverMax val="0"/>
  </c:chart>
  <c:spPr>
    <a:noFill/>
    <a:ln>
      <a:solidFill>
        <a:schemeClr val="bg2"/>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Testing Data 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6"/>
            </a:solidFill>
            <a:ln>
              <a:solidFill>
                <a:schemeClr val="bg2"/>
              </a:solidFill>
            </a:ln>
            <a:effectLst/>
          </c:spPr>
          <c:invertIfNegative val="0"/>
          <c:cat>
            <c:numRef>
              <c:f>Sheet1!$A$16:$F$16</c:f>
              <c:numCache>
                <c:formatCode>General</c:formatCode>
                <c:ptCount val="6"/>
                <c:pt idx="0">
                  <c:v>10</c:v>
                </c:pt>
                <c:pt idx="1">
                  <c:v>20</c:v>
                </c:pt>
                <c:pt idx="2">
                  <c:v>30</c:v>
                </c:pt>
                <c:pt idx="3">
                  <c:v>40</c:v>
                </c:pt>
                <c:pt idx="4">
                  <c:v>50</c:v>
                </c:pt>
                <c:pt idx="5">
                  <c:v>60</c:v>
                </c:pt>
              </c:numCache>
            </c:numRef>
          </c:cat>
          <c:val>
            <c:numRef>
              <c:f>Sheet1!$A$17:$F$17</c:f>
              <c:numCache>
                <c:formatCode>General</c:formatCode>
                <c:ptCount val="6"/>
                <c:pt idx="0">
                  <c:v>6</c:v>
                </c:pt>
                <c:pt idx="1">
                  <c:v>9</c:v>
                </c:pt>
                <c:pt idx="2">
                  <c:v>26</c:v>
                </c:pt>
                <c:pt idx="3">
                  <c:v>26</c:v>
                </c:pt>
                <c:pt idx="4">
                  <c:v>26</c:v>
                </c:pt>
                <c:pt idx="5">
                  <c:v>7</c:v>
                </c:pt>
              </c:numCache>
            </c:numRef>
          </c:val>
          <c:extLst>
            <c:ext xmlns:c16="http://schemas.microsoft.com/office/drawing/2014/chart" uri="{C3380CC4-5D6E-409C-BE32-E72D297353CC}">
              <c16:uniqueId val="{00000000-A55C-418F-BC84-512C07C3E4B2}"/>
            </c:ext>
          </c:extLst>
        </c:ser>
        <c:dLbls>
          <c:showLegendKey val="0"/>
          <c:showVal val="0"/>
          <c:showCatName val="0"/>
          <c:showSerName val="0"/>
          <c:showPercent val="0"/>
          <c:showBubbleSize val="0"/>
        </c:dLbls>
        <c:gapWidth val="0"/>
        <c:axId val="1839175359"/>
        <c:axId val="1839178271"/>
      </c:barChart>
      <c:catAx>
        <c:axId val="1839175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9178271"/>
        <c:crosses val="autoZero"/>
        <c:auto val="1"/>
        <c:lblAlgn val="ctr"/>
        <c:lblOffset val="100"/>
        <c:noMultiLvlLbl val="0"/>
      </c:catAx>
      <c:valAx>
        <c:axId val="1839178271"/>
        <c:scaling>
          <c:orientation val="minMax"/>
          <c:max val="3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9175359"/>
        <c:crosses val="autoZero"/>
        <c:crossBetween val="between"/>
        <c:majorUnit val="5"/>
      </c:valAx>
      <c:spPr>
        <a:noFill/>
        <a:ln>
          <a:noFill/>
        </a:ln>
        <a:effectLst/>
      </c:spPr>
    </c:plotArea>
    <c:plotVisOnly val="1"/>
    <c:dispBlanksAs val="gap"/>
    <c:showDLblsOverMax val="0"/>
  </c:chart>
  <c:spPr>
    <a:noFill/>
    <a:ln>
      <a:solidFill>
        <a:schemeClr val="bg2"/>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Histogram of</a:t>
            </a:r>
            <a:r>
              <a:rPr lang="en-US" b="1" baseline="0"/>
              <a:t> Touch Pressure</a:t>
            </a:r>
            <a:endParaRPr lang="en-US"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D43E01"/>
            </a:solidFill>
            <a:ln>
              <a:solidFill>
                <a:schemeClr val="bg2"/>
              </a:solidFill>
            </a:ln>
            <a:effectLst/>
          </c:spPr>
          <c:invertIfNegative val="0"/>
          <c:cat>
            <c:numRef>
              <c:f>Sheet4!$K$4:$K$12</c:f>
              <c:numCache>
                <c:formatCode>General</c:formatCode>
                <c:ptCount val="9"/>
                <c:pt idx="0">
                  <c:v>1</c:v>
                </c:pt>
                <c:pt idx="1">
                  <c:v>2</c:v>
                </c:pt>
                <c:pt idx="2">
                  <c:v>3</c:v>
                </c:pt>
                <c:pt idx="3">
                  <c:v>4</c:v>
                </c:pt>
                <c:pt idx="4">
                  <c:v>5</c:v>
                </c:pt>
                <c:pt idx="5">
                  <c:v>6</c:v>
                </c:pt>
                <c:pt idx="6">
                  <c:v>7</c:v>
                </c:pt>
                <c:pt idx="7">
                  <c:v>8</c:v>
                </c:pt>
                <c:pt idx="8">
                  <c:v>9</c:v>
                </c:pt>
              </c:numCache>
            </c:numRef>
          </c:cat>
          <c:val>
            <c:numRef>
              <c:f>Sheet4!$L$4:$L$12</c:f>
              <c:numCache>
                <c:formatCode>General</c:formatCode>
                <c:ptCount val="9"/>
                <c:pt idx="0">
                  <c:v>0</c:v>
                </c:pt>
                <c:pt idx="1">
                  <c:v>4</c:v>
                </c:pt>
                <c:pt idx="2">
                  <c:v>0</c:v>
                </c:pt>
                <c:pt idx="3">
                  <c:v>0</c:v>
                </c:pt>
                <c:pt idx="4">
                  <c:v>1</c:v>
                </c:pt>
                <c:pt idx="5">
                  <c:v>5</c:v>
                </c:pt>
                <c:pt idx="6">
                  <c:v>6</c:v>
                </c:pt>
                <c:pt idx="7">
                  <c:v>11</c:v>
                </c:pt>
                <c:pt idx="8">
                  <c:v>0</c:v>
                </c:pt>
              </c:numCache>
            </c:numRef>
          </c:val>
          <c:extLst>
            <c:ext xmlns:c16="http://schemas.microsoft.com/office/drawing/2014/chart" uri="{C3380CC4-5D6E-409C-BE32-E72D297353CC}">
              <c16:uniqueId val="{00000000-BEC6-44F9-A3B0-B503FEF64DA5}"/>
            </c:ext>
          </c:extLst>
        </c:ser>
        <c:dLbls>
          <c:showLegendKey val="0"/>
          <c:showVal val="0"/>
          <c:showCatName val="0"/>
          <c:showSerName val="0"/>
          <c:showPercent val="0"/>
          <c:showBubbleSize val="0"/>
        </c:dLbls>
        <c:gapWidth val="0"/>
        <c:axId val="1369932960"/>
        <c:axId val="1380059360"/>
      </c:barChart>
      <c:catAx>
        <c:axId val="136993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059360"/>
        <c:crosses val="autoZero"/>
        <c:auto val="1"/>
        <c:lblAlgn val="ctr"/>
        <c:lblOffset val="100"/>
        <c:noMultiLvlLbl val="0"/>
      </c:catAx>
      <c:valAx>
        <c:axId val="13800593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Frequency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9932960"/>
        <c:crosses val="autoZero"/>
        <c:crossBetween val="between"/>
      </c:valAx>
      <c:spPr>
        <a:noFill/>
        <a:ln>
          <a:noFill/>
        </a:ln>
        <a:effectLst/>
      </c:spPr>
    </c:plotArea>
    <c:plotVisOnly val="1"/>
    <c:dispBlanksAs val="gap"/>
    <c:showDLblsOverMax val="0"/>
  </c:chart>
  <c:spPr>
    <a:noFill/>
    <a:ln>
      <a:solidFill>
        <a:schemeClr val="bg2"/>
      </a:solid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noFill/>
            <a:ln>
              <a:no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E577-445E-A2E2-741BDD0F0899}"/>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041B-419C-8787-8EFC37B2577E}"/>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1"/>
        <c:axPos val="b"/>
        <c:numFmt formatCode="General" sourceLinked="1"/>
        <c:majorTickMark val="none"/>
        <c:minorTickMark val="none"/>
        <c:tickLblPos val="nextTo"/>
        <c:crossAx val="1198037440"/>
        <c:crosses val="autoZero"/>
        <c:auto val="1"/>
        <c:lblAlgn val="ctr"/>
        <c:lblOffset val="100"/>
        <c:noMultiLvlLbl val="0"/>
      </c:catAx>
      <c:valAx>
        <c:axId val="119803744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5FC8AC"/>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0B69-464C-BBAF-7798B41FBF11}"/>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30987D"/>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Sheet6!$B$66:$J$66</c:f>
              <c:numCache>
                <c:formatCode>General</c:formatCode>
                <c:ptCount val="9"/>
                <c:pt idx="0">
                  <c:v>5.0000000000000001E-4</c:v>
                </c:pt>
                <c:pt idx="1">
                  <c:v>1.7250000000000001E-2</c:v>
                </c:pt>
                <c:pt idx="2">
                  <c:v>9.2999999999999999E-2</c:v>
                </c:pt>
                <c:pt idx="3">
                  <c:v>0.22800000000000001</c:v>
                </c:pt>
                <c:pt idx="4">
                  <c:v>0.3075</c:v>
                </c:pt>
                <c:pt idx="5">
                  <c:v>0.23574999999999999</c:v>
                </c:pt>
                <c:pt idx="6">
                  <c:v>9.7500000000000003E-2</c:v>
                </c:pt>
                <c:pt idx="7">
                  <c:v>1.9E-2</c:v>
                </c:pt>
                <c:pt idx="8">
                  <c:v>1.5E-3</c:v>
                </c:pt>
              </c:numCache>
            </c:numRef>
          </c:val>
          <c:extLst>
            <c:ext xmlns:c16="http://schemas.microsoft.com/office/drawing/2014/chart" uri="{C3380CC4-5D6E-409C-BE32-E72D297353CC}">
              <c16:uniqueId val="{00000000-9511-436A-8276-E3E85EEB0BBA}"/>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noFill/>
            <a:ln>
              <a:no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Sheet6!$B$66:$J$66</c:f>
              <c:numCache>
                <c:formatCode>General</c:formatCode>
                <c:ptCount val="9"/>
                <c:pt idx="0">
                  <c:v>5.0000000000000001E-4</c:v>
                </c:pt>
                <c:pt idx="1">
                  <c:v>1.7250000000000001E-2</c:v>
                </c:pt>
                <c:pt idx="2">
                  <c:v>9.2999999999999999E-2</c:v>
                </c:pt>
                <c:pt idx="3">
                  <c:v>0.22800000000000001</c:v>
                </c:pt>
                <c:pt idx="4">
                  <c:v>0.3075</c:v>
                </c:pt>
                <c:pt idx="5">
                  <c:v>0.23574999999999999</c:v>
                </c:pt>
                <c:pt idx="6">
                  <c:v>9.7500000000000003E-2</c:v>
                </c:pt>
                <c:pt idx="7">
                  <c:v>1.9E-2</c:v>
                </c:pt>
                <c:pt idx="8">
                  <c:v>1.5E-3</c:v>
                </c:pt>
              </c:numCache>
            </c:numRef>
          </c:val>
          <c:extLst>
            <c:ext xmlns:c16="http://schemas.microsoft.com/office/drawing/2014/chart" uri="{C3380CC4-5D6E-409C-BE32-E72D297353CC}">
              <c16:uniqueId val="{00000000-721D-448A-B018-7EF78E0091BD}"/>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lumMod val="75000"/>
              </a:schemeClr>
            </a:solidFill>
            <a:ln>
              <a:solidFill>
                <a:schemeClr val="bg2"/>
              </a:solidFill>
            </a:ln>
            <a:effectLst/>
          </c:spPr>
          <c:invertIfNegative val="0"/>
          <c:dPt>
            <c:idx val="8"/>
            <c:invertIfNegative val="0"/>
            <c:bubble3D val="0"/>
            <c:spPr>
              <a:noFill/>
              <a:ln>
                <a:noFill/>
              </a:ln>
              <a:effectLst/>
            </c:spPr>
            <c:extLst>
              <c:ext xmlns:c16="http://schemas.microsoft.com/office/drawing/2014/chart" uri="{C3380CC4-5D6E-409C-BE32-E72D297353CC}">
                <c16:uniqueId val="{00000001-FE6B-4D39-AA08-DA3F9BE40C92}"/>
              </c:ext>
            </c:extLst>
          </c:dPt>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Sheet6!$B$66:$J$66</c:f>
              <c:numCache>
                <c:formatCode>General</c:formatCode>
                <c:ptCount val="9"/>
                <c:pt idx="0">
                  <c:v>5.0000000000000001E-4</c:v>
                </c:pt>
                <c:pt idx="1">
                  <c:v>1.7250000000000001E-2</c:v>
                </c:pt>
                <c:pt idx="2">
                  <c:v>9.2999999999999999E-2</c:v>
                </c:pt>
                <c:pt idx="3">
                  <c:v>0.22800000000000001</c:v>
                </c:pt>
                <c:pt idx="4">
                  <c:v>0.3075</c:v>
                </c:pt>
                <c:pt idx="5">
                  <c:v>0.23574999999999999</c:v>
                </c:pt>
                <c:pt idx="6">
                  <c:v>9.7500000000000003E-2</c:v>
                </c:pt>
                <c:pt idx="7">
                  <c:v>1.9E-2</c:v>
                </c:pt>
                <c:pt idx="8">
                  <c:v>1.5E-3</c:v>
                </c:pt>
              </c:numCache>
            </c:numRef>
          </c:val>
          <c:extLst>
            <c:ext xmlns:c16="http://schemas.microsoft.com/office/drawing/2014/chart" uri="{C3380CC4-5D6E-409C-BE32-E72D297353CC}">
              <c16:uniqueId val="{00000000-FE6B-4D39-AA08-DA3F9BE40C92}"/>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1"/>
        <c:axPos val="b"/>
        <c:numFmt formatCode="General" sourceLinked="1"/>
        <c:majorTickMark val="none"/>
        <c:minorTickMark val="none"/>
        <c:tickLblPos val="nextTo"/>
        <c:crossAx val="1198037440"/>
        <c:crosses val="autoZero"/>
        <c:auto val="1"/>
        <c:lblAlgn val="ctr"/>
        <c:lblOffset val="100"/>
        <c:noMultiLvlLbl val="0"/>
      </c:catAx>
      <c:valAx>
        <c:axId val="119803744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5FC8AC"/>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0B69-464C-BBAF-7798B41FBF11}"/>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noFill/>
            <a:ln>
              <a:solidFill>
                <a:schemeClr val="tx1">
                  <a:lumMod val="65000"/>
                  <a:lumOff val="35000"/>
                </a:schemeClr>
              </a:solidFill>
              <a:prstDash val="dash"/>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A1A3-4338-9734-17AF455F1AAF}"/>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1"/>
        <c:axPos val="b"/>
        <c:numFmt formatCode="General" sourceLinked="1"/>
        <c:majorTickMark val="none"/>
        <c:minorTickMark val="none"/>
        <c:tickLblPos val="nextTo"/>
        <c:crossAx val="1198037440"/>
        <c:crosses val="autoZero"/>
        <c:auto val="1"/>
        <c:lblAlgn val="ctr"/>
        <c:lblOffset val="100"/>
        <c:noMultiLvlLbl val="0"/>
      </c:catAx>
      <c:valAx>
        <c:axId val="119803744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FF8504"/>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Sheet6!$B$66:$J$66</c:f>
              <c:numCache>
                <c:formatCode>General</c:formatCode>
                <c:ptCount val="9"/>
                <c:pt idx="0">
                  <c:v>5.0000000000000001E-4</c:v>
                </c:pt>
                <c:pt idx="1">
                  <c:v>1.7250000000000001E-2</c:v>
                </c:pt>
                <c:pt idx="2">
                  <c:v>9.2999999999999999E-2</c:v>
                </c:pt>
                <c:pt idx="3">
                  <c:v>0.22800000000000001</c:v>
                </c:pt>
                <c:pt idx="4">
                  <c:v>0.3075</c:v>
                </c:pt>
                <c:pt idx="5">
                  <c:v>0.23574999999999999</c:v>
                </c:pt>
                <c:pt idx="6">
                  <c:v>9.7500000000000003E-2</c:v>
                </c:pt>
                <c:pt idx="7">
                  <c:v>1.9E-2</c:v>
                </c:pt>
                <c:pt idx="8">
                  <c:v>1.5E-3</c:v>
                </c:pt>
              </c:numCache>
            </c:numRef>
          </c:val>
          <c:extLst>
            <c:ext xmlns:c16="http://schemas.microsoft.com/office/drawing/2014/chart" uri="{C3380CC4-5D6E-409C-BE32-E72D297353CC}">
              <c16:uniqueId val="{00000000-3D6E-4CFE-A8BA-AC21C9E7A657}"/>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noFill/>
            <a:ln w="9525">
              <a:solidFill>
                <a:schemeClr val="tx1">
                  <a:lumMod val="65000"/>
                  <a:lumOff val="35000"/>
                </a:schemeClr>
              </a:solidFill>
              <a:prstDash val="dash"/>
            </a:ln>
            <a:effectLst/>
          </c:spPr>
          <c:invertIfNegative val="0"/>
          <c:val>
            <c:numRef>
              <c:f>'[Histogram-Teaching Material (1).xlsx]Sheet2'!$A$27:$I$27</c:f>
              <c:numCache>
                <c:formatCode>General</c:formatCode>
                <c:ptCount val="9"/>
                <c:pt idx="0">
                  <c:v>0</c:v>
                </c:pt>
                <c:pt idx="1">
                  <c:v>5.0000000000000001E-4</c:v>
                </c:pt>
                <c:pt idx="2">
                  <c:v>1.7299999999999999E-2</c:v>
                </c:pt>
                <c:pt idx="3">
                  <c:v>9.3100000000000002E-2</c:v>
                </c:pt>
                <c:pt idx="4">
                  <c:v>0.2283</c:v>
                </c:pt>
                <c:pt idx="5">
                  <c:v>0.308</c:v>
                </c:pt>
                <c:pt idx="6">
                  <c:v>0.2361</c:v>
                </c:pt>
                <c:pt idx="7">
                  <c:v>9.7600000000000006E-2</c:v>
                </c:pt>
                <c:pt idx="8">
                  <c:v>1.9E-2</c:v>
                </c:pt>
              </c:numCache>
            </c:numRef>
          </c:val>
          <c:extLst>
            <c:ext xmlns:c16="http://schemas.microsoft.com/office/drawing/2014/chart" uri="{C3380CC4-5D6E-409C-BE32-E72D297353CC}">
              <c16:uniqueId val="{00000000-969E-42DF-AD84-155246A3558C}"/>
            </c:ext>
          </c:extLst>
        </c:ser>
        <c:dLbls>
          <c:showLegendKey val="0"/>
          <c:showVal val="0"/>
          <c:showCatName val="0"/>
          <c:showSerName val="0"/>
          <c:showPercent val="0"/>
          <c:showBubbleSize val="0"/>
        </c:dLbls>
        <c:gapWidth val="0"/>
        <c:axId val="1222056416"/>
        <c:axId val="1222060992"/>
      </c:barChart>
      <c:catAx>
        <c:axId val="1222056416"/>
        <c:scaling>
          <c:orientation val="minMax"/>
        </c:scaling>
        <c:delete val="1"/>
        <c:axPos val="b"/>
        <c:numFmt formatCode="General" sourceLinked="1"/>
        <c:majorTickMark val="none"/>
        <c:minorTickMark val="none"/>
        <c:tickLblPos val="nextTo"/>
        <c:crossAx val="1222060992"/>
        <c:crosses val="autoZero"/>
        <c:auto val="1"/>
        <c:lblAlgn val="ctr"/>
        <c:lblOffset val="100"/>
        <c:noMultiLvlLbl val="0"/>
      </c:catAx>
      <c:valAx>
        <c:axId val="122206099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22205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5FC8AC"/>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739F-411D-97D6-9366A2452F15}"/>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Sheet6!$B$18:$I$18</c:f>
              <c:numCache>
                <c:formatCode>General</c:formatCode>
                <c:ptCount val="8"/>
                <c:pt idx="0">
                  <c:v>1</c:v>
                </c:pt>
                <c:pt idx="1">
                  <c:v>32.5</c:v>
                </c:pt>
                <c:pt idx="2">
                  <c:v>120</c:v>
                </c:pt>
                <c:pt idx="3">
                  <c:v>183.5</c:v>
                </c:pt>
                <c:pt idx="4">
                  <c:v>128</c:v>
                </c:pt>
                <c:pt idx="5">
                  <c:v>32</c:v>
                </c:pt>
                <c:pt idx="6">
                  <c:v>3</c:v>
                </c:pt>
                <c:pt idx="7">
                  <c:v>0</c:v>
                </c:pt>
              </c:numCache>
            </c:numRef>
          </c:val>
          <c:extLst>
            <c:ext xmlns:c16="http://schemas.microsoft.com/office/drawing/2014/chart" uri="{C3380CC4-5D6E-409C-BE32-E72D297353CC}">
              <c16:uniqueId val="{00000000-3971-44B6-AECC-2B19CDDFD744}"/>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Sheet6!$B$34:$I$34</c:f>
              <c:numCache>
                <c:formatCode>General</c:formatCode>
                <c:ptCount val="8"/>
                <c:pt idx="0">
                  <c:v>0</c:v>
                </c:pt>
                <c:pt idx="1">
                  <c:v>1</c:v>
                </c:pt>
                <c:pt idx="2">
                  <c:v>32.5</c:v>
                </c:pt>
                <c:pt idx="3">
                  <c:v>120</c:v>
                </c:pt>
                <c:pt idx="4">
                  <c:v>183.5</c:v>
                </c:pt>
                <c:pt idx="5">
                  <c:v>128</c:v>
                </c:pt>
                <c:pt idx="6">
                  <c:v>32</c:v>
                </c:pt>
                <c:pt idx="7">
                  <c:v>3</c:v>
                </c:pt>
              </c:numCache>
            </c:numRef>
          </c:val>
          <c:extLst>
            <c:ext xmlns:c16="http://schemas.microsoft.com/office/drawing/2014/chart" uri="{C3380CC4-5D6E-409C-BE32-E72D297353CC}">
              <c16:uniqueId val="{00000000-62D7-4C10-B8C1-6DEF6E0CBC74}"/>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5FC8AC"/>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Sheet6!$B$2:$J$2</c:f>
              <c:numCache>
                <c:formatCode>General</c:formatCode>
                <c:ptCount val="9"/>
                <c:pt idx="0">
                  <c:v>0</c:v>
                </c:pt>
                <c:pt idx="1">
                  <c:v>2</c:v>
                </c:pt>
                <c:pt idx="2">
                  <c:v>65</c:v>
                </c:pt>
                <c:pt idx="3">
                  <c:v>240</c:v>
                </c:pt>
                <c:pt idx="4">
                  <c:v>367</c:v>
                </c:pt>
                <c:pt idx="5">
                  <c:v>256</c:v>
                </c:pt>
                <c:pt idx="6">
                  <c:v>64</c:v>
                </c:pt>
                <c:pt idx="7">
                  <c:v>6</c:v>
                </c:pt>
                <c:pt idx="8">
                  <c:v>0</c:v>
                </c:pt>
              </c:numCache>
            </c:numRef>
          </c:val>
          <c:extLst>
            <c:ext xmlns:c16="http://schemas.microsoft.com/office/drawing/2014/chart" uri="{C3380CC4-5D6E-409C-BE32-E72D297353CC}">
              <c16:uniqueId val="{00000000-51AF-4FDA-9888-BE54EF11FC98}"/>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FF8504"/>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Sheet6!$B$66:$J$66</c:f>
              <c:numCache>
                <c:formatCode>General</c:formatCode>
                <c:ptCount val="9"/>
                <c:pt idx="0">
                  <c:v>5.0000000000000001E-4</c:v>
                </c:pt>
                <c:pt idx="1">
                  <c:v>1.7250000000000001E-2</c:v>
                </c:pt>
                <c:pt idx="2">
                  <c:v>9.2999999999999999E-2</c:v>
                </c:pt>
                <c:pt idx="3">
                  <c:v>0.22800000000000001</c:v>
                </c:pt>
                <c:pt idx="4">
                  <c:v>0.3075</c:v>
                </c:pt>
                <c:pt idx="5">
                  <c:v>0.23574999999999999</c:v>
                </c:pt>
                <c:pt idx="6">
                  <c:v>9.7500000000000003E-2</c:v>
                </c:pt>
                <c:pt idx="7">
                  <c:v>1.9E-2</c:v>
                </c:pt>
                <c:pt idx="8">
                  <c:v>1.5E-3</c:v>
                </c:pt>
              </c:numCache>
            </c:numRef>
          </c:val>
          <c:extLst>
            <c:ext xmlns:c16="http://schemas.microsoft.com/office/drawing/2014/chart" uri="{C3380CC4-5D6E-409C-BE32-E72D297353CC}">
              <c16:uniqueId val="{00000000-8BC0-4775-BD78-23AFAAEF2539}"/>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solidFill>
                <a:schemeClr val="bg2"/>
              </a:solidFill>
            </a:ln>
            <a:effectLst/>
          </c:spPr>
          <c:invertIfNegative val="0"/>
          <c:cat>
            <c:numRef>
              <c:f>Sheet6!$B$1:$J$1</c:f>
              <c:numCache>
                <c:formatCode>General</c:formatCode>
                <c:ptCount val="9"/>
                <c:pt idx="0">
                  <c:v>1</c:v>
                </c:pt>
                <c:pt idx="1">
                  <c:v>2</c:v>
                </c:pt>
                <c:pt idx="2">
                  <c:v>3</c:v>
                </c:pt>
                <c:pt idx="3">
                  <c:v>4</c:v>
                </c:pt>
                <c:pt idx="4">
                  <c:v>5</c:v>
                </c:pt>
                <c:pt idx="5">
                  <c:v>6</c:v>
                </c:pt>
                <c:pt idx="6">
                  <c:v>7</c:v>
                </c:pt>
                <c:pt idx="7">
                  <c:v>8</c:v>
                </c:pt>
                <c:pt idx="8">
                  <c:v>9</c:v>
                </c:pt>
              </c:numCache>
            </c:numRef>
          </c:cat>
          <c:val>
            <c:numRef>
              <c:f>Sheet6!$B$50:$J$50</c:f>
              <c:numCache>
                <c:formatCode>General</c:formatCode>
                <c:ptCount val="9"/>
                <c:pt idx="0">
                  <c:v>1</c:v>
                </c:pt>
                <c:pt idx="1">
                  <c:v>34.5</c:v>
                </c:pt>
                <c:pt idx="2">
                  <c:v>186</c:v>
                </c:pt>
                <c:pt idx="3">
                  <c:v>456</c:v>
                </c:pt>
                <c:pt idx="4">
                  <c:v>615</c:v>
                </c:pt>
                <c:pt idx="5">
                  <c:v>471.5</c:v>
                </c:pt>
                <c:pt idx="6">
                  <c:v>195</c:v>
                </c:pt>
                <c:pt idx="7">
                  <c:v>38</c:v>
                </c:pt>
                <c:pt idx="8">
                  <c:v>3</c:v>
                </c:pt>
              </c:numCache>
            </c:numRef>
          </c:val>
          <c:extLst>
            <c:ext xmlns:c16="http://schemas.microsoft.com/office/drawing/2014/chart" uri="{C3380CC4-5D6E-409C-BE32-E72D297353CC}">
              <c16:uniqueId val="{00000000-7551-4422-8CF7-61C51CEF2369}"/>
            </c:ext>
          </c:extLst>
        </c:ser>
        <c:dLbls>
          <c:showLegendKey val="0"/>
          <c:showVal val="0"/>
          <c:showCatName val="0"/>
          <c:showSerName val="0"/>
          <c:showPercent val="0"/>
          <c:showBubbleSize val="0"/>
        </c:dLbls>
        <c:gapWidth val="0"/>
        <c:axId val="1198038272"/>
        <c:axId val="1198037440"/>
      </c:barChart>
      <c:catAx>
        <c:axId val="11980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7440"/>
        <c:crosses val="autoZero"/>
        <c:auto val="1"/>
        <c:lblAlgn val="ctr"/>
        <c:lblOffset val="100"/>
        <c:noMultiLvlLbl val="0"/>
      </c:catAx>
      <c:valAx>
        <c:axId val="119803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8038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Sheet1!$A$2:$A$21</cx:f>
        <cx:lvl ptCount="20" formatCode="0.00">
          <cx:pt idx="0">439.72325257553751</cx:pt>
          <cx:pt idx="1">337.10396557315136</cx:pt>
          <cx:pt idx="2">541.75331905828602</cx:pt>
          <cx:pt idx="3">93.699962680849055</cx:pt>
          <cx:pt idx="4">444.62463009738417</cx:pt>
          <cx:pt idx="5">453.85062037296524</cx:pt>
          <cx:pt idx="6">556.9032366066408</cx:pt>
          <cx:pt idx="7">450.31556377486339</cx:pt>
          <cx:pt idx="8">418.75190870095918</cx:pt>
          <cx:pt idx="9">690.55988818820947</cx:pt>
          <cx:pt idx="10">463.39632899306798</cx:pt>
          <cx:pt idx="11">409.3300329678363</cx:pt>
          <cx:pt idx="12">154.23176141220884</cx:pt>
          <cx:pt idx="13">446.86731836380062</cx:pt>
          <cx:pt idx="14">592.91299646277514</cx:pt>
          <cx:pt idx="15">566.56873006757212</cx:pt>
          <cx:pt idx="16">403.2273117401474</cx:pt>
          <cx:pt idx="17">245.33858317153238</cx:pt>
          <cx:pt idx="18">109.10245065483905</cx:pt>
          <cx:pt idx="19">292.72556117605257</cx:pt>
        </cx:lvl>
      </cx:numDim>
    </cx:data>
  </cx:chartData>
  <cx:chart>
    <cx:title pos="t" align="ctr" overlay="0">
      <cx:tx>
        <cx:txData>
          <cx:v>Flick Distance</cx:v>
        </cx:txData>
      </cx:tx>
      <cx:txPr>
        <a:bodyPr spcFirstLastPara="1" vertOverflow="ellipsis" wrap="square" lIns="0" tIns="0" rIns="0" bIns="0" anchor="ctr" anchorCtr="1"/>
        <a:lstStyle/>
        <a:p>
          <a:pPr algn="ctr">
            <a:defRPr b="1"/>
          </a:pPr>
          <a:r>
            <a:rPr lang="en-US" b="1" dirty="0"/>
            <a:t>Flick Distance</a:t>
          </a:r>
        </a:p>
      </cx:txPr>
    </cx:title>
    <cx:plotArea>
      <cx:plotAreaRegion>
        <cx:series layoutId="clusteredColumn" uniqueId="{EAEED970-16BC-4A4F-A3D5-25F204839A65}">
          <cx:tx>
            <cx:txData>
              <cx:f>Sheet1!$A$1</cx:f>
              <cx:v>Flick Distance</cx:v>
            </cx:txData>
          </cx:tx>
          <cx:spPr>
            <a:solidFill>
              <a:srgbClr val="FE8301"/>
            </a:solidFill>
            <a:ln>
              <a:solidFill>
                <a:schemeClr val="bg1">
                  <a:lumMod val="95000"/>
                </a:schemeClr>
              </a:solidFill>
            </a:ln>
          </cx:spPr>
          <cx:dataId val="0"/>
          <cx:layoutPr>
            <cx:binning intervalClosed="r" underflow="90" overflow="700">
              <cx:binCount val="6"/>
            </cx:binning>
          </cx:layoutPr>
        </cx:series>
      </cx:plotAreaRegion>
      <cx:axis id="0">
        <cx:catScaling gapWidth="0"/>
        <cx:tickLabels/>
        <cx:numFmt formatCode="#,##0.00" sourceLinked="0"/>
        <cx:txPr>
          <a:bodyPr spcFirstLastPara="1" vertOverflow="ellipsis" wrap="square" lIns="0" tIns="0" rIns="0" bIns="0" anchor="ctr" anchorCtr="1"/>
          <a:lstStyle/>
          <a:p>
            <a:pPr>
              <a:defRPr sz="800"/>
            </a:pPr>
            <a:endParaRPr lang="en-US" sz="800"/>
          </a:p>
        </cx:txPr>
      </cx:axis>
      <cx:axis id="1">
        <cx:valScaling/>
        <cx:majorGridlines/>
        <cx:tickLabels/>
      </cx:axis>
    </cx:plotArea>
  </cx:chart>
  <cx:clrMapOvr bg1="lt1" tx1="dk1" bg2="lt2" tx2="dk2" accent1="accent1" accent2="accent2" accent3="accent3" accent4="accent4" accent5="accent5" accent6="accent6" hlink="hlink" folHlink="folHlink"/>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Sheet1!$A$2:$A$21</cx:f>
        <cx:lvl ptCount="20" formatCode="0.00">
          <cx:pt idx="0">439.72325257553751</cx:pt>
          <cx:pt idx="1">337.10396557315136</cx:pt>
          <cx:pt idx="2">541.75331905828602</cx:pt>
          <cx:pt idx="3">93.699962680849055</cx:pt>
          <cx:pt idx="4">444.62463009738417</cx:pt>
          <cx:pt idx="5">453.85062037296524</cx:pt>
          <cx:pt idx="6">556.9032366066408</cx:pt>
          <cx:pt idx="7">450.31556377486339</cx:pt>
          <cx:pt idx="8">418.75190870095918</cx:pt>
          <cx:pt idx="9">690.55988818820947</cx:pt>
          <cx:pt idx="10">463.39632899306798</cx:pt>
          <cx:pt idx="11">409.3300329678363</cx:pt>
          <cx:pt idx="12">154.23176141220884</cx:pt>
          <cx:pt idx="13">446.86731836380062</cx:pt>
          <cx:pt idx="14">592.91299646277514</cx:pt>
          <cx:pt idx="15">566.56873006757212</cx:pt>
          <cx:pt idx="16">403.2273117401474</cx:pt>
          <cx:pt idx="17">245.33858317153238</cx:pt>
          <cx:pt idx="18">109.10245065483905</cx:pt>
          <cx:pt idx="19">292.72556117605257</cx:pt>
        </cx:lvl>
      </cx:numDim>
    </cx:data>
  </cx:chartData>
  <cx:chart>
    <cx:title pos="t" align="ctr" overlay="0">
      <cx:tx>
        <cx:rich>
          <a:bodyPr spcFirstLastPara="1" vertOverflow="ellipsis" wrap="square" lIns="0" tIns="0" rIns="0" bIns="0" anchor="ctr" anchorCtr="1"/>
          <a:lstStyle/>
          <a:p>
            <a:pPr algn="ctr">
              <a:defRPr b="1"/>
            </a:pPr>
            <a:r>
              <a:rPr lang="en-US" b="1" dirty="0"/>
              <a:t>Flick Distance Histogram</a:t>
            </a:r>
          </a:p>
        </cx:rich>
      </cx:tx>
    </cx:title>
    <cx:plotArea>
      <cx:plotAreaRegion>
        <cx:series layoutId="clusteredColumn" uniqueId="{EAEED970-16BC-4A4F-A3D5-25F204839A65}">
          <cx:tx>
            <cx:txData>
              <cx:f>Sheet1!$A$1</cx:f>
              <cx:v>Flick Distance</cx:v>
            </cx:txData>
          </cx:tx>
          <cx:spPr>
            <a:solidFill>
              <a:srgbClr val="3DBF9C"/>
            </a:solidFill>
            <a:ln>
              <a:solidFill>
                <a:schemeClr val="bg1">
                  <a:lumMod val="95000"/>
                </a:schemeClr>
              </a:solidFill>
            </a:ln>
          </cx:spPr>
          <cx:dataId val="0"/>
          <cx:layoutPr>
            <cx:binning intervalClosed="r" underflow="90" overflow="700">
              <cx:binCount val="6"/>
            </cx:binning>
          </cx:layoutPr>
        </cx:series>
      </cx:plotAreaRegion>
      <cx:axis id="0">
        <cx:catScaling gapWidth="0"/>
        <cx:tickLabels/>
        <cx:numFmt formatCode="#,##0.00" sourceLinked="0"/>
        <cx:txPr>
          <a:bodyPr spcFirstLastPara="1" vertOverflow="ellipsis" wrap="square" lIns="0" tIns="0" rIns="0" bIns="0" anchor="ctr" anchorCtr="1"/>
          <a:lstStyle/>
          <a:p>
            <a:pPr>
              <a:defRPr sz="800"/>
            </a:pPr>
            <a:endParaRPr lang="en-US" sz="800"/>
          </a:p>
        </cx:txPr>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tx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solidFill>
    </cs:spPr>
  </cs:downBar>
  <cs:dropLine>
    <cs:lnRef idx="0"/>
    <cs:fillRef idx="0"/>
    <cs:effectRef idx="0"/>
    <cs:fontRef idx="minor">
      <a:schemeClr val="tx1"/>
    </cs:fontRef>
  </cs:dropLine>
  <cs:errorBar>
    <cs:lnRef idx="0"/>
    <cs:fillRef idx="0"/>
    <cs:effectRef idx="0"/>
    <cs:fontRef idx="minor">
      <a:schemeClr val="tx1"/>
    </cs:fontRef>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a:solidFill>
          <a:schemeClr val="tx1">
            <a:lumMod val="15000"/>
            <a:lumOff val="85000"/>
            <a:lumOff val="10000"/>
          </a:schemeClr>
        </a:solidFill>
      </a:ln>
    </cs:spPr>
  </cs:gridlineMinor>
  <cs:hiLoLine>
    <cs:lnRef idx="0"/>
    <cs:fillRef idx="0"/>
    <cs:effectRef idx="0"/>
    <cs:fontRef idx="minor">
      <a:schemeClr val="tx1"/>
    </cs:fontRef>
  </cs:hiLoLine>
  <cs:leaderLine>
    <cs:lnRef idx="0"/>
    <cs:fillRef idx="0"/>
    <cs:effectRef idx="0"/>
    <cs:fontRef idx="minor">
      <a:schemeClr val="tx1"/>
    </cs:fontRef>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tx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solidFill>
    </cs:spPr>
  </cs:downBar>
  <cs:dropLine>
    <cs:lnRef idx="0"/>
    <cs:fillRef idx="0"/>
    <cs:effectRef idx="0"/>
    <cs:fontRef idx="minor">
      <a:schemeClr val="tx1"/>
    </cs:fontRef>
  </cs:dropLine>
  <cs:errorBar>
    <cs:lnRef idx="0"/>
    <cs:fillRef idx="0"/>
    <cs:effectRef idx="0"/>
    <cs:fontRef idx="minor">
      <a:schemeClr val="tx1"/>
    </cs:fontRef>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a:solidFill>
          <a:schemeClr val="tx1">
            <a:lumMod val="15000"/>
            <a:lumOff val="85000"/>
            <a:lumOff val="10000"/>
          </a:schemeClr>
        </a:solidFill>
      </a:ln>
    </cs:spPr>
  </cs:gridlineMinor>
  <cs:hiLoLine>
    <cs:lnRef idx="0"/>
    <cs:fillRef idx="0"/>
    <cs:effectRef idx="0"/>
    <cs:fontRef idx="minor">
      <a:schemeClr val="tx1"/>
    </cs:fontRef>
  </cs:hiLoLine>
  <cs:leaderLine>
    <cs:lnRef idx="0"/>
    <cs:fillRef idx="0"/>
    <cs:effectRef idx="0"/>
    <cs:fontRef idx="minor">
      <a:schemeClr val="tx1"/>
    </cs:fontRef>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1" Type="http://schemas.openxmlformats.org/officeDocument/2006/relationships/image" Target="../media/image7.png"/></Relationships>
</file>

<file path=ppt/diagrams/_rels/data3.xml.rels><?xml version="1.0" encoding="UTF-8" standalone="yes"?>
<Relationships xmlns="http://schemas.openxmlformats.org/package/2006/relationships"><Relationship Id="rId1" Type="http://schemas.openxmlformats.org/officeDocument/2006/relationships/image" Target="../media/image8.png"/></Relationships>
</file>

<file path=ppt/diagrams/_rels/data4.xml.rels><?xml version="1.0" encoding="UTF-8" standalone="yes"?>
<Relationships xmlns="http://schemas.openxmlformats.org/package/2006/relationships"><Relationship Id="rId1" Type="http://schemas.openxmlformats.org/officeDocument/2006/relationships/image" Target="../media/image9.png"/></Relationships>
</file>

<file path=ppt/diagrams/_rels/data5.xml.rels><?xml version="1.0" encoding="UTF-8" standalone="yes"?>
<Relationships xmlns="http://schemas.openxmlformats.org/package/2006/relationships"><Relationship Id="rId1" Type="http://schemas.openxmlformats.org/officeDocument/2006/relationships/image" Target="../media/image10.png"/></Relationships>
</file>

<file path=ppt/diagrams/_rels/data6.xml.rels><?xml version="1.0" encoding="UTF-8" standalone="yes"?>
<Relationships xmlns="http://schemas.openxmlformats.org/package/2006/relationships"><Relationship Id="rId1" Type="http://schemas.openxmlformats.org/officeDocument/2006/relationships/image" Target="../media/image11.png"/></Relationships>
</file>

<file path=ppt/diagrams/_rels/data7.xml.rels><?xml version="1.0" encoding="UTF-8" standalone="yes"?>
<Relationships xmlns="http://schemas.openxmlformats.org/package/2006/relationships"><Relationship Id="rId1"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1" Type="http://schemas.openxmlformats.org/officeDocument/2006/relationships/image" Target="../media/image7.png"/></Relationships>
</file>

<file path=ppt/diagrams/_rels/drawing3.xml.rels><?xml version="1.0" encoding="UTF-8" standalone="yes"?>
<Relationships xmlns="http://schemas.openxmlformats.org/package/2006/relationships"><Relationship Id="rId1" Type="http://schemas.openxmlformats.org/officeDocument/2006/relationships/image" Target="../media/image8.png"/></Relationships>
</file>

<file path=ppt/diagrams/_rels/drawing4.xml.rels><?xml version="1.0" encoding="UTF-8" standalone="yes"?>
<Relationships xmlns="http://schemas.openxmlformats.org/package/2006/relationships"><Relationship Id="rId1" Type="http://schemas.openxmlformats.org/officeDocument/2006/relationships/image" Target="../media/image9.png"/></Relationships>
</file>

<file path=ppt/diagrams/_rels/drawing5.xml.rels><?xml version="1.0" encoding="UTF-8" standalone="yes"?>
<Relationships xmlns="http://schemas.openxmlformats.org/package/2006/relationships"><Relationship Id="rId1" Type="http://schemas.openxmlformats.org/officeDocument/2006/relationships/image" Target="../media/image10.png"/></Relationships>
</file>

<file path=ppt/diagrams/_rels/drawing6.xml.rels><?xml version="1.0" encoding="UTF-8" standalone="yes"?>
<Relationships xmlns="http://schemas.openxmlformats.org/package/2006/relationships"><Relationship Id="rId1" Type="http://schemas.openxmlformats.org/officeDocument/2006/relationships/image" Target="../media/image11.png"/></Relationships>
</file>

<file path=ppt/diagrams/_rels/drawing7.xml.rels><?xml version="1.0" encoding="UTF-8" standalone="yes"?>
<Relationships xmlns="http://schemas.openxmlformats.org/package/2006/relationships"><Relationship Id="rId1"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X="283809" custScaleY="100000" custLinFactNeighborX="0" custLinFactNeighborY="10776"/>
      <dgm:spPr>
        <a:ln>
          <a:noFill/>
        </a:ln>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B8872005-EB02-4799-923F-328EC4EA7BA2}" type="presOf" srcId="{70B4E3E7-92BD-4BA3-8C93-826D98F65609}" destId="{402BF6D5-BC22-4BEB-9027-2D822CD0A19A}" srcOrd="0" destOrd="0" presId="urn:microsoft.com/office/officeart/2011/layout/ThemePictureAlternatingAccent"/>
    <dgm:cxn modelId="{11EEF0B4-F3B7-45D1-A186-7E9DD3A74369}" type="presOf" srcId="{EF85E227-2C46-46B0-8C25-15ED58A3377E}" destId="{BF7C867C-0ECC-4DC7-8F13-5617889C754B}"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0E966D87-5186-4993-9BE0-F8C9477E7048}" type="presParOf" srcId="{402BF6D5-BC22-4BEB-9027-2D822CD0A19A}" destId="{7F383395-A406-466B-9E8C-672150081A67}" srcOrd="0" destOrd="0" presId="urn:microsoft.com/office/officeart/2011/layout/ThemePictureAlternatingAccent"/>
    <dgm:cxn modelId="{16A8AB2E-CF78-4596-B8E7-860D6F72D26F}" type="presParOf" srcId="{7F383395-A406-466B-9E8C-672150081A67}" destId="{63E8F094-BB29-4F1C-8DE8-869308440306}" srcOrd="0" destOrd="0" presId="urn:microsoft.com/office/officeart/2011/layout/ThemePictureAlternatingAccent"/>
    <dgm:cxn modelId="{4022CA20-80B8-4000-9295-B06D29B5F59C}"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103854" custLinFactNeighborX="-229" custLinFactNeighborY="-4000"/>
      <dgm:spPr>
        <a:blipFill rotWithShape="1">
          <a:blip xmlns:r="http://schemas.openxmlformats.org/officeDocument/2006/relationships" r:embed="rId1"/>
          <a:stretch>
            <a:fillRect/>
          </a:stretch>
        </a:blipFill>
        <a:ln>
          <a:noFill/>
        </a:ln>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E579D698-3A46-4BFE-80F5-282445FC6BED}" type="presOf" srcId="{EF85E227-2C46-46B0-8C25-15ED58A3377E}" destId="{BF7C867C-0ECC-4DC7-8F13-5617889C754B}"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A27B52F0-1C41-4FD9-89C4-1318515B2883}" type="presOf" srcId="{70B4E3E7-92BD-4BA3-8C93-826D98F65609}" destId="{402BF6D5-BC22-4BEB-9027-2D822CD0A19A}" srcOrd="0" destOrd="0" presId="urn:microsoft.com/office/officeart/2011/layout/ThemePictureAlternatingAccent"/>
    <dgm:cxn modelId="{8A53FB66-9A73-403B-9686-090B94910965}" type="presParOf" srcId="{402BF6D5-BC22-4BEB-9027-2D822CD0A19A}" destId="{7F383395-A406-466B-9E8C-672150081A67}" srcOrd="0" destOrd="0" presId="urn:microsoft.com/office/officeart/2011/layout/ThemePictureAlternatingAccent"/>
    <dgm:cxn modelId="{1B0EAAE9-891F-4DC1-AAAD-35D92222C545}" type="presParOf" srcId="{7F383395-A406-466B-9E8C-672150081A67}" destId="{63E8F094-BB29-4F1C-8DE8-869308440306}" srcOrd="0" destOrd="0" presId="urn:microsoft.com/office/officeart/2011/layout/ThemePictureAlternatingAccent"/>
    <dgm:cxn modelId="{8E605C30-0A1B-49AC-9A74-719DC2F84FF4}"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103854" custLinFactNeighborX="-229" custLinFactNeighborY="-4000"/>
      <dgm:spPr>
        <a:blipFill rotWithShape="1">
          <a:blip xmlns:r="http://schemas.openxmlformats.org/officeDocument/2006/relationships" r:embed="rId1"/>
          <a:stretch>
            <a:fillRect/>
          </a:stretch>
        </a:blipFill>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E4D9D500-2489-4F48-A39A-1AEBBE8D0A07}" type="presOf" srcId="{EF85E227-2C46-46B0-8C25-15ED58A3377E}" destId="{BF7C867C-0ECC-4DC7-8F13-5617889C754B}" srcOrd="0" destOrd="0" presId="urn:microsoft.com/office/officeart/2011/layout/ThemePictureAlternatingAccent"/>
    <dgm:cxn modelId="{EC4F7818-2EEA-45EB-AB6C-DAB2A0ECAF59}"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5E51B5CD-A3CC-4F81-8783-C805E34D0E4B}" type="presParOf" srcId="{402BF6D5-BC22-4BEB-9027-2D822CD0A19A}" destId="{7F383395-A406-466B-9E8C-672150081A67}" srcOrd="0" destOrd="0" presId="urn:microsoft.com/office/officeart/2011/layout/ThemePictureAlternatingAccent"/>
    <dgm:cxn modelId="{C3EC956B-8B99-42DA-9583-8449EFD6F33E}" type="presParOf" srcId="{7F383395-A406-466B-9E8C-672150081A67}" destId="{63E8F094-BB29-4F1C-8DE8-869308440306}" srcOrd="0" destOrd="0" presId="urn:microsoft.com/office/officeart/2011/layout/ThemePictureAlternatingAccent"/>
    <dgm:cxn modelId="{BDCF83EB-FFCF-490C-8527-9046FB601586}" type="presParOf" srcId="{402BF6D5-BC22-4BEB-9027-2D822CD0A19A}" destId="{BF7C867C-0ECC-4DC7-8F13-5617889C754B}" srcOrd="1" destOrd="0" presId="urn:microsoft.com/office/officeart/2011/layout/ThemePictureAlternatingAccen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103854" custLinFactNeighborX="-229" custLinFactNeighborY="-4000"/>
      <dgm:spPr>
        <a:blipFill rotWithShape="1">
          <a:blip xmlns:r="http://schemas.openxmlformats.org/officeDocument/2006/relationships" r:embed="rId1"/>
          <a:stretch>
            <a:fillRect/>
          </a:stretch>
        </a:blipFill>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B06C9962-7EB9-488D-A048-B9B1D71F0EA9}"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1DF032F5-401B-46AC-9F4A-3F4D84FEFA86}" type="presOf" srcId="{EF85E227-2C46-46B0-8C25-15ED58A3377E}" destId="{BF7C867C-0ECC-4DC7-8F13-5617889C754B}" srcOrd="0" destOrd="0" presId="urn:microsoft.com/office/officeart/2011/layout/ThemePictureAlternatingAccent"/>
    <dgm:cxn modelId="{145754A6-A370-478F-8A56-C3113A90F25C}" type="presParOf" srcId="{402BF6D5-BC22-4BEB-9027-2D822CD0A19A}" destId="{7F383395-A406-466B-9E8C-672150081A67}" srcOrd="0" destOrd="0" presId="urn:microsoft.com/office/officeart/2011/layout/ThemePictureAlternatingAccent"/>
    <dgm:cxn modelId="{176D3534-CD25-4127-BE6A-281CCCEB9754}" type="presParOf" srcId="{7F383395-A406-466B-9E8C-672150081A67}" destId="{63E8F094-BB29-4F1C-8DE8-869308440306}" srcOrd="0" destOrd="0" presId="urn:microsoft.com/office/officeart/2011/layout/ThemePictureAlternatingAccent"/>
    <dgm:cxn modelId="{D0B1CC29-E9F3-4461-84B2-3A534C52D532}"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103854" custLinFactNeighborX="-229" custLinFactNeighborY="-4000"/>
      <dgm:spPr>
        <a:blipFill rotWithShape="1">
          <a:blip xmlns:r="http://schemas.openxmlformats.org/officeDocument/2006/relationships" r:embed="rId1"/>
          <a:stretch>
            <a:fillRect/>
          </a:stretch>
        </a:blipFill>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361BDED6-755D-440B-BF05-3899FF4F1D12}"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FBC121F9-3C28-4793-9B4C-29DA099E6D73}" type="presOf" srcId="{EF85E227-2C46-46B0-8C25-15ED58A3377E}" destId="{BF7C867C-0ECC-4DC7-8F13-5617889C754B}" srcOrd="0" destOrd="0" presId="urn:microsoft.com/office/officeart/2011/layout/ThemePictureAlternatingAccent"/>
    <dgm:cxn modelId="{767D43DD-5AD8-48CA-BF07-647D56C2600A}" type="presParOf" srcId="{402BF6D5-BC22-4BEB-9027-2D822CD0A19A}" destId="{7F383395-A406-466B-9E8C-672150081A67}" srcOrd="0" destOrd="0" presId="urn:microsoft.com/office/officeart/2011/layout/ThemePictureAlternatingAccent"/>
    <dgm:cxn modelId="{77CC095C-920B-42E8-81A3-B4CBAB70BE90}" type="presParOf" srcId="{7F383395-A406-466B-9E8C-672150081A67}" destId="{63E8F094-BB29-4F1C-8DE8-869308440306}" srcOrd="0" destOrd="0" presId="urn:microsoft.com/office/officeart/2011/layout/ThemePictureAlternatingAccent"/>
    <dgm:cxn modelId="{9CD98684-939B-4F8B-945C-1EA090D58A21}" type="presParOf" srcId="{402BF6D5-BC22-4BEB-9027-2D822CD0A19A}" destId="{BF7C867C-0ECC-4DC7-8F13-5617889C754B}" srcOrd="1" destOrd="0" presId="urn:microsoft.com/office/officeart/2011/layout/ThemePictureAlternatingAccen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103854" custLinFactNeighborX="-229" custLinFactNeighborY="-4000"/>
      <dgm:spPr>
        <a:blipFill rotWithShape="1">
          <a:blip xmlns:r="http://schemas.openxmlformats.org/officeDocument/2006/relationships" r:embed="rId1"/>
          <a:stretch>
            <a:fillRect/>
          </a:stretch>
        </a:blipFill>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D3B4D83A-579E-49ED-9CC9-BBB8FDC38B89}" type="presOf" srcId="{70B4E3E7-92BD-4BA3-8C93-826D98F65609}" destId="{402BF6D5-BC22-4BEB-9027-2D822CD0A19A}" srcOrd="0" destOrd="0" presId="urn:microsoft.com/office/officeart/2011/layout/ThemePictureAlternatingAccent"/>
    <dgm:cxn modelId="{7550BA74-C31F-4D0B-8D07-4A09C674528A}" type="presOf" srcId="{EF85E227-2C46-46B0-8C25-15ED58A3377E}" destId="{BF7C867C-0ECC-4DC7-8F13-5617889C754B}"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3FF8D3A2-4C8B-4360-A5A8-1464C9CD9590}" type="presParOf" srcId="{402BF6D5-BC22-4BEB-9027-2D822CD0A19A}" destId="{7F383395-A406-466B-9E8C-672150081A67}" srcOrd="0" destOrd="0" presId="urn:microsoft.com/office/officeart/2011/layout/ThemePictureAlternatingAccent"/>
    <dgm:cxn modelId="{5E41CAA6-DBFE-4E65-82F8-43EB94AE524A}" type="presParOf" srcId="{7F383395-A406-466B-9E8C-672150081A67}" destId="{63E8F094-BB29-4F1C-8DE8-869308440306}" srcOrd="0" destOrd="0" presId="urn:microsoft.com/office/officeart/2011/layout/ThemePictureAlternatingAccent"/>
    <dgm:cxn modelId="{56A5E1E2-03F6-424E-A77C-D5F11E63B8B1}" type="presParOf" srcId="{402BF6D5-BC22-4BEB-9027-2D822CD0A19A}" destId="{BF7C867C-0ECC-4DC7-8F13-5617889C754B}" srcOrd="1" destOrd="0" presId="urn:microsoft.com/office/officeart/2011/layout/ThemePictureAlternatingAccen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103854" custLinFactNeighborX="-229" custLinFactNeighborY="-4000"/>
      <dgm:spPr>
        <a:blipFill rotWithShape="1">
          <a:blip xmlns:r="http://schemas.openxmlformats.org/officeDocument/2006/relationships" r:embed="rId1"/>
          <a:stretch>
            <a:fillRect/>
          </a:stretch>
        </a:blipFill>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pt>
  </dgm:ptLst>
  <dgm:cxnLst>
    <dgm:cxn modelId="{57D9C21C-55D2-4A81-94C5-C3F8DAA8579B}" type="presOf" srcId="{EF85E227-2C46-46B0-8C25-15ED58A3377E}" destId="{BF7C867C-0ECC-4DC7-8F13-5617889C754B}" srcOrd="0" destOrd="0" presId="urn:microsoft.com/office/officeart/2011/layout/ThemePictureAlternatingAccent"/>
    <dgm:cxn modelId="{6C045D6C-4FFE-4CD9-AED8-CBDF1CD397D4}"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41463338-3CA6-4575-840B-734F49DC9BBA}" type="presParOf" srcId="{402BF6D5-BC22-4BEB-9027-2D822CD0A19A}" destId="{7F383395-A406-466B-9E8C-672150081A67}" srcOrd="0" destOrd="0" presId="urn:microsoft.com/office/officeart/2011/layout/ThemePictureAlternatingAccent"/>
    <dgm:cxn modelId="{2374E9D2-2CC5-4ADB-AE5A-07D4B25B66B9}" type="presParOf" srcId="{7F383395-A406-466B-9E8C-672150081A67}" destId="{63E8F094-BB29-4F1C-8DE8-869308440306}" srcOrd="0" destOrd="0" presId="urn:microsoft.com/office/officeart/2011/layout/ThemePictureAlternatingAccent"/>
    <dgm:cxn modelId="{41BBECD9-C19E-487A-9F74-20D82F35446C}" type="presParOf" srcId="{402BF6D5-BC22-4BEB-9027-2D822CD0A19A}" destId="{BF7C867C-0ECC-4DC7-8F13-5617889C754B}" srcOrd="1" destOrd="0" presId="urn:microsoft.com/office/officeart/2011/layout/ThemePictureAlternatingAccent"/>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6" y="0"/>
          <a:ext cx="12192012" cy="2651760"/>
        </a:xfrm>
        <a:prstGeom prst="rect">
          <a:avLst/>
        </a:prstGeom>
        <a:solidFill>
          <a:schemeClr val="accent1">
            <a:tint val="5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3948074" y="2327184"/>
          <a:ext cx="4295851" cy="30919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68580" tIns="22860" rIns="68580" bIns="22860" numCol="1" spcCol="1270" anchor="b" anchorCtr="0">
          <a:noAutofit/>
        </a:bodyPr>
        <a:lstStyle/>
        <a:p>
          <a:pPr marL="0" lvl="0" indent="0" algn="l" defTabSz="800100">
            <a:lnSpc>
              <a:spcPct val="90000"/>
            </a:lnSpc>
            <a:spcBef>
              <a:spcPct val="0"/>
            </a:spcBef>
            <a:spcAft>
              <a:spcPct val="35000"/>
            </a:spcAft>
            <a:buNone/>
          </a:pPr>
          <a:endParaRPr lang="en-US" sz="1800" kern="1200" dirty="0"/>
        </a:p>
      </dsp:txBody>
      <dsp:txXfrm>
        <a:off x="3948074" y="2327184"/>
        <a:ext cx="4295851" cy="3091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0" y="-3"/>
          <a:ext cx="2476501" cy="1587620"/>
        </a:xfrm>
        <a:prstGeom prst="rect">
          <a:avLst/>
        </a:prstGeom>
        <a:blipFill rotWithShape="1">
          <a:blip xmlns:r="http://schemas.openxmlformats.org/officeDocument/2006/relationships" r:embed="rId1"/>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0" y="1371045"/>
          <a:ext cx="2476501" cy="17824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12700" rIns="38100" bIns="12700" numCol="1" spcCol="1270" anchor="b" anchorCtr="0">
          <a:noAutofit/>
        </a:bodyPr>
        <a:lstStyle/>
        <a:p>
          <a:pPr marL="0" lvl="0" indent="0" algn="l" defTabSz="444500">
            <a:lnSpc>
              <a:spcPct val="90000"/>
            </a:lnSpc>
            <a:spcBef>
              <a:spcPct val="0"/>
            </a:spcBef>
            <a:spcAft>
              <a:spcPct val="35000"/>
            </a:spcAft>
            <a:buNone/>
          </a:pPr>
          <a:endParaRPr lang="en-US" sz="1000" kern="1200" dirty="0"/>
        </a:p>
      </dsp:txBody>
      <dsp:txXfrm>
        <a:off x="0" y="1371045"/>
        <a:ext cx="2476501" cy="1782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0" y="-3"/>
          <a:ext cx="2476501" cy="1587620"/>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0" y="1371045"/>
          <a:ext cx="2476501" cy="17824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12700" rIns="38100" bIns="12700" numCol="1" spcCol="1270" anchor="b" anchorCtr="0">
          <a:noAutofit/>
        </a:bodyPr>
        <a:lstStyle/>
        <a:p>
          <a:pPr marL="0" lvl="0" indent="0" algn="l" defTabSz="444500">
            <a:lnSpc>
              <a:spcPct val="90000"/>
            </a:lnSpc>
            <a:spcBef>
              <a:spcPct val="0"/>
            </a:spcBef>
            <a:spcAft>
              <a:spcPct val="35000"/>
            </a:spcAft>
            <a:buNone/>
          </a:pPr>
          <a:endParaRPr lang="en-US" sz="1000" kern="1200" dirty="0"/>
        </a:p>
      </dsp:txBody>
      <dsp:txXfrm>
        <a:off x="0" y="1371045"/>
        <a:ext cx="2476501" cy="178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0" y="-3"/>
          <a:ext cx="2476501" cy="1587620"/>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0" y="1371045"/>
          <a:ext cx="2476501" cy="17824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12700" rIns="38100" bIns="12700" numCol="1" spcCol="1270" anchor="b" anchorCtr="0">
          <a:noAutofit/>
        </a:bodyPr>
        <a:lstStyle/>
        <a:p>
          <a:pPr marL="0" lvl="0" indent="0" algn="l" defTabSz="444500">
            <a:lnSpc>
              <a:spcPct val="90000"/>
            </a:lnSpc>
            <a:spcBef>
              <a:spcPct val="0"/>
            </a:spcBef>
            <a:spcAft>
              <a:spcPct val="35000"/>
            </a:spcAft>
            <a:buNone/>
          </a:pPr>
          <a:endParaRPr lang="en-US" sz="1000" kern="1200" dirty="0"/>
        </a:p>
      </dsp:txBody>
      <dsp:txXfrm>
        <a:off x="0" y="1371045"/>
        <a:ext cx="2476501" cy="1782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0" y="-3"/>
          <a:ext cx="2476501" cy="1587620"/>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0" y="1371045"/>
          <a:ext cx="2476501" cy="17824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12700" rIns="38100" bIns="12700" numCol="1" spcCol="1270" anchor="b" anchorCtr="0">
          <a:noAutofit/>
        </a:bodyPr>
        <a:lstStyle/>
        <a:p>
          <a:pPr marL="0" lvl="0" indent="0" algn="l" defTabSz="444500">
            <a:lnSpc>
              <a:spcPct val="90000"/>
            </a:lnSpc>
            <a:spcBef>
              <a:spcPct val="0"/>
            </a:spcBef>
            <a:spcAft>
              <a:spcPct val="35000"/>
            </a:spcAft>
            <a:buNone/>
          </a:pPr>
          <a:endParaRPr lang="en-US" sz="1000" kern="1200" dirty="0"/>
        </a:p>
      </dsp:txBody>
      <dsp:txXfrm>
        <a:off x="0" y="1371045"/>
        <a:ext cx="2476501" cy="1782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0" y="-3"/>
          <a:ext cx="2476501" cy="1587620"/>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0" y="1371045"/>
          <a:ext cx="2476501" cy="17824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12700" rIns="38100" bIns="12700" numCol="1" spcCol="1270" anchor="b" anchorCtr="0">
          <a:noAutofit/>
        </a:bodyPr>
        <a:lstStyle/>
        <a:p>
          <a:pPr marL="0" lvl="0" indent="0" algn="l" defTabSz="444500">
            <a:lnSpc>
              <a:spcPct val="90000"/>
            </a:lnSpc>
            <a:spcBef>
              <a:spcPct val="0"/>
            </a:spcBef>
            <a:spcAft>
              <a:spcPct val="35000"/>
            </a:spcAft>
            <a:buNone/>
          </a:pPr>
          <a:endParaRPr lang="en-US" sz="1000" kern="1200" dirty="0"/>
        </a:p>
      </dsp:txBody>
      <dsp:txXfrm>
        <a:off x="0" y="1371045"/>
        <a:ext cx="2476501" cy="1782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8F094-BB29-4F1C-8DE8-869308440306}">
      <dsp:nvSpPr>
        <dsp:cNvPr id="0" name=""/>
        <dsp:cNvSpPr/>
      </dsp:nvSpPr>
      <dsp:spPr>
        <a:xfrm>
          <a:off x="0" y="-3"/>
          <a:ext cx="2476501" cy="1587620"/>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7C867C-0ECC-4DC7-8F13-5617889C754B}">
      <dsp:nvSpPr>
        <dsp:cNvPr id="0" name=""/>
        <dsp:cNvSpPr/>
      </dsp:nvSpPr>
      <dsp:spPr>
        <a:xfrm>
          <a:off x="0" y="1371045"/>
          <a:ext cx="2476501" cy="17824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12700" rIns="38100" bIns="12700" numCol="1" spcCol="1270" anchor="b" anchorCtr="0">
          <a:noAutofit/>
        </a:bodyPr>
        <a:lstStyle/>
        <a:p>
          <a:pPr marL="0" lvl="0" indent="0" algn="l" defTabSz="444500">
            <a:lnSpc>
              <a:spcPct val="90000"/>
            </a:lnSpc>
            <a:spcBef>
              <a:spcPct val="0"/>
            </a:spcBef>
            <a:spcAft>
              <a:spcPct val="35000"/>
            </a:spcAft>
            <a:buNone/>
          </a:pPr>
          <a:endParaRPr lang="en-US" sz="1000" kern="1200" dirty="0"/>
        </a:p>
      </dsp:txBody>
      <dsp:txXfrm>
        <a:off x="0" y="1371045"/>
        <a:ext cx="2476501" cy="178246"/>
      </dsp:txXfrm>
    </dsp:sp>
  </dsp:spTree>
</dsp:drawing>
</file>

<file path=ppt/diagrams/layout1.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AAFF2-D610-4957-B6B0-7D72B266B518}" type="datetimeFigureOut">
              <a:rPr lang="en-US" smtClean="0"/>
              <a:t>6/6/2022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73934-D492-4443-9427-018DE5D6DDA5}" type="slidenum">
              <a:rPr lang="en-US" smtClean="0"/>
              <a:t>‹#›</a:t>
            </a:fld>
            <a:endParaRPr lang="en-US"/>
          </a:p>
        </p:txBody>
      </p:sp>
    </p:spTree>
    <p:extLst>
      <p:ext uri="{BB962C8B-B14F-4D97-AF65-F5344CB8AC3E}">
        <p14:creationId xmlns:p14="http://schemas.microsoft.com/office/powerpoint/2010/main" val="3945539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1</a:t>
            </a:fld>
            <a:endParaRPr lang="en-US"/>
          </a:p>
        </p:txBody>
      </p:sp>
    </p:spTree>
    <p:extLst>
      <p:ext uri="{BB962C8B-B14F-4D97-AF65-F5344CB8AC3E}">
        <p14:creationId xmlns:p14="http://schemas.microsoft.com/office/powerpoint/2010/main" val="3348846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2</a:t>
            </a:fld>
            <a:endParaRPr lang="en-US"/>
          </a:p>
        </p:txBody>
      </p:sp>
    </p:spTree>
    <p:extLst>
      <p:ext uri="{BB962C8B-B14F-4D97-AF65-F5344CB8AC3E}">
        <p14:creationId xmlns:p14="http://schemas.microsoft.com/office/powerpoint/2010/main" val="1350676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Histogram will applied</a:t>
            </a:r>
            <a:r>
              <a:rPr lang="en-US" sz="1600" baseline="0" dirty="0"/>
              <a:t> on transformation phase</a:t>
            </a:r>
            <a:endParaRPr lang="en-US" sz="1600" dirty="0"/>
          </a:p>
        </p:txBody>
      </p:sp>
      <p:sp>
        <p:nvSpPr>
          <p:cNvPr id="4" name="Slide Number Placeholder 3"/>
          <p:cNvSpPr>
            <a:spLocks noGrp="1"/>
          </p:cNvSpPr>
          <p:nvPr>
            <p:ph type="sldNum" sz="quarter" idx="10"/>
          </p:nvPr>
        </p:nvSpPr>
        <p:spPr/>
        <p:txBody>
          <a:bodyPr/>
          <a:lstStyle/>
          <a:p>
            <a:fld id="{45C73934-D492-4443-9427-018DE5D6DDA5}" type="slidenum">
              <a:rPr lang="en-US" smtClean="0"/>
              <a:t>3</a:t>
            </a:fld>
            <a:endParaRPr lang="en-US"/>
          </a:p>
        </p:txBody>
      </p:sp>
    </p:spTree>
    <p:extLst>
      <p:ext uri="{BB962C8B-B14F-4D97-AF65-F5344CB8AC3E}">
        <p14:creationId xmlns:p14="http://schemas.microsoft.com/office/powerpoint/2010/main" val="3522506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4</a:t>
            </a:fld>
            <a:endParaRPr lang="en-US" dirty="0"/>
          </a:p>
        </p:txBody>
      </p:sp>
    </p:spTree>
    <p:extLst>
      <p:ext uri="{BB962C8B-B14F-4D97-AF65-F5344CB8AC3E}">
        <p14:creationId xmlns:p14="http://schemas.microsoft.com/office/powerpoint/2010/main" val="3352115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chart:</a:t>
            </a:r>
          </a:p>
          <a:p>
            <a:pPr marL="171450" indent="-171450">
              <a:buFont typeface="Arial" panose="020B0604020202020204" pitchFamily="34" charset="0"/>
              <a:buChar char="•"/>
            </a:pPr>
            <a:r>
              <a:rPr lang="en-US" dirty="0"/>
              <a:t>X axis shows the States name</a:t>
            </a:r>
          </a:p>
          <a:p>
            <a:pPr marL="171450" indent="-171450">
              <a:buFont typeface="Arial" panose="020B0604020202020204" pitchFamily="34" charset="0"/>
              <a:buChar char="•"/>
            </a:pPr>
            <a:r>
              <a:rPr lang="en-US" dirty="0"/>
              <a:t>Y</a:t>
            </a:r>
            <a:r>
              <a:rPr lang="en-US" baseline="0" dirty="0"/>
              <a:t> axis shows the average income</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baseline="0" dirty="0"/>
              <a:t>But on Histogram chart:</a:t>
            </a:r>
          </a:p>
          <a:p>
            <a:pPr marL="171450" indent="-171450">
              <a:buFont typeface="Arial" panose="020B0604020202020204" pitchFamily="34" charset="0"/>
              <a:buChar char="•"/>
            </a:pPr>
            <a:r>
              <a:rPr lang="en-US" baseline="0" dirty="0"/>
              <a:t>X axis shows the range of age group</a:t>
            </a:r>
          </a:p>
          <a:p>
            <a:pPr marL="171450" indent="-171450">
              <a:buFont typeface="Arial" panose="020B0604020202020204" pitchFamily="34" charset="0"/>
              <a:buChar char="•"/>
            </a:pPr>
            <a:r>
              <a:rPr lang="en-US" baseline="0" dirty="0"/>
              <a:t>Y axis shows the average income</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6</a:t>
            </a:fld>
            <a:endParaRPr lang="en-US"/>
          </a:p>
        </p:txBody>
      </p:sp>
    </p:spTree>
    <p:extLst>
      <p:ext uri="{BB962C8B-B14F-4D97-AF65-F5344CB8AC3E}">
        <p14:creationId xmlns:p14="http://schemas.microsoft.com/office/powerpoint/2010/main" val="1795856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a:t>
            </a:r>
            <a:r>
              <a:rPr lang="en-US" baseline="0" dirty="0"/>
              <a:t> Figure shows raw data of Flick distance of one user. Histogram can simplify the large data by organizing each value to the range</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7</a:t>
            </a:fld>
            <a:endParaRPr lang="en-US"/>
          </a:p>
        </p:txBody>
      </p:sp>
    </p:spTree>
    <p:extLst>
      <p:ext uri="{BB962C8B-B14F-4D97-AF65-F5344CB8AC3E}">
        <p14:creationId xmlns:p14="http://schemas.microsoft.com/office/powerpoint/2010/main" val="940836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a:t>
            </a:r>
            <a:r>
              <a:rPr lang="en-US" baseline="0" dirty="0"/>
              <a:t> can use histogram to visualize two or more large data distribution. </a:t>
            </a:r>
          </a:p>
          <a:p>
            <a:r>
              <a:rPr lang="en-US" baseline="0" dirty="0"/>
              <a:t>For example, Red histogram represent data distribution of User 1 and Green represent data distribution of user B.</a:t>
            </a:r>
          </a:p>
          <a:p>
            <a:r>
              <a:rPr lang="en-US" baseline="0" dirty="0"/>
              <a:t>From this histogram you can easily distinguish behavior of two different user.</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8</a:t>
            </a:fld>
            <a:endParaRPr lang="en-US"/>
          </a:p>
        </p:txBody>
      </p:sp>
    </p:spTree>
    <p:extLst>
      <p:ext uri="{BB962C8B-B14F-4D97-AF65-F5344CB8AC3E}">
        <p14:creationId xmlns:p14="http://schemas.microsoft.com/office/powerpoint/2010/main" val="754994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Visualize the</a:t>
            </a:r>
            <a:r>
              <a:rPr lang="en-US" baseline="0" dirty="0"/>
              <a:t> histogram and add </a:t>
            </a:r>
            <a:r>
              <a:rPr lang="en-US" dirty="0"/>
              <a:t>specification</a:t>
            </a:r>
            <a:r>
              <a:rPr lang="en-US" baseline="0" dirty="0"/>
              <a:t> limits, you can easily determine which data distribution that meet the specification and which data that out of </a:t>
            </a:r>
            <a:r>
              <a:rPr lang="en-US" baseline="0" dirty="0" err="1"/>
              <a:t>spesification</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9</a:t>
            </a:fld>
            <a:endParaRPr lang="en-US"/>
          </a:p>
        </p:txBody>
      </p:sp>
    </p:spTree>
    <p:extLst>
      <p:ext uri="{BB962C8B-B14F-4D97-AF65-F5344CB8AC3E}">
        <p14:creationId xmlns:p14="http://schemas.microsoft.com/office/powerpoint/2010/main" val="1794556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a:t>
            </a:r>
            <a:r>
              <a:rPr lang="en-US" baseline="0" dirty="0"/>
              <a:t> than calculate classification with large feature data, we can transform the feature data to histogram and than do the classification. It will decrease computation cost.</a:t>
            </a:r>
          </a:p>
          <a:p>
            <a:r>
              <a:rPr lang="en-US" baseline="0" dirty="0"/>
              <a:t>For example, </a:t>
            </a:r>
          </a:p>
          <a:p>
            <a:r>
              <a:rPr lang="en-US" dirty="0"/>
              <a:t>Suppose we have training</a:t>
            </a:r>
            <a:r>
              <a:rPr lang="en-US" baseline="0" dirty="0"/>
              <a:t> data like this, and we have testing data like this, so which testing data that have most similarity to training data.</a:t>
            </a:r>
          </a:p>
          <a:p>
            <a:r>
              <a:rPr lang="en-US" baseline="0" dirty="0"/>
              <a:t>We can calculate the similarity with distance measurement formula like Euclidean </a:t>
            </a:r>
            <a:r>
              <a:rPr lang="en-US" baseline="0" dirty="0" err="1"/>
              <a:t>dist</a:t>
            </a:r>
            <a:r>
              <a:rPr lang="en-US" baseline="0" dirty="0"/>
              <a:t>, KL div, and EMD. Further explanation of each distance formula will be explained by </a:t>
            </a:r>
            <a:r>
              <a:rPr lang="en-US" baseline="0" dirty="0" err="1"/>
              <a:t>robi</a:t>
            </a:r>
            <a:r>
              <a:rPr lang="en-US" baseline="0" dirty="0"/>
              <a:t> in next session</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10</a:t>
            </a:fld>
            <a:endParaRPr lang="en-US"/>
          </a:p>
        </p:txBody>
      </p:sp>
    </p:spTree>
    <p:extLst>
      <p:ext uri="{BB962C8B-B14F-4D97-AF65-F5344CB8AC3E}">
        <p14:creationId xmlns:p14="http://schemas.microsoft.com/office/powerpoint/2010/main" val="3300613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a:t>
            </a:r>
            <a:r>
              <a:rPr lang="en-US" baseline="0" dirty="0"/>
              <a:t> variation of histogram pattern. You can use histogram pattern to analyze characteristic of your data distribution</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12</a:t>
            </a:fld>
            <a:endParaRPr lang="en-US"/>
          </a:p>
        </p:txBody>
      </p:sp>
    </p:spTree>
    <p:extLst>
      <p:ext uri="{BB962C8B-B14F-4D97-AF65-F5344CB8AC3E}">
        <p14:creationId xmlns:p14="http://schemas.microsoft.com/office/powerpoint/2010/main" val="2431450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a:t>
            </a:r>
            <a:r>
              <a:rPr lang="en-US" baseline="0" dirty="0"/>
              <a:t> each data into bin. In this case 1 bin will consist data in range of 0.005. we can call it bin size. Bin size will determine the interval in one bin.</a:t>
            </a:r>
          </a:p>
          <a:p>
            <a:r>
              <a:rPr lang="en-US" dirty="0"/>
              <a:t>We put each</a:t>
            </a:r>
            <a:r>
              <a:rPr lang="en-US" baseline="0" dirty="0"/>
              <a:t> data to the each bin. You can summarize the data by tally method.</a:t>
            </a:r>
          </a:p>
          <a:p>
            <a:r>
              <a:rPr lang="en-US" baseline="0" dirty="0"/>
              <a:t>After you summarize the data, draw the histogram based on each bin count. </a:t>
            </a:r>
          </a:p>
        </p:txBody>
      </p:sp>
      <p:sp>
        <p:nvSpPr>
          <p:cNvPr id="4" name="Slide Number Placeholder 3"/>
          <p:cNvSpPr>
            <a:spLocks noGrp="1"/>
          </p:cNvSpPr>
          <p:nvPr>
            <p:ph type="sldNum" sz="quarter" idx="10"/>
          </p:nvPr>
        </p:nvSpPr>
        <p:spPr/>
        <p:txBody>
          <a:bodyPr/>
          <a:lstStyle/>
          <a:p>
            <a:fld id="{45C73934-D492-4443-9427-018DE5D6DDA5}"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1628544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 question is, how</a:t>
            </a:r>
            <a:r>
              <a:rPr lang="en-US" baseline="0" dirty="0"/>
              <a:t> we determine the correct bin size in your histogram.</a:t>
            </a:r>
          </a:p>
          <a:p>
            <a:r>
              <a:rPr lang="en-US" baseline="0" dirty="0"/>
              <a:t>The answer is </a:t>
            </a:r>
            <a:r>
              <a:rPr lang="en-US" sz="1200" b="0" i="0" kern="1200" dirty="0">
                <a:solidFill>
                  <a:schemeClr val="tx1"/>
                </a:solidFill>
                <a:effectLst/>
                <a:latin typeface="+mn-lt"/>
                <a:ea typeface="+mn-ea"/>
                <a:cs typeface="+mn-cs"/>
              </a:rPr>
              <a:t>no "best" number of bins, and different bin sizes can reveal different features of the data.</a:t>
            </a:r>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t>14</a:t>
            </a:fld>
            <a:endParaRPr lang="en-US"/>
          </a:p>
        </p:txBody>
      </p:sp>
    </p:spTree>
    <p:extLst>
      <p:ext uri="{BB962C8B-B14F-4D97-AF65-F5344CB8AC3E}">
        <p14:creationId xmlns:p14="http://schemas.microsoft.com/office/powerpoint/2010/main" val="813778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a:t>
            </a:r>
            <a:r>
              <a:rPr lang="en-US" baseline="0" dirty="0"/>
              <a:t> each data into bin. In this case 1 bin will consist data in range of 0.005. we can call it bin size. Bin size will determine the interval in one bin.</a:t>
            </a:r>
          </a:p>
          <a:p>
            <a:r>
              <a:rPr lang="en-US" dirty="0"/>
              <a:t>We put each</a:t>
            </a:r>
            <a:r>
              <a:rPr lang="en-US" baseline="0" dirty="0"/>
              <a:t> data to the each bin. You can summarize the data by tally method.</a:t>
            </a:r>
          </a:p>
          <a:p>
            <a:r>
              <a:rPr lang="en-US" baseline="0" dirty="0"/>
              <a:t>After you summarize the data, draw the histogram based on each bin count. </a:t>
            </a:r>
          </a:p>
        </p:txBody>
      </p:sp>
      <p:sp>
        <p:nvSpPr>
          <p:cNvPr id="4" name="Slide Number Placeholder 3"/>
          <p:cNvSpPr>
            <a:spLocks noGrp="1"/>
          </p:cNvSpPr>
          <p:nvPr>
            <p:ph type="sldNum" sz="quarter" idx="10"/>
          </p:nvPr>
        </p:nvSpPr>
        <p:spPr/>
        <p:txBody>
          <a:bodyPr/>
          <a:lstStyle/>
          <a:p>
            <a:fld id="{45C73934-D492-4443-9427-018DE5D6DDA5}"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3913409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the distance between</a:t>
            </a:r>
            <a:r>
              <a:rPr lang="en-US" baseline="0" dirty="0"/>
              <a:t> training and testing data on same person will shorter rather than we use original histogram.</a:t>
            </a:r>
          </a:p>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3745466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3714040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741203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C73934-D492-4443-9427-018DE5D6DDA5}"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1992264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ED4C3CB-8FCE-4E6E-8BD4-52AFDB958BF7}" type="slidenum">
              <a:rPr lang="en-US" smtClean="0"/>
              <a:t>‹#›</a:t>
            </a:fld>
            <a:endParaRPr lang="en-US" dirty="0"/>
          </a:p>
        </p:txBody>
      </p:sp>
    </p:spTree>
    <p:extLst>
      <p:ext uri="{BB962C8B-B14F-4D97-AF65-F5344CB8AC3E}">
        <p14:creationId xmlns:p14="http://schemas.microsoft.com/office/powerpoint/2010/main" val="1896419649"/>
      </p:ext>
    </p:extLst>
  </p:cSld>
  <p:clrMapOvr>
    <a:masterClrMapping/>
  </p:clrMapOvr>
  <p:transition spd="slow" advClick="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Wide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1" y="942806"/>
            <a:ext cx="10984556"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
        <p:nvSpPr>
          <p:cNvPr id="3" name="Content Placeholder 2"/>
          <p:cNvSpPr>
            <a:spLocks noGrp="1"/>
          </p:cNvSpPr>
          <p:nvPr>
            <p:ph sz="quarter" idx="12"/>
          </p:nvPr>
        </p:nvSpPr>
        <p:spPr>
          <a:xfrm>
            <a:off x="531939" y="2005873"/>
            <a:ext cx="10984557" cy="4127500"/>
          </a:xfrm>
          <a:prstGeom prst="rect">
            <a:avLst/>
          </a:prstGeom>
        </p:spPr>
        <p:txBody>
          <a:bodyPr numCol="1" spcCol="365760"/>
          <a:lstStyle>
            <a:lvl1pPr marL="0" indent="0" algn="just">
              <a:buNone/>
              <a:defRPr sz="1600">
                <a:solidFill>
                  <a:schemeClr val="tx1">
                    <a:lumMod val="75000"/>
                    <a:lumOff val="25000"/>
                  </a:schemeClr>
                </a:solidFill>
                <a:latin typeface="Lato" panose="020F0502020204030203" pitchFamily="34" charset="0"/>
              </a:defRPr>
            </a:lvl1pPr>
            <a:lvl2pPr marL="457200" indent="0" algn="just">
              <a:buNone/>
              <a:defRPr sz="1600">
                <a:solidFill>
                  <a:schemeClr val="tx1">
                    <a:lumMod val="75000"/>
                    <a:lumOff val="25000"/>
                  </a:schemeClr>
                </a:solidFill>
                <a:latin typeface="Lato" panose="020F0502020204030203" pitchFamily="34" charset="0"/>
              </a:defRPr>
            </a:lvl2pPr>
            <a:lvl3pPr marL="914400" indent="0" algn="just">
              <a:buNone/>
              <a:defRPr sz="1600">
                <a:solidFill>
                  <a:schemeClr val="tx1">
                    <a:lumMod val="75000"/>
                    <a:lumOff val="25000"/>
                  </a:schemeClr>
                </a:solidFill>
                <a:latin typeface="Lato" panose="020F0502020204030203" pitchFamily="34" charset="0"/>
              </a:defRPr>
            </a:lvl3pPr>
            <a:lvl4pPr marL="1371600" indent="0" algn="just">
              <a:buNone/>
              <a:defRPr sz="1600">
                <a:solidFill>
                  <a:schemeClr val="tx1">
                    <a:lumMod val="75000"/>
                    <a:lumOff val="25000"/>
                  </a:schemeClr>
                </a:solidFill>
                <a:latin typeface="Lato" panose="020F0502020204030203" pitchFamily="34" charset="0"/>
              </a:defRPr>
            </a:lvl4pPr>
            <a:lvl5pPr marL="1828800" indent="0" algn="just">
              <a:buNone/>
              <a:defRPr sz="1600">
                <a:solidFill>
                  <a:schemeClr val="tx1">
                    <a:lumMod val="75000"/>
                    <a:lumOff val="25000"/>
                  </a:schemeClr>
                </a:solidFill>
                <a:latin typeface="Lato" panose="020F0502020204030203" pitchFamily="34" charset="0"/>
              </a:defRPr>
            </a:lvl5pPr>
          </a:lstStyle>
          <a:p>
            <a:pPr lvl="0"/>
            <a:endParaRPr lang="en-US" dirty="0"/>
          </a:p>
        </p:txBody>
      </p:sp>
      <p:sp>
        <p:nvSpPr>
          <p:cNvPr id="6" name="Content Placeholder 2"/>
          <p:cNvSpPr>
            <a:spLocks noGrp="1"/>
          </p:cNvSpPr>
          <p:nvPr>
            <p:ph sz="quarter" idx="13"/>
          </p:nvPr>
        </p:nvSpPr>
        <p:spPr>
          <a:xfrm>
            <a:off x="531939" y="1402454"/>
            <a:ext cx="10984557" cy="572570"/>
          </a:xfrm>
          <a:prstGeom prst="rect">
            <a:avLst/>
          </a:prstGeom>
        </p:spPr>
        <p:txBody>
          <a:bodyPr/>
          <a:lstStyle>
            <a:lvl1pPr marL="0" indent="0">
              <a:buNone/>
              <a:defRPr sz="1600">
                <a:solidFill>
                  <a:schemeClr val="tx1">
                    <a:lumMod val="75000"/>
                    <a:lumOff val="25000"/>
                  </a:schemeClr>
                </a:solidFill>
                <a:latin typeface="Lato" panose="020F050202020403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7" name="Slide Number Placeholder 5"/>
          <p:cNvSpPr>
            <a:spLocks noGrp="1"/>
          </p:cNvSpPr>
          <p:nvPr>
            <p:ph type="sldNum" sz="quarter" idx="14"/>
          </p:nvPr>
        </p:nvSpPr>
        <p:spPr>
          <a:xfrm>
            <a:off x="9238397" y="122858"/>
            <a:ext cx="2743200" cy="365125"/>
          </a:xfrm>
          <a:prstGeom prst="rect">
            <a:avLst/>
          </a:prstGeom>
        </p:spPr>
        <p:txBody>
          <a:bodyPr/>
          <a:lstStyle/>
          <a:p>
            <a:fld id="{2ED4C3CB-8FCE-4E6E-8BD4-52AFDB958BF7}" type="slidenum">
              <a:rPr lang="en-US" smtClean="0"/>
              <a:t>‹#›</a:t>
            </a:fld>
            <a:endParaRPr lang="en-US" dirty="0"/>
          </a:p>
        </p:txBody>
      </p:sp>
    </p:spTree>
    <p:extLst>
      <p:ext uri="{BB962C8B-B14F-4D97-AF65-F5344CB8AC3E}">
        <p14:creationId xmlns:p14="http://schemas.microsoft.com/office/powerpoint/2010/main" val="38458187"/>
      </p:ext>
    </p:extLst>
  </p:cSld>
  <p:clrMapOvr>
    <a:masterClrMapping/>
  </p:clrMapOvr>
  <p:transition spd="slow" advClick="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0" y="942806"/>
            <a:ext cx="10984557"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Tree>
    <p:extLst>
      <p:ext uri="{BB962C8B-B14F-4D97-AF65-F5344CB8AC3E}">
        <p14:creationId xmlns:p14="http://schemas.microsoft.com/office/powerpoint/2010/main" val="3360612277"/>
      </p:ext>
    </p:extLst>
  </p:cSld>
  <p:clrMapOvr>
    <a:masterClrMapping/>
  </p:clrMapOvr>
  <p:transition spd="slow" advClick="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0" y="942806"/>
            <a:ext cx="10984557"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Tree>
    <p:extLst>
      <p:ext uri="{BB962C8B-B14F-4D97-AF65-F5344CB8AC3E}">
        <p14:creationId xmlns:p14="http://schemas.microsoft.com/office/powerpoint/2010/main" val="1304473373"/>
      </p:ext>
    </p:extLst>
  </p:cSld>
  <p:clrMapOvr>
    <a:masterClrMapping/>
  </p:clrMapOvr>
  <p:transition spd="slow" advClick="0">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2 Col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1" y="942806"/>
            <a:ext cx="10984556"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
        <p:nvSpPr>
          <p:cNvPr id="3" name="Content Placeholder 2"/>
          <p:cNvSpPr>
            <a:spLocks noGrp="1"/>
          </p:cNvSpPr>
          <p:nvPr>
            <p:ph sz="quarter" idx="12"/>
          </p:nvPr>
        </p:nvSpPr>
        <p:spPr>
          <a:xfrm>
            <a:off x="531939" y="2005873"/>
            <a:ext cx="10984557" cy="4127500"/>
          </a:xfrm>
          <a:prstGeom prst="rect">
            <a:avLst/>
          </a:prstGeom>
        </p:spPr>
        <p:txBody>
          <a:bodyPr numCol="2" spcCol="365760"/>
          <a:lstStyle>
            <a:lvl1pPr marL="0" indent="0" algn="just">
              <a:buNone/>
              <a:defRPr sz="1600">
                <a:solidFill>
                  <a:schemeClr val="tx1">
                    <a:lumMod val="75000"/>
                    <a:lumOff val="25000"/>
                  </a:schemeClr>
                </a:solidFill>
                <a:latin typeface="Lato" panose="020F0502020204030203" pitchFamily="34" charset="0"/>
              </a:defRPr>
            </a:lvl1pPr>
            <a:lvl2pPr marL="457200" indent="0" algn="just">
              <a:buNone/>
              <a:defRPr sz="1600">
                <a:solidFill>
                  <a:schemeClr val="tx1">
                    <a:lumMod val="75000"/>
                    <a:lumOff val="25000"/>
                  </a:schemeClr>
                </a:solidFill>
                <a:latin typeface="Lato" panose="020F0502020204030203" pitchFamily="34" charset="0"/>
              </a:defRPr>
            </a:lvl2pPr>
            <a:lvl3pPr marL="914400" indent="0" algn="just">
              <a:buNone/>
              <a:defRPr sz="1600">
                <a:solidFill>
                  <a:schemeClr val="tx1">
                    <a:lumMod val="75000"/>
                    <a:lumOff val="25000"/>
                  </a:schemeClr>
                </a:solidFill>
                <a:latin typeface="Lato" panose="020F0502020204030203" pitchFamily="34" charset="0"/>
              </a:defRPr>
            </a:lvl3pPr>
            <a:lvl4pPr marL="1371600" indent="0" algn="just">
              <a:buNone/>
              <a:defRPr sz="1600">
                <a:solidFill>
                  <a:schemeClr val="tx1">
                    <a:lumMod val="75000"/>
                    <a:lumOff val="25000"/>
                  </a:schemeClr>
                </a:solidFill>
                <a:latin typeface="Lato" panose="020F0502020204030203" pitchFamily="34" charset="0"/>
              </a:defRPr>
            </a:lvl4pPr>
            <a:lvl5pPr marL="1828800" indent="0" algn="just">
              <a:buNone/>
              <a:defRPr sz="1600">
                <a:solidFill>
                  <a:schemeClr val="tx1">
                    <a:lumMod val="75000"/>
                    <a:lumOff val="25000"/>
                  </a:schemeClr>
                </a:solidFill>
                <a:latin typeface="Lato" panose="020F0502020204030203" pitchFamily="34" charset="0"/>
              </a:defRPr>
            </a:lvl5pPr>
          </a:lstStyle>
          <a:p>
            <a:pPr lvl="0"/>
            <a:endParaRPr lang="en-US" dirty="0"/>
          </a:p>
        </p:txBody>
      </p:sp>
      <p:sp>
        <p:nvSpPr>
          <p:cNvPr id="6" name="Content Placeholder 2"/>
          <p:cNvSpPr>
            <a:spLocks noGrp="1"/>
          </p:cNvSpPr>
          <p:nvPr>
            <p:ph sz="quarter" idx="13"/>
          </p:nvPr>
        </p:nvSpPr>
        <p:spPr>
          <a:xfrm>
            <a:off x="531939" y="1402454"/>
            <a:ext cx="10984557" cy="572570"/>
          </a:xfrm>
          <a:prstGeom prst="rect">
            <a:avLst/>
          </a:prstGeom>
        </p:spPr>
        <p:txBody>
          <a:bodyPr/>
          <a:lstStyle>
            <a:lvl1pPr marL="0" indent="0">
              <a:buNone/>
              <a:defRPr sz="1600">
                <a:solidFill>
                  <a:schemeClr val="tx1">
                    <a:lumMod val="75000"/>
                    <a:lumOff val="25000"/>
                  </a:schemeClr>
                </a:solidFill>
                <a:latin typeface="Lato" panose="020F050202020403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Tree>
    <p:extLst>
      <p:ext uri="{BB962C8B-B14F-4D97-AF65-F5344CB8AC3E}">
        <p14:creationId xmlns:p14="http://schemas.microsoft.com/office/powerpoint/2010/main" val="3774233977"/>
      </p:ext>
    </p:extLst>
  </p:cSld>
  <p:clrMapOvr>
    <a:masterClrMapping/>
  </p:clrMapOvr>
  <p:transition spd="slow" advClick="0">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1" y="942806"/>
            <a:ext cx="10984556"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
        <p:nvSpPr>
          <p:cNvPr id="3" name="Content Placeholder 2"/>
          <p:cNvSpPr>
            <a:spLocks noGrp="1"/>
          </p:cNvSpPr>
          <p:nvPr>
            <p:ph sz="quarter" idx="12"/>
          </p:nvPr>
        </p:nvSpPr>
        <p:spPr>
          <a:xfrm>
            <a:off x="531939" y="2005873"/>
            <a:ext cx="10984557" cy="4127500"/>
          </a:xfrm>
          <a:prstGeom prst="rect">
            <a:avLst/>
          </a:prstGeom>
        </p:spPr>
        <p:txBody>
          <a:bodyPr numCol="3" spcCol="365760"/>
          <a:lstStyle>
            <a:lvl1pPr marL="0" indent="0" algn="just">
              <a:buNone/>
              <a:defRPr sz="1600">
                <a:solidFill>
                  <a:schemeClr val="tx1">
                    <a:lumMod val="75000"/>
                    <a:lumOff val="25000"/>
                  </a:schemeClr>
                </a:solidFill>
                <a:latin typeface="Lato" panose="020F0502020204030203" pitchFamily="34" charset="0"/>
              </a:defRPr>
            </a:lvl1pPr>
            <a:lvl2pPr marL="457200" indent="0" algn="just">
              <a:buNone/>
              <a:defRPr sz="1600">
                <a:solidFill>
                  <a:schemeClr val="tx1">
                    <a:lumMod val="75000"/>
                    <a:lumOff val="25000"/>
                  </a:schemeClr>
                </a:solidFill>
                <a:latin typeface="Lato" panose="020F0502020204030203" pitchFamily="34" charset="0"/>
              </a:defRPr>
            </a:lvl2pPr>
            <a:lvl3pPr marL="914400" indent="0" algn="just">
              <a:buNone/>
              <a:defRPr sz="1600">
                <a:solidFill>
                  <a:schemeClr val="tx1">
                    <a:lumMod val="75000"/>
                    <a:lumOff val="25000"/>
                  </a:schemeClr>
                </a:solidFill>
                <a:latin typeface="Lato" panose="020F0502020204030203" pitchFamily="34" charset="0"/>
              </a:defRPr>
            </a:lvl3pPr>
            <a:lvl4pPr marL="1371600" indent="0" algn="just">
              <a:buNone/>
              <a:defRPr sz="1600">
                <a:solidFill>
                  <a:schemeClr val="tx1">
                    <a:lumMod val="75000"/>
                    <a:lumOff val="25000"/>
                  </a:schemeClr>
                </a:solidFill>
                <a:latin typeface="Lato" panose="020F0502020204030203" pitchFamily="34" charset="0"/>
              </a:defRPr>
            </a:lvl4pPr>
            <a:lvl5pPr marL="1828800" indent="0" algn="just">
              <a:buNone/>
              <a:defRPr sz="1600">
                <a:solidFill>
                  <a:schemeClr val="tx1">
                    <a:lumMod val="75000"/>
                    <a:lumOff val="25000"/>
                  </a:schemeClr>
                </a:solidFill>
                <a:latin typeface="Lato" panose="020F0502020204030203" pitchFamily="34" charset="0"/>
              </a:defRPr>
            </a:lvl5pPr>
          </a:lstStyle>
          <a:p>
            <a:pPr lvl="0"/>
            <a:endParaRPr lang="en-US" dirty="0"/>
          </a:p>
        </p:txBody>
      </p:sp>
      <p:sp>
        <p:nvSpPr>
          <p:cNvPr id="6" name="Content Placeholder 2"/>
          <p:cNvSpPr>
            <a:spLocks noGrp="1"/>
          </p:cNvSpPr>
          <p:nvPr>
            <p:ph sz="quarter" idx="13"/>
          </p:nvPr>
        </p:nvSpPr>
        <p:spPr>
          <a:xfrm>
            <a:off x="531939" y="1402454"/>
            <a:ext cx="10984557" cy="572570"/>
          </a:xfrm>
          <a:prstGeom prst="rect">
            <a:avLst/>
          </a:prstGeom>
        </p:spPr>
        <p:txBody>
          <a:bodyPr/>
          <a:lstStyle>
            <a:lvl1pPr marL="0" indent="0">
              <a:buNone/>
              <a:defRPr sz="1600">
                <a:solidFill>
                  <a:schemeClr val="tx1">
                    <a:lumMod val="75000"/>
                    <a:lumOff val="25000"/>
                  </a:schemeClr>
                </a:solidFill>
                <a:latin typeface="Lato" panose="020F050202020403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Tree>
    <p:extLst>
      <p:ext uri="{BB962C8B-B14F-4D97-AF65-F5344CB8AC3E}">
        <p14:creationId xmlns:p14="http://schemas.microsoft.com/office/powerpoint/2010/main" val="2162621034"/>
      </p:ext>
    </p:extLst>
  </p:cSld>
  <p:clrMapOvr>
    <a:masterClrMapping/>
  </p:clrMapOvr>
  <p:transition spd="slow" advClick="0">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0" y="942806"/>
            <a:ext cx="10984557"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
        <p:nvSpPr>
          <p:cNvPr id="4" name="Slide Number Placeholder 5"/>
          <p:cNvSpPr>
            <a:spLocks noGrp="1"/>
          </p:cNvSpPr>
          <p:nvPr>
            <p:ph type="sldNum" sz="quarter" idx="12"/>
          </p:nvPr>
        </p:nvSpPr>
        <p:spPr>
          <a:xfrm>
            <a:off x="162886" y="6347961"/>
            <a:ext cx="2743200" cy="365125"/>
          </a:xfrm>
          <a:prstGeom prst="rect">
            <a:avLst/>
          </a:prstGeom>
        </p:spPr>
        <p:txBody>
          <a:bodyPr/>
          <a:lstStyle/>
          <a:p>
            <a:fld id="{2ED4C3CB-8FCE-4E6E-8BD4-52AFDB958BF7}" type="slidenum">
              <a:rPr lang="en-US" smtClean="0"/>
              <a:t>‹#›</a:t>
            </a:fld>
            <a:endParaRPr lang="en-US" dirty="0"/>
          </a:p>
        </p:txBody>
      </p:sp>
    </p:spTree>
    <p:extLst>
      <p:ext uri="{BB962C8B-B14F-4D97-AF65-F5344CB8AC3E}">
        <p14:creationId xmlns:p14="http://schemas.microsoft.com/office/powerpoint/2010/main" val="1015362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6299200" cy="6858000"/>
          </a:xfrm>
          <a:prstGeom prst="rect">
            <a:avLst/>
          </a:prstGeom>
        </p:spPr>
        <p:txBody>
          <a:bodyPr/>
          <a:lstStyle>
            <a:lvl1pPr marL="0" indent="0">
              <a:buNone/>
              <a:defRPr baseline="0">
                <a:solidFill>
                  <a:schemeClr val="bg1">
                    <a:lumMod val="85000"/>
                  </a:schemeClr>
                </a:solidFill>
              </a:defRPr>
            </a:lvl1pPr>
          </a:lstStyle>
          <a:p>
            <a:r>
              <a:rPr lang="en-US" dirty="0"/>
              <a:t>Insert your picture here</a:t>
            </a:r>
          </a:p>
        </p:txBody>
      </p:sp>
    </p:spTree>
    <p:extLst>
      <p:ext uri="{BB962C8B-B14F-4D97-AF65-F5344CB8AC3E}">
        <p14:creationId xmlns:p14="http://schemas.microsoft.com/office/powerpoint/2010/main" val="3478639989"/>
      </p:ext>
    </p:extLst>
  </p:cSld>
  <p:clrMapOvr>
    <a:masterClrMapping/>
  </p:clrMapOvr>
  <p:transition spd="slow" advClick="0">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9669113"/>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8" r:id="rId3"/>
    <p:sldLayoutId id="2147483669" r:id="rId4"/>
    <p:sldLayoutId id="2147483703" r:id="rId5"/>
    <p:sldLayoutId id="2147483704" r:id="rId6"/>
    <p:sldLayoutId id="2147483705" r:id="rId7"/>
  </p:sldLayoutIdLst>
  <p:transition spd="slow" advClick="0">
    <p:push dir="u"/>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3" name="Rectangle 22"/>
          <p:cNvSpPr/>
          <p:nvPr userDrawn="1"/>
        </p:nvSpPr>
        <p:spPr>
          <a:xfrm>
            <a:off x="6299200" y="0"/>
            <a:ext cx="58928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2" name="Straight Connector 11"/>
          <p:cNvCxnSpPr/>
          <p:nvPr userDrawn="1"/>
        </p:nvCxnSpPr>
        <p:spPr>
          <a:xfrm flipH="1">
            <a:off x="9657158" y="6467209"/>
            <a:ext cx="1147763" cy="26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userDrawn="1"/>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TextBox 16"/>
          <p:cNvSpPr txBox="1"/>
          <p:nvPr userDrawn="1"/>
        </p:nvSpPr>
        <p:spPr>
          <a:xfrm>
            <a:off x="8043585" y="6512928"/>
            <a:ext cx="3952290"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www.yourwebsite.com</a:t>
            </a:r>
          </a:p>
        </p:txBody>
      </p:sp>
    </p:spTree>
    <p:extLst>
      <p:ext uri="{BB962C8B-B14F-4D97-AF65-F5344CB8AC3E}">
        <p14:creationId xmlns:p14="http://schemas.microsoft.com/office/powerpoint/2010/main" val="3771122643"/>
      </p:ext>
    </p:extLst>
  </p:cSld>
  <p:clrMap bg1="lt1" tx1="dk1" bg2="lt2" tx2="dk2" accent1="accent1" accent2="accent2" accent3="accent3" accent4="accent4" accent5="accent5" accent6="accent6" hlink="hlink" folHlink="folHlink"/>
  <p:sldLayoutIdLst>
    <p:sldLayoutId id="2147483699" r:id="rId1"/>
  </p:sldLayoutIdLst>
  <p:transition spd="slow" advClick="0">
    <p:push dir="u"/>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4/relationships/chartEx" Target="../charts/chartEx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diagramData" Target="../diagrams/data5.xml"/><Relationship Id="rId26" Type="http://schemas.openxmlformats.org/officeDocument/2006/relationships/diagramColors" Target="../diagrams/colors6.xml"/><Relationship Id="rId3" Type="http://schemas.openxmlformats.org/officeDocument/2006/relationships/diagramData" Target="../diagrams/data2.xml"/><Relationship Id="rId21" Type="http://schemas.openxmlformats.org/officeDocument/2006/relationships/diagramColors" Target="../diagrams/colors5.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5" Type="http://schemas.openxmlformats.org/officeDocument/2006/relationships/diagramQuickStyle" Target="../diagrams/quickStyle6.xml"/><Relationship Id="rId2" Type="http://schemas.openxmlformats.org/officeDocument/2006/relationships/notesSlide" Target="../notesSlides/notesSlide10.xml"/><Relationship Id="rId16" Type="http://schemas.openxmlformats.org/officeDocument/2006/relationships/diagramColors" Target="../diagrams/colors4.xml"/><Relationship Id="rId20" Type="http://schemas.openxmlformats.org/officeDocument/2006/relationships/diagramQuickStyle" Target="../diagrams/quickStyle5.xml"/><Relationship Id="rId29" Type="http://schemas.openxmlformats.org/officeDocument/2006/relationships/diagramLayout" Target="../diagrams/layout7.xml"/><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diagramColors" Target="../diagrams/colors3.xml"/><Relationship Id="rId24" Type="http://schemas.openxmlformats.org/officeDocument/2006/relationships/diagramLayout" Target="../diagrams/layout6.xml"/><Relationship Id="rId32" Type="http://schemas.microsoft.com/office/2007/relationships/diagramDrawing" Target="../diagrams/drawing7.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23" Type="http://schemas.openxmlformats.org/officeDocument/2006/relationships/diagramData" Target="../diagrams/data6.xml"/><Relationship Id="rId28" Type="http://schemas.openxmlformats.org/officeDocument/2006/relationships/diagramData" Target="../diagrams/data7.xml"/><Relationship Id="rId10" Type="http://schemas.openxmlformats.org/officeDocument/2006/relationships/diagramQuickStyle" Target="../diagrams/quickStyle3.xml"/><Relationship Id="rId19" Type="http://schemas.openxmlformats.org/officeDocument/2006/relationships/diagramLayout" Target="../diagrams/layout5.xml"/><Relationship Id="rId31" Type="http://schemas.openxmlformats.org/officeDocument/2006/relationships/diagramColors" Target="../diagrams/colors7.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 Id="rId22" Type="http://schemas.microsoft.com/office/2007/relationships/diagramDrawing" Target="../diagrams/drawing5.xml"/><Relationship Id="rId27" Type="http://schemas.microsoft.com/office/2007/relationships/diagramDrawing" Target="../diagrams/drawing6.xml"/><Relationship Id="rId30"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chart" Target="../charts/chart6.xml"/><Relationship Id="rId7"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hart" Target="../charts/char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chart" Target="../charts/chart15.xml"/><Relationship Id="rId5" Type="http://schemas.openxmlformats.org/officeDocument/2006/relationships/image" Target="../media/image15.png"/><Relationship Id="rId4" Type="http://schemas.openxmlformats.org/officeDocument/2006/relationships/chart" Target="../charts/chart14.xml"/></Relationships>
</file>

<file path=ppt/slides/_rels/slide19.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4.xml"/><Relationship Id="rId4" Type="http://schemas.openxmlformats.org/officeDocument/2006/relationships/chart" Target="../charts/chart18.xml"/></Relationships>
</file>

<file path=ppt/slides/_rels/slide20.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4.xml"/><Relationship Id="rId4" Type="http://schemas.openxmlformats.org/officeDocument/2006/relationships/chart" Target="../charts/char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527612" y="2515676"/>
            <a:ext cx="5136776" cy="1446550"/>
          </a:xfrm>
          <a:prstGeom prst="rect">
            <a:avLst/>
          </a:prstGeom>
          <a:noFill/>
        </p:spPr>
        <p:txBody>
          <a:bodyPr wrap="square" rtlCol="0">
            <a:spAutoFit/>
          </a:bodyPr>
          <a:lstStyle/>
          <a:p>
            <a:pPr algn="ctr"/>
            <a:r>
              <a:rPr lang="en-US" sz="8800" dirty="0">
                <a:solidFill>
                  <a:schemeClr val="bg1">
                    <a:lumMod val="75000"/>
                  </a:schemeClr>
                </a:solidFill>
                <a:latin typeface="Tw Cen MT" panose="020B0602020104020603" pitchFamily="34" charset="0"/>
                <a:cs typeface="Lato Heavy" panose="020F0902020204030203" pitchFamily="34" charset="0"/>
              </a:rPr>
              <a:t>VS</a:t>
            </a:r>
          </a:p>
        </p:txBody>
      </p:sp>
      <p:sp>
        <p:nvSpPr>
          <p:cNvPr id="8" name="TextBox 7"/>
          <p:cNvSpPr txBox="1"/>
          <p:nvPr/>
        </p:nvSpPr>
        <p:spPr>
          <a:xfrm>
            <a:off x="3426759" y="1748157"/>
            <a:ext cx="5338482" cy="1046440"/>
          </a:xfrm>
          <a:prstGeom prst="rect">
            <a:avLst/>
          </a:prstGeom>
          <a:noFill/>
        </p:spPr>
        <p:txBody>
          <a:bodyPr wrap="square" rtlCol="0">
            <a:spAutoFit/>
          </a:bodyPr>
          <a:lstStyle/>
          <a:p>
            <a:pPr algn="ctr"/>
            <a:r>
              <a:rPr lang="en-US" sz="6200" dirty="0">
                <a:solidFill>
                  <a:schemeClr val="tx1">
                    <a:lumMod val="75000"/>
                    <a:lumOff val="25000"/>
                  </a:schemeClr>
                </a:solidFill>
                <a:latin typeface="Tw Cen MT" panose="020B0602020104020603" pitchFamily="34" charset="0"/>
                <a:cs typeface="Lato Heavy" panose="020F0902020204030203" pitchFamily="34" charset="0"/>
              </a:rPr>
              <a:t>FEATURE DATA</a:t>
            </a:r>
          </a:p>
        </p:txBody>
      </p:sp>
      <p:sp>
        <p:nvSpPr>
          <p:cNvPr id="11" name="TextBox 10"/>
          <p:cNvSpPr txBox="1"/>
          <p:nvPr/>
        </p:nvSpPr>
        <p:spPr>
          <a:xfrm>
            <a:off x="3426759" y="3639768"/>
            <a:ext cx="5338482" cy="1200329"/>
          </a:xfrm>
          <a:prstGeom prst="rect">
            <a:avLst/>
          </a:prstGeom>
          <a:noFill/>
        </p:spPr>
        <p:txBody>
          <a:bodyPr wrap="square" rtlCol="0">
            <a:spAutoFit/>
          </a:bodyPr>
          <a:lstStyle/>
          <a:p>
            <a:pPr algn="ctr"/>
            <a:r>
              <a:rPr lang="en-US" sz="7000" dirty="0">
                <a:solidFill>
                  <a:schemeClr val="tx1">
                    <a:lumMod val="75000"/>
                    <a:lumOff val="25000"/>
                  </a:schemeClr>
                </a:solidFill>
                <a:latin typeface="Tw Cen MT" panose="020B0602020104020603" pitchFamily="34" charset="0"/>
                <a:cs typeface="Lato Heavy" panose="020F0902020204030203" pitchFamily="34" charset="0"/>
              </a:rPr>
              <a:t>HISTOGRAM</a:t>
            </a:r>
          </a:p>
        </p:txBody>
      </p:sp>
      <p:sp>
        <p:nvSpPr>
          <p:cNvPr id="2" name="TextBox 1"/>
          <p:cNvSpPr txBox="1"/>
          <p:nvPr/>
        </p:nvSpPr>
        <p:spPr>
          <a:xfrm>
            <a:off x="5027278" y="4686208"/>
            <a:ext cx="2137445" cy="276999"/>
          </a:xfrm>
          <a:prstGeom prst="rect">
            <a:avLst/>
          </a:prstGeom>
          <a:noFill/>
        </p:spPr>
        <p:txBody>
          <a:bodyPr wrap="none" rtlCol="0">
            <a:spAutoFit/>
          </a:bodyPr>
          <a:lstStyle/>
          <a:p>
            <a:pPr algn="ctr"/>
            <a:r>
              <a:rPr lang="en-US" sz="1200" b="1" dirty="0">
                <a:solidFill>
                  <a:schemeClr val="tx1">
                    <a:lumMod val="65000"/>
                    <a:lumOff val="35000"/>
                  </a:schemeClr>
                </a:solidFill>
                <a:latin typeface="Lato Medium"/>
              </a:rPr>
              <a:t>DATA SCIENCE PRACTICE</a:t>
            </a:r>
          </a:p>
        </p:txBody>
      </p:sp>
    </p:spTree>
    <p:extLst>
      <p:ext uri="{BB962C8B-B14F-4D97-AF65-F5344CB8AC3E}">
        <p14:creationId xmlns:p14="http://schemas.microsoft.com/office/powerpoint/2010/main" val="224083777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4222747" y="4997792"/>
            <a:ext cx="3848100" cy="523220"/>
          </a:xfrm>
          <a:prstGeom prst="rect">
            <a:avLst/>
          </a:prstGeom>
          <a:noFill/>
        </p:spPr>
        <p:txBody>
          <a:bodyPr wrap="square" rtlCol="0">
            <a:spAutoFit/>
          </a:bodyPr>
          <a:lstStyle/>
          <a:p>
            <a:pPr algn="ctr"/>
            <a:r>
              <a:rPr lang="en-US" sz="2800" dirty="0">
                <a:solidFill>
                  <a:schemeClr val="tx1">
                    <a:lumMod val="85000"/>
                    <a:lumOff val="15000"/>
                  </a:schemeClr>
                </a:solidFill>
                <a:latin typeface="Lato" panose="020F0502020204030203" pitchFamily="34" charset="0"/>
                <a:cs typeface="Lato" panose="020F0502020204030203" pitchFamily="34" charset="0"/>
              </a:rPr>
              <a:t>Data Science Flow</a:t>
            </a:r>
          </a:p>
        </p:txBody>
      </p:sp>
      <p:sp>
        <p:nvSpPr>
          <p:cNvPr id="22" name="TextBox 21"/>
          <p:cNvSpPr txBox="1"/>
          <p:nvPr/>
        </p:nvSpPr>
        <p:spPr>
          <a:xfrm>
            <a:off x="4222747" y="5521012"/>
            <a:ext cx="3848100" cy="400110"/>
          </a:xfrm>
          <a:prstGeom prst="rect">
            <a:avLst/>
          </a:prstGeom>
          <a:noFill/>
        </p:spPr>
        <p:txBody>
          <a:bodyPr wrap="square" rtlCol="0">
            <a:spAutoFit/>
          </a:bodyPr>
          <a:lstStyle/>
          <a:p>
            <a:pPr algn="ctr"/>
            <a:r>
              <a:rPr lang="en-US" sz="2000" dirty="0">
                <a:solidFill>
                  <a:schemeClr val="tx1">
                    <a:lumMod val="85000"/>
                    <a:lumOff val="15000"/>
                  </a:schemeClr>
                </a:solidFill>
                <a:latin typeface="Lato Black" panose="020F0A02020204030203" pitchFamily="34" charset="0"/>
                <a:cs typeface="Lato Black" panose="020F0A02020204030203" pitchFamily="34" charset="0"/>
              </a:rPr>
              <a:t>Let`s start!</a:t>
            </a:r>
          </a:p>
        </p:txBody>
      </p:sp>
      <p:sp>
        <p:nvSpPr>
          <p:cNvPr id="3" name="Rectangle 2"/>
          <p:cNvSpPr/>
          <p:nvPr/>
        </p:nvSpPr>
        <p:spPr>
          <a:xfrm>
            <a:off x="5823633" y="5921122"/>
            <a:ext cx="646331" cy="45719"/>
          </a:xfrm>
          <a:prstGeom prst="rect">
            <a:avLst/>
          </a:prstGeom>
          <a:solidFill>
            <a:srgbClr val="008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stCxn id="3" idx="2"/>
          </p:cNvCxnSpPr>
          <p:nvPr/>
        </p:nvCxnSpPr>
        <p:spPr>
          <a:xfrm flipH="1">
            <a:off x="6146797" y="5966841"/>
            <a:ext cx="2" cy="891159"/>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0329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750"/>
                            </p:stCondLst>
                            <p:childTnLst>
                              <p:par>
                                <p:cTn id="9" presetID="53" presetClass="entr" presetSubtype="16"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ppt_w</p:attrName>
                                        </p:attrNameLst>
                                      </p:cBhvr>
                                      <p:tavLst>
                                        <p:tav tm="0">
                                          <p:val>
                                            <p:fltVal val="0"/>
                                          </p:val>
                                        </p:tav>
                                        <p:tav tm="100000">
                                          <p:val>
                                            <p:strVal val="#ppt_w"/>
                                          </p:val>
                                        </p:tav>
                                      </p:tavLst>
                                    </p:anim>
                                    <p:anim calcmode="lin" valueType="num">
                                      <p:cBhvr>
                                        <p:cTn id="12" dur="500" fill="hold"/>
                                        <p:tgtEl>
                                          <p:spTgt spid="22"/>
                                        </p:tgtEl>
                                        <p:attrNameLst>
                                          <p:attrName>ppt_h</p:attrName>
                                        </p:attrNameLst>
                                      </p:cBhvr>
                                      <p:tavLst>
                                        <p:tav tm="0">
                                          <p:val>
                                            <p:fltVal val="0"/>
                                          </p:val>
                                        </p:tav>
                                        <p:tav tm="100000">
                                          <p:val>
                                            <p:strVal val="#ppt_h"/>
                                          </p:val>
                                        </p:tav>
                                      </p:tavLst>
                                    </p:anim>
                                    <p:animEffect transition="in" filter="fade">
                                      <p:cBhvr>
                                        <p:cTn id="13" dur="500"/>
                                        <p:tgtEl>
                                          <p:spTgt spid="22"/>
                                        </p:tgtEl>
                                      </p:cBhvr>
                                    </p:animEffect>
                                  </p:childTnLst>
                                </p:cTn>
                              </p:par>
                            </p:childTnLst>
                          </p:cTn>
                        </p:par>
                        <p:par>
                          <p:cTn id="14" fill="hold">
                            <p:stCondLst>
                              <p:cond delay="1250"/>
                            </p:stCondLst>
                            <p:childTnLst>
                              <p:par>
                                <p:cTn id="15" presetID="10"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p:stCondLst>
                              <p:cond delay="1750"/>
                            </p:stCondLst>
                            <p:childTnLst>
                              <p:par>
                                <p:cTn id="19" presetID="22" presetClass="entr" presetSubtype="1"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6146799" y="-2499"/>
            <a:ext cx="0" cy="6847799"/>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379191" y="988421"/>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Teardrop 10"/>
          <p:cNvSpPr/>
          <p:nvPr/>
        </p:nvSpPr>
        <p:spPr>
          <a:xfrm rot="2700000">
            <a:off x="4317086" y="587338"/>
            <a:ext cx="802166" cy="802166"/>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070597" y="913043"/>
            <a:ext cx="150756" cy="150756"/>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a:off x="6278352" y="2654794"/>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ardrop 34"/>
          <p:cNvSpPr/>
          <p:nvPr/>
        </p:nvSpPr>
        <p:spPr>
          <a:xfrm rot="13500000">
            <a:off x="7160389" y="2253711"/>
            <a:ext cx="802166" cy="802166"/>
          </a:xfrm>
          <a:prstGeom prst="teardrop">
            <a:avLst/>
          </a:prstGeom>
          <a:noFill/>
          <a:ln w="57150">
            <a:solidFill>
              <a:srgbClr val="FF8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070598" y="2579416"/>
            <a:ext cx="150756" cy="150756"/>
          </a:xfrm>
          <a:prstGeom prst="ellipse">
            <a:avLst/>
          </a:prstGeom>
          <a:solidFill>
            <a:srgbClr val="FF86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p:cNvCxnSpPr/>
          <p:nvPr/>
        </p:nvCxnSpPr>
        <p:spPr>
          <a:xfrm>
            <a:off x="5379191" y="4259529"/>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0" name="Teardrop 49"/>
          <p:cNvSpPr/>
          <p:nvPr/>
        </p:nvSpPr>
        <p:spPr>
          <a:xfrm rot="2700000">
            <a:off x="4317086" y="3858446"/>
            <a:ext cx="802166" cy="802166"/>
          </a:xfrm>
          <a:prstGeom prst="teardrop">
            <a:avLst/>
          </a:prstGeom>
          <a:noFill/>
          <a:ln w="57150">
            <a:solidFill>
              <a:srgbClr val="A1BB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6070597" y="4184151"/>
            <a:ext cx="150756" cy="150756"/>
          </a:xfrm>
          <a:prstGeom prst="ellipse">
            <a:avLst/>
          </a:prstGeom>
          <a:solidFill>
            <a:srgbClr val="A1BB2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p:cNvCxnSpPr/>
          <p:nvPr/>
        </p:nvCxnSpPr>
        <p:spPr>
          <a:xfrm>
            <a:off x="6278351" y="5715109"/>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3" name="Teardrop 52"/>
          <p:cNvSpPr/>
          <p:nvPr/>
        </p:nvSpPr>
        <p:spPr>
          <a:xfrm rot="13500000">
            <a:off x="7160388" y="5314026"/>
            <a:ext cx="802166" cy="802166"/>
          </a:xfrm>
          <a:prstGeom prst="teardrop">
            <a:avLst/>
          </a:prstGeom>
          <a:noFill/>
          <a:ln w="57150">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6070597" y="5639731"/>
            <a:ext cx="150756" cy="150756"/>
          </a:xfrm>
          <a:prstGeom prst="ellipse">
            <a:avLst/>
          </a:prstGeom>
          <a:solidFill>
            <a:srgbClr val="01264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352887" y="421203"/>
            <a:ext cx="496115" cy="1015663"/>
          </a:xfrm>
          <a:prstGeom prst="rect">
            <a:avLst/>
          </a:prstGeom>
          <a:noFill/>
        </p:spPr>
        <p:txBody>
          <a:bodyPr wrap="square" rtlCol="0">
            <a:spAutoFit/>
          </a:bodyPr>
          <a:lstStyle/>
          <a:p>
            <a:r>
              <a:rPr lang="en-US" sz="6000" dirty="0">
                <a:solidFill>
                  <a:schemeClr val="bg1">
                    <a:lumMod val="85000"/>
                  </a:schemeClr>
                </a:solidFill>
                <a:latin typeface="Lato Light" panose="020F0402020204030203" pitchFamily="34" charset="0"/>
                <a:cs typeface="Lato Light" panose="020F0402020204030203" pitchFamily="34" charset="0"/>
              </a:rPr>
              <a:t>1</a:t>
            </a:r>
          </a:p>
        </p:txBody>
      </p:sp>
      <p:sp>
        <p:nvSpPr>
          <p:cNvPr id="58" name="TextBox 57"/>
          <p:cNvSpPr txBox="1"/>
          <p:nvPr/>
        </p:nvSpPr>
        <p:spPr>
          <a:xfrm>
            <a:off x="5388898" y="2068519"/>
            <a:ext cx="496115" cy="1015663"/>
          </a:xfrm>
          <a:prstGeom prst="rect">
            <a:avLst/>
          </a:prstGeom>
          <a:noFill/>
        </p:spPr>
        <p:txBody>
          <a:bodyPr wrap="square" rtlCol="0">
            <a:spAutoFit/>
          </a:bodyPr>
          <a:lstStyle/>
          <a:p>
            <a:r>
              <a:rPr lang="en-US" sz="6000" dirty="0">
                <a:solidFill>
                  <a:schemeClr val="bg1">
                    <a:lumMod val="85000"/>
                  </a:schemeClr>
                </a:solidFill>
                <a:latin typeface="Lato Light" panose="020F0402020204030203" pitchFamily="34" charset="0"/>
                <a:cs typeface="Lato Light" panose="020F0402020204030203" pitchFamily="34" charset="0"/>
              </a:rPr>
              <a:t>2</a:t>
            </a:r>
          </a:p>
        </p:txBody>
      </p:sp>
      <p:sp>
        <p:nvSpPr>
          <p:cNvPr id="59" name="TextBox 58"/>
          <p:cNvSpPr txBox="1"/>
          <p:nvPr/>
        </p:nvSpPr>
        <p:spPr>
          <a:xfrm>
            <a:off x="6348108" y="3729883"/>
            <a:ext cx="496115" cy="1015663"/>
          </a:xfrm>
          <a:prstGeom prst="rect">
            <a:avLst/>
          </a:prstGeom>
          <a:noFill/>
        </p:spPr>
        <p:txBody>
          <a:bodyPr wrap="square" rtlCol="0">
            <a:spAutoFit/>
          </a:bodyPr>
          <a:lstStyle/>
          <a:p>
            <a:r>
              <a:rPr lang="en-US" sz="6000" dirty="0">
                <a:solidFill>
                  <a:schemeClr val="bg1">
                    <a:lumMod val="85000"/>
                  </a:schemeClr>
                </a:solidFill>
                <a:latin typeface="Lato Light" panose="020F0402020204030203" pitchFamily="34" charset="0"/>
                <a:cs typeface="Lato Light" panose="020F0402020204030203" pitchFamily="34" charset="0"/>
              </a:rPr>
              <a:t>3</a:t>
            </a:r>
          </a:p>
        </p:txBody>
      </p:sp>
      <p:sp>
        <p:nvSpPr>
          <p:cNvPr id="60" name="TextBox 59"/>
          <p:cNvSpPr txBox="1"/>
          <p:nvPr/>
        </p:nvSpPr>
        <p:spPr>
          <a:xfrm>
            <a:off x="5385893" y="5206276"/>
            <a:ext cx="496115" cy="1015663"/>
          </a:xfrm>
          <a:prstGeom prst="rect">
            <a:avLst/>
          </a:prstGeom>
          <a:noFill/>
        </p:spPr>
        <p:txBody>
          <a:bodyPr wrap="square" rtlCol="0">
            <a:spAutoFit/>
          </a:bodyPr>
          <a:lstStyle/>
          <a:p>
            <a:r>
              <a:rPr lang="en-US" sz="6000" dirty="0">
                <a:solidFill>
                  <a:schemeClr val="bg1">
                    <a:lumMod val="85000"/>
                  </a:schemeClr>
                </a:solidFill>
                <a:latin typeface="Lato Light" panose="020F0402020204030203" pitchFamily="34" charset="0"/>
                <a:cs typeface="Lato Light" panose="020F0402020204030203" pitchFamily="34" charset="0"/>
              </a:rPr>
              <a:t>4</a:t>
            </a:r>
          </a:p>
        </p:txBody>
      </p:sp>
      <p:sp>
        <p:nvSpPr>
          <p:cNvPr id="61" name="TextBox 60"/>
          <p:cNvSpPr txBox="1"/>
          <p:nvPr/>
        </p:nvSpPr>
        <p:spPr>
          <a:xfrm>
            <a:off x="6907849" y="592748"/>
            <a:ext cx="3848100" cy="523220"/>
          </a:xfrm>
          <a:prstGeom prst="rect">
            <a:avLst/>
          </a:prstGeom>
          <a:noFill/>
        </p:spPr>
        <p:txBody>
          <a:bodyPr wrap="square" rtlCol="0">
            <a:spAutoFit/>
          </a:bodyPr>
          <a:lstStyle/>
          <a:p>
            <a:r>
              <a:rPr lang="en-US" sz="2800" dirty="0">
                <a:solidFill>
                  <a:schemeClr val="tx1">
                    <a:lumMod val="85000"/>
                    <a:lumOff val="15000"/>
                  </a:schemeClr>
                </a:solidFill>
                <a:latin typeface="Lato" panose="020F0502020204030203" pitchFamily="34" charset="0"/>
                <a:cs typeface="Lato" panose="020F0502020204030203" pitchFamily="34" charset="0"/>
              </a:rPr>
              <a:t>Data Collection</a:t>
            </a:r>
          </a:p>
        </p:txBody>
      </p:sp>
      <p:sp>
        <p:nvSpPr>
          <p:cNvPr id="62" name="TextBox 61"/>
          <p:cNvSpPr txBox="1"/>
          <p:nvPr/>
        </p:nvSpPr>
        <p:spPr>
          <a:xfrm>
            <a:off x="6935112" y="984663"/>
            <a:ext cx="3848100" cy="307777"/>
          </a:xfrm>
          <a:prstGeom prst="rect">
            <a:avLst/>
          </a:prstGeom>
          <a:noFill/>
        </p:spPr>
        <p:txBody>
          <a:bodyPr wrap="square" rtlCol="0">
            <a:spAutoFit/>
          </a:bodyPr>
          <a:lstStyle/>
          <a:p>
            <a:r>
              <a:rPr lang="en-US" sz="1400" dirty="0">
                <a:solidFill>
                  <a:schemeClr val="bg1">
                    <a:lumMod val="65000"/>
                  </a:schemeClr>
                </a:solidFill>
                <a:latin typeface="Lato Light" panose="020F0402020204030203" pitchFamily="34" charset="0"/>
                <a:cs typeface="Lato Light" panose="020F0402020204030203" pitchFamily="34" charset="0"/>
              </a:rPr>
              <a:t>CGIs, Sampling Automation</a:t>
            </a:r>
          </a:p>
        </p:txBody>
      </p:sp>
      <p:sp>
        <p:nvSpPr>
          <p:cNvPr id="63" name="TextBox 62"/>
          <p:cNvSpPr txBox="1"/>
          <p:nvPr/>
        </p:nvSpPr>
        <p:spPr>
          <a:xfrm>
            <a:off x="1568063" y="2230324"/>
            <a:ext cx="3848100" cy="523220"/>
          </a:xfrm>
          <a:prstGeom prst="rect">
            <a:avLst/>
          </a:prstGeom>
          <a:noFill/>
        </p:spPr>
        <p:txBody>
          <a:bodyPr wrap="square" rtlCol="0">
            <a:spAutoFit/>
          </a:bodyPr>
          <a:lstStyle/>
          <a:p>
            <a:pPr algn="r"/>
            <a:r>
              <a:rPr lang="en-US" sz="2800" dirty="0">
                <a:solidFill>
                  <a:schemeClr val="tx1">
                    <a:lumMod val="85000"/>
                    <a:lumOff val="15000"/>
                  </a:schemeClr>
                </a:solidFill>
                <a:latin typeface="Lato" panose="020F0502020204030203" pitchFamily="34" charset="0"/>
                <a:cs typeface="Lato" panose="020F0502020204030203" pitchFamily="34" charset="0"/>
              </a:rPr>
              <a:t>Data Preprocessing</a:t>
            </a:r>
          </a:p>
        </p:txBody>
      </p:sp>
      <p:sp>
        <p:nvSpPr>
          <p:cNvPr id="64" name="TextBox 63"/>
          <p:cNvSpPr txBox="1"/>
          <p:nvPr/>
        </p:nvSpPr>
        <p:spPr>
          <a:xfrm>
            <a:off x="1568063" y="2622239"/>
            <a:ext cx="3848100" cy="307777"/>
          </a:xfrm>
          <a:prstGeom prst="rect">
            <a:avLst/>
          </a:prstGeom>
          <a:noFill/>
        </p:spPr>
        <p:txBody>
          <a:bodyPr wrap="square" rtlCol="0">
            <a:spAutoFit/>
          </a:bodyPr>
          <a:lstStyle/>
          <a:p>
            <a:pPr algn="r"/>
            <a:r>
              <a:rPr lang="en-US" sz="1400" dirty="0">
                <a:solidFill>
                  <a:schemeClr val="bg1">
                    <a:lumMod val="65000"/>
                  </a:schemeClr>
                </a:solidFill>
                <a:latin typeface="Lato Light" panose="020F0402020204030203" pitchFamily="34" charset="0"/>
                <a:cs typeface="Lato Light" panose="020F0402020204030203" pitchFamily="34" charset="0"/>
              </a:rPr>
              <a:t>Median Filter, Data cleansing</a:t>
            </a:r>
          </a:p>
        </p:txBody>
      </p:sp>
      <p:sp>
        <p:nvSpPr>
          <p:cNvPr id="65" name="TextBox 64"/>
          <p:cNvSpPr txBox="1"/>
          <p:nvPr/>
        </p:nvSpPr>
        <p:spPr>
          <a:xfrm>
            <a:off x="6929558" y="3862529"/>
            <a:ext cx="3848100" cy="523220"/>
          </a:xfrm>
          <a:prstGeom prst="rect">
            <a:avLst/>
          </a:prstGeom>
          <a:noFill/>
        </p:spPr>
        <p:txBody>
          <a:bodyPr wrap="square" rtlCol="0">
            <a:spAutoFit/>
          </a:bodyPr>
          <a:lstStyle/>
          <a:p>
            <a:r>
              <a:rPr lang="en-US" sz="2800" dirty="0">
                <a:solidFill>
                  <a:schemeClr val="tx1">
                    <a:lumMod val="85000"/>
                    <a:lumOff val="15000"/>
                  </a:schemeClr>
                </a:solidFill>
                <a:latin typeface="Lato" panose="020F0502020204030203" pitchFamily="34" charset="0"/>
                <a:cs typeface="Lato" panose="020F0502020204030203" pitchFamily="34" charset="0"/>
              </a:rPr>
              <a:t>Feature Extraction</a:t>
            </a:r>
          </a:p>
        </p:txBody>
      </p:sp>
      <p:sp>
        <p:nvSpPr>
          <p:cNvPr id="66" name="TextBox 65"/>
          <p:cNvSpPr txBox="1"/>
          <p:nvPr/>
        </p:nvSpPr>
        <p:spPr>
          <a:xfrm>
            <a:off x="6956821" y="4254444"/>
            <a:ext cx="3848100" cy="307777"/>
          </a:xfrm>
          <a:prstGeom prst="rect">
            <a:avLst/>
          </a:prstGeom>
          <a:noFill/>
        </p:spPr>
        <p:txBody>
          <a:bodyPr wrap="square" rtlCol="0">
            <a:spAutoFit/>
          </a:bodyPr>
          <a:lstStyle/>
          <a:p>
            <a:r>
              <a:rPr lang="en-US" sz="1400" dirty="0">
                <a:solidFill>
                  <a:schemeClr val="bg1">
                    <a:lumMod val="65000"/>
                  </a:schemeClr>
                </a:solidFill>
                <a:latin typeface="Lato Light" panose="020F0402020204030203" pitchFamily="34" charset="0"/>
                <a:cs typeface="Lato Light" panose="020F0402020204030203" pitchFamily="34" charset="0"/>
              </a:rPr>
              <a:t>EM, GMM, HHT, PCA, LDA, etc.</a:t>
            </a:r>
          </a:p>
        </p:txBody>
      </p:sp>
      <p:sp>
        <p:nvSpPr>
          <p:cNvPr id="67" name="TextBox 66"/>
          <p:cNvSpPr txBox="1"/>
          <p:nvPr/>
        </p:nvSpPr>
        <p:spPr>
          <a:xfrm>
            <a:off x="1568063" y="5350947"/>
            <a:ext cx="3848100" cy="523220"/>
          </a:xfrm>
          <a:prstGeom prst="rect">
            <a:avLst/>
          </a:prstGeom>
          <a:noFill/>
        </p:spPr>
        <p:txBody>
          <a:bodyPr wrap="square" rtlCol="0">
            <a:spAutoFit/>
          </a:bodyPr>
          <a:lstStyle/>
          <a:p>
            <a:pPr algn="r"/>
            <a:r>
              <a:rPr lang="en-US" sz="2800" dirty="0">
                <a:solidFill>
                  <a:schemeClr val="tx1">
                    <a:lumMod val="85000"/>
                    <a:lumOff val="15000"/>
                  </a:schemeClr>
                </a:solidFill>
                <a:latin typeface="Lato" panose="020F0502020204030203" pitchFamily="34" charset="0"/>
                <a:cs typeface="Lato" panose="020F0502020204030203" pitchFamily="34" charset="0"/>
              </a:rPr>
              <a:t>Transformation</a:t>
            </a:r>
          </a:p>
        </p:txBody>
      </p:sp>
      <p:sp>
        <p:nvSpPr>
          <p:cNvPr id="68" name="TextBox 67"/>
          <p:cNvSpPr txBox="1"/>
          <p:nvPr/>
        </p:nvSpPr>
        <p:spPr>
          <a:xfrm>
            <a:off x="1568063" y="5742862"/>
            <a:ext cx="3848100" cy="307777"/>
          </a:xfrm>
          <a:prstGeom prst="rect">
            <a:avLst/>
          </a:prstGeom>
          <a:noFill/>
        </p:spPr>
        <p:txBody>
          <a:bodyPr wrap="square" rtlCol="0">
            <a:spAutoFit/>
          </a:bodyPr>
          <a:lstStyle/>
          <a:p>
            <a:pPr algn="r"/>
            <a:r>
              <a:rPr lang="en-US" sz="1400" b="1" dirty="0">
                <a:solidFill>
                  <a:schemeClr val="bg1">
                    <a:lumMod val="65000"/>
                  </a:schemeClr>
                </a:solidFill>
                <a:latin typeface="Lato Light" panose="020F0402020204030203" pitchFamily="34" charset="0"/>
                <a:cs typeface="Lato Light" panose="020F0402020204030203" pitchFamily="34" charset="0"/>
              </a:rPr>
              <a:t>Histogram</a:t>
            </a:r>
            <a:r>
              <a:rPr lang="en-US" sz="1400" dirty="0">
                <a:solidFill>
                  <a:schemeClr val="bg1">
                    <a:lumMod val="65000"/>
                  </a:schemeClr>
                </a:solidFill>
                <a:latin typeface="Lato Light" panose="020F0402020204030203" pitchFamily="34" charset="0"/>
                <a:cs typeface="Lato Light" panose="020F0402020204030203" pitchFamily="34" charset="0"/>
              </a:rPr>
              <a:t>, KLD, EMD, K-Means, Kernel Mapping</a:t>
            </a:r>
          </a:p>
        </p:txBody>
      </p:sp>
    </p:spTree>
    <p:extLst>
      <p:ext uri="{BB962C8B-B14F-4D97-AF65-F5344CB8AC3E}">
        <p14:creationId xmlns:p14="http://schemas.microsoft.com/office/powerpoint/2010/main" val="37619309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3000"/>
                                        <p:tgtEl>
                                          <p:spTgt spid="6"/>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fltVal val="0"/>
                                          </p:val>
                                        </p:tav>
                                        <p:tav tm="100000">
                                          <p:val>
                                            <p:strVal val="#ppt_w"/>
                                          </p:val>
                                        </p:tav>
                                      </p:tavLst>
                                    </p:anim>
                                    <p:anim calcmode="lin" valueType="num">
                                      <p:cBhvr>
                                        <p:cTn id="11" dur="500" fill="hold"/>
                                        <p:tgtEl>
                                          <p:spTgt spid="12"/>
                                        </p:tgtEl>
                                        <p:attrNameLst>
                                          <p:attrName>ppt_h</p:attrName>
                                        </p:attrNameLst>
                                      </p:cBhvr>
                                      <p:tavLst>
                                        <p:tav tm="0">
                                          <p:val>
                                            <p:fltVal val="0"/>
                                          </p:val>
                                        </p:tav>
                                        <p:tav tm="100000">
                                          <p:val>
                                            <p:strVal val="#ppt_h"/>
                                          </p:val>
                                        </p:tav>
                                      </p:tavLst>
                                    </p:anim>
                                    <p:animEffect transition="in" filter="fade">
                                      <p:cBhvr>
                                        <p:cTn id="12" dur="500"/>
                                        <p:tgtEl>
                                          <p:spTgt spid="12"/>
                                        </p:tgtEl>
                                      </p:cBhvr>
                                    </p:animEffect>
                                  </p:childTnLst>
                                </p:cTn>
                              </p:par>
                              <p:par>
                                <p:cTn id="13" presetID="22" presetClass="entr" presetSubtype="2" fill="hold" nodeType="with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500"/>
                                        <p:tgtEl>
                                          <p:spTgt spid="9"/>
                                        </p:tgtEl>
                                      </p:cBhvr>
                                    </p:animEffect>
                                  </p:childTnLst>
                                </p:cTn>
                              </p:par>
                              <p:par>
                                <p:cTn id="16" presetID="53" presetClass="entr" presetSubtype="16" fill="hold" grpId="0" nodeType="withEffect">
                                  <p:stCondLst>
                                    <p:cond delay="50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500"/>
                                        <p:tgtEl>
                                          <p:spTgt spid="61"/>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500"/>
                                        <p:tgtEl>
                                          <p:spTgt spid="62"/>
                                        </p:tgtEl>
                                      </p:cBhvr>
                                    </p:animEffect>
                                  </p:childTnLst>
                                </p:cTn>
                              </p:par>
                              <p:par>
                                <p:cTn id="30" presetID="53" presetClass="entr" presetSubtype="16" fill="hold" grpId="0" nodeType="withEffect">
                                  <p:stCondLst>
                                    <p:cond delay="75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animEffect transition="in" filter="fade">
                                      <p:cBhvr>
                                        <p:cTn id="34" dur="500"/>
                                        <p:tgtEl>
                                          <p:spTgt spid="36"/>
                                        </p:tgtEl>
                                      </p:cBhvr>
                                    </p:animEffect>
                                  </p:childTnLst>
                                </p:cTn>
                              </p:par>
                              <p:par>
                                <p:cTn id="35" presetID="22" presetClass="entr" presetSubtype="8" fill="hold" nodeType="withEffect">
                                  <p:stCondLst>
                                    <p:cond delay="100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par>
                                <p:cTn id="38" presetID="53" presetClass="entr" presetSubtype="16" fill="hold" grpId="0" nodeType="withEffect">
                                  <p:stCondLst>
                                    <p:cond delay="1000"/>
                                  </p:stCondLst>
                                  <p:childTnLst>
                                    <p:set>
                                      <p:cBhvr>
                                        <p:cTn id="39" dur="1" fill="hold">
                                          <p:stCondLst>
                                            <p:cond delay="0"/>
                                          </p:stCondLst>
                                        </p:cTn>
                                        <p:tgtEl>
                                          <p:spTgt spid="35"/>
                                        </p:tgtEl>
                                        <p:attrNameLst>
                                          <p:attrName>style.visibility</p:attrName>
                                        </p:attrNameLst>
                                      </p:cBhvr>
                                      <p:to>
                                        <p:strVal val="visible"/>
                                      </p:to>
                                    </p:set>
                                    <p:anim calcmode="lin" valueType="num">
                                      <p:cBhvr>
                                        <p:cTn id="40" dur="500" fill="hold"/>
                                        <p:tgtEl>
                                          <p:spTgt spid="35"/>
                                        </p:tgtEl>
                                        <p:attrNameLst>
                                          <p:attrName>ppt_w</p:attrName>
                                        </p:attrNameLst>
                                      </p:cBhvr>
                                      <p:tavLst>
                                        <p:tav tm="0">
                                          <p:val>
                                            <p:fltVal val="0"/>
                                          </p:val>
                                        </p:tav>
                                        <p:tav tm="100000">
                                          <p:val>
                                            <p:strVal val="#ppt_w"/>
                                          </p:val>
                                        </p:tav>
                                      </p:tavLst>
                                    </p:anim>
                                    <p:anim calcmode="lin" valueType="num">
                                      <p:cBhvr>
                                        <p:cTn id="41" dur="500" fill="hold"/>
                                        <p:tgtEl>
                                          <p:spTgt spid="35"/>
                                        </p:tgtEl>
                                        <p:attrNameLst>
                                          <p:attrName>ppt_h</p:attrName>
                                        </p:attrNameLst>
                                      </p:cBhvr>
                                      <p:tavLst>
                                        <p:tav tm="0">
                                          <p:val>
                                            <p:fltVal val="0"/>
                                          </p:val>
                                        </p:tav>
                                        <p:tav tm="100000">
                                          <p:val>
                                            <p:strVal val="#ppt_h"/>
                                          </p:val>
                                        </p:tav>
                                      </p:tavLst>
                                    </p:anim>
                                    <p:animEffect transition="in" filter="fade">
                                      <p:cBhvr>
                                        <p:cTn id="42" dur="500"/>
                                        <p:tgtEl>
                                          <p:spTgt spid="35"/>
                                        </p:tgtEl>
                                      </p:cBhvr>
                                    </p:animEffect>
                                  </p:childTnLst>
                                </p:cTn>
                              </p:par>
                              <p:par>
                                <p:cTn id="43" presetID="10" presetClass="entr" presetSubtype="0" fill="hold" grpId="0" nodeType="withEffect">
                                  <p:stCondLst>
                                    <p:cond delay="1000"/>
                                  </p:stCondLst>
                                  <p:childTnLst>
                                    <p:set>
                                      <p:cBhvr>
                                        <p:cTn id="44" dur="1" fill="hold">
                                          <p:stCondLst>
                                            <p:cond delay="0"/>
                                          </p:stCondLst>
                                        </p:cTn>
                                        <p:tgtEl>
                                          <p:spTgt spid="64"/>
                                        </p:tgtEl>
                                        <p:attrNameLst>
                                          <p:attrName>style.visibility</p:attrName>
                                        </p:attrNameLst>
                                      </p:cBhvr>
                                      <p:to>
                                        <p:strVal val="visible"/>
                                      </p:to>
                                    </p:set>
                                    <p:animEffect transition="in" filter="fade">
                                      <p:cBhvr>
                                        <p:cTn id="45" dur="500"/>
                                        <p:tgtEl>
                                          <p:spTgt spid="64"/>
                                        </p:tgtEl>
                                      </p:cBhvr>
                                    </p:animEffect>
                                  </p:childTnLst>
                                </p:cTn>
                              </p:par>
                              <p:par>
                                <p:cTn id="46" presetID="10" presetClass="entr" presetSubtype="0" fill="hold" grpId="0" nodeType="withEffect">
                                  <p:stCondLst>
                                    <p:cond delay="1000"/>
                                  </p:stCondLst>
                                  <p:childTnLst>
                                    <p:set>
                                      <p:cBhvr>
                                        <p:cTn id="47" dur="1" fill="hold">
                                          <p:stCondLst>
                                            <p:cond delay="0"/>
                                          </p:stCondLst>
                                        </p:cTn>
                                        <p:tgtEl>
                                          <p:spTgt spid="58"/>
                                        </p:tgtEl>
                                        <p:attrNameLst>
                                          <p:attrName>style.visibility</p:attrName>
                                        </p:attrNameLst>
                                      </p:cBhvr>
                                      <p:to>
                                        <p:strVal val="visible"/>
                                      </p:to>
                                    </p:set>
                                    <p:animEffect transition="in" filter="fade">
                                      <p:cBhvr>
                                        <p:cTn id="48" dur="500"/>
                                        <p:tgtEl>
                                          <p:spTgt spid="58"/>
                                        </p:tgtEl>
                                      </p:cBhvr>
                                    </p:animEffect>
                                  </p:childTnLst>
                                </p:cTn>
                              </p:par>
                              <p:par>
                                <p:cTn id="49" presetID="10" presetClass="entr" presetSubtype="0" fill="hold" grpId="0" nodeType="withEffect">
                                  <p:stCondLst>
                                    <p:cond delay="100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par>
                                <p:cTn id="52" presetID="53" presetClass="entr" presetSubtype="16" fill="hold" grpId="0" nodeType="withEffect">
                                  <p:stCondLst>
                                    <p:cond delay="1250"/>
                                  </p:stCondLst>
                                  <p:childTnLst>
                                    <p:set>
                                      <p:cBhvr>
                                        <p:cTn id="53" dur="1" fill="hold">
                                          <p:stCondLst>
                                            <p:cond delay="0"/>
                                          </p:stCondLst>
                                        </p:cTn>
                                        <p:tgtEl>
                                          <p:spTgt spid="51"/>
                                        </p:tgtEl>
                                        <p:attrNameLst>
                                          <p:attrName>style.visibility</p:attrName>
                                        </p:attrNameLst>
                                      </p:cBhvr>
                                      <p:to>
                                        <p:strVal val="visible"/>
                                      </p:to>
                                    </p:set>
                                    <p:anim calcmode="lin" valueType="num">
                                      <p:cBhvr>
                                        <p:cTn id="54" dur="500" fill="hold"/>
                                        <p:tgtEl>
                                          <p:spTgt spid="51"/>
                                        </p:tgtEl>
                                        <p:attrNameLst>
                                          <p:attrName>ppt_w</p:attrName>
                                        </p:attrNameLst>
                                      </p:cBhvr>
                                      <p:tavLst>
                                        <p:tav tm="0">
                                          <p:val>
                                            <p:fltVal val="0"/>
                                          </p:val>
                                        </p:tav>
                                        <p:tav tm="100000">
                                          <p:val>
                                            <p:strVal val="#ppt_w"/>
                                          </p:val>
                                        </p:tav>
                                      </p:tavLst>
                                    </p:anim>
                                    <p:anim calcmode="lin" valueType="num">
                                      <p:cBhvr>
                                        <p:cTn id="55" dur="500" fill="hold"/>
                                        <p:tgtEl>
                                          <p:spTgt spid="51"/>
                                        </p:tgtEl>
                                        <p:attrNameLst>
                                          <p:attrName>ppt_h</p:attrName>
                                        </p:attrNameLst>
                                      </p:cBhvr>
                                      <p:tavLst>
                                        <p:tav tm="0">
                                          <p:val>
                                            <p:fltVal val="0"/>
                                          </p:val>
                                        </p:tav>
                                        <p:tav tm="100000">
                                          <p:val>
                                            <p:strVal val="#ppt_h"/>
                                          </p:val>
                                        </p:tav>
                                      </p:tavLst>
                                    </p:anim>
                                    <p:animEffect transition="in" filter="fade">
                                      <p:cBhvr>
                                        <p:cTn id="56" dur="500"/>
                                        <p:tgtEl>
                                          <p:spTgt spid="51"/>
                                        </p:tgtEl>
                                      </p:cBhvr>
                                    </p:animEffect>
                                  </p:childTnLst>
                                </p:cTn>
                              </p:par>
                              <p:par>
                                <p:cTn id="57" presetID="22" presetClass="entr" presetSubtype="2" fill="hold" nodeType="withEffect">
                                  <p:stCondLst>
                                    <p:cond delay="1500"/>
                                  </p:stCondLst>
                                  <p:childTnLst>
                                    <p:set>
                                      <p:cBhvr>
                                        <p:cTn id="58" dur="1" fill="hold">
                                          <p:stCondLst>
                                            <p:cond delay="0"/>
                                          </p:stCondLst>
                                        </p:cTn>
                                        <p:tgtEl>
                                          <p:spTgt spid="49"/>
                                        </p:tgtEl>
                                        <p:attrNameLst>
                                          <p:attrName>style.visibility</p:attrName>
                                        </p:attrNameLst>
                                      </p:cBhvr>
                                      <p:to>
                                        <p:strVal val="visible"/>
                                      </p:to>
                                    </p:set>
                                    <p:animEffect transition="in" filter="wipe(right)">
                                      <p:cBhvr>
                                        <p:cTn id="59" dur="500"/>
                                        <p:tgtEl>
                                          <p:spTgt spid="49"/>
                                        </p:tgtEl>
                                      </p:cBhvr>
                                    </p:animEffect>
                                  </p:childTnLst>
                                </p:cTn>
                              </p:par>
                              <p:par>
                                <p:cTn id="60" presetID="53" presetClass="entr" presetSubtype="16" fill="hold" grpId="0" nodeType="withEffect">
                                  <p:stCondLst>
                                    <p:cond delay="1500"/>
                                  </p:stCondLst>
                                  <p:childTnLst>
                                    <p:set>
                                      <p:cBhvr>
                                        <p:cTn id="61" dur="1" fill="hold">
                                          <p:stCondLst>
                                            <p:cond delay="0"/>
                                          </p:stCondLst>
                                        </p:cTn>
                                        <p:tgtEl>
                                          <p:spTgt spid="50"/>
                                        </p:tgtEl>
                                        <p:attrNameLst>
                                          <p:attrName>style.visibility</p:attrName>
                                        </p:attrNameLst>
                                      </p:cBhvr>
                                      <p:to>
                                        <p:strVal val="visible"/>
                                      </p:to>
                                    </p:set>
                                    <p:anim calcmode="lin" valueType="num">
                                      <p:cBhvr>
                                        <p:cTn id="62" dur="500" fill="hold"/>
                                        <p:tgtEl>
                                          <p:spTgt spid="50"/>
                                        </p:tgtEl>
                                        <p:attrNameLst>
                                          <p:attrName>ppt_w</p:attrName>
                                        </p:attrNameLst>
                                      </p:cBhvr>
                                      <p:tavLst>
                                        <p:tav tm="0">
                                          <p:val>
                                            <p:fltVal val="0"/>
                                          </p:val>
                                        </p:tav>
                                        <p:tav tm="100000">
                                          <p:val>
                                            <p:strVal val="#ppt_w"/>
                                          </p:val>
                                        </p:tav>
                                      </p:tavLst>
                                    </p:anim>
                                    <p:anim calcmode="lin" valueType="num">
                                      <p:cBhvr>
                                        <p:cTn id="63" dur="500" fill="hold"/>
                                        <p:tgtEl>
                                          <p:spTgt spid="50"/>
                                        </p:tgtEl>
                                        <p:attrNameLst>
                                          <p:attrName>ppt_h</p:attrName>
                                        </p:attrNameLst>
                                      </p:cBhvr>
                                      <p:tavLst>
                                        <p:tav tm="0">
                                          <p:val>
                                            <p:fltVal val="0"/>
                                          </p:val>
                                        </p:tav>
                                        <p:tav tm="100000">
                                          <p:val>
                                            <p:strVal val="#ppt_h"/>
                                          </p:val>
                                        </p:tav>
                                      </p:tavLst>
                                    </p:anim>
                                    <p:animEffect transition="in" filter="fade">
                                      <p:cBhvr>
                                        <p:cTn id="64" dur="500"/>
                                        <p:tgtEl>
                                          <p:spTgt spid="50"/>
                                        </p:tgtEl>
                                      </p:cBhvr>
                                    </p:animEffect>
                                  </p:childTnLst>
                                </p:cTn>
                              </p:par>
                              <p:par>
                                <p:cTn id="65" presetID="10" presetClass="entr" presetSubtype="0" fill="hold" grpId="0" nodeType="withEffect">
                                  <p:stCondLst>
                                    <p:cond delay="150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500"/>
                                        <p:tgtEl>
                                          <p:spTgt spid="59"/>
                                        </p:tgtEl>
                                      </p:cBhvr>
                                    </p:animEffect>
                                  </p:childTnLst>
                                </p:cTn>
                              </p:par>
                              <p:par>
                                <p:cTn id="68" presetID="10" presetClass="entr" presetSubtype="0" fill="hold" grpId="0" nodeType="withEffect">
                                  <p:stCondLst>
                                    <p:cond delay="1500"/>
                                  </p:stCondLst>
                                  <p:childTnLst>
                                    <p:set>
                                      <p:cBhvr>
                                        <p:cTn id="69" dur="1" fill="hold">
                                          <p:stCondLst>
                                            <p:cond delay="0"/>
                                          </p:stCondLst>
                                        </p:cTn>
                                        <p:tgtEl>
                                          <p:spTgt spid="65"/>
                                        </p:tgtEl>
                                        <p:attrNameLst>
                                          <p:attrName>style.visibility</p:attrName>
                                        </p:attrNameLst>
                                      </p:cBhvr>
                                      <p:to>
                                        <p:strVal val="visible"/>
                                      </p:to>
                                    </p:set>
                                    <p:animEffect transition="in" filter="fade">
                                      <p:cBhvr>
                                        <p:cTn id="70" dur="500"/>
                                        <p:tgtEl>
                                          <p:spTgt spid="65"/>
                                        </p:tgtEl>
                                      </p:cBhvr>
                                    </p:animEffect>
                                  </p:childTnLst>
                                </p:cTn>
                              </p:par>
                              <p:par>
                                <p:cTn id="71" presetID="10" presetClass="entr" presetSubtype="0" fill="hold" grpId="0" nodeType="withEffect">
                                  <p:stCondLst>
                                    <p:cond delay="1500"/>
                                  </p:stCondLst>
                                  <p:childTnLst>
                                    <p:set>
                                      <p:cBhvr>
                                        <p:cTn id="72" dur="1" fill="hold">
                                          <p:stCondLst>
                                            <p:cond delay="0"/>
                                          </p:stCondLst>
                                        </p:cTn>
                                        <p:tgtEl>
                                          <p:spTgt spid="66"/>
                                        </p:tgtEl>
                                        <p:attrNameLst>
                                          <p:attrName>style.visibility</p:attrName>
                                        </p:attrNameLst>
                                      </p:cBhvr>
                                      <p:to>
                                        <p:strVal val="visible"/>
                                      </p:to>
                                    </p:set>
                                    <p:animEffect transition="in" filter="fade">
                                      <p:cBhvr>
                                        <p:cTn id="73" dur="500"/>
                                        <p:tgtEl>
                                          <p:spTgt spid="66"/>
                                        </p:tgtEl>
                                      </p:cBhvr>
                                    </p:animEffect>
                                  </p:childTnLst>
                                </p:cTn>
                              </p:par>
                              <p:par>
                                <p:cTn id="74" presetID="53" presetClass="entr" presetSubtype="16" fill="hold" grpId="0" nodeType="withEffect">
                                  <p:stCondLst>
                                    <p:cond delay="1750"/>
                                  </p:stCondLst>
                                  <p:childTnLst>
                                    <p:set>
                                      <p:cBhvr>
                                        <p:cTn id="75" dur="1" fill="hold">
                                          <p:stCondLst>
                                            <p:cond delay="0"/>
                                          </p:stCondLst>
                                        </p:cTn>
                                        <p:tgtEl>
                                          <p:spTgt spid="54"/>
                                        </p:tgtEl>
                                        <p:attrNameLst>
                                          <p:attrName>style.visibility</p:attrName>
                                        </p:attrNameLst>
                                      </p:cBhvr>
                                      <p:to>
                                        <p:strVal val="visible"/>
                                      </p:to>
                                    </p:set>
                                    <p:anim calcmode="lin" valueType="num">
                                      <p:cBhvr>
                                        <p:cTn id="76" dur="500" fill="hold"/>
                                        <p:tgtEl>
                                          <p:spTgt spid="54"/>
                                        </p:tgtEl>
                                        <p:attrNameLst>
                                          <p:attrName>ppt_w</p:attrName>
                                        </p:attrNameLst>
                                      </p:cBhvr>
                                      <p:tavLst>
                                        <p:tav tm="0">
                                          <p:val>
                                            <p:fltVal val="0"/>
                                          </p:val>
                                        </p:tav>
                                        <p:tav tm="100000">
                                          <p:val>
                                            <p:strVal val="#ppt_w"/>
                                          </p:val>
                                        </p:tav>
                                      </p:tavLst>
                                    </p:anim>
                                    <p:anim calcmode="lin" valueType="num">
                                      <p:cBhvr>
                                        <p:cTn id="77" dur="500" fill="hold"/>
                                        <p:tgtEl>
                                          <p:spTgt spid="54"/>
                                        </p:tgtEl>
                                        <p:attrNameLst>
                                          <p:attrName>ppt_h</p:attrName>
                                        </p:attrNameLst>
                                      </p:cBhvr>
                                      <p:tavLst>
                                        <p:tav tm="0">
                                          <p:val>
                                            <p:fltVal val="0"/>
                                          </p:val>
                                        </p:tav>
                                        <p:tav tm="100000">
                                          <p:val>
                                            <p:strVal val="#ppt_h"/>
                                          </p:val>
                                        </p:tav>
                                      </p:tavLst>
                                    </p:anim>
                                    <p:animEffect transition="in" filter="fade">
                                      <p:cBhvr>
                                        <p:cTn id="78" dur="500"/>
                                        <p:tgtEl>
                                          <p:spTgt spid="54"/>
                                        </p:tgtEl>
                                      </p:cBhvr>
                                    </p:animEffect>
                                  </p:childTnLst>
                                </p:cTn>
                              </p:par>
                              <p:par>
                                <p:cTn id="79" presetID="22" presetClass="entr" presetSubtype="8" fill="hold" nodeType="withEffect">
                                  <p:stCondLst>
                                    <p:cond delay="2000"/>
                                  </p:stCondLst>
                                  <p:childTnLst>
                                    <p:set>
                                      <p:cBhvr>
                                        <p:cTn id="80" dur="1" fill="hold">
                                          <p:stCondLst>
                                            <p:cond delay="0"/>
                                          </p:stCondLst>
                                        </p:cTn>
                                        <p:tgtEl>
                                          <p:spTgt spid="52"/>
                                        </p:tgtEl>
                                        <p:attrNameLst>
                                          <p:attrName>style.visibility</p:attrName>
                                        </p:attrNameLst>
                                      </p:cBhvr>
                                      <p:to>
                                        <p:strVal val="visible"/>
                                      </p:to>
                                    </p:set>
                                    <p:animEffect transition="in" filter="wipe(left)">
                                      <p:cBhvr>
                                        <p:cTn id="81" dur="500"/>
                                        <p:tgtEl>
                                          <p:spTgt spid="52"/>
                                        </p:tgtEl>
                                      </p:cBhvr>
                                    </p:animEffect>
                                  </p:childTnLst>
                                </p:cTn>
                              </p:par>
                              <p:par>
                                <p:cTn id="82" presetID="53" presetClass="entr" presetSubtype="16" fill="hold" grpId="0" nodeType="withEffect">
                                  <p:stCondLst>
                                    <p:cond delay="2000"/>
                                  </p:stCondLst>
                                  <p:childTnLst>
                                    <p:set>
                                      <p:cBhvr>
                                        <p:cTn id="83" dur="1" fill="hold">
                                          <p:stCondLst>
                                            <p:cond delay="0"/>
                                          </p:stCondLst>
                                        </p:cTn>
                                        <p:tgtEl>
                                          <p:spTgt spid="53"/>
                                        </p:tgtEl>
                                        <p:attrNameLst>
                                          <p:attrName>style.visibility</p:attrName>
                                        </p:attrNameLst>
                                      </p:cBhvr>
                                      <p:to>
                                        <p:strVal val="visible"/>
                                      </p:to>
                                    </p:set>
                                    <p:anim calcmode="lin" valueType="num">
                                      <p:cBhvr>
                                        <p:cTn id="84" dur="500" fill="hold"/>
                                        <p:tgtEl>
                                          <p:spTgt spid="53"/>
                                        </p:tgtEl>
                                        <p:attrNameLst>
                                          <p:attrName>ppt_w</p:attrName>
                                        </p:attrNameLst>
                                      </p:cBhvr>
                                      <p:tavLst>
                                        <p:tav tm="0">
                                          <p:val>
                                            <p:fltVal val="0"/>
                                          </p:val>
                                        </p:tav>
                                        <p:tav tm="100000">
                                          <p:val>
                                            <p:strVal val="#ppt_w"/>
                                          </p:val>
                                        </p:tav>
                                      </p:tavLst>
                                    </p:anim>
                                    <p:anim calcmode="lin" valueType="num">
                                      <p:cBhvr>
                                        <p:cTn id="85" dur="500" fill="hold"/>
                                        <p:tgtEl>
                                          <p:spTgt spid="53"/>
                                        </p:tgtEl>
                                        <p:attrNameLst>
                                          <p:attrName>ppt_h</p:attrName>
                                        </p:attrNameLst>
                                      </p:cBhvr>
                                      <p:tavLst>
                                        <p:tav tm="0">
                                          <p:val>
                                            <p:fltVal val="0"/>
                                          </p:val>
                                        </p:tav>
                                        <p:tav tm="100000">
                                          <p:val>
                                            <p:strVal val="#ppt_h"/>
                                          </p:val>
                                        </p:tav>
                                      </p:tavLst>
                                    </p:anim>
                                    <p:animEffect transition="in" filter="fade">
                                      <p:cBhvr>
                                        <p:cTn id="86" dur="500"/>
                                        <p:tgtEl>
                                          <p:spTgt spid="53"/>
                                        </p:tgtEl>
                                      </p:cBhvr>
                                    </p:animEffect>
                                  </p:childTnLst>
                                </p:cTn>
                              </p:par>
                              <p:par>
                                <p:cTn id="87" presetID="10" presetClass="entr" presetSubtype="0" fill="hold" grpId="0" nodeType="withEffect">
                                  <p:stCondLst>
                                    <p:cond delay="2000"/>
                                  </p:stCondLst>
                                  <p:childTnLst>
                                    <p:set>
                                      <p:cBhvr>
                                        <p:cTn id="88" dur="1" fill="hold">
                                          <p:stCondLst>
                                            <p:cond delay="0"/>
                                          </p:stCondLst>
                                        </p:cTn>
                                        <p:tgtEl>
                                          <p:spTgt spid="60"/>
                                        </p:tgtEl>
                                        <p:attrNameLst>
                                          <p:attrName>style.visibility</p:attrName>
                                        </p:attrNameLst>
                                      </p:cBhvr>
                                      <p:to>
                                        <p:strVal val="visible"/>
                                      </p:to>
                                    </p:set>
                                    <p:animEffect transition="in" filter="fade">
                                      <p:cBhvr>
                                        <p:cTn id="89" dur="500"/>
                                        <p:tgtEl>
                                          <p:spTgt spid="60"/>
                                        </p:tgtEl>
                                      </p:cBhvr>
                                    </p:animEffect>
                                  </p:childTnLst>
                                </p:cTn>
                              </p:par>
                              <p:par>
                                <p:cTn id="90" presetID="10" presetClass="entr" presetSubtype="0" fill="hold" grpId="0" nodeType="withEffect">
                                  <p:stCondLst>
                                    <p:cond delay="2000"/>
                                  </p:stCondLst>
                                  <p:childTnLst>
                                    <p:set>
                                      <p:cBhvr>
                                        <p:cTn id="91" dur="1" fill="hold">
                                          <p:stCondLst>
                                            <p:cond delay="0"/>
                                          </p:stCondLst>
                                        </p:cTn>
                                        <p:tgtEl>
                                          <p:spTgt spid="68"/>
                                        </p:tgtEl>
                                        <p:attrNameLst>
                                          <p:attrName>style.visibility</p:attrName>
                                        </p:attrNameLst>
                                      </p:cBhvr>
                                      <p:to>
                                        <p:strVal val="visible"/>
                                      </p:to>
                                    </p:set>
                                    <p:animEffect transition="in" filter="fade">
                                      <p:cBhvr>
                                        <p:cTn id="92" dur="500"/>
                                        <p:tgtEl>
                                          <p:spTgt spid="68"/>
                                        </p:tgtEl>
                                      </p:cBhvr>
                                    </p:animEffect>
                                  </p:childTnLst>
                                </p:cTn>
                              </p:par>
                              <p:par>
                                <p:cTn id="93" presetID="10" presetClass="entr" presetSubtype="0" fill="hold" grpId="0" nodeType="withEffect">
                                  <p:stCondLst>
                                    <p:cond delay="2000"/>
                                  </p:stCondLst>
                                  <p:childTnLst>
                                    <p:set>
                                      <p:cBhvr>
                                        <p:cTn id="94" dur="1" fill="hold">
                                          <p:stCondLst>
                                            <p:cond delay="0"/>
                                          </p:stCondLst>
                                        </p:cTn>
                                        <p:tgtEl>
                                          <p:spTgt spid="67"/>
                                        </p:tgtEl>
                                        <p:attrNameLst>
                                          <p:attrName>style.visibility</p:attrName>
                                        </p:attrNameLst>
                                      </p:cBhvr>
                                      <p:to>
                                        <p:strVal val="visible"/>
                                      </p:to>
                                    </p:set>
                                    <p:animEffect transition="in" filter="fade">
                                      <p:cBhvr>
                                        <p:cTn id="9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35" grpId="0" animBg="1"/>
      <p:bldP spid="36" grpId="0" animBg="1"/>
      <p:bldP spid="50" grpId="0" animBg="1"/>
      <p:bldP spid="51" grpId="0" animBg="1"/>
      <p:bldP spid="53" grpId="0" animBg="1"/>
      <p:bldP spid="54" grpId="0" animBg="1"/>
      <p:bldP spid="20" grpId="0"/>
      <p:bldP spid="58" grpId="0"/>
      <p:bldP spid="59" grpId="0"/>
      <p:bldP spid="60" grpId="0"/>
      <p:bldP spid="61" grpId="0"/>
      <p:bldP spid="62" grpId="0"/>
      <p:bldP spid="63" grpId="0"/>
      <p:bldP spid="64" grpId="0"/>
      <p:bldP spid="65" grpId="0"/>
      <p:bldP spid="66" grpId="0"/>
      <p:bldP spid="67" grpId="0"/>
      <p:bldP spid="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H="1">
            <a:off x="6145975" y="-31074"/>
            <a:ext cx="824" cy="402336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379191" y="1302746"/>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Teardrop 10"/>
          <p:cNvSpPr/>
          <p:nvPr/>
        </p:nvSpPr>
        <p:spPr>
          <a:xfrm rot="2700000">
            <a:off x="4317086" y="901663"/>
            <a:ext cx="802166" cy="802166"/>
          </a:xfrm>
          <a:prstGeom prst="teardrop">
            <a:avLst/>
          </a:prstGeom>
          <a:noFill/>
          <a:ln w="57150">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p:cNvSpPr/>
          <p:nvPr/>
        </p:nvSpPr>
        <p:spPr>
          <a:xfrm>
            <a:off x="6070597" y="1227368"/>
            <a:ext cx="150756" cy="150756"/>
          </a:xfrm>
          <a:prstGeom prst="ellipse">
            <a:avLst/>
          </a:prstGeom>
          <a:solidFill>
            <a:srgbClr val="3DBF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Connector 33"/>
          <p:cNvCxnSpPr/>
          <p:nvPr/>
        </p:nvCxnSpPr>
        <p:spPr>
          <a:xfrm>
            <a:off x="6278352" y="2683369"/>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ardrop 34"/>
          <p:cNvSpPr/>
          <p:nvPr/>
        </p:nvSpPr>
        <p:spPr>
          <a:xfrm rot="13500000">
            <a:off x="7160389" y="2282286"/>
            <a:ext cx="802166" cy="802166"/>
          </a:xfrm>
          <a:prstGeom prst="teardrop">
            <a:avLst/>
          </a:prstGeom>
          <a:noFill/>
          <a:ln w="57150">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p:cNvSpPr/>
          <p:nvPr/>
        </p:nvSpPr>
        <p:spPr>
          <a:xfrm>
            <a:off x="6070598" y="2607991"/>
            <a:ext cx="150756" cy="150756"/>
          </a:xfrm>
          <a:prstGeom prst="ellipse">
            <a:avLst/>
          </a:prstGeom>
          <a:solidFill>
            <a:srgbClr val="D43E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ardrop 52"/>
          <p:cNvSpPr/>
          <p:nvPr/>
        </p:nvSpPr>
        <p:spPr>
          <a:xfrm rot="18900000">
            <a:off x="5744892" y="4181785"/>
            <a:ext cx="802166" cy="802166"/>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p:cNvSpPr txBox="1"/>
          <p:nvPr/>
        </p:nvSpPr>
        <p:spPr>
          <a:xfrm>
            <a:off x="6352887" y="735528"/>
            <a:ext cx="496115" cy="1015663"/>
          </a:xfrm>
          <a:prstGeom prst="rect">
            <a:avLst/>
          </a:prstGeom>
          <a:noFill/>
        </p:spPr>
        <p:txBody>
          <a:bodyPr wrap="square" rtlCol="0">
            <a:spAutoFit/>
          </a:bodyPr>
          <a:lstStyle/>
          <a:p>
            <a:r>
              <a:rPr lang="en-US" sz="6000" dirty="0">
                <a:solidFill>
                  <a:schemeClr val="bg1">
                    <a:lumMod val="85000"/>
                  </a:schemeClr>
                </a:solidFill>
                <a:latin typeface="Lato Light" panose="020F0402020204030203" pitchFamily="34" charset="0"/>
                <a:cs typeface="Lato Light" panose="020F0402020204030203" pitchFamily="34" charset="0"/>
              </a:rPr>
              <a:t>5</a:t>
            </a:r>
          </a:p>
        </p:txBody>
      </p:sp>
      <p:sp>
        <p:nvSpPr>
          <p:cNvPr id="58" name="TextBox 57"/>
          <p:cNvSpPr txBox="1"/>
          <p:nvPr/>
        </p:nvSpPr>
        <p:spPr>
          <a:xfrm>
            <a:off x="5388898" y="2097094"/>
            <a:ext cx="496115" cy="1015663"/>
          </a:xfrm>
          <a:prstGeom prst="rect">
            <a:avLst/>
          </a:prstGeom>
          <a:noFill/>
        </p:spPr>
        <p:txBody>
          <a:bodyPr wrap="square" rtlCol="0">
            <a:spAutoFit/>
          </a:bodyPr>
          <a:lstStyle/>
          <a:p>
            <a:r>
              <a:rPr lang="en-US" sz="6000" dirty="0">
                <a:solidFill>
                  <a:schemeClr val="bg1">
                    <a:lumMod val="85000"/>
                  </a:schemeClr>
                </a:solidFill>
                <a:latin typeface="Lato Light" panose="020F0402020204030203" pitchFamily="34" charset="0"/>
                <a:cs typeface="Lato Light" panose="020F0402020204030203" pitchFamily="34" charset="0"/>
              </a:rPr>
              <a:t>6</a:t>
            </a:r>
          </a:p>
        </p:txBody>
      </p:sp>
      <p:sp>
        <p:nvSpPr>
          <p:cNvPr id="61" name="TextBox 60"/>
          <p:cNvSpPr txBox="1"/>
          <p:nvPr/>
        </p:nvSpPr>
        <p:spPr>
          <a:xfrm>
            <a:off x="6907848" y="907073"/>
            <a:ext cx="4598351" cy="523220"/>
          </a:xfrm>
          <a:prstGeom prst="rect">
            <a:avLst/>
          </a:prstGeom>
          <a:noFill/>
        </p:spPr>
        <p:txBody>
          <a:bodyPr wrap="square" rtlCol="0">
            <a:spAutoFit/>
          </a:bodyPr>
          <a:lstStyle/>
          <a:p>
            <a:r>
              <a:rPr lang="en-US" sz="2800" dirty="0">
                <a:solidFill>
                  <a:schemeClr val="tx1">
                    <a:lumMod val="85000"/>
                    <a:lumOff val="15000"/>
                  </a:schemeClr>
                </a:solidFill>
                <a:latin typeface="Lato" panose="020F0502020204030203" pitchFamily="34" charset="0"/>
                <a:cs typeface="Lato" panose="020F0502020204030203" pitchFamily="34" charset="0"/>
              </a:rPr>
              <a:t>Modelling</a:t>
            </a:r>
          </a:p>
        </p:txBody>
      </p:sp>
      <p:sp>
        <p:nvSpPr>
          <p:cNvPr id="62" name="TextBox 61"/>
          <p:cNvSpPr txBox="1"/>
          <p:nvPr/>
        </p:nvSpPr>
        <p:spPr>
          <a:xfrm>
            <a:off x="6935112" y="1298988"/>
            <a:ext cx="3848100" cy="307777"/>
          </a:xfrm>
          <a:prstGeom prst="rect">
            <a:avLst/>
          </a:prstGeom>
          <a:noFill/>
        </p:spPr>
        <p:txBody>
          <a:bodyPr wrap="square" rtlCol="0">
            <a:spAutoFit/>
          </a:bodyPr>
          <a:lstStyle/>
          <a:p>
            <a:r>
              <a:rPr lang="en-US" sz="1400" dirty="0">
                <a:solidFill>
                  <a:schemeClr val="bg1">
                    <a:lumMod val="65000"/>
                  </a:schemeClr>
                </a:solidFill>
                <a:latin typeface="Lato Light" panose="020F0402020204030203" pitchFamily="34" charset="0"/>
                <a:cs typeface="Lato Light" panose="020F0402020204030203" pitchFamily="34" charset="0"/>
              </a:rPr>
              <a:t>T-Test, Chi-Square, Wilcoxon Signed Rank Test</a:t>
            </a:r>
          </a:p>
        </p:txBody>
      </p:sp>
      <p:sp>
        <p:nvSpPr>
          <p:cNvPr id="63" name="TextBox 62"/>
          <p:cNvSpPr txBox="1"/>
          <p:nvPr/>
        </p:nvSpPr>
        <p:spPr>
          <a:xfrm>
            <a:off x="1568063" y="2258899"/>
            <a:ext cx="3848100" cy="523220"/>
          </a:xfrm>
          <a:prstGeom prst="rect">
            <a:avLst/>
          </a:prstGeom>
          <a:noFill/>
        </p:spPr>
        <p:txBody>
          <a:bodyPr wrap="square" rtlCol="0">
            <a:spAutoFit/>
          </a:bodyPr>
          <a:lstStyle/>
          <a:p>
            <a:pPr algn="r"/>
            <a:r>
              <a:rPr lang="en-US" sz="2800" dirty="0">
                <a:solidFill>
                  <a:schemeClr val="tx1">
                    <a:lumMod val="85000"/>
                    <a:lumOff val="15000"/>
                  </a:schemeClr>
                </a:solidFill>
                <a:latin typeface="Lato" panose="020F0502020204030203" pitchFamily="34" charset="0"/>
                <a:cs typeface="Lato" panose="020F0502020204030203" pitchFamily="34" charset="0"/>
              </a:rPr>
              <a:t>Experiment Design</a:t>
            </a:r>
          </a:p>
        </p:txBody>
      </p:sp>
      <p:sp>
        <p:nvSpPr>
          <p:cNvPr id="64" name="TextBox 63"/>
          <p:cNvSpPr txBox="1"/>
          <p:nvPr/>
        </p:nvSpPr>
        <p:spPr>
          <a:xfrm>
            <a:off x="1568063" y="2650814"/>
            <a:ext cx="3848100" cy="307777"/>
          </a:xfrm>
          <a:prstGeom prst="rect">
            <a:avLst/>
          </a:prstGeom>
          <a:noFill/>
        </p:spPr>
        <p:txBody>
          <a:bodyPr wrap="square" rtlCol="0">
            <a:spAutoFit/>
          </a:bodyPr>
          <a:lstStyle/>
          <a:p>
            <a:pPr algn="r"/>
            <a:r>
              <a:rPr lang="en-US" sz="1400" dirty="0">
                <a:solidFill>
                  <a:schemeClr val="bg1">
                    <a:lumMod val="65000"/>
                  </a:schemeClr>
                </a:solidFill>
                <a:latin typeface="Lato Light" panose="020F0402020204030203" pitchFamily="34" charset="0"/>
                <a:cs typeface="Lato Light" panose="020F0402020204030203" pitchFamily="34" charset="0"/>
              </a:rPr>
              <a:t>Random Sampling, Cross Validation, LOPO</a:t>
            </a:r>
          </a:p>
        </p:txBody>
      </p:sp>
      <p:sp>
        <p:nvSpPr>
          <p:cNvPr id="67" name="TextBox 66"/>
          <p:cNvSpPr txBox="1"/>
          <p:nvPr/>
        </p:nvSpPr>
        <p:spPr>
          <a:xfrm>
            <a:off x="4221925" y="5087127"/>
            <a:ext cx="3848100" cy="523220"/>
          </a:xfrm>
          <a:prstGeom prst="rect">
            <a:avLst/>
          </a:prstGeom>
          <a:noFill/>
        </p:spPr>
        <p:txBody>
          <a:bodyPr wrap="square" rtlCol="0">
            <a:spAutoFit/>
          </a:bodyPr>
          <a:lstStyle/>
          <a:p>
            <a:pPr algn="ctr"/>
            <a:r>
              <a:rPr lang="en-US" sz="2800" dirty="0">
                <a:solidFill>
                  <a:schemeClr val="tx1">
                    <a:lumMod val="85000"/>
                    <a:lumOff val="15000"/>
                  </a:schemeClr>
                </a:solidFill>
                <a:latin typeface="Lato" panose="020F0502020204030203" pitchFamily="34" charset="0"/>
                <a:cs typeface="Lato" panose="020F0502020204030203" pitchFamily="34" charset="0"/>
              </a:rPr>
              <a:t>Result</a:t>
            </a:r>
          </a:p>
        </p:txBody>
      </p:sp>
      <p:sp>
        <p:nvSpPr>
          <p:cNvPr id="28" name="TextBox 27"/>
          <p:cNvSpPr txBox="1"/>
          <p:nvPr/>
        </p:nvSpPr>
        <p:spPr>
          <a:xfrm>
            <a:off x="4221925" y="5495022"/>
            <a:ext cx="3848100" cy="307777"/>
          </a:xfrm>
          <a:prstGeom prst="rect">
            <a:avLst/>
          </a:prstGeom>
          <a:noFill/>
        </p:spPr>
        <p:txBody>
          <a:bodyPr wrap="square" rtlCol="0">
            <a:spAutoFit/>
          </a:bodyPr>
          <a:lstStyle/>
          <a:p>
            <a:pPr algn="ctr"/>
            <a:r>
              <a:rPr lang="en-US" sz="1400" dirty="0">
                <a:solidFill>
                  <a:schemeClr val="bg1">
                    <a:lumMod val="65000"/>
                  </a:schemeClr>
                </a:solidFill>
                <a:latin typeface="Lato Light" panose="020F0402020204030203" pitchFamily="34" charset="0"/>
                <a:cs typeface="Lato Light" panose="020F0402020204030203" pitchFamily="34" charset="0"/>
              </a:rPr>
              <a:t>FAR, FRR, EER, etc.</a:t>
            </a:r>
          </a:p>
        </p:txBody>
      </p:sp>
    </p:spTree>
    <p:extLst>
      <p:ext uri="{BB962C8B-B14F-4D97-AF65-F5344CB8AC3E}">
        <p14:creationId xmlns:p14="http://schemas.microsoft.com/office/powerpoint/2010/main" val="2810411565"/>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fltVal val="0"/>
                                          </p:val>
                                        </p:tav>
                                        <p:tav tm="100000">
                                          <p:val>
                                            <p:strVal val="#ppt_w"/>
                                          </p:val>
                                        </p:tav>
                                      </p:tavLst>
                                    </p:anim>
                                    <p:anim calcmode="lin" valueType="num">
                                      <p:cBhvr>
                                        <p:cTn id="11" dur="500" fill="hold"/>
                                        <p:tgtEl>
                                          <p:spTgt spid="12"/>
                                        </p:tgtEl>
                                        <p:attrNameLst>
                                          <p:attrName>ppt_h</p:attrName>
                                        </p:attrNameLst>
                                      </p:cBhvr>
                                      <p:tavLst>
                                        <p:tav tm="0">
                                          <p:val>
                                            <p:fltVal val="0"/>
                                          </p:val>
                                        </p:tav>
                                        <p:tav tm="100000">
                                          <p:val>
                                            <p:strVal val="#ppt_h"/>
                                          </p:val>
                                        </p:tav>
                                      </p:tavLst>
                                    </p:anim>
                                    <p:animEffect transition="in" filter="fade">
                                      <p:cBhvr>
                                        <p:cTn id="12" dur="500"/>
                                        <p:tgtEl>
                                          <p:spTgt spid="12"/>
                                        </p:tgtEl>
                                      </p:cBhvr>
                                    </p:animEffect>
                                  </p:childTnLst>
                                </p:cTn>
                              </p:par>
                              <p:par>
                                <p:cTn id="13" presetID="22" presetClass="entr" presetSubtype="2" fill="hold" nodeType="with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500"/>
                                        <p:tgtEl>
                                          <p:spTgt spid="9"/>
                                        </p:tgtEl>
                                      </p:cBhvr>
                                    </p:animEffect>
                                  </p:childTnLst>
                                </p:cTn>
                              </p:par>
                              <p:par>
                                <p:cTn id="16" presetID="53" presetClass="entr" presetSubtype="16" fill="hold" grpId="0" nodeType="withEffect">
                                  <p:stCondLst>
                                    <p:cond delay="50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500"/>
                                        <p:tgtEl>
                                          <p:spTgt spid="61"/>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500"/>
                                        <p:tgtEl>
                                          <p:spTgt spid="62"/>
                                        </p:tgtEl>
                                      </p:cBhvr>
                                    </p:animEffect>
                                  </p:childTnLst>
                                </p:cTn>
                              </p:par>
                              <p:par>
                                <p:cTn id="30" presetID="53" presetClass="entr" presetSubtype="16" fill="hold" grpId="0" nodeType="withEffect">
                                  <p:stCondLst>
                                    <p:cond delay="75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animEffect transition="in" filter="fade">
                                      <p:cBhvr>
                                        <p:cTn id="34" dur="500"/>
                                        <p:tgtEl>
                                          <p:spTgt spid="36"/>
                                        </p:tgtEl>
                                      </p:cBhvr>
                                    </p:animEffect>
                                  </p:childTnLst>
                                </p:cTn>
                              </p:par>
                              <p:par>
                                <p:cTn id="35" presetID="22" presetClass="entr" presetSubtype="8" fill="hold" nodeType="withEffect">
                                  <p:stCondLst>
                                    <p:cond delay="100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par>
                                <p:cTn id="38" presetID="53" presetClass="entr" presetSubtype="16" fill="hold" grpId="0" nodeType="withEffect">
                                  <p:stCondLst>
                                    <p:cond delay="1000"/>
                                  </p:stCondLst>
                                  <p:childTnLst>
                                    <p:set>
                                      <p:cBhvr>
                                        <p:cTn id="39" dur="1" fill="hold">
                                          <p:stCondLst>
                                            <p:cond delay="0"/>
                                          </p:stCondLst>
                                        </p:cTn>
                                        <p:tgtEl>
                                          <p:spTgt spid="35"/>
                                        </p:tgtEl>
                                        <p:attrNameLst>
                                          <p:attrName>style.visibility</p:attrName>
                                        </p:attrNameLst>
                                      </p:cBhvr>
                                      <p:to>
                                        <p:strVal val="visible"/>
                                      </p:to>
                                    </p:set>
                                    <p:anim calcmode="lin" valueType="num">
                                      <p:cBhvr>
                                        <p:cTn id="40" dur="500" fill="hold"/>
                                        <p:tgtEl>
                                          <p:spTgt spid="35"/>
                                        </p:tgtEl>
                                        <p:attrNameLst>
                                          <p:attrName>ppt_w</p:attrName>
                                        </p:attrNameLst>
                                      </p:cBhvr>
                                      <p:tavLst>
                                        <p:tav tm="0">
                                          <p:val>
                                            <p:fltVal val="0"/>
                                          </p:val>
                                        </p:tav>
                                        <p:tav tm="100000">
                                          <p:val>
                                            <p:strVal val="#ppt_w"/>
                                          </p:val>
                                        </p:tav>
                                      </p:tavLst>
                                    </p:anim>
                                    <p:anim calcmode="lin" valueType="num">
                                      <p:cBhvr>
                                        <p:cTn id="41" dur="500" fill="hold"/>
                                        <p:tgtEl>
                                          <p:spTgt spid="35"/>
                                        </p:tgtEl>
                                        <p:attrNameLst>
                                          <p:attrName>ppt_h</p:attrName>
                                        </p:attrNameLst>
                                      </p:cBhvr>
                                      <p:tavLst>
                                        <p:tav tm="0">
                                          <p:val>
                                            <p:fltVal val="0"/>
                                          </p:val>
                                        </p:tav>
                                        <p:tav tm="100000">
                                          <p:val>
                                            <p:strVal val="#ppt_h"/>
                                          </p:val>
                                        </p:tav>
                                      </p:tavLst>
                                    </p:anim>
                                    <p:animEffect transition="in" filter="fade">
                                      <p:cBhvr>
                                        <p:cTn id="42" dur="500"/>
                                        <p:tgtEl>
                                          <p:spTgt spid="35"/>
                                        </p:tgtEl>
                                      </p:cBhvr>
                                    </p:animEffect>
                                  </p:childTnLst>
                                </p:cTn>
                              </p:par>
                              <p:par>
                                <p:cTn id="43" presetID="10" presetClass="entr" presetSubtype="0" fill="hold" grpId="0" nodeType="withEffect">
                                  <p:stCondLst>
                                    <p:cond delay="1000"/>
                                  </p:stCondLst>
                                  <p:childTnLst>
                                    <p:set>
                                      <p:cBhvr>
                                        <p:cTn id="44" dur="1" fill="hold">
                                          <p:stCondLst>
                                            <p:cond delay="0"/>
                                          </p:stCondLst>
                                        </p:cTn>
                                        <p:tgtEl>
                                          <p:spTgt spid="58"/>
                                        </p:tgtEl>
                                        <p:attrNameLst>
                                          <p:attrName>style.visibility</p:attrName>
                                        </p:attrNameLst>
                                      </p:cBhvr>
                                      <p:to>
                                        <p:strVal val="visible"/>
                                      </p:to>
                                    </p:set>
                                    <p:animEffect transition="in" filter="fade">
                                      <p:cBhvr>
                                        <p:cTn id="45" dur="500"/>
                                        <p:tgtEl>
                                          <p:spTgt spid="58"/>
                                        </p:tgtEl>
                                      </p:cBhvr>
                                    </p:animEffect>
                                  </p:childTnLst>
                                </p:cTn>
                              </p:par>
                              <p:par>
                                <p:cTn id="46" presetID="10" presetClass="entr" presetSubtype="0" fill="hold" grpId="0" nodeType="withEffect">
                                  <p:stCondLst>
                                    <p:cond delay="100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par>
                                <p:cTn id="49" presetID="10" presetClass="entr" presetSubtype="0" fill="hold" grpId="0" nodeType="withEffect">
                                  <p:stCondLst>
                                    <p:cond delay="100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par>
                                <p:cTn id="52" presetID="53" presetClass="entr" presetSubtype="16" fill="hold" grpId="0" nodeType="withEffect">
                                  <p:stCondLst>
                                    <p:cond delay="1750"/>
                                  </p:stCondLst>
                                  <p:childTnLst>
                                    <p:set>
                                      <p:cBhvr>
                                        <p:cTn id="53" dur="1" fill="hold">
                                          <p:stCondLst>
                                            <p:cond delay="0"/>
                                          </p:stCondLst>
                                        </p:cTn>
                                        <p:tgtEl>
                                          <p:spTgt spid="53"/>
                                        </p:tgtEl>
                                        <p:attrNameLst>
                                          <p:attrName>style.visibility</p:attrName>
                                        </p:attrNameLst>
                                      </p:cBhvr>
                                      <p:to>
                                        <p:strVal val="visible"/>
                                      </p:to>
                                    </p:set>
                                    <p:anim calcmode="lin" valueType="num">
                                      <p:cBhvr>
                                        <p:cTn id="54" dur="500" fill="hold"/>
                                        <p:tgtEl>
                                          <p:spTgt spid="53"/>
                                        </p:tgtEl>
                                        <p:attrNameLst>
                                          <p:attrName>ppt_w</p:attrName>
                                        </p:attrNameLst>
                                      </p:cBhvr>
                                      <p:tavLst>
                                        <p:tav tm="0">
                                          <p:val>
                                            <p:fltVal val="0"/>
                                          </p:val>
                                        </p:tav>
                                        <p:tav tm="100000">
                                          <p:val>
                                            <p:strVal val="#ppt_w"/>
                                          </p:val>
                                        </p:tav>
                                      </p:tavLst>
                                    </p:anim>
                                    <p:anim calcmode="lin" valueType="num">
                                      <p:cBhvr>
                                        <p:cTn id="55" dur="500" fill="hold"/>
                                        <p:tgtEl>
                                          <p:spTgt spid="53"/>
                                        </p:tgtEl>
                                        <p:attrNameLst>
                                          <p:attrName>ppt_h</p:attrName>
                                        </p:attrNameLst>
                                      </p:cBhvr>
                                      <p:tavLst>
                                        <p:tav tm="0">
                                          <p:val>
                                            <p:fltVal val="0"/>
                                          </p:val>
                                        </p:tav>
                                        <p:tav tm="100000">
                                          <p:val>
                                            <p:strVal val="#ppt_h"/>
                                          </p:val>
                                        </p:tav>
                                      </p:tavLst>
                                    </p:anim>
                                    <p:animEffect transition="in" filter="fade">
                                      <p:cBhvr>
                                        <p:cTn id="56" dur="500"/>
                                        <p:tgtEl>
                                          <p:spTgt spid="53"/>
                                        </p:tgtEl>
                                      </p:cBhvr>
                                    </p:animEffect>
                                  </p:childTnLst>
                                </p:cTn>
                              </p:par>
                              <p:par>
                                <p:cTn id="57" presetID="10" presetClass="entr" presetSubtype="0" fill="hold" grpId="0" nodeType="withEffect">
                                  <p:stCondLst>
                                    <p:cond delay="2000"/>
                                  </p:stCondLst>
                                  <p:childTnLst>
                                    <p:set>
                                      <p:cBhvr>
                                        <p:cTn id="58" dur="1" fill="hold">
                                          <p:stCondLst>
                                            <p:cond delay="0"/>
                                          </p:stCondLst>
                                        </p:cTn>
                                        <p:tgtEl>
                                          <p:spTgt spid="67"/>
                                        </p:tgtEl>
                                        <p:attrNameLst>
                                          <p:attrName>style.visibility</p:attrName>
                                        </p:attrNameLst>
                                      </p:cBhvr>
                                      <p:to>
                                        <p:strVal val="visible"/>
                                      </p:to>
                                    </p:set>
                                    <p:animEffect transition="in" filter="fade">
                                      <p:cBhvr>
                                        <p:cTn id="59" dur="500"/>
                                        <p:tgtEl>
                                          <p:spTgt spid="67"/>
                                        </p:tgtEl>
                                      </p:cBhvr>
                                    </p:animEffect>
                                  </p:childTnLst>
                                </p:cTn>
                              </p:par>
                              <p:par>
                                <p:cTn id="60" presetID="10" presetClass="entr" presetSubtype="0" fill="hold" grpId="0" nodeType="withEffect">
                                  <p:stCondLst>
                                    <p:cond delay="200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35" grpId="0" animBg="1"/>
      <p:bldP spid="36" grpId="0" animBg="1"/>
      <p:bldP spid="53" grpId="0" animBg="1"/>
      <p:bldP spid="20" grpId="0"/>
      <p:bldP spid="58" grpId="0"/>
      <p:bldP spid="61" grpId="0"/>
      <p:bldP spid="62" grpId="0"/>
      <p:bldP spid="63" grpId="0"/>
      <p:bldP spid="64" grpId="0"/>
      <p:bldP spid="67"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0" y="1815177"/>
          <a:ext cx="12192000" cy="2651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p:cNvGrpSpPr/>
          <p:nvPr/>
        </p:nvGrpSpPr>
        <p:grpSpPr>
          <a:xfrm>
            <a:off x="5189767" y="2233748"/>
            <a:ext cx="1812465" cy="1812465"/>
            <a:chOff x="5518177" y="2450032"/>
            <a:chExt cx="1358153" cy="1358153"/>
          </a:xfrm>
        </p:grpSpPr>
        <p:sp>
          <p:nvSpPr>
            <p:cNvPr id="6" name="Teardrop 5"/>
            <p:cNvSpPr/>
            <p:nvPr/>
          </p:nvSpPr>
          <p:spPr>
            <a:xfrm>
              <a:off x="5518177" y="3270303"/>
              <a:ext cx="537882" cy="537882"/>
            </a:xfrm>
            <a:prstGeom prst="teardrop">
              <a:avLst/>
            </a:prstGeom>
            <a:noFill/>
            <a:ln w="762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ardrop 6"/>
            <p:cNvSpPr/>
            <p:nvPr/>
          </p:nvSpPr>
          <p:spPr>
            <a:xfrm rot="10800000">
              <a:off x="6056059" y="2450032"/>
              <a:ext cx="820271" cy="820271"/>
            </a:xfrm>
            <a:prstGeom prst="teardrop">
              <a:avLst/>
            </a:prstGeom>
            <a:noFill/>
            <a:ln w="762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ardrop 7"/>
            <p:cNvSpPr/>
            <p:nvPr/>
          </p:nvSpPr>
          <p:spPr>
            <a:xfrm rot="5400000">
              <a:off x="5659768" y="2875641"/>
              <a:ext cx="283295" cy="283295"/>
            </a:xfrm>
            <a:prstGeom prst="teardrop">
              <a:avLst/>
            </a:prstGeom>
            <a:noFill/>
            <a:ln w="381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D890A"/>
                </a:solidFill>
              </a:endParaRPr>
            </a:p>
          </p:txBody>
        </p:sp>
      </p:grpSp>
      <p:sp>
        <p:nvSpPr>
          <p:cNvPr id="11" name="TextBox 10"/>
          <p:cNvSpPr txBox="1"/>
          <p:nvPr/>
        </p:nvSpPr>
        <p:spPr>
          <a:xfrm>
            <a:off x="531940" y="4824521"/>
            <a:ext cx="11133191" cy="830997"/>
          </a:xfrm>
          <a:prstGeom prst="rect">
            <a:avLst/>
          </a:prstGeom>
          <a:noFill/>
        </p:spPr>
        <p:txBody>
          <a:bodyPr wrap="square" rtlCol="0">
            <a:spAutoFit/>
          </a:bodyPr>
          <a:lstStyle/>
          <a:p>
            <a:pPr algn="just"/>
            <a:r>
              <a:rPr lang="en-US" sz="1600" dirty="0">
                <a:solidFill>
                  <a:schemeClr val="tx1">
                    <a:lumMod val="75000"/>
                    <a:lumOff val="25000"/>
                  </a:schemeClr>
                </a:solidFill>
                <a:latin typeface="Lato" panose="020F0502020204030203" pitchFamily="34" charset="0"/>
              </a:rPr>
              <a:t>The reason is that </a:t>
            </a:r>
            <a:r>
              <a:rPr lang="en-US" sz="1600" b="1" dirty="0">
                <a:solidFill>
                  <a:schemeClr val="tx1">
                    <a:lumMod val="75000"/>
                    <a:lumOff val="25000"/>
                  </a:schemeClr>
                </a:solidFill>
                <a:latin typeface="Lato" panose="020F0502020204030203" pitchFamily="34" charset="0"/>
              </a:rPr>
              <a:t>histogram</a:t>
            </a:r>
            <a:r>
              <a:rPr lang="en-US" sz="1600" dirty="0">
                <a:solidFill>
                  <a:schemeClr val="tx1">
                    <a:lumMod val="75000"/>
                    <a:lumOff val="25000"/>
                  </a:schemeClr>
                </a:solidFill>
                <a:latin typeface="Lato" panose="020F0502020204030203" pitchFamily="34" charset="0"/>
              </a:rPr>
              <a:t> approach involves constructing authentication models by </a:t>
            </a:r>
            <a:r>
              <a:rPr lang="en-US" sz="1600" b="1" dirty="0">
                <a:solidFill>
                  <a:schemeClr val="tx1">
                    <a:lumMod val="75000"/>
                    <a:lumOff val="25000"/>
                  </a:schemeClr>
                </a:solidFill>
                <a:latin typeface="Lato" panose="020F0502020204030203" pitchFamily="34" charset="0"/>
              </a:rPr>
              <a:t>learning the distributions of features</a:t>
            </a:r>
            <a:r>
              <a:rPr lang="en-US" sz="1600" dirty="0">
                <a:solidFill>
                  <a:schemeClr val="tx1">
                    <a:lumMod val="75000"/>
                    <a:lumOff val="25000"/>
                  </a:schemeClr>
                </a:solidFill>
                <a:latin typeface="Lato" panose="020F0502020204030203" pitchFamily="34" charset="0"/>
              </a:rPr>
              <a:t>; therefore, the </a:t>
            </a:r>
            <a:r>
              <a:rPr lang="en-US" sz="1600" b="1" dirty="0">
                <a:solidFill>
                  <a:schemeClr val="tx1">
                    <a:lumMod val="75000"/>
                    <a:lumOff val="25000"/>
                  </a:schemeClr>
                </a:solidFill>
                <a:latin typeface="Lato" panose="020F0502020204030203" pitchFamily="34" charset="0"/>
              </a:rPr>
              <a:t>performance</a:t>
            </a:r>
            <a:r>
              <a:rPr lang="en-US" sz="1600" dirty="0">
                <a:solidFill>
                  <a:schemeClr val="tx1">
                    <a:lumMod val="75000"/>
                    <a:lumOff val="25000"/>
                  </a:schemeClr>
                </a:solidFill>
                <a:latin typeface="Lato" panose="020F0502020204030203" pitchFamily="34" charset="0"/>
              </a:rPr>
              <a:t> of an authentication system could be </a:t>
            </a:r>
            <a:r>
              <a:rPr lang="en-US" sz="1600" b="1" dirty="0">
                <a:solidFill>
                  <a:schemeClr val="tx1">
                    <a:lumMod val="75000"/>
                    <a:lumOff val="25000"/>
                  </a:schemeClr>
                </a:solidFill>
                <a:latin typeface="Lato" panose="020F0502020204030203" pitchFamily="34" charset="0"/>
              </a:rPr>
              <a:t>improved </a:t>
            </a:r>
            <a:r>
              <a:rPr lang="en-US" sz="1600" dirty="0">
                <a:solidFill>
                  <a:schemeClr val="tx1">
                    <a:lumMod val="75000"/>
                    <a:lumOff val="25000"/>
                  </a:schemeClr>
                </a:solidFill>
                <a:latin typeface="Lato" panose="020F0502020204030203" pitchFamily="34" charset="0"/>
              </a:rPr>
              <a:t>if it could have </a:t>
            </a:r>
            <a:r>
              <a:rPr lang="en-US" sz="1600" b="1" dirty="0">
                <a:solidFill>
                  <a:schemeClr val="tx1">
                    <a:lumMod val="75000"/>
                    <a:lumOff val="25000"/>
                  </a:schemeClr>
                </a:solidFill>
                <a:latin typeface="Lato" panose="020F0502020204030203" pitchFamily="34" charset="0"/>
              </a:rPr>
              <a:t>sufficient data </a:t>
            </a:r>
            <a:r>
              <a:rPr lang="en-US" sz="1600" dirty="0">
                <a:solidFill>
                  <a:schemeClr val="tx1">
                    <a:lumMod val="75000"/>
                    <a:lumOff val="25000"/>
                  </a:schemeClr>
                </a:solidFill>
                <a:latin typeface="Lato" panose="020F0502020204030203" pitchFamily="34" charset="0"/>
              </a:rPr>
              <a:t>to learn in training phase.</a:t>
            </a:r>
          </a:p>
          <a:p>
            <a:pPr algn="just"/>
            <a:endParaRPr lang="en-US" sz="1600" dirty="0">
              <a:solidFill>
                <a:schemeClr val="tx1">
                  <a:lumMod val="75000"/>
                  <a:lumOff val="25000"/>
                </a:schemeClr>
              </a:solidFill>
              <a:latin typeface="Lato" panose="020F0502020204030203" pitchFamily="34" charset="0"/>
            </a:endParaRPr>
          </a:p>
        </p:txBody>
      </p:sp>
      <p:sp>
        <p:nvSpPr>
          <p:cNvPr id="10" name="TextBox 9"/>
          <p:cNvSpPr txBox="1"/>
          <p:nvPr/>
        </p:nvSpPr>
        <p:spPr>
          <a:xfrm>
            <a:off x="0" y="2681799"/>
            <a:ext cx="12191999" cy="1754326"/>
          </a:xfrm>
          <a:prstGeom prst="rect">
            <a:avLst/>
          </a:prstGeom>
          <a:noFill/>
        </p:spPr>
        <p:txBody>
          <a:bodyPr wrap="square" rtlCol="0">
            <a:spAutoFit/>
          </a:bodyPr>
          <a:lstStyle/>
          <a:p>
            <a:pPr algn="ctr"/>
            <a:r>
              <a:rPr lang="en-US" sz="3200" i="1" dirty="0">
                <a:solidFill>
                  <a:schemeClr val="tx1">
                    <a:lumMod val="95000"/>
                    <a:lumOff val="5000"/>
                  </a:schemeClr>
                </a:solidFill>
                <a:latin typeface="Lato Light" panose="020F0302020204030203" pitchFamily="34" charset="0"/>
              </a:rPr>
              <a:t>To improve performance, </a:t>
            </a:r>
            <a:r>
              <a:rPr lang="en-US" sz="3200" b="1" i="1" dirty="0">
                <a:solidFill>
                  <a:schemeClr val="tx1">
                    <a:lumMod val="95000"/>
                    <a:lumOff val="5000"/>
                  </a:schemeClr>
                </a:solidFill>
                <a:latin typeface="Lato Light" panose="020F0302020204030203" pitchFamily="34" charset="0"/>
              </a:rPr>
              <a:t>histogram</a:t>
            </a:r>
            <a:r>
              <a:rPr lang="en-US" sz="3200" i="1" dirty="0">
                <a:solidFill>
                  <a:schemeClr val="tx1">
                    <a:lumMod val="95000"/>
                    <a:lumOff val="5000"/>
                  </a:schemeClr>
                </a:solidFill>
                <a:latin typeface="Lato Light" panose="020F0302020204030203" pitchFamily="34" charset="0"/>
              </a:rPr>
              <a:t> approach is a possible solution for feature quantification.</a:t>
            </a:r>
          </a:p>
          <a:p>
            <a:pPr algn="ctr"/>
            <a:r>
              <a:rPr lang="en-US" sz="1200" b="1" i="1" dirty="0" err="1">
                <a:solidFill>
                  <a:schemeClr val="tx1">
                    <a:lumMod val="95000"/>
                    <a:lumOff val="5000"/>
                  </a:schemeClr>
                </a:solidFill>
                <a:latin typeface="Lato Light" panose="020F0302020204030203" pitchFamily="34" charset="0"/>
              </a:rPr>
              <a:t>Chien</a:t>
            </a:r>
            <a:r>
              <a:rPr lang="en-US" sz="1200" b="1" i="1" dirty="0">
                <a:solidFill>
                  <a:schemeClr val="tx1">
                    <a:lumMod val="95000"/>
                    <a:lumOff val="5000"/>
                  </a:schemeClr>
                </a:solidFill>
                <a:latin typeface="Lato Light" panose="020F0302020204030203" pitchFamily="34" charset="0"/>
              </a:rPr>
              <a:t>-Cheng Lin et al, 2015</a:t>
            </a:r>
          </a:p>
          <a:p>
            <a:pPr algn="ctr"/>
            <a:endParaRPr lang="en-US" sz="3200" i="1" dirty="0">
              <a:solidFill>
                <a:schemeClr val="tx1">
                  <a:lumMod val="95000"/>
                  <a:lumOff val="5000"/>
                </a:schemeClr>
              </a:solidFill>
              <a:latin typeface="Lato Light" panose="020F0302020204030203" pitchFamily="34" charset="0"/>
            </a:endParaRPr>
          </a:p>
        </p:txBody>
      </p:sp>
      <p:grpSp>
        <p:nvGrpSpPr>
          <p:cNvPr id="12" name="Group 11"/>
          <p:cNvGrpSpPr/>
          <p:nvPr/>
        </p:nvGrpSpPr>
        <p:grpSpPr>
          <a:xfrm>
            <a:off x="2155371" y="1729361"/>
            <a:ext cx="7868558" cy="176748"/>
            <a:chOff x="2155371" y="1910842"/>
            <a:chExt cx="7868558" cy="176748"/>
          </a:xfrm>
        </p:grpSpPr>
        <p:sp>
          <p:nvSpPr>
            <p:cNvPr id="13" name="Rectangle 12"/>
            <p:cNvSpPr/>
            <p:nvPr/>
          </p:nvSpPr>
          <p:spPr>
            <a:xfrm>
              <a:off x="4782457" y="1910842"/>
              <a:ext cx="2627086" cy="176748"/>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155371" y="1910842"/>
              <a:ext cx="2627086" cy="176748"/>
            </a:xfrm>
            <a:prstGeom prst="rect">
              <a:avLst/>
            </a:prstGeom>
            <a:solidFill>
              <a:srgbClr val="008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396843" y="1910842"/>
              <a:ext cx="2627086" cy="176748"/>
            </a:xfrm>
            <a:prstGeom prst="rect">
              <a:avLst/>
            </a:prstGeom>
            <a:solidFill>
              <a:srgbClr val="A1B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2155371" y="4394272"/>
            <a:ext cx="7868558" cy="178510"/>
            <a:chOff x="2155371" y="4699578"/>
            <a:chExt cx="7868558" cy="178510"/>
          </a:xfrm>
        </p:grpSpPr>
        <p:sp>
          <p:nvSpPr>
            <p:cNvPr id="17" name="Rectangle 16"/>
            <p:cNvSpPr/>
            <p:nvPr/>
          </p:nvSpPr>
          <p:spPr>
            <a:xfrm>
              <a:off x="4782457" y="4701340"/>
              <a:ext cx="2627086" cy="176748"/>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155371" y="4701340"/>
              <a:ext cx="2627086" cy="176748"/>
            </a:xfrm>
            <a:prstGeom prst="rect">
              <a:avLst/>
            </a:prstGeom>
            <a:solidFill>
              <a:srgbClr val="012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7396843" y="4699578"/>
              <a:ext cx="2627086" cy="176748"/>
            </a:xfrm>
            <a:prstGeom prst="rect">
              <a:avLst/>
            </a:prstGeom>
            <a:solidFill>
              <a:srgbClr val="3DBF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7" name="Straight Connector 26"/>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Rectangle 28"/>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Rectangle 29"/>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 Placeholder 5"/>
          <p:cNvSpPr>
            <a:spLocks noGrp="1"/>
          </p:cNvSpPr>
          <p:nvPr>
            <p:ph type="body" sz="quarter" idx="10"/>
          </p:nvPr>
        </p:nvSpPr>
        <p:spPr>
          <a:xfrm>
            <a:off x="507226" y="382630"/>
            <a:ext cx="11009271" cy="642938"/>
          </a:xfrm>
        </p:spPr>
        <p:txBody>
          <a:bodyPr/>
          <a:lstStyle/>
          <a:p>
            <a:r>
              <a:rPr lang="en-US" dirty="0"/>
              <a:t>Why do we use </a:t>
            </a:r>
            <a:r>
              <a:rPr lang="en-US" i="1" dirty="0">
                <a:solidFill>
                  <a:srgbClr val="D43E01"/>
                </a:solidFill>
                <a:latin typeface="Lato Light" panose="020F0302020204030203" pitchFamily="34" charset="0"/>
              </a:rPr>
              <a:t>Histogram </a:t>
            </a:r>
            <a:r>
              <a:rPr lang="en-US" dirty="0"/>
              <a:t>?</a:t>
            </a:r>
            <a:endParaRPr lang="en-US" i="1" dirty="0">
              <a:solidFill>
                <a:srgbClr val="D43E01"/>
              </a:solidFill>
              <a:latin typeface="Lato Light" panose="020F0302020204030203" pitchFamily="34" charset="0"/>
            </a:endParaRPr>
          </a:p>
        </p:txBody>
      </p:sp>
      <p:sp>
        <p:nvSpPr>
          <p:cNvPr id="42" name="Text Placeholder 6"/>
          <p:cNvSpPr>
            <a:spLocks noGrp="1"/>
          </p:cNvSpPr>
          <p:nvPr>
            <p:ph type="body" sz="quarter" idx="11"/>
          </p:nvPr>
        </p:nvSpPr>
        <p:spPr>
          <a:xfrm>
            <a:off x="531940" y="942806"/>
            <a:ext cx="10984557" cy="305229"/>
          </a:xfrm>
        </p:spPr>
        <p:txBody>
          <a:bodyPr/>
          <a:lstStyle/>
          <a:p>
            <a:r>
              <a:rPr lang="en-US" b="1" dirty="0"/>
              <a:t>Feature Data Vs. Histogram</a:t>
            </a:r>
          </a:p>
        </p:txBody>
      </p:sp>
      <p:grpSp>
        <p:nvGrpSpPr>
          <p:cNvPr id="43" name="Group 42"/>
          <p:cNvGrpSpPr/>
          <p:nvPr/>
        </p:nvGrpSpPr>
        <p:grpSpPr>
          <a:xfrm>
            <a:off x="455000" y="491056"/>
            <a:ext cx="45720" cy="675713"/>
            <a:chOff x="455000" y="491056"/>
            <a:chExt cx="45720" cy="675713"/>
          </a:xfrm>
        </p:grpSpPr>
        <p:sp>
          <p:nvSpPr>
            <p:cNvPr id="44" name="Rectangle 43"/>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TextBox 45"/>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a:t>
            </a:r>
          </a:p>
        </p:txBody>
      </p:sp>
    </p:spTree>
    <p:extLst>
      <p:ext uri="{BB962C8B-B14F-4D97-AF65-F5344CB8AC3E}">
        <p14:creationId xmlns:p14="http://schemas.microsoft.com/office/powerpoint/2010/main" val="1783588208"/>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7" presetClass="entr" presetSubtype="0" fill="hold" nodeType="withEffect">
                                  <p:stCondLst>
                                    <p:cond delay="25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anim calcmode="lin" valueType="num">
                                      <p:cBhvr>
                                        <p:cTn id="16" dur="1000" fill="hold"/>
                                        <p:tgtEl>
                                          <p:spTgt spid="16"/>
                                        </p:tgtEl>
                                        <p:attrNameLst>
                                          <p:attrName>ppt_x</p:attrName>
                                        </p:attrNameLst>
                                      </p:cBhvr>
                                      <p:tavLst>
                                        <p:tav tm="0">
                                          <p:val>
                                            <p:strVal val="#ppt_x"/>
                                          </p:val>
                                        </p:tav>
                                        <p:tav tm="100000">
                                          <p:val>
                                            <p:strVal val="#ppt_x"/>
                                          </p:val>
                                        </p:tav>
                                      </p:tavLst>
                                    </p:anim>
                                    <p:anim calcmode="lin" valueType="num">
                                      <p:cBhvr>
                                        <p:cTn id="17" dur="1000" fill="hold"/>
                                        <p:tgtEl>
                                          <p:spTgt spid="16"/>
                                        </p:tgtEl>
                                        <p:attrNameLst>
                                          <p:attrName>ppt_y</p:attrName>
                                        </p:attrNameLst>
                                      </p:cBhvr>
                                      <p:tavLst>
                                        <p:tav tm="0">
                                          <p:val>
                                            <p:strVal val="#ppt_y+.1"/>
                                          </p:val>
                                        </p:tav>
                                        <p:tav tm="100000">
                                          <p:val>
                                            <p:strVal val="#ppt_y"/>
                                          </p:val>
                                        </p:tav>
                                      </p:tavLst>
                                    </p:anim>
                                  </p:childTnLst>
                                </p:cTn>
                              </p:par>
                            </p:childTnLst>
                          </p:cTn>
                        </p:par>
                        <p:par>
                          <p:cTn id="18" fill="hold">
                            <p:stCondLst>
                              <p:cond delay="125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175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1"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What Is </a:t>
            </a:r>
            <a:r>
              <a:rPr lang="en-US" i="1" dirty="0">
                <a:solidFill>
                  <a:srgbClr val="3DBF9C"/>
                </a:solidFill>
                <a:latin typeface="Lato Light" panose="020F0302020204030203" pitchFamily="34" charset="0"/>
              </a:rPr>
              <a:t>Histogram</a:t>
            </a:r>
            <a:r>
              <a:rPr lang="en-US" dirty="0">
                <a:solidFill>
                  <a:schemeClr val="tx1"/>
                </a:solidFill>
              </a:rPr>
              <a:t>?</a:t>
            </a:r>
          </a:p>
        </p:txBody>
      </p:sp>
      <p:sp>
        <p:nvSpPr>
          <p:cNvPr id="3" name="Text Placeholder 2"/>
          <p:cNvSpPr>
            <a:spLocks noGrp="1"/>
          </p:cNvSpPr>
          <p:nvPr>
            <p:ph type="body" sz="quarter" idx="11"/>
          </p:nvPr>
        </p:nvSpPr>
        <p:spPr/>
        <p:txBody>
          <a:bodyPr/>
          <a:lstStyle/>
          <a:p>
            <a:r>
              <a:rPr lang="en-US" b="1" dirty="0"/>
              <a:t>Feature Data Vs. Histogram</a:t>
            </a:r>
          </a:p>
        </p:txBody>
      </p:sp>
      <p:sp>
        <p:nvSpPr>
          <p:cNvPr id="4" name="Content Placeholder 3"/>
          <p:cNvSpPr>
            <a:spLocks noGrp="1"/>
          </p:cNvSpPr>
          <p:nvPr>
            <p:ph sz="quarter" idx="12"/>
          </p:nvPr>
        </p:nvSpPr>
        <p:spPr>
          <a:xfrm>
            <a:off x="915738" y="1918300"/>
            <a:ext cx="10218985" cy="1009458"/>
          </a:xfrm>
        </p:spPr>
        <p:txBody>
          <a:bodyPr/>
          <a:lstStyle/>
          <a:p>
            <a:pPr>
              <a:lnSpc>
                <a:spcPct val="100000"/>
              </a:lnSpc>
              <a:spcBef>
                <a:spcPts val="0"/>
              </a:spcBef>
              <a:spcAft>
                <a:spcPts val="600"/>
              </a:spcAft>
              <a:buFont typeface="Wingdings" panose="05000000000000000000" pitchFamily="2" charset="2"/>
              <a:buChar char="ü"/>
              <a:tabLst>
                <a:tab pos="228600" algn="l"/>
              </a:tabLst>
            </a:pPr>
            <a:r>
              <a:rPr lang="en-US" b="1" dirty="0"/>
              <a:t> Histograms</a:t>
            </a:r>
            <a:r>
              <a:rPr lang="en-US" dirty="0"/>
              <a:t> look very similar to bar graphs, but there is one striking factor that separates them. </a:t>
            </a:r>
          </a:p>
          <a:p>
            <a:pPr>
              <a:lnSpc>
                <a:spcPct val="100000"/>
              </a:lnSpc>
              <a:spcBef>
                <a:spcPts val="0"/>
              </a:spcBef>
              <a:spcAft>
                <a:spcPts val="600"/>
              </a:spcAft>
              <a:buFont typeface="Wingdings" panose="05000000000000000000" pitchFamily="2" charset="2"/>
              <a:buChar char="ü"/>
            </a:pPr>
            <a:r>
              <a:rPr lang="en-US" b="1" dirty="0"/>
              <a:t> The bars </a:t>
            </a:r>
            <a:r>
              <a:rPr lang="en-US" dirty="0"/>
              <a:t>in bar graphs are separated by </a:t>
            </a:r>
            <a:r>
              <a:rPr lang="en-US" b="1" dirty="0"/>
              <a:t>constant intervals</a:t>
            </a:r>
            <a:r>
              <a:rPr lang="en-US" dirty="0"/>
              <a:t>, but the bars of histograms are </a:t>
            </a:r>
            <a:r>
              <a:rPr lang="en-US" b="1" dirty="0"/>
              <a:t>always touching</a:t>
            </a:r>
            <a:r>
              <a:rPr lang="en-US" dirty="0"/>
              <a:t>. </a:t>
            </a:r>
          </a:p>
          <a:p>
            <a:pPr>
              <a:lnSpc>
                <a:spcPct val="100000"/>
              </a:lnSpc>
              <a:spcBef>
                <a:spcPts val="0"/>
              </a:spcBef>
              <a:spcAft>
                <a:spcPts val="600"/>
              </a:spcAft>
              <a:buFont typeface="Wingdings" panose="05000000000000000000" pitchFamily="2" charset="2"/>
              <a:buChar char="ü"/>
            </a:pPr>
            <a:r>
              <a:rPr lang="en-US" dirty="0"/>
              <a:t> Other characteristics of </a:t>
            </a:r>
            <a:r>
              <a:rPr lang="en-US" b="1" dirty="0"/>
              <a:t>histograms</a:t>
            </a:r>
            <a:r>
              <a:rPr lang="en-US" dirty="0"/>
              <a:t> include that the </a:t>
            </a:r>
            <a:r>
              <a:rPr lang="en-US" b="1" dirty="0"/>
              <a:t>x-axis</a:t>
            </a:r>
            <a:r>
              <a:rPr lang="en-US" dirty="0"/>
              <a:t> is </a:t>
            </a:r>
            <a:r>
              <a:rPr lang="en-US" b="1" dirty="0"/>
              <a:t>measured in ranges </a:t>
            </a:r>
            <a:r>
              <a:rPr lang="en-US" dirty="0"/>
              <a:t>to describe different parts of the data.</a:t>
            </a:r>
          </a:p>
        </p:txBody>
      </p:sp>
      <p:sp>
        <p:nvSpPr>
          <p:cNvPr id="5" name="Content Placeholder 4"/>
          <p:cNvSpPr>
            <a:spLocks noGrp="1"/>
          </p:cNvSpPr>
          <p:nvPr>
            <p:ph sz="quarter" idx="13"/>
          </p:nvPr>
        </p:nvSpPr>
        <p:spPr>
          <a:xfrm>
            <a:off x="915738" y="1259439"/>
            <a:ext cx="10108853" cy="572570"/>
          </a:xfrm>
        </p:spPr>
        <p:txBody>
          <a:bodyPr/>
          <a:lstStyle/>
          <a:p>
            <a:pPr algn="just">
              <a:lnSpc>
                <a:spcPct val="150000"/>
              </a:lnSpc>
            </a:pPr>
            <a:r>
              <a:rPr lang="en-US" sz="2100" i="1" dirty="0">
                <a:solidFill>
                  <a:schemeClr val="tx1"/>
                </a:solidFill>
              </a:rPr>
              <a:t>A</a:t>
            </a:r>
            <a:r>
              <a:rPr lang="en-US" sz="2100" b="1" i="1" dirty="0">
                <a:solidFill>
                  <a:srgbClr val="3DBF9C"/>
                </a:solidFill>
              </a:rPr>
              <a:t> Histogram </a:t>
            </a:r>
            <a:r>
              <a:rPr lang="en-US" sz="2100" i="1" dirty="0"/>
              <a:t> is a vertical bar chart that depicts the distribution of a set of </a:t>
            </a:r>
            <a:r>
              <a:rPr lang="en-US" sz="2100" b="1" i="1" dirty="0"/>
              <a:t>continuous</a:t>
            </a:r>
            <a:r>
              <a:rPr lang="en-US" sz="2100" i="1" dirty="0"/>
              <a:t> data</a:t>
            </a:r>
          </a:p>
        </p:txBody>
      </p:sp>
      <p:sp>
        <p:nvSpPr>
          <p:cNvPr id="9" name="Rectangle 8"/>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0" name="Straight Connector 9"/>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TextBox 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- 2</a:t>
            </a:r>
          </a:p>
        </p:txBody>
      </p:sp>
      <p:grpSp>
        <p:nvGrpSpPr>
          <p:cNvPr id="21" name="Group 20"/>
          <p:cNvGrpSpPr/>
          <p:nvPr/>
        </p:nvGrpSpPr>
        <p:grpSpPr>
          <a:xfrm>
            <a:off x="455000" y="491056"/>
            <a:ext cx="45720" cy="675713"/>
            <a:chOff x="455000" y="491056"/>
            <a:chExt cx="45720" cy="675713"/>
          </a:xfrm>
        </p:grpSpPr>
        <p:sp>
          <p:nvSpPr>
            <p:cNvPr id="22" name="Rectangle 21"/>
            <p:cNvSpPr/>
            <p:nvPr userDrawn="1"/>
          </p:nvSpPr>
          <p:spPr>
            <a:xfrm>
              <a:off x="455001" y="491056"/>
              <a:ext cx="45719" cy="675713"/>
            </a:xfrm>
            <a:prstGeom prst="rect">
              <a:avLst/>
            </a:prstGeom>
            <a:solidFill>
              <a:srgbClr val="3DBF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24" name="Content Placeholder 3"/>
          <p:cNvSpPr txBox="1">
            <a:spLocks/>
          </p:cNvSpPr>
          <p:nvPr/>
        </p:nvSpPr>
        <p:spPr>
          <a:xfrm>
            <a:off x="1682114" y="3120575"/>
            <a:ext cx="3572933" cy="555965"/>
          </a:xfrm>
          <a:prstGeom prst="rect">
            <a:avLst/>
          </a:prstGeom>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1400" b="1" dirty="0"/>
              <a:t>The bar chart below shows average household income for the four "New" states</a:t>
            </a:r>
          </a:p>
        </p:txBody>
      </p:sp>
      <p:sp>
        <p:nvSpPr>
          <p:cNvPr id="26" name="Content Placeholder 3"/>
          <p:cNvSpPr txBox="1">
            <a:spLocks/>
          </p:cNvSpPr>
          <p:nvPr/>
        </p:nvSpPr>
        <p:spPr>
          <a:xfrm>
            <a:off x="7010281" y="3120574"/>
            <a:ext cx="3220758" cy="555965"/>
          </a:xfrm>
          <a:prstGeom prst="rect">
            <a:avLst/>
          </a:prstGeom>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1400" b="1" dirty="0"/>
              <a:t>The histogram below shows per capita income for five age groups</a:t>
            </a:r>
          </a:p>
        </p:txBody>
      </p:sp>
      <p:pic>
        <p:nvPicPr>
          <p:cNvPr id="7" name="Picture 6"/>
          <p:cNvPicPr>
            <a:picLocks noChangeAspect="1"/>
          </p:cNvPicPr>
          <p:nvPr/>
        </p:nvPicPr>
        <p:blipFill rotWithShape="1">
          <a:blip r:embed="rId3">
            <a:grayscl/>
          </a:blip>
          <a:srcRect l="24352"/>
          <a:stretch/>
        </p:blipFill>
        <p:spPr>
          <a:xfrm>
            <a:off x="7311273" y="3624594"/>
            <a:ext cx="2618774" cy="1828800"/>
          </a:xfrm>
          <a:prstGeom prst="rect">
            <a:avLst/>
          </a:prstGeom>
          <a:ln>
            <a:noFill/>
          </a:ln>
          <a:effectLst/>
        </p:spPr>
      </p:pic>
      <p:graphicFrame>
        <p:nvGraphicFramePr>
          <p:cNvPr id="31" name="Chart 30"/>
          <p:cNvGraphicFramePr/>
          <p:nvPr>
            <p:extLst>
              <p:ext uri="{D42A27DB-BD31-4B8C-83A1-F6EECF244321}">
                <p14:modId xmlns:p14="http://schemas.microsoft.com/office/powerpoint/2010/main" val="3962487933"/>
              </p:ext>
            </p:extLst>
          </p:nvPr>
        </p:nvGraphicFramePr>
        <p:xfrm>
          <a:off x="1682114" y="3755482"/>
          <a:ext cx="3572933"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35" name="Content Placeholder 3"/>
          <p:cNvSpPr txBox="1">
            <a:spLocks/>
          </p:cNvSpPr>
          <p:nvPr/>
        </p:nvSpPr>
        <p:spPr>
          <a:xfrm>
            <a:off x="1858201" y="5663224"/>
            <a:ext cx="3220758" cy="555965"/>
          </a:xfrm>
          <a:prstGeom prst="rect">
            <a:avLst/>
          </a:prstGeom>
          <a:ln w="15875">
            <a:solidFill>
              <a:schemeClr val="bg1">
                <a:lumMod val="50000"/>
              </a:schemeClr>
            </a:solidFill>
          </a:ln>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1200" dirty="0"/>
              <a:t>The chart shows that per capita income is highest in New Jersey; lowest, in New Mexico</a:t>
            </a:r>
            <a:endParaRPr lang="en-US" sz="1050" dirty="0"/>
          </a:p>
        </p:txBody>
      </p:sp>
      <p:sp>
        <p:nvSpPr>
          <p:cNvPr id="36" name="Content Placeholder 3"/>
          <p:cNvSpPr txBox="1">
            <a:spLocks/>
          </p:cNvSpPr>
          <p:nvPr/>
        </p:nvSpPr>
        <p:spPr>
          <a:xfrm>
            <a:off x="7010281" y="5621832"/>
            <a:ext cx="3220758" cy="555965"/>
          </a:xfrm>
          <a:prstGeom prst="rect">
            <a:avLst/>
          </a:prstGeom>
          <a:ln w="15875">
            <a:solidFill>
              <a:schemeClr val="bg1">
                <a:lumMod val="50000"/>
              </a:schemeClr>
            </a:solidFill>
          </a:ln>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1200" dirty="0"/>
              <a:t>You can see from the chart that per capita income is greatest in the 45 to 54 age group</a:t>
            </a:r>
            <a:endParaRPr lang="en-US" sz="1050" dirty="0"/>
          </a:p>
        </p:txBody>
      </p:sp>
      <p:sp>
        <p:nvSpPr>
          <p:cNvPr id="37" name="Rectangle 36"/>
          <p:cNvSpPr/>
          <p:nvPr/>
        </p:nvSpPr>
        <p:spPr>
          <a:xfrm>
            <a:off x="1315168" y="3035808"/>
            <a:ext cx="4306824" cy="331253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467248" y="3033705"/>
            <a:ext cx="4306824" cy="331253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ontent Placeholder 3"/>
          <p:cNvSpPr txBox="1">
            <a:spLocks/>
          </p:cNvSpPr>
          <p:nvPr/>
        </p:nvSpPr>
        <p:spPr>
          <a:xfrm>
            <a:off x="5811714" y="4538994"/>
            <a:ext cx="505037" cy="349529"/>
          </a:xfrm>
          <a:prstGeom prst="rect">
            <a:avLst/>
          </a:prstGeom>
          <a:ln w="15875">
            <a:noFill/>
          </a:ln>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2400" b="1" dirty="0"/>
              <a:t>Vs</a:t>
            </a:r>
            <a:endParaRPr lang="en-US" sz="1800" b="1" dirty="0"/>
          </a:p>
        </p:txBody>
      </p:sp>
      <p:sp>
        <p:nvSpPr>
          <p:cNvPr id="41" name="Rectangle 40"/>
          <p:cNvSpPr/>
          <p:nvPr/>
        </p:nvSpPr>
        <p:spPr>
          <a:xfrm>
            <a:off x="2473887" y="3712875"/>
            <a:ext cx="541875" cy="1867192"/>
          </a:xfrm>
          <a:prstGeom prst="rect">
            <a:avLst/>
          </a:prstGeom>
          <a:noFill/>
          <a:ln w="28575">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4508596" y="4136064"/>
            <a:ext cx="538463" cy="1446148"/>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686800" y="3755481"/>
            <a:ext cx="430823" cy="1758399"/>
          </a:xfrm>
          <a:prstGeom prst="rect">
            <a:avLst/>
          </a:prstGeom>
          <a:noFill/>
          <a:ln w="28575">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336108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500"/>
                                        <p:tgtEl>
                                          <p:spTgt spid="4">
                                            <p:txEl>
                                              <p:pRg st="1" end="1"/>
                                            </p:txEl>
                                          </p:spTgt>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heel(1)">
                                      <p:cBhvr>
                                        <p:cTn id="25" dur="500"/>
                                        <p:tgtEl>
                                          <p:spTgt spid="37"/>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21" presetClass="entr" presetSubtype="1"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heel(1)">
                                      <p:cBhvr>
                                        <p:cTn id="41" dur="500"/>
                                        <p:tgtEl>
                                          <p:spTgt spid="41"/>
                                        </p:tgtEl>
                                      </p:cBhvr>
                                    </p:animEffect>
                                  </p:childTnLst>
                                </p:cTn>
                              </p:par>
                            </p:childTnLst>
                          </p:cTn>
                        </p:par>
                        <p:par>
                          <p:cTn id="42" fill="hold">
                            <p:stCondLst>
                              <p:cond delay="500"/>
                            </p:stCondLst>
                            <p:childTnLst>
                              <p:par>
                                <p:cTn id="43" presetID="21" presetClass="entr" presetSubtype="1" fill="hold" grpId="0" nodeType="after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wheel(1)">
                                      <p:cBhvr>
                                        <p:cTn id="45" dur="500"/>
                                        <p:tgtEl>
                                          <p:spTgt spid="4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21" presetClass="entr" presetSubtype="1"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heel(1)">
                                      <p:cBhvr>
                                        <p:cTn id="53" dur="500"/>
                                        <p:tgtEl>
                                          <p:spTgt spid="39"/>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500"/>
                                        <p:tgtEl>
                                          <p:spTgt spid="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500"/>
                                        <p:tgtEl>
                                          <p:spTgt spid="36"/>
                                        </p:tgtEl>
                                      </p:cBhvr>
                                    </p:animEffect>
                                  </p:childTnLst>
                                </p:cTn>
                              </p:par>
                              <p:par>
                                <p:cTn id="67" presetID="21" presetClass="entr" presetSubtype="1"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heel(1)">
                                      <p:cBhvr>
                                        <p:cTn id="6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build="p"/>
      <p:bldP spid="24" grpId="0"/>
      <p:bldP spid="26" grpId="0"/>
      <p:bldGraphic spid="31" grpId="0">
        <p:bldAsOne/>
      </p:bldGraphic>
      <p:bldP spid="35" grpId="0" animBg="1"/>
      <p:bldP spid="36" grpId="0" animBg="1"/>
      <p:bldP spid="37" grpId="0" animBg="1"/>
      <p:bldP spid="39" grpId="0" animBg="1"/>
      <p:bldP spid="40" grpId="0"/>
      <p:bldP spid="41"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When are </a:t>
            </a:r>
            <a:r>
              <a:rPr lang="en-US" i="1" dirty="0">
                <a:solidFill>
                  <a:srgbClr val="FE8301"/>
                </a:solidFill>
                <a:latin typeface="Lato Light" panose="020F0302020204030203" pitchFamily="34" charset="0"/>
              </a:rPr>
              <a:t>Histograms</a:t>
            </a:r>
            <a:r>
              <a:rPr lang="en-US" dirty="0">
                <a:solidFill>
                  <a:srgbClr val="FE8301"/>
                </a:solidFill>
                <a:latin typeface="Lato Light" panose="020F0302020204030203" pitchFamily="34" charset="0"/>
              </a:rPr>
              <a:t> </a:t>
            </a:r>
            <a:r>
              <a:rPr lang="en-US" dirty="0">
                <a:solidFill>
                  <a:schemeClr val="tx1"/>
                </a:solidFill>
              </a:rPr>
              <a:t>Used?</a:t>
            </a:r>
            <a:endParaRPr lang="en-US" dirty="0">
              <a:solidFill>
                <a:schemeClr val="tx1"/>
              </a:solidFill>
              <a:latin typeface="Lato Light" panose="020F0302020204030203" pitchFamily="34" charset="0"/>
            </a:endParaRPr>
          </a:p>
        </p:txBody>
      </p:sp>
      <p:sp>
        <p:nvSpPr>
          <p:cNvPr id="3" name="Text Placeholder 2"/>
          <p:cNvSpPr>
            <a:spLocks noGrp="1"/>
          </p:cNvSpPr>
          <p:nvPr>
            <p:ph type="body" sz="quarter" idx="11"/>
          </p:nvPr>
        </p:nvSpPr>
        <p:spPr/>
        <p:txBody>
          <a:bodyPr/>
          <a:lstStyle/>
          <a:p>
            <a:r>
              <a:rPr lang="en-US" b="1" dirty="0"/>
              <a:t>Feature Data Vs. Histogram</a:t>
            </a:r>
          </a:p>
        </p:txBody>
      </p:sp>
      <p:sp>
        <p:nvSpPr>
          <p:cNvPr id="31" name="Rectangle 30"/>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2" name="Straight Connector 31"/>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4" name="Rectangle 33"/>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3" name="Group 42"/>
          <p:cNvGrpSpPr/>
          <p:nvPr/>
        </p:nvGrpSpPr>
        <p:grpSpPr>
          <a:xfrm>
            <a:off x="455000" y="491056"/>
            <a:ext cx="45720" cy="675713"/>
            <a:chOff x="455000" y="491056"/>
            <a:chExt cx="45720" cy="675713"/>
          </a:xfrm>
        </p:grpSpPr>
        <p:sp>
          <p:nvSpPr>
            <p:cNvPr id="44" name="Rectangle 43"/>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TextBox 45"/>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- 3</a:t>
            </a:r>
          </a:p>
        </p:txBody>
      </p:sp>
      <p:grpSp>
        <p:nvGrpSpPr>
          <p:cNvPr id="47" name="Group 46"/>
          <p:cNvGrpSpPr/>
          <p:nvPr/>
        </p:nvGrpSpPr>
        <p:grpSpPr>
          <a:xfrm>
            <a:off x="736103" y="1808211"/>
            <a:ext cx="9784782" cy="861430"/>
            <a:chOff x="822673" y="3520103"/>
            <a:chExt cx="9784782" cy="861430"/>
          </a:xfrm>
        </p:grpSpPr>
        <p:sp>
          <p:nvSpPr>
            <p:cNvPr id="48" name="Teardrop 47"/>
            <p:cNvSpPr/>
            <p:nvPr/>
          </p:nvSpPr>
          <p:spPr>
            <a:xfrm>
              <a:off x="822673" y="3520103"/>
              <a:ext cx="861430" cy="861430"/>
            </a:xfrm>
            <a:prstGeom prst="teardrop">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FontAwesome" pitchFamily="2" charset="0"/>
                </a:rPr>
                <a:t>1</a:t>
              </a:r>
              <a:endParaRPr lang="ru-RU" sz="2400" dirty="0">
                <a:solidFill>
                  <a:prstClr val="white"/>
                </a:solidFill>
              </a:endParaRPr>
            </a:p>
          </p:txBody>
        </p:sp>
        <p:sp>
          <p:nvSpPr>
            <p:cNvPr id="49" name="TextBox 48"/>
            <p:cNvSpPr txBox="1"/>
            <p:nvPr/>
          </p:nvSpPr>
          <p:spPr>
            <a:xfrm>
              <a:off x="1736945" y="3520103"/>
              <a:ext cx="4165600" cy="369332"/>
            </a:xfrm>
            <a:prstGeom prst="rect">
              <a:avLst/>
            </a:prstGeom>
            <a:noFill/>
          </p:spPr>
          <p:txBody>
            <a:bodyPr wrap="square" rtlCol="0">
              <a:spAutoFit/>
            </a:bodyPr>
            <a:lstStyle/>
            <a:p>
              <a:r>
                <a:rPr lang="en-US" dirty="0">
                  <a:solidFill>
                    <a:schemeClr val="tx1">
                      <a:lumMod val="75000"/>
                      <a:lumOff val="25000"/>
                    </a:schemeClr>
                  </a:solidFill>
                  <a:latin typeface="Lato Black" panose="020F0A02020204030203" pitchFamily="34" charset="0"/>
                  <a:cs typeface="Lato Black" panose="020F0A02020204030203" pitchFamily="34" charset="0"/>
                </a:rPr>
                <a:t>Summarize large data sets graphically</a:t>
              </a:r>
            </a:p>
          </p:txBody>
        </p:sp>
        <p:sp>
          <p:nvSpPr>
            <p:cNvPr id="50" name="TextBox 49"/>
            <p:cNvSpPr txBox="1"/>
            <p:nvPr/>
          </p:nvSpPr>
          <p:spPr>
            <a:xfrm>
              <a:off x="1736945" y="3830250"/>
              <a:ext cx="8870510" cy="307777"/>
            </a:xfrm>
            <a:prstGeom prst="rect">
              <a:avLst/>
            </a:prstGeom>
            <a:noFill/>
          </p:spPr>
          <p:txBody>
            <a:bodyPr wrap="square" rtlCol="0">
              <a:spAutoFit/>
            </a:bodyPr>
            <a:lstStyle/>
            <a:p>
              <a:r>
                <a:rPr lang="en-US" sz="1400" dirty="0">
                  <a:solidFill>
                    <a:schemeClr val="tx1">
                      <a:lumMod val="75000"/>
                      <a:lumOff val="25000"/>
                    </a:schemeClr>
                  </a:solidFill>
                  <a:latin typeface="Lato Light" panose="020F0402020204030203" pitchFamily="34" charset="0"/>
                  <a:cs typeface="Lato Light" panose="020F0402020204030203" pitchFamily="34" charset="0"/>
                </a:rPr>
                <a:t>Make it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much easier </a:t>
              </a:r>
              <a:r>
                <a:rPr lang="en-US" sz="1400" dirty="0">
                  <a:solidFill>
                    <a:schemeClr val="tx1">
                      <a:lumMod val="75000"/>
                      <a:lumOff val="25000"/>
                    </a:schemeClr>
                  </a:solidFill>
                  <a:latin typeface="Lato Light" panose="020F0402020204030203" pitchFamily="34" charset="0"/>
                  <a:cs typeface="Lato Light" panose="020F0402020204030203" pitchFamily="34" charset="0"/>
                </a:rPr>
                <a:t>to understand by organizing large data into a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Histogram</a:t>
              </a:r>
              <a:r>
                <a:rPr lang="en-US" sz="1400" dirty="0">
                  <a:solidFill>
                    <a:schemeClr val="tx1">
                      <a:lumMod val="75000"/>
                      <a:lumOff val="25000"/>
                    </a:schemeClr>
                  </a:solidFill>
                  <a:latin typeface="Lato Light" panose="020F0402020204030203" pitchFamily="34" charset="0"/>
                  <a:cs typeface="Lato Light" panose="020F0402020204030203" pitchFamily="34" charset="0"/>
                </a:rPr>
                <a:t>.</a:t>
              </a:r>
            </a:p>
          </p:txBody>
        </p:sp>
      </p:grpSp>
      <p:graphicFrame>
        <p:nvGraphicFramePr>
          <p:cNvPr id="12" name="Table 11"/>
          <p:cNvGraphicFramePr>
            <a:graphicFrameLocks noGrp="1"/>
          </p:cNvGraphicFramePr>
          <p:nvPr>
            <p:extLst>
              <p:ext uri="{D42A27DB-BD31-4B8C-83A1-F6EECF244321}">
                <p14:modId xmlns:p14="http://schemas.microsoft.com/office/powerpoint/2010/main" val="867110179"/>
              </p:ext>
            </p:extLst>
          </p:nvPr>
        </p:nvGraphicFramePr>
        <p:xfrm>
          <a:off x="1491759" y="3668659"/>
          <a:ext cx="3317632" cy="1773625"/>
        </p:xfrm>
        <a:graphic>
          <a:graphicData uri="http://schemas.openxmlformats.org/drawingml/2006/table">
            <a:tbl>
              <a:tblPr>
                <a:tableStyleId>{073A0DAA-6AF3-43AB-8588-CEC1D06C72B9}</a:tableStyleId>
              </a:tblPr>
              <a:tblGrid>
                <a:gridCol w="829408">
                  <a:extLst>
                    <a:ext uri="{9D8B030D-6E8A-4147-A177-3AD203B41FA5}">
                      <a16:colId xmlns:a16="http://schemas.microsoft.com/office/drawing/2014/main" val="3266167179"/>
                    </a:ext>
                  </a:extLst>
                </a:gridCol>
                <a:gridCol w="829408">
                  <a:extLst>
                    <a:ext uri="{9D8B030D-6E8A-4147-A177-3AD203B41FA5}">
                      <a16:colId xmlns:a16="http://schemas.microsoft.com/office/drawing/2014/main" val="2474664840"/>
                    </a:ext>
                  </a:extLst>
                </a:gridCol>
                <a:gridCol w="829408">
                  <a:extLst>
                    <a:ext uri="{9D8B030D-6E8A-4147-A177-3AD203B41FA5}">
                      <a16:colId xmlns:a16="http://schemas.microsoft.com/office/drawing/2014/main" val="3180220253"/>
                    </a:ext>
                  </a:extLst>
                </a:gridCol>
                <a:gridCol w="829408">
                  <a:extLst>
                    <a:ext uri="{9D8B030D-6E8A-4147-A177-3AD203B41FA5}">
                      <a16:colId xmlns:a16="http://schemas.microsoft.com/office/drawing/2014/main" val="1862103231"/>
                    </a:ext>
                  </a:extLst>
                </a:gridCol>
              </a:tblGrid>
              <a:tr h="354725">
                <a:tc>
                  <a:txBody>
                    <a:bodyPr/>
                    <a:lstStyle/>
                    <a:p>
                      <a:pPr algn="ctr" fontAlgn="ctr"/>
                      <a:r>
                        <a:rPr lang="en-US" sz="1600" u="none" strike="noStrike" dirty="0">
                          <a:effectLst/>
                          <a:latin typeface="Lato Light" panose="020F0302020204030203"/>
                        </a:rPr>
                        <a:t>439.72</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a:effectLst/>
                          <a:latin typeface="Lato Light" panose="020F0302020204030203"/>
                        </a:rPr>
                        <a:t>453.85</a:t>
                      </a:r>
                      <a:endParaRPr lang="en-US" sz="1600" b="0" i="0" u="none" strike="noStrike">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463.40</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a:effectLst/>
                          <a:latin typeface="Lato Light" panose="020F0302020204030203"/>
                        </a:rPr>
                        <a:t>566.57</a:t>
                      </a:r>
                      <a:endParaRPr lang="en-US" sz="1600" b="0" i="0" u="none" strike="noStrike">
                        <a:solidFill>
                          <a:srgbClr val="000000"/>
                        </a:solidFill>
                        <a:effectLst/>
                        <a:latin typeface="Lato Light" panose="020F0302020204030203"/>
                      </a:endParaRPr>
                    </a:p>
                  </a:txBody>
                  <a:tcPr marL="9525" marR="9525" marT="9525" marB="0" anchor="ctr"/>
                </a:tc>
                <a:extLst>
                  <a:ext uri="{0D108BD9-81ED-4DB2-BD59-A6C34878D82A}">
                    <a16:rowId xmlns:a16="http://schemas.microsoft.com/office/drawing/2014/main" val="73128135"/>
                  </a:ext>
                </a:extLst>
              </a:tr>
              <a:tr h="354725">
                <a:tc>
                  <a:txBody>
                    <a:bodyPr/>
                    <a:lstStyle/>
                    <a:p>
                      <a:pPr algn="ctr" fontAlgn="ctr"/>
                      <a:r>
                        <a:rPr lang="en-US" sz="1600" u="none" strike="noStrike" dirty="0">
                          <a:effectLst/>
                          <a:latin typeface="Lato Light" panose="020F0302020204030203"/>
                        </a:rPr>
                        <a:t>337.10</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556.90</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409.33</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a:effectLst/>
                          <a:latin typeface="Lato Light" panose="020F0302020204030203"/>
                        </a:rPr>
                        <a:t>403.23</a:t>
                      </a:r>
                      <a:endParaRPr lang="en-US" sz="1600" b="0" i="0" u="none" strike="noStrike">
                        <a:solidFill>
                          <a:srgbClr val="000000"/>
                        </a:solidFill>
                        <a:effectLst/>
                        <a:latin typeface="Lato Light" panose="020F0302020204030203"/>
                      </a:endParaRPr>
                    </a:p>
                  </a:txBody>
                  <a:tcPr marL="9525" marR="9525" marT="9525" marB="0" anchor="ctr"/>
                </a:tc>
                <a:extLst>
                  <a:ext uri="{0D108BD9-81ED-4DB2-BD59-A6C34878D82A}">
                    <a16:rowId xmlns:a16="http://schemas.microsoft.com/office/drawing/2014/main" val="4264284750"/>
                  </a:ext>
                </a:extLst>
              </a:tr>
              <a:tr h="354725">
                <a:tc>
                  <a:txBody>
                    <a:bodyPr/>
                    <a:lstStyle/>
                    <a:p>
                      <a:pPr algn="ctr" fontAlgn="ctr"/>
                      <a:r>
                        <a:rPr lang="en-US" sz="1600" u="none" strike="noStrike" dirty="0">
                          <a:effectLst/>
                          <a:latin typeface="Lato Light" panose="020F0302020204030203"/>
                        </a:rPr>
                        <a:t>541.75</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a:effectLst/>
                          <a:latin typeface="Lato Light" panose="020F0302020204030203"/>
                        </a:rPr>
                        <a:t>450.32</a:t>
                      </a:r>
                      <a:endParaRPr lang="en-US" sz="1600" b="0" i="0" u="none" strike="noStrike">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154.23</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245.34</a:t>
                      </a:r>
                      <a:endParaRPr lang="en-US" sz="1600" b="0" i="0" u="none" strike="noStrike" dirty="0">
                        <a:solidFill>
                          <a:srgbClr val="000000"/>
                        </a:solidFill>
                        <a:effectLst/>
                        <a:latin typeface="Lato Light" panose="020F0302020204030203"/>
                      </a:endParaRPr>
                    </a:p>
                  </a:txBody>
                  <a:tcPr marL="9525" marR="9525" marT="9525" marB="0" anchor="ctr"/>
                </a:tc>
                <a:extLst>
                  <a:ext uri="{0D108BD9-81ED-4DB2-BD59-A6C34878D82A}">
                    <a16:rowId xmlns:a16="http://schemas.microsoft.com/office/drawing/2014/main" val="2480514651"/>
                  </a:ext>
                </a:extLst>
              </a:tr>
              <a:tr h="354725">
                <a:tc>
                  <a:txBody>
                    <a:bodyPr/>
                    <a:lstStyle/>
                    <a:p>
                      <a:pPr algn="ctr" fontAlgn="ctr"/>
                      <a:r>
                        <a:rPr lang="en-US" sz="1600" u="none" strike="noStrike">
                          <a:effectLst/>
                          <a:latin typeface="Lato Light" panose="020F0302020204030203"/>
                        </a:rPr>
                        <a:t>93.70</a:t>
                      </a:r>
                      <a:endParaRPr lang="en-US" sz="1600" b="0" i="0" u="none" strike="noStrike">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418.75</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a:effectLst/>
                          <a:latin typeface="Lato Light" panose="020F0302020204030203"/>
                        </a:rPr>
                        <a:t>446.87</a:t>
                      </a:r>
                      <a:endParaRPr lang="en-US" sz="1600" b="0" i="0" u="none" strike="noStrike">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109.10</a:t>
                      </a:r>
                      <a:endParaRPr lang="en-US" sz="1600" b="0" i="0" u="none" strike="noStrike" dirty="0">
                        <a:solidFill>
                          <a:srgbClr val="000000"/>
                        </a:solidFill>
                        <a:effectLst/>
                        <a:latin typeface="Lato Light" panose="020F0302020204030203"/>
                      </a:endParaRPr>
                    </a:p>
                  </a:txBody>
                  <a:tcPr marL="9525" marR="9525" marT="9525" marB="0" anchor="ctr"/>
                </a:tc>
                <a:extLst>
                  <a:ext uri="{0D108BD9-81ED-4DB2-BD59-A6C34878D82A}">
                    <a16:rowId xmlns:a16="http://schemas.microsoft.com/office/drawing/2014/main" val="3225272351"/>
                  </a:ext>
                </a:extLst>
              </a:tr>
              <a:tr h="354725">
                <a:tc>
                  <a:txBody>
                    <a:bodyPr/>
                    <a:lstStyle/>
                    <a:p>
                      <a:pPr algn="ctr" fontAlgn="ctr"/>
                      <a:r>
                        <a:rPr lang="en-US" sz="1600" u="none" strike="noStrike">
                          <a:effectLst/>
                          <a:latin typeface="Lato Light" panose="020F0302020204030203"/>
                        </a:rPr>
                        <a:t>444.62</a:t>
                      </a:r>
                      <a:endParaRPr lang="en-US" sz="1600" b="0" i="0" u="none" strike="noStrike">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a:effectLst/>
                          <a:latin typeface="Lato Light" panose="020F0302020204030203"/>
                        </a:rPr>
                        <a:t>690.56</a:t>
                      </a:r>
                      <a:endParaRPr lang="en-US" sz="1600" b="0" i="0" u="none" strike="noStrike">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592.91</a:t>
                      </a:r>
                      <a:endParaRPr lang="en-US" sz="1600" b="0" i="0" u="none" strike="noStrike" dirty="0">
                        <a:solidFill>
                          <a:srgbClr val="000000"/>
                        </a:solidFill>
                        <a:effectLst/>
                        <a:latin typeface="Lato Light" panose="020F0302020204030203"/>
                      </a:endParaRPr>
                    </a:p>
                  </a:txBody>
                  <a:tcPr marL="9525" marR="9525" marT="9525" marB="0" anchor="ctr"/>
                </a:tc>
                <a:tc>
                  <a:txBody>
                    <a:bodyPr/>
                    <a:lstStyle/>
                    <a:p>
                      <a:pPr algn="ctr" fontAlgn="ctr"/>
                      <a:r>
                        <a:rPr lang="en-US" sz="1600" u="none" strike="noStrike" dirty="0">
                          <a:effectLst/>
                          <a:latin typeface="Lato Light" panose="020F0302020204030203"/>
                        </a:rPr>
                        <a:t>292.73</a:t>
                      </a:r>
                      <a:endParaRPr lang="en-US" sz="1600" b="0" i="0" u="none" strike="noStrike" dirty="0">
                        <a:solidFill>
                          <a:srgbClr val="000000"/>
                        </a:solidFill>
                        <a:effectLst/>
                        <a:latin typeface="Lato Light" panose="020F0302020204030203"/>
                      </a:endParaRPr>
                    </a:p>
                  </a:txBody>
                  <a:tcPr marL="9525" marR="9525" marT="9525" marB="0" anchor="ctr"/>
                </a:tc>
                <a:extLst>
                  <a:ext uri="{0D108BD9-81ED-4DB2-BD59-A6C34878D82A}">
                    <a16:rowId xmlns:a16="http://schemas.microsoft.com/office/drawing/2014/main" val="2341970105"/>
                  </a:ext>
                </a:extLst>
              </a:tr>
            </a:tbl>
          </a:graphicData>
        </a:graphic>
      </p:graphicFrame>
      <p:sp>
        <p:nvSpPr>
          <p:cNvPr id="51" name="Content Placeholder 3"/>
          <p:cNvSpPr txBox="1">
            <a:spLocks/>
          </p:cNvSpPr>
          <p:nvPr/>
        </p:nvSpPr>
        <p:spPr>
          <a:xfrm>
            <a:off x="1364108" y="3080348"/>
            <a:ext cx="3572933" cy="529624"/>
          </a:xfrm>
          <a:prstGeom prst="rect">
            <a:avLst/>
          </a:prstGeom>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1400" b="1" dirty="0"/>
              <a:t>Feature Data : Flick Distance</a:t>
            </a:r>
          </a:p>
          <a:p>
            <a:pPr algn="ctr">
              <a:lnSpc>
                <a:spcPct val="100000"/>
              </a:lnSpc>
              <a:spcBef>
                <a:spcPts val="0"/>
              </a:spcBef>
            </a:pPr>
            <a:r>
              <a:rPr lang="en-US" sz="1400" dirty="0"/>
              <a:t>1 person, 20 flicks</a:t>
            </a:r>
          </a:p>
        </p:txBody>
      </p:sp>
      <mc:AlternateContent xmlns:mc="http://schemas.openxmlformats.org/markup-compatibility/2006">
        <mc:Choice xmlns:cx1="http://schemas.microsoft.com/office/drawing/2015/9/8/chartex" Requires="cx1">
          <p:graphicFrame>
            <p:nvGraphicFramePr>
              <p:cNvPr id="52" name="Chart 51"/>
              <p:cNvGraphicFramePr/>
              <p:nvPr>
                <p:extLst>
                  <p:ext uri="{D42A27DB-BD31-4B8C-83A1-F6EECF244321}">
                    <p14:modId xmlns:p14="http://schemas.microsoft.com/office/powerpoint/2010/main" val="535525793"/>
                  </p:ext>
                </p:extLst>
              </p:nvPr>
            </p:nvGraphicFramePr>
            <p:xfrm>
              <a:off x="6305300" y="3080348"/>
              <a:ext cx="4719291" cy="2520741"/>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52" name="Chart 51"/>
              <p:cNvPicPr>
                <a:picLocks noGrp="1" noRot="1" noChangeAspect="1" noMove="1" noResize="1" noEditPoints="1" noAdjustHandles="1" noChangeArrowheads="1" noChangeShapeType="1"/>
              </p:cNvPicPr>
              <p:nvPr/>
            </p:nvPicPr>
            <p:blipFill>
              <a:blip r:embed="rId4"/>
              <a:stretch>
                <a:fillRect/>
              </a:stretch>
            </p:blipFill>
            <p:spPr>
              <a:xfrm>
                <a:off x="6305300" y="3080348"/>
                <a:ext cx="4719291" cy="2520741"/>
              </a:xfrm>
              <a:prstGeom prst="rect">
                <a:avLst/>
              </a:prstGeom>
            </p:spPr>
          </p:pic>
        </mc:Fallback>
      </mc:AlternateContent>
      <p:cxnSp>
        <p:nvCxnSpPr>
          <p:cNvPr id="54" name="Straight Arrow Connector 53"/>
          <p:cNvCxnSpPr/>
          <p:nvPr/>
        </p:nvCxnSpPr>
        <p:spPr>
          <a:xfrm>
            <a:off x="5364660" y="4441666"/>
            <a:ext cx="720970" cy="0"/>
          </a:xfrm>
          <a:prstGeom prst="straightConnector1">
            <a:avLst/>
          </a:prstGeom>
          <a:ln w="38100">
            <a:solidFill>
              <a:srgbClr val="FE830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272265"/>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250"/>
                                        <p:tgtEl>
                                          <p:spTgt spid="47"/>
                                        </p:tgtEl>
                                      </p:cBhvr>
                                    </p:animEffect>
                                    <p:anim calcmode="lin" valueType="num">
                                      <p:cBhvr>
                                        <p:cTn id="8" dur="250" fill="hold"/>
                                        <p:tgtEl>
                                          <p:spTgt spid="47"/>
                                        </p:tgtEl>
                                        <p:attrNameLst>
                                          <p:attrName>ppt_x</p:attrName>
                                        </p:attrNameLst>
                                      </p:cBhvr>
                                      <p:tavLst>
                                        <p:tav tm="0">
                                          <p:val>
                                            <p:strVal val="#ppt_x"/>
                                          </p:val>
                                        </p:tav>
                                        <p:tav tm="100000">
                                          <p:val>
                                            <p:strVal val="#ppt_x"/>
                                          </p:val>
                                        </p:tav>
                                      </p:tavLst>
                                    </p:anim>
                                    <p:anim calcmode="lin" valueType="num">
                                      <p:cBhvr>
                                        <p:cTn id="9" dur="250" fill="hold"/>
                                        <p:tgtEl>
                                          <p:spTgt spid="4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250"/>
                                        <p:tgtEl>
                                          <p:spTgt spid="51"/>
                                        </p:tgtEl>
                                      </p:cBhvr>
                                    </p:animEffect>
                                  </p:childTnLst>
                                </p:cTn>
                              </p:par>
                            </p:childTnLst>
                          </p:cTn>
                        </p:par>
                        <p:par>
                          <p:cTn id="14" fill="hold">
                            <p:stCondLst>
                              <p:cond delay="750"/>
                            </p:stCondLst>
                            <p:childTnLst>
                              <p:par>
                                <p:cTn id="15" presetID="10" presetClass="entr" presetSubtype="0"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5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left)">
                                      <p:cBhvr>
                                        <p:cTn id="22" dur="250"/>
                                        <p:tgtEl>
                                          <p:spTgt spid="54"/>
                                        </p:tgtEl>
                                      </p:cBhvr>
                                    </p:animEffect>
                                  </p:childTnLst>
                                </p:cTn>
                              </p:par>
                            </p:childTnLst>
                          </p:cTn>
                        </p:par>
                        <p:par>
                          <p:cTn id="23" fill="hold">
                            <p:stCondLst>
                              <p:cond delay="250"/>
                            </p:stCondLst>
                            <p:childTnLst>
                              <p:par>
                                <p:cTn id="24" presetID="22" presetClass="entr" presetSubtype="8" fill="hold"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left)">
                                      <p:cBhvr>
                                        <p:cTn id="26"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When are </a:t>
            </a:r>
            <a:r>
              <a:rPr lang="en-US" i="1" dirty="0">
                <a:solidFill>
                  <a:srgbClr val="FE8301"/>
                </a:solidFill>
                <a:latin typeface="Lato Light" panose="020F0302020204030203" pitchFamily="34" charset="0"/>
              </a:rPr>
              <a:t>Histograms</a:t>
            </a:r>
            <a:r>
              <a:rPr lang="en-US" dirty="0">
                <a:solidFill>
                  <a:srgbClr val="FE8301"/>
                </a:solidFill>
                <a:latin typeface="Lato Light" panose="020F0302020204030203" pitchFamily="34" charset="0"/>
              </a:rPr>
              <a:t> </a:t>
            </a:r>
            <a:r>
              <a:rPr lang="en-US" dirty="0">
                <a:solidFill>
                  <a:schemeClr val="tx1"/>
                </a:solidFill>
              </a:rPr>
              <a:t>Used?</a:t>
            </a:r>
            <a:endParaRPr lang="en-US" dirty="0">
              <a:solidFill>
                <a:schemeClr val="tx1"/>
              </a:solidFill>
              <a:latin typeface="Lato Light" panose="020F0302020204030203" pitchFamily="34" charset="0"/>
            </a:endParaRPr>
          </a:p>
        </p:txBody>
      </p:sp>
      <p:sp>
        <p:nvSpPr>
          <p:cNvPr id="3" name="Text Placeholder 2"/>
          <p:cNvSpPr>
            <a:spLocks noGrp="1"/>
          </p:cNvSpPr>
          <p:nvPr>
            <p:ph type="body" sz="quarter" idx="11"/>
          </p:nvPr>
        </p:nvSpPr>
        <p:spPr/>
        <p:txBody>
          <a:bodyPr/>
          <a:lstStyle/>
          <a:p>
            <a:r>
              <a:rPr lang="en-US" b="1" dirty="0"/>
              <a:t>Feature Data Vs. Histogram</a:t>
            </a:r>
          </a:p>
        </p:txBody>
      </p:sp>
      <p:sp>
        <p:nvSpPr>
          <p:cNvPr id="31" name="Rectangle 30"/>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2" name="Straight Connector 31"/>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4" name="Rectangle 33"/>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3" name="Group 42"/>
          <p:cNvGrpSpPr/>
          <p:nvPr/>
        </p:nvGrpSpPr>
        <p:grpSpPr>
          <a:xfrm>
            <a:off x="455000" y="491056"/>
            <a:ext cx="45720" cy="675713"/>
            <a:chOff x="455000" y="491056"/>
            <a:chExt cx="45720" cy="675713"/>
          </a:xfrm>
        </p:grpSpPr>
        <p:sp>
          <p:nvSpPr>
            <p:cNvPr id="44" name="Rectangle 43"/>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TextBox 45"/>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- 4</a:t>
            </a:r>
          </a:p>
        </p:txBody>
      </p:sp>
      <p:grpSp>
        <p:nvGrpSpPr>
          <p:cNvPr id="47" name="Group 46"/>
          <p:cNvGrpSpPr/>
          <p:nvPr/>
        </p:nvGrpSpPr>
        <p:grpSpPr>
          <a:xfrm>
            <a:off x="736103" y="1808211"/>
            <a:ext cx="9784782" cy="861430"/>
            <a:chOff x="822673" y="3520103"/>
            <a:chExt cx="9784782" cy="861430"/>
          </a:xfrm>
        </p:grpSpPr>
        <p:sp>
          <p:nvSpPr>
            <p:cNvPr id="48" name="Teardrop 47"/>
            <p:cNvSpPr/>
            <p:nvPr/>
          </p:nvSpPr>
          <p:spPr>
            <a:xfrm>
              <a:off x="822673" y="3520103"/>
              <a:ext cx="861430" cy="861430"/>
            </a:xfrm>
            <a:prstGeom prst="teardrop">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FontAwesome" pitchFamily="2" charset="0"/>
                </a:rPr>
                <a:t>2</a:t>
              </a:r>
              <a:endParaRPr lang="ru-RU" sz="2400" dirty="0">
                <a:solidFill>
                  <a:prstClr val="white"/>
                </a:solidFill>
              </a:endParaRPr>
            </a:p>
          </p:txBody>
        </p:sp>
        <p:sp>
          <p:nvSpPr>
            <p:cNvPr id="49" name="TextBox 48"/>
            <p:cNvSpPr txBox="1"/>
            <p:nvPr/>
          </p:nvSpPr>
          <p:spPr>
            <a:xfrm>
              <a:off x="1736945" y="3520103"/>
              <a:ext cx="4165600" cy="369332"/>
            </a:xfrm>
            <a:prstGeom prst="rect">
              <a:avLst/>
            </a:prstGeom>
            <a:noFill/>
          </p:spPr>
          <p:txBody>
            <a:bodyPr wrap="square" rtlCol="0">
              <a:spAutoFit/>
            </a:bodyPr>
            <a:lstStyle/>
            <a:p>
              <a:r>
                <a:rPr lang="da-DK" dirty="0">
                  <a:solidFill>
                    <a:schemeClr val="tx1">
                      <a:lumMod val="75000"/>
                      <a:lumOff val="25000"/>
                    </a:schemeClr>
                  </a:solidFill>
                  <a:latin typeface="Lato Black" panose="020F0A02020204030203" pitchFamily="34" charset="0"/>
                  <a:cs typeface="Lato Black" panose="020F0A02020204030203" pitchFamily="34" charset="0"/>
                </a:rPr>
                <a:t>Compare data distributions</a:t>
              </a:r>
            </a:p>
          </p:txBody>
        </p:sp>
        <p:sp>
          <p:nvSpPr>
            <p:cNvPr id="50" name="TextBox 49"/>
            <p:cNvSpPr txBox="1"/>
            <p:nvPr/>
          </p:nvSpPr>
          <p:spPr>
            <a:xfrm>
              <a:off x="1736945" y="3830250"/>
              <a:ext cx="8870510" cy="307777"/>
            </a:xfrm>
            <a:prstGeom prst="rect">
              <a:avLst/>
            </a:prstGeom>
            <a:noFill/>
          </p:spPr>
          <p:txBody>
            <a:bodyPr wrap="square" rtlCol="0">
              <a:spAutoFit/>
            </a:bodyPr>
            <a:lstStyle/>
            <a:p>
              <a:r>
                <a:rPr lang="en-US" sz="1400" dirty="0">
                  <a:solidFill>
                    <a:schemeClr val="tx1">
                      <a:lumMod val="75000"/>
                      <a:lumOff val="25000"/>
                    </a:schemeClr>
                  </a:solidFill>
                  <a:latin typeface="Lato Light" panose="020F0402020204030203" pitchFamily="34" charset="0"/>
                  <a:cs typeface="Lato Light" panose="020F0402020204030203" pitchFamily="34" charset="0"/>
                </a:rPr>
                <a:t>Easily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virtualize</a:t>
              </a:r>
              <a:r>
                <a:rPr lang="en-US" sz="1400" dirty="0">
                  <a:solidFill>
                    <a:schemeClr val="tx1">
                      <a:lumMod val="75000"/>
                      <a:lumOff val="25000"/>
                    </a:schemeClr>
                  </a:solidFill>
                  <a:latin typeface="Lato Light" panose="020F0402020204030203" pitchFamily="34" charset="0"/>
                  <a:cs typeface="Lato Light" panose="020F0402020204030203" pitchFamily="34" charset="0"/>
                </a:rPr>
                <a:t> the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differences</a:t>
              </a:r>
              <a:r>
                <a:rPr lang="en-US" sz="1400" dirty="0">
                  <a:solidFill>
                    <a:schemeClr val="tx1">
                      <a:lumMod val="75000"/>
                      <a:lumOff val="25000"/>
                    </a:schemeClr>
                  </a:solidFill>
                  <a:latin typeface="Lato Light" panose="020F0402020204030203" pitchFamily="34" charset="0"/>
                  <a:cs typeface="Lato Light" panose="020F0402020204030203" pitchFamily="34" charset="0"/>
                </a:rPr>
                <a:t> between two or more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large data distributions </a:t>
              </a:r>
            </a:p>
          </p:txBody>
        </p:sp>
      </p:grpSp>
      <p:sp>
        <p:nvSpPr>
          <p:cNvPr id="51" name="Content Placeholder 3"/>
          <p:cNvSpPr txBox="1">
            <a:spLocks/>
          </p:cNvSpPr>
          <p:nvPr/>
        </p:nvSpPr>
        <p:spPr>
          <a:xfrm>
            <a:off x="3834661" y="2687688"/>
            <a:ext cx="4501938" cy="332128"/>
          </a:xfrm>
          <a:prstGeom prst="rect">
            <a:avLst/>
          </a:prstGeom>
        </p:spPr>
        <p:txBody>
          <a:bodyPr numCol="1" spcCol="365760"/>
          <a:lstStyle>
            <a:lvl1pPr marL="0" indent="0" algn="just"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1pPr>
            <a:lvl2pPr marL="4572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2pPr>
            <a:lvl3pPr marL="9144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3pPr>
            <a:lvl4pPr marL="13716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4pPr>
            <a:lvl5pPr marL="1828800" indent="0" algn="just"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pPr>
            <a:r>
              <a:rPr lang="en-US" sz="1400" b="1" dirty="0"/>
              <a:t>Histogram of the touch-position for two different users</a:t>
            </a:r>
          </a:p>
        </p:txBody>
      </p:sp>
      <p:pic>
        <p:nvPicPr>
          <p:cNvPr id="4" name="Picture 3"/>
          <p:cNvPicPr>
            <a:picLocks noChangeAspect="1"/>
          </p:cNvPicPr>
          <p:nvPr/>
        </p:nvPicPr>
        <p:blipFill rotWithShape="1">
          <a:blip r:embed="rId3">
            <a:clrChange>
              <a:clrFrom>
                <a:srgbClr val="FFFFFF"/>
              </a:clrFrom>
              <a:clrTo>
                <a:srgbClr val="FFFFFF">
                  <a:alpha val="0"/>
                </a:srgbClr>
              </a:clrTo>
            </a:clrChange>
          </a:blip>
          <a:srcRect l="5732" t="3803" r="3384" b="9459"/>
          <a:stretch/>
        </p:blipFill>
        <p:spPr>
          <a:xfrm>
            <a:off x="3188698" y="3019816"/>
            <a:ext cx="5671039" cy="2716823"/>
          </a:xfrm>
          <a:prstGeom prst="rect">
            <a:avLst/>
          </a:prstGeom>
        </p:spPr>
      </p:pic>
    </p:spTree>
    <p:extLst>
      <p:ext uri="{BB962C8B-B14F-4D97-AF65-F5344CB8AC3E}">
        <p14:creationId xmlns:p14="http://schemas.microsoft.com/office/powerpoint/2010/main" val="33225459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250"/>
                                        <p:tgtEl>
                                          <p:spTgt spid="47"/>
                                        </p:tgtEl>
                                      </p:cBhvr>
                                    </p:animEffect>
                                    <p:anim calcmode="lin" valueType="num">
                                      <p:cBhvr>
                                        <p:cTn id="8" dur="250" fill="hold"/>
                                        <p:tgtEl>
                                          <p:spTgt spid="47"/>
                                        </p:tgtEl>
                                        <p:attrNameLst>
                                          <p:attrName>ppt_x</p:attrName>
                                        </p:attrNameLst>
                                      </p:cBhvr>
                                      <p:tavLst>
                                        <p:tav tm="0">
                                          <p:val>
                                            <p:strVal val="#ppt_x"/>
                                          </p:val>
                                        </p:tav>
                                        <p:tav tm="100000">
                                          <p:val>
                                            <p:strVal val="#ppt_x"/>
                                          </p:val>
                                        </p:tav>
                                      </p:tavLst>
                                    </p:anim>
                                    <p:anim calcmode="lin" valueType="num">
                                      <p:cBhvr>
                                        <p:cTn id="9" dur="250" fill="hold"/>
                                        <p:tgtEl>
                                          <p:spTgt spid="4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500"/>
                                        <p:tgtEl>
                                          <p:spTgt spid="51"/>
                                        </p:tgtEl>
                                      </p:cBhvr>
                                    </p:animEffect>
                                  </p:childTnLst>
                                </p:cTn>
                              </p:par>
                            </p:childTnLst>
                          </p:cTn>
                        </p:par>
                        <p:par>
                          <p:cTn id="14" fill="hold">
                            <p:stCondLst>
                              <p:cond delay="1000"/>
                            </p:stCondLst>
                            <p:childTnLst>
                              <p:par>
                                <p:cTn id="15" presetID="2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When are </a:t>
            </a:r>
            <a:r>
              <a:rPr lang="en-US" i="1" dirty="0">
                <a:solidFill>
                  <a:srgbClr val="FE8301"/>
                </a:solidFill>
                <a:latin typeface="Lato Light" panose="020F0302020204030203" pitchFamily="34" charset="0"/>
              </a:rPr>
              <a:t>Histograms</a:t>
            </a:r>
            <a:r>
              <a:rPr lang="en-US" dirty="0">
                <a:solidFill>
                  <a:srgbClr val="FE8301"/>
                </a:solidFill>
                <a:latin typeface="Lato Light" panose="020F0302020204030203" pitchFamily="34" charset="0"/>
              </a:rPr>
              <a:t> </a:t>
            </a:r>
            <a:r>
              <a:rPr lang="en-US" dirty="0">
                <a:solidFill>
                  <a:schemeClr val="tx1"/>
                </a:solidFill>
              </a:rPr>
              <a:t>Used?</a:t>
            </a:r>
            <a:endParaRPr lang="en-US" dirty="0">
              <a:solidFill>
                <a:schemeClr val="tx1"/>
              </a:solidFill>
              <a:latin typeface="Lato Light" panose="020F0302020204030203" pitchFamily="34" charset="0"/>
            </a:endParaRPr>
          </a:p>
        </p:txBody>
      </p:sp>
      <p:sp>
        <p:nvSpPr>
          <p:cNvPr id="3" name="Text Placeholder 2"/>
          <p:cNvSpPr>
            <a:spLocks noGrp="1"/>
          </p:cNvSpPr>
          <p:nvPr>
            <p:ph type="body" sz="quarter" idx="11"/>
          </p:nvPr>
        </p:nvSpPr>
        <p:spPr/>
        <p:txBody>
          <a:bodyPr/>
          <a:lstStyle/>
          <a:p>
            <a:r>
              <a:rPr lang="en-US" b="1" dirty="0"/>
              <a:t>Feature Data Vs. Histogram</a:t>
            </a:r>
          </a:p>
        </p:txBody>
      </p:sp>
      <p:sp>
        <p:nvSpPr>
          <p:cNvPr id="31" name="Rectangle 30"/>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2" name="Straight Connector 31"/>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4" name="Rectangle 33"/>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3" name="Group 42"/>
          <p:cNvGrpSpPr/>
          <p:nvPr/>
        </p:nvGrpSpPr>
        <p:grpSpPr>
          <a:xfrm>
            <a:off x="455000" y="491056"/>
            <a:ext cx="45720" cy="675713"/>
            <a:chOff x="455000" y="491056"/>
            <a:chExt cx="45720" cy="675713"/>
          </a:xfrm>
        </p:grpSpPr>
        <p:sp>
          <p:nvSpPr>
            <p:cNvPr id="44" name="Rectangle 43"/>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TextBox 45"/>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- 5</a:t>
            </a:r>
          </a:p>
        </p:txBody>
      </p:sp>
      <p:grpSp>
        <p:nvGrpSpPr>
          <p:cNvPr id="47" name="Group 46"/>
          <p:cNvGrpSpPr/>
          <p:nvPr/>
        </p:nvGrpSpPr>
        <p:grpSpPr>
          <a:xfrm>
            <a:off x="736103" y="1808211"/>
            <a:ext cx="10506968" cy="861430"/>
            <a:chOff x="822673" y="3520103"/>
            <a:chExt cx="10506968" cy="861430"/>
          </a:xfrm>
        </p:grpSpPr>
        <p:sp>
          <p:nvSpPr>
            <p:cNvPr id="48" name="Teardrop 47"/>
            <p:cNvSpPr/>
            <p:nvPr/>
          </p:nvSpPr>
          <p:spPr>
            <a:xfrm>
              <a:off x="822673" y="3520103"/>
              <a:ext cx="861430" cy="861430"/>
            </a:xfrm>
            <a:prstGeom prst="teardrop">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FontAwesome" pitchFamily="2" charset="0"/>
                </a:rPr>
                <a:t>3</a:t>
              </a:r>
              <a:endParaRPr lang="ru-RU" sz="2400" dirty="0">
                <a:solidFill>
                  <a:prstClr val="white"/>
                </a:solidFill>
              </a:endParaRPr>
            </a:p>
          </p:txBody>
        </p:sp>
        <p:sp>
          <p:nvSpPr>
            <p:cNvPr id="49" name="TextBox 48"/>
            <p:cNvSpPr txBox="1"/>
            <p:nvPr/>
          </p:nvSpPr>
          <p:spPr>
            <a:xfrm>
              <a:off x="1736944" y="3520103"/>
              <a:ext cx="4864725" cy="369332"/>
            </a:xfrm>
            <a:prstGeom prst="rect">
              <a:avLst/>
            </a:prstGeom>
            <a:noFill/>
          </p:spPr>
          <p:txBody>
            <a:bodyPr wrap="square" rtlCol="0">
              <a:spAutoFit/>
            </a:bodyPr>
            <a:lstStyle/>
            <a:p>
              <a:r>
                <a:rPr lang="en-US" dirty="0">
                  <a:solidFill>
                    <a:schemeClr val="tx1">
                      <a:lumMod val="75000"/>
                      <a:lumOff val="25000"/>
                    </a:schemeClr>
                  </a:solidFill>
                  <a:latin typeface="Lato Black" panose="020F0A02020204030203" pitchFamily="34" charset="0"/>
                  <a:cs typeface="Lato Black" panose="020F0A02020204030203" pitchFamily="34" charset="0"/>
                </a:rPr>
                <a:t>Compare process results with specification limits</a:t>
              </a:r>
              <a:endParaRPr lang="da-DK" dirty="0">
                <a:solidFill>
                  <a:schemeClr val="tx1">
                    <a:lumMod val="75000"/>
                    <a:lumOff val="25000"/>
                  </a:schemeClr>
                </a:solidFill>
                <a:latin typeface="Lato Black" panose="020F0A02020204030203" pitchFamily="34" charset="0"/>
                <a:cs typeface="Lato Black" panose="020F0A02020204030203" pitchFamily="34" charset="0"/>
              </a:endParaRPr>
            </a:p>
          </p:txBody>
        </p:sp>
        <p:sp>
          <p:nvSpPr>
            <p:cNvPr id="50" name="TextBox 49"/>
            <p:cNvSpPr txBox="1"/>
            <p:nvPr/>
          </p:nvSpPr>
          <p:spPr>
            <a:xfrm>
              <a:off x="1736945" y="3830250"/>
              <a:ext cx="9592696" cy="523220"/>
            </a:xfrm>
            <a:prstGeom prst="rect">
              <a:avLst/>
            </a:prstGeom>
            <a:noFill/>
          </p:spPr>
          <p:txBody>
            <a:bodyPr wrap="square" rtlCol="0">
              <a:spAutoFit/>
            </a:bodyPr>
            <a:lstStyle/>
            <a:p>
              <a:r>
                <a:rPr lang="en-US" sz="1400" dirty="0">
                  <a:solidFill>
                    <a:schemeClr val="tx1">
                      <a:lumMod val="75000"/>
                      <a:lumOff val="25000"/>
                    </a:schemeClr>
                  </a:solidFill>
                  <a:latin typeface="Lato Light" panose="020F0402020204030203" pitchFamily="34" charset="0"/>
                  <a:cs typeface="Lato Light" panose="020F0402020204030203" pitchFamily="34" charset="0"/>
                </a:rPr>
                <a:t>If you add the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process specification limits </a:t>
              </a:r>
              <a:r>
                <a:rPr lang="en-US" sz="1400" dirty="0">
                  <a:solidFill>
                    <a:schemeClr val="tx1">
                      <a:lumMod val="75000"/>
                      <a:lumOff val="25000"/>
                    </a:schemeClr>
                  </a:solidFill>
                  <a:latin typeface="Lato Light" panose="020F0402020204030203" pitchFamily="34" charset="0"/>
                  <a:cs typeface="Lato Light" panose="020F0402020204030203" pitchFamily="34" charset="0"/>
                </a:rPr>
                <a:t>to your Histogram, you can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determine quickly </a:t>
              </a:r>
              <a:r>
                <a:rPr lang="en-US" sz="1400" dirty="0">
                  <a:solidFill>
                    <a:schemeClr val="tx1">
                      <a:lumMod val="75000"/>
                      <a:lumOff val="25000"/>
                    </a:schemeClr>
                  </a:solidFill>
                  <a:latin typeface="Lato Light" panose="020F0402020204030203" pitchFamily="34" charset="0"/>
                  <a:cs typeface="Lato Light" panose="020F0402020204030203" pitchFamily="34" charset="0"/>
                </a:rPr>
                <a:t>whether the current process was able to produce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good</a:t>
              </a:r>
              <a:r>
                <a:rPr lang="en-US" sz="1400" dirty="0">
                  <a:solidFill>
                    <a:schemeClr val="tx1">
                      <a:lumMod val="75000"/>
                      <a:lumOff val="25000"/>
                    </a:schemeClr>
                  </a:solidFill>
                  <a:latin typeface="Lato Light" panose="020F0402020204030203" pitchFamily="34" charset="0"/>
                  <a:cs typeface="Lato Light" panose="020F0402020204030203" pitchFamily="34" charset="0"/>
                </a:rPr>
                <a:t> products</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 </a:t>
              </a:r>
            </a:p>
          </p:txBody>
        </p:sp>
      </p:grpSp>
      <p:pic>
        <p:nvPicPr>
          <p:cNvPr id="6" name="Picture 5"/>
          <p:cNvPicPr>
            <a:picLocks noChangeAspect="1"/>
          </p:cNvPicPr>
          <p:nvPr/>
        </p:nvPicPr>
        <p:blipFill rotWithShape="1">
          <a:blip r:embed="rId3">
            <a:clrChange>
              <a:clrFrom>
                <a:srgbClr val="FFFFFF"/>
              </a:clrFrom>
              <a:clrTo>
                <a:srgbClr val="FFFFFF">
                  <a:alpha val="0"/>
                </a:srgbClr>
              </a:clrTo>
            </a:clrChange>
          </a:blip>
          <a:srcRect l="4288" t="28896" r="3631" b="3185"/>
          <a:stretch/>
        </p:blipFill>
        <p:spPr>
          <a:xfrm>
            <a:off x="2929283" y="2785731"/>
            <a:ext cx="6161555" cy="3240288"/>
          </a:xfrm>
          <a:prstGeom prst="rect">
            <a:avLst/>
          </a:prstGeom>
          <a:ln>
            <a:noFill/>
          </a:ln>
          <a:effectLst/>
        </p:spPr>
      </p:pic>
    </p:spTree>
    <p:extLst>
      <p:ext uri="{BB962C8B-B14F-4D97-AF65-F5344CB8AC3E}">
        <p14:creationId xmlns:p14="http://schemas.microsoft.com/office/powerpoint/2010/main" val="428882112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250"/>
                                        <p:tgtEl>
                                          <p:spTgt spid="47"/>
                                        </p:tgtEl>
                                      </p:cBhvr>
                                    </p:animEffect>
                                    <p:anim calcmode="lin" valueType="num">
                                      <p:cBhvr>
                                        <p:cTn id="8" dur="250" fill="hold"/>
                                        <p:tgtEl>
                                          <p:spTgt spid="47"/>
                                        </p:tgtEl>
                                        <p:attrNameLst>
                                          <p:attrName>ppt_x</p:attrName>
                                        </p:attrNameLst>
                                      </p:cBhvr>
                                      <p:tavLst>
                                        <p:tav tm="0">
                                          <p:val>
                                            <p:strVal val="#ppt_x"/>
                                          </p:val>
                                        </p:tav>
                                        <p:tav tm="100000">
                                          <p:val>
                                            <p:strVal val="#ppt_x"/>
                                          </p:val>
                                        </p:tav>
                                      </p:tavLst>
                                    </p:anim>
                                    <p:anim calcmode="lin" valueType="num">
                                      <p:cBhvr>
                                        <p:cTn id="9" dur="250" fill="hold"/>
                                        <p:tgtEl>
                                          <p:spTgt spid="4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When are </a:t>
            </a:r>
            <a:r>
              <a:rPr lang="en-US" i="1" dirty="0">
                <a:solidFill>
                  <a:srgbClr val="FE8301"/>
                </a:solidFill>
                <a:latin typeface="Lato Light" panose="020F0302020204030203" pitchFamily="34" charset="0"/>
              </a:rPr>
              <a:t>Histograms</a:t>
            </a:r>
            <a:r>
              <a:rPr lang="en-US" dirty="0">
                <a:solidFill>
                  <a:srgbClr val="FE8301"/>
                </a:solidFill>
                <a:latin typeface="Lato Light" panose="020F0302020204030203" pitchFamily="34" charset="0"/>
              </a:rPr>
              <a:t> </a:t>
            </a:r>
            <a:r>
              <a:rPr lang="en-US" dirty="0">
                <a:solidFill>
                  <a:schemeClr val="tx1"/>
                </a:solidFill>
              </a:rPr>
              <a:t>Used?</a:t>
            </a:r>
            <a:endParaRPr lang="en-US" dirty="0">
              <a:solidFill>
                <a:schemeClr val="tx1"/>
              </a:solidFill>
              <a:latin typeface="Lato Light" panose="020F0302020204030203" pitchFamily="34" charset="0"/>
            </a:endParaRPr>
          </a:p>
        </p:txBody>
      </p:sp>
      <p:sp>
        <p:nvSpPr>
          <p:cNvPr id="3" name="Text Placeholder 2"/>
          <p:cNvSpPr>
            <a:spLocks noGrp="1"/>
          </p:cNvSpPr>
          <p:nvPr>
            <p:ph type="body" sz="quarter" idx="11"/>
          </p:nvPr>
        </p:nvSpPr>
        <p:spPr/>
        <p:txBody>
          <a:bodyPr/>
          <a:lstStyle/>
          <a:p>
            <a:r>
              <a:rPr lang="en-US" b="1" dirty="0"/>
              <a:t>Feature Data Vs. Histogram</a:t>
            </a:r>
          </a:p>
        </p:txBody>
      </p:sp>
      <p:sp>
        <p:nvSpPr>
          <p:cNvPr id="31" name="Rectangle 30"/>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2" name="Straight Connector 31"/>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4" name="Rectangle 33"/>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3" name="Group 42"/>
          <p:cNvGrpSpPr/>
          <p:nvPr/>
        </p:nvGrpSpPr>
        <p:grpSpPr>
          <a:xfrm>
            <a:off x="455000" y="491056"/>
            <a:ext cx="45720" cy="675713"/>
            <a:chOff x="455000" y="491056"/>
            <a:chExt cx="45720" cy="675713"/>
          </a:xfrm>
        </p:grpSpPr>
        <p:sp>
          <p:nvSpPr>
            <p:cNvPr id="44" name="Rectangle 43"/>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TextBox 45"/>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- 6</a:t>
            </a:r>
          </a:p>
        </p:txBody>
      </p:sp>
      <p:grpSp>
        <p:nvGrpSpPr>
          <p:cNvPr id="47" name="Group 46"/>
          <p:cNvGrpSpPr/>
          <p:nvPr/>
        </p:nvGrpSpPr>
        <p:grpSpPr>
          <a:xfrm>
            <a:off x="736103" y="1808211"/>
            <a:ext cx="10506968" cy="861430"/>
            <a:chOff x="822673" y="3520103"/>
            <a:chExt cx="10506968" cy="861430"/>
          </a:xfrm>
        </p:grpSpPr>
        <p:sp>
          <p:nvSpPr>
            <p:cNvPr id="48" name="Teardrop 47"/>
            <p:cNvSpPr/>
            <p:nvPr/>
          </p:nvSpPr>
          <p:spPr>
            <a:xfrm>
              <a:off x="822673" y="3520103"/>
              <a:ext cx="861430" cy="861430"/>
            </a:xfrm>
            <a:prstGeom prst="teardrop">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latin typeface="FontAwesome" pitchFamily="2" charset="0"/>
                </a:rPr>
                <a:t>4</a:t>
              </a:r>
              <a:endParaRPr lang="ru-RU" sz="2400" dirty="0">
                <a:solidFill>
                  <a:prstClr val="white"/>
                </a:solidFill>
              </a:endParaRPr>
            </a:p>
          </p:txBody>
        </p:sp>
        <p:sp>
          <p:nvSpPr>
            <p:cNvPr id="49" name="TextBox 48"/>
            <p:cNvSpPr txBox="1"/>
            <p:nvPr/>
          </p:nvSpPr>
          <p:spPr>
            <a:xfrm>
              <a:off x="1736944" y="3520103"/>
              <a:ext cx="4864725" cy="369332"/>
            </a:xfrm>
            <a:prstGeom prst="rect">
              <a:avLst/>
            </a:prstGeom>
            <a:noFill/>
          </p:spPr>
          <p:txBody>
            <a:bodyPr wrap="square" rtlCol="0">
              <a:spAutoFit/>
            </a:bodyPr>
            <a:lstStyle/>
            <a:p>
              <a:r>
                <a:rPr lang="en-US" dirty="0">
                  <a:solidFill>
                    <a:schemeClr val="tx1">
                      <a:lumMod val="75000"/>
                      <a:lumOff val="25000"/>
                    </a:schemeClr>
                  </a:solidFill>
                  <a:latin typeface="Lato Black" panose="020F0A02020204030203" pitchFamily="34" charset="0"/>
                  <a:cs typeface="Lato Black" panose="020F0A02020204030203" pitchFamily="34" charset="0"/>
                </a:rPr>
                <a:t>Tool to assist in decision making</a:t>
              </a:r>
              <a:endParaRPr lang="da-DK" dirty="0">
                <a:solidFill>
                  <a:schemeClr val="tx1">
                    <a:lumMod val="75000"/>
                    <a:lumOff val="25000"/>
                  </a:schemeClr>
                </a:solidFill>
                <a:latin typeface="Lato Black" panose="020F0A02020204030203" pitchFamily="34" charset="0"/>
                <a:cs typeface="Lato Black" panose="020F0A02020204030203" pitchFamily="34" charset="0"/>
              </a:endParaRPr>
            </a:p>
          </p:txBody>
        </p:sp>
        <p:sp>
          <p:nvSpPr>
            <p:cNvPr id="50" name="TextBox 49"/>
            <p:cNvSpPr txBox="1"/>
            <p:nvPr/>
          </p:nvSpPr>
          <p:spPr>
            <a:xfrm>
              <a:off x="1736945" y="3830250"/>
              <a:ext cx="9592696" cy="523220"/>
            </a:xfrm>
            <a:prstGeom prst="rect">
              <a:avLst/>
            </a:prstGeom>
            <a:noFill/>
          </p:spPr>
          <p:txBody>
            <a:bodyPr wrap="square" rtlCol="0">
              <a:spAutoFit/>
            </a:bodyPr>
            <a:lstStyle/>
            <a:p>
              <a:r>
                <a:rPr lang="en-US" sz="1400" dirty="0">
                  <a:solidFill>
                    <a:schemeClr val="tx1">
                      <a:lumMod val="75000"/>
                      <a:lumOff val="25000"/>
                    </a:schemeClr>
                  </a:solidFill>
                  <a:latin typeface="Lato Light" panose="020F0402020204030203" pitchFamily="34" charset="0"/>
                  <a:cs typeface="Lato Light" panose="020F0402020204030203" pitchFamily="34" charset="0"/>
                </a:rPr>
                <a:t>As you will see as we move along through this module, certain shapes, sizes, and the spread of data have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meanings</a:t>
              </a:r>
              <a:r>
                <a:rPr lang="en-US" sz="1400" dirty="0">
                  <a:solidFill>
                    <a:schemeClr val="tx1">
                      <a:lumMod val="75000"/>
                      <a:lumOff val="25000"/>
                    </a:schemeClr>
                  </a:solidFill>
                  <a:latin typeface="Lato Light" panose="020F0402020204030203" pitchFamily="34" charset="0"/>
                  <a:cs typeface="Lato Light" panose="020F0402020204030203" pitchFamily="34" charset="0"/>
                </a:rPr>
                <a:t> that can help you in investigating problems and </a:t>
              </a:r>
              <a:r>
                <a:rPr lang="en-US" sz="1400" b="1" dirty="0">
                  <a:solidFill>
                    <a:schemeClr val="tx1">
                      <a:lumMod val="75000"/>
                      <a:lumOff val="25000"/>
                    </a:schemeClr>
                  </a:solidFill>
                  <a:latin typeface="Lato Light" panose="020F0402020204030203" pitchFamily="34" charset="0"/>
                  <a:cs typeface="Lato Light" panose="020F0402020204030203" pitchFamily="34" charset="0"/>
                </a:rPr>
                <a:t>making decisions </a:t>
              </a:r>
            </a:p>
          </p:txBody>
        </p:sp>
      </p:grpSp>
      <p:graphicFrame>
        <p:nvGraphicFramePr>
          <p:cNvPr id="24" name="Chart 23"/>
          <p:cNvGraphicFramePr>
            <a:graphicFrameLocks/>
          </p:cNvGraphicFramePr>
          <p:nvPr>
            <p:extLst>
              <p:ext uri="{D42A27DB-BD31-4B8C-83A1-F6EECF244321}">
                <p14:modId xmlns:p14="http://schemas.microsoft.com/office/powerpoint/2010/main" val="1911564946"/>
              </p:ext>
            </p:extLst>
          </p:nvPr>
        </p:nvGraphicFramePr>
        <p:xfrm>
          <a:off x="1650374" y="3390968"/>
          <a:ext cx="2743200"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24"/>
          <p:cNvGraphicFramePr>
            <a:graphicFrameLocks/>
          </p:cNvGraphicFramePr>
          <p:nvPr>
            <p:extLst>
              <p:ext uri="{D42A27DB-BD31-4B8C-83A1-F6EECF244321}">
                <p14:modId xmlns:p14="http://schemas.microsoft.com/office/powerpoint/2010/main" val="2462136405"/>
              </p:ext>
            </p:extLst>
          </p:nvPr>
        </p:nvGraphicFramePr>
        <p:xfrm>
          <a:off x="8061721" y="2597501"/>
          <a:ext cx="2743200"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Chart 25"/>
          <p:cNvGraphicFramePr>
            <a:graphicFrameLocks/>
          </p:cNvGraphicFramePr>
          <p:nvPr>
            <p:extLst>
              <p:ext uri="{D42A27DB-BD31-4B8C-83A1-F6EECF244321}">
                <p14:modId xmlns:p14="http://schemas.microsoft.com/office/powerpoint/2010/main" val="1991687925"/>
              </p:ext>
            </p:extLst>
          </p:nvPr>
        </p:nvGraphicFramePr>
        <p:xfrm>
          <a:off x="8061721" y="4522747"/>
          <a:ext cx="2743200" cy="1828800"/>
        </p:xfrm>
        <a:graphic>
          <a:graphicData uri="http://schemas.openxmlformats.org/drawingml/2006/chart">
            <c:chart xmlns:c="http://schemas.openxmlformats.org/drawingml/2006/chart" xmlns:r="http://schemas.openxmlformats.org/officeDocument/2006/relationships" r:id="rId5"/>
          </a:graphicData>
        </a:graphic>
      </p:graphicFrame>
      <p:cxnSp>
        <p:nvCxnSpPr>
          <p:cNvPr id="8" name="Elbow Connector 7"/>
          <p:cNvCxnSpPr/>
          <p:nvPr/>
        </p:nvCxnSpPr>
        <p:spPr>
          <a:xfrm flipV="1">
            <a:off x="3021974" y="3072810"/>
            <a:ext cx="5039747" cy="261852"/>
          </a:xfrm>
          <a:prstGeom prst="bentConnector3">
            <a:avLst>
              <a:gd name="adj1" fmla="val -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Elbow Connector 36"/>
          <p:cNvCxnSpPr/>
          <p:nvPr/>
        </p:nvCxnSpPr>
        <p:spPr>
          <a:xfrm>
            <a:off x="3072200" y="5287474"/>
            <a:ext cx="4939293" cy="267629"/>
          </a:xfrm>
          <a:prstGeom prst="bentConnector3">
            <a:avLst>
              <a:gd name="adj1" fmla="val 59"/>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52" name="Group 51"/>
          <p:cNvGrpSpPr/>
          <p:nvPr/>
        </p:nvGrpSpPr>
        <p:grpSpPr>
          <a:xfrm>
            <a:off x="5001781" y="3611239"/>
            <a:ext cx="2451732" cy="1436820"/>
            <a:chOff x="6479875" y="2933195"/>
            <a:chExt cx="2451732" cy="1436820"/>
          </a:xfrm>
        </p:grpSpPr>
        <p:sp>
          <p:nvSpPr>
            <p:cNvPr id="58" name="Teardrop 57"/>
            <p:cNvSpPr/>
            <p:nvPr/>
          </p:nvSpPr>
          <p:spPr>
            <a:xfrm rot="8100000">
              <a:off x="6672077" y="3042342"/>
              <a:ext cx="271897" cy="271897"/>
            </a:xfrm>
            <a:prstGeom prst="teardrop">
              <a:avLst/>
            </a:prstGeom>
            <a:solidFill>
              <a:srgbClr val="A1BC1F"/>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TextBox 53"/>
            <p:cNvSpPr txBox="1"/>
            <p:nvPr/>
          </p:nvSpPr>
          <p:spPr>
            <a:xfrm>
              <a:off x="6925469" y="3308186"/>
              <a:ext cx="1798791" cy="1061829"/>
            </a:xfrm>
            <a:prstGeom prst="rect">
              <a:avLst/>
            </a:prstGeom>
            <a:noFill/>
          </p:spPr>
          <p:txBody>
            <a:bodyPr wrap="square" rtlCol="0">
              <a:spAutoFit/>
            </a:bodyPr>
            <a:lstStyle/>
            <a:p>
              <a:pPr>
                <a:lnSpc>
                  <a:spcPct val="150000"/>
                </a:lnSpc>
              </a:pPr>
              <a:r>
                <a:rPr lang="en-US" sz="1400" dirty="0">
                  <a:solidFill>
                    <a:prstClr val="white">
                      <a:lumMod val="65000"/>
                    </a:prstClr>
                  </a:solidFill>
                  <a:latin typeface="FontAwesome" pitchFamily="2" charset="0"/>
                </a:rPr>
                <a:t></a:t>
              </a:r>
              <a:r>
                <a:rPr lang="en-US" sz="1400" dirty="0">
                  <a:solidFill>
                    <a:prstClr val="white">
                      <a:lumMod val="65000"/>
                    </a:prstClr>
                  </a:solidFill>
                </a:rPr>
                <a:t>  </a:t>
              </a:r>
              <a:r>
                <a:rPr lang="en-US" sz="1400" dirty="0">
                  <a:solidFill>
                    <a:prstClr val="black"/>
                  </a:solidFill>
                  <a:latin typeface="Lato Light" panose="020F0302020204030203" pitchFamily="34" charset="0"/>
                </a:rPr>
                <a:t>Euclidean Dist.</a:t>
              </a:r>
            </a:p>
            <a:p>
              <a:pPr>
                <a:lnSpc>
                  <a:spcPct val="150000"/>
                </a:lnSpc>
              </a:pPr>
              <a:r>
                <a:rPr lang="en-US" sz="1400" dirty="0">
                  <a:solidFill>
                    <a:prstClr val="white">
                      <a:lumMod val="65000"/>
                    </a:prstClr>
                  </a:solidFill>
                  <a:latin typeface="FontAwesome" pitchFamily="2" charset="0"/>
                </a:rPr>
                <a:t></a:t>
              </a:r>
              <a:r>
                <a:rPr lang="en-US" sz="1400" dirty="0">
                  <a:solidFill>
                    <a:prstClr val="white">
                      <a:lumMod val="65000"/>
                    </a:prstClr>
                  </a:solidFill>
                </a:rPr>
                <a:t>  </a:t>
              </a:r>
              <a:r>
                <a:rPr lang="en-US" sz="1400" dirty="0">
                  <a:solidFill>
                    <a:prstClr val="black"/>
                  </a:solidFill>
                  <a:latin typeface="Lato Light" panose="020F0302020204030203" pitchFamily="34" charset="0"/>
                </a:rPr>
                <a:t>KL Divergence</a:t>
              </a:r>
            </a:p>
            <a:p>
              <a:pPr>
                <a:lnSpc>
                  <a:spcPct val="150000"/>
                </a:lnSpc>
              </a:pPr>
              <a:r>
                <a:rPr lang="en-US" sz="1400" dirty="0">
                  <a:solidFill>
                    <a:prstClr val="white">
                      <a:lumMod val="65000"/>
                    </a:prstClr>
                  </a:solidFill>
                  <a:latin typeface="FontAwesome" pitchFamily="2" charset="0"/>
                </a:rPr>
                <a:t></a:t>
              </a:r>
              <a:r>
                <a:rPr lang="en-US" sz="1400" dirty="0">
                  <a:solidFill>
                    <a:prstClr val="black"/>
                  </a:solidFill>
                  <a:latin typeface="Lato Light" panose="020F0302020204030203" pitchFamily="34" charset="0"/>
                </a:rPr>
                <a:t>  Earth Mover Dist.</a:t>
              </a:r>
              <a:endParaRPr lang="ru-RU" sz="1400" dirty="0">
                <a:solidFill>
                  <a:prstClr val="white">
                    <a:lumMod val="65000"/>
                  </a:prstClr>
                </a:solidFill>
              </a:endParaRPr>
            </a:p>
          </p:txBody>
        </p:sp>
        <p:sp>
          <p:nvSpPr>
            <p:cNvPr id="55" name="Rounded Rectangle 54"/>
            <p:cNvSpPr/>
            <p:nvPr/>
          </p:nvSpPr>
          <p:spPr>
            <a:xfrm>
              <a:off x="6479875" y="2933195"/>
              <a:ext cx="2451732" cy="1427226"/>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TextBox 55"/>
            <p:cNvSpPr txBox="1"/>
            <p:nvPr/>
          </p:nvSpPr>
          <p:spPr>
            <a:xfrm>
              <a:off x="6909293" y="3059348"/>
              <a:ext cx="1587294" cy="307777"/>
            </a:xfrm>
            <a:prstGeom prst="rect">
              <a:avLst/>
            </a:prstGeom>
            <a:noFill/>
          </p:spPr>
          <p:txBody>
            <a:bodyPr wrap="none" rtlCol="0">
              <a:spAutoFit/>
            </a:bodyPr>
            <a:lstStyle/>
            <a:p>
              <a:r>
                <a:rPr lang="en-US" sz="1400" dirty="0">
                  <a:solidFill>
                    <a:prstClr val="black">
                      <a:lumMod val="75000"/>
                      <a:lumOff val="25000"/>
                    </a:prstClr>
                  </a:solidFill>
                  <a:latin typeface="Lato Medium"/>
                </a:rPr>
                <a:t>Distance Formula</a:t>
              </a:r>
            </a:p>
          </p:txBody>
        </p:sp>
      </p:grpSp>
    </p:spTree>
    <p:extLst>
      <p:ext uri="{BB962C8B-B14F-4D97-AF65-F5344CB8AC3E}">
        <p14:creationId xmlns:p14="http://schemas.microsoft.com/office/powerpoint/2010/main" val="8698073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25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250"/>
                                        <p:tgtEl>
                                          <p:spTgt spid="47"/>
                                        </p:tgtEl>
                                      </p:cBhvr>
                                    </p:animEffect>
                                    <p:anim calcmode="lin" valueType="num">
                                      <p:cBhvr>
                                        <p:cTn id="8" dur="250" fill="hold"/>
                                        <p:tgtEl>
                                          <p:spTgt spid="47"/>
                                        </p:tgtEl>
                                        <p:attrNameLst>
                                          <p:attrName>ppt_x</p:attrName>
                                        </p:attrNameLst>
                                      </p:cBhvr>
                                      <p:tavLst>
                                        <p:tav tm="0">
                                          <p:val>
                                            <p:strVal val="#ppt_x"/>
                                          </p:val>
                                        </p:tav>
                                        <p:tav tm="100000">
                                          <p:val>
                                            <p:strVal val="#ppt_x"/>
                                          </p:val>
                                        </p:tav>
                                      </p:tavLst>
                                    </p:anim>
                                    <p:anim calcmode="lin" valueType="num">
                                      <p:cBhvr>
                                        <p:cTn id="9" dur="250" fill="hold"/>
                                        <p:tgtEl>
                                          <p:spTgt spid="4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24">
                                            <p:graphicEl>
                                              <a:chart seriesIdx="-3" categoryIdx="-3" bldStep="gridLegend"/>
                                            </p:graphicEl>
                                          </p:spTgt>
                                        </p:tgtEl>
                                        <p:attrNameLst>
                                          <p:attrName>style.visibility</p:attrName>
                                        </p:attrNameLst>
                                      </p:cBhvr>
                                      <p:to>
                                        <p:strVal val="visible"/>
                                      </p:to>
                                    </p:set>
                                    <p:animEffect transition="in" filter="wipe(down)">
                                      <p:cBhvr>
                                        <p:cTn id="13" dur="250"/>
                                        <p:tgtEl>
                                          <p:spTgt spid="24">
                                            <p:graphicEl>
                                              <a:chart seriesIdx="-3" categoryIdx="-3" bldStep="gridLegend"/>
                                            </p:graphicEl>
                                          </p:spTgt>
                                        </p:tgtEl>
                                      </p:cBhvr>
                                    </p:animEffect>
                                  </p:childTnLst>
                                </p:cTn>
                              </p:par>
                            </p:childTnLst>
                          </p:cTn>
                        </p:par>
                        <p:par>
                          <p:cTn id="14" fill="hold">
                            <p:stCondLst>
                              <p:cond delay="750"/>
                            </p:stCondLst>
                            <p:childTnLst>
                              <p:par>
                                <p:cTn id="15" presetID="22" presetClass="entr" presetSubtype="4" fill="hold" grpId="0" nodeType="afterEffect">
                                  <p:stCondLst>
                                    <p:cond delay="0"/>
                                  </p:stCondLst>
                                  <p:childTnLst>
                                    <p:set>
                                      <p:cBhvr>
                                        <p:cTn id="16" dur="1" fill="hold">
                                          <p:stCondLst>
                                            <p:cond delay="0"/>
                                          </p:stCondLst>
                                        </p:cTn>
                                        <p:tgtEl>
                                          <p:spTgt spid="24">
                                            <p:graphicEl>
                                              <a:chart seriesIdx="0" categoryIdx="0" bldStep="ptInSeries"/>
                                            </p:graphicEl>
                                          </p:spTgt>
                                        </p:tgtEl>
                                        <p:attrNameLst>
                                          <p:attrName>style.visibility</p:attrName>
                                        </p:attrNameLst>
                                      </p:cBhvr>
                                      <p:to>
                                        <p:strVal val="visible"/>
                                      </p:to>
                                    </p:set>
                                    <p:animEffect transition="in" filter="wipe(down)">
                                      <p:cBhvr>
                                        <p:cTn id="17" dur="250"/>
                                        <p:tgtEl>
                                          <p:spTgt spid="24">
                                            <p:graphicEl>
                                              <a:chart seriesIdx="0" categoryIdx="0" bldStep="ptInSeries"/>
                                            </p:graphicEl>
                                          </p:spTgt>
                                        </p:tgtEl>
                                      </p:cBhvr>
                                    </p:animEffect>
                                  </p:childTnLst>
                                </p:cTn>
                              </p:par>
                            </p:childTnLst>
                          </p:cTn>
                        </p:par>
                        <p:par>
                          <p:cTn id="18" fill="hold">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24">
                                            <p:graphicEl>
                                              <a:chart seriesIdx="0" categoryIdx="1" bldStep="ptInSeries"/>
                                            </p:graphicEl>
                                          </p:spTgt>
                                        </p:tgtEl>
                                        <p:attrNameLst>
                                          <p:attrName>style.visibility</p:attrName>
                                        </p:attrNameLst>
                                      </p:cBhvr>
                                      <p:to>
                                        <p:strVal val="visible"/>
                                      </p:to>
                                    </p:set>
                                    <p:animEffect transition="in" filter="wipe(down)">
                                      <p:cBhvr>
                                        <p:cTn id="21" dur="250"/>
                                        <p:tgtEl>
                                          <p:spTgt spid="24">
                                            <p:graphicEl>
                                              <a:chart seriesIdx="0" categoryIdx="1" bldStep="ptInSeries"/>
                                            </p:graphicEl>
                                          </p:spTgt>
                                        </p:tgtEl>
                                      </p:cBhvr>
                                    </p:animEffect>
                                  </p:childTnLst>
                                </p:cTn>
                              </p:par>
                            </p:childTnLst>
                          </p:cTn>
                        </p:par>
                        <p:par>
                          <p:cTn id="22" fill="hold">
                            <p:stCondLst>
                              <p:cond delay="1250"/>
                            </p:stCondLst>
                            <p:childTnLst>
                              <p:par>
                                <p:cTn id="23" presetID="22" presetClass="entr" presetSubtype="4" fill="hold" grpId="0" nodeType="afterEffect">
                                  <p:stCondLst>
                                    <p:cond delay="0"/>
                                  </p:stCondLst>
                                  <p:childTnLst>
                                    <p:set>
                                      <p:cBhvr>
                                        <p:cTn id="24" dur="1" fill="hold">
                                          <p:stCondLst>
                                            <p:cond delay="0"/>
                                          </p:stCondLst>
                                        </p:cTn>
                                        <p:tgtEl>
                                          <p:spTgt spid="24">
                                            <p:graphicEl>
                                              <a:chart seriesIdx="0" categoryIdx="2" bldStep="ptInSeries"/>
                                            </p:graphicEl>
                                          </p:spTgt>
                                        </p:tgtEl>
                                        <p:attrNameLst>
                                          <p:attrName>style.visibility</p:attrName>
                                        </p:attrNameLst>
                                      </p:cBhvr>
                                      <p:to>
                                        <p:strVal val="visible"/>
                                      </p:to>
                                    </p:set>
                                    <p:animEffect transition="in" filter="wipe(down)">
                                      <p:cBhvr>
                                        <p:cTn id="25" dur="250"/>
                                        <p:tgtEl>
                                          <p:spTgt spid="24">
                                            <p:graphicEl>
                                              <a:chart seriesIdx="0" categoryIdx="2" bldStep="ptInSeries"/>
                                            </p:graphicEl>
                                          </p:spTgt>
                                        </p:tgtEl>
                                      </p:cBhvr>
                                    </p:animEffect>
                                  </p:childTnLst>
                                </p:cTn>
                              </p:par>
                            </p:childTnLst>
                          </p:cTn>
                        </p:par>
                        <p:par>
                          <p:cTn id="26" fill="hold">
                            <p:stCondLst>
                              <p:cond delay="1500"/>
                            </p:stCondLst>
                            <p:childTnLst>
                              <p:par>
                                <p:cTn id="27" presetID="22" presetClass="entr" presetSubtype="4" fill="hold" grpId="0" nodeType="afterEffect">
                                  <p:stCondLst>
                                    <p:cond delay="0"/>
                                  </p:stCondLst>
                                  <p:childTnLst>
                                    <p:set>
                                      <p:cBhvr>
                                        <p:cTn id="28" dur="1" fill="hold">
                                          <p:stCondLst>
                                            <p:cond delay="0"/>
                                          </p:stCondLst>
                                        </p:cTn>
                                        <p:tgtEl>
                                          <p:spTgt spid="24">
                                            <p:graphicEl>
                                              <a:chart seriesIdx="0" categoryIdx="3" bldStep="ptInSeries"/>
                                            </p:graphicEl>
                                          </p:spTgt>
                                        </p:tgtEl>
                                        <p:attrNameLst>
                                          <p:attrName>style.visibility</p:attrName>
                                        </p:attrNameLst>
                                      </p:cBhvr>
                                      <p:to>
                                        <p:strVal val="visible"/>
                                      </p:to>
                                    </p:set>
                                    <p:animEffect transition="in" filter="wipe(down)">
                                      <p:cBhvr>
                                        <p:cTn id="29" dur="250"/>
                                        <p:tgtEl>
                                          <p:spTgt spid="24">
                                            <p:graphicEl>
                                              <a:chart seriesIdx="0" categoryIdx="3" bldStep="ptInSeries"/>
                                            </p:graphicEl>
                                          </p:spTgt>
                                        </p:tgtEl>
                                      </p:cBhvr>
                                    </p:animEffect>
                                  </p:childTnLst>
                                </p:cTn>
                              </p:par>
                            </p:childTnLst>
                          </p:cTn>
                        </p:par>
                        <p:par>
                          <p:cTn id="30" fill="hold">
                            <p:stCondLst>
                              <p:cond delay="1750"/>
                            </p:stCondLst>
                            <p:childTnLst>
                              <p:par>
                                <p:cTn id="31" presetID="22" presetClass="entr" presetSubtype="4" fill="hold" grpId="0" nodeType="afterEffect">
                                  <p:stCondLst>
                                    <p:cond delay="0"/>
                                  </p:stCondLst>
                                  <p:childTnLst>
                                    <p:set>
                                      <p:cBhvr>
                                        <p:cTn id="32" dur="1" fill="hold">
                                          <p:stCondLst>
                                            <p:cond delay="0"/>
                                          </p:stCondLst>
                                        </p:cTn>
                                        <p:tgtEl>
                                          <p:spTgt spid="24">
                                            <p:graphicEl>
                                              <a:chart seriesIdx="0" categoryIdx="4" bldStep="ptInSeries"/>
                                            </p:graphicEl>
                                          </p:spTgt>
                                        </p:tgtEl>
                                        <p:attrNameLst>
                                          <p:attrName>style.visibility</p:attrName>
                                        </p:attrNameLst>
                                      </p:cBhvr>
                                      <p:to>
                                        <p:strVal val="visible"/>
                                      </p:to>
                                    </p:set>
                                    <p:animEffect transition="in" filter="wipe(down)">
                                      <p:cBhvr>
                                        <p:cTn id="33" dur="250"/>
                                        <p:tgtEl>
                                          <p:spTgt spid="24">
                                            <p:graphicEl>
                                              <a:chart seriesIdx="0" categoryIdx="4" bldStep="ptInSeries"/>
                                            </p:graphicEl>
                                          </p:spTgt>
                                        </p:tgtEl>
                                      </p:cBhvr>
                                    </p:animEffect>
                                  </p:childTnLst>
                                </p:cTn>
                              </p:par>
                            </p:childTnLst>
                          </p:cTn>
                        </p:par>
                        <p:par>
                          <p:cTn id="34" fill="hold">
                            <p:stCondLst>
                              <p:cond delay="2000"/>
                            </p:stCondLst>
                            <p:childTnLst>
                              <p:par>
                                <p:cTn id="35" presetID="22" presetClass="entr" presetSubtype="4" fill="hold" grpId="0" nodeType="afterEffect">
                                  <p:stCondLst>
                                    <p:cond delay="0"/>
                                  </p:stCondLst>
                                  <p:childTnLst>
                                    <p:set>
                                      <p:cBhvr>
                                        <p:cTn id="36" dur="1" fill="hold">
                                          <p:stCondLst>
                                            <p:cond delay="0"/>
                                          </p:stCondLst>
                                        </p:cTn>
                                        <p:tgtEl>
                                          <p:spTgt spid="24">
                                            <p:graphicEl>
                                              <a:chart seriesIdx="0" categoryIdx="5" bldStep="ptInSeries"/>
                                            </p:graphicEl>
                                          </p:spTgt>
                                        </p:tgtEl>
                                        <p:attrNameLst>
                                          <p:attrName>style.visibility</p:attrName>
                                        </p:attrNameLst>
                                      </p:cBhvr>
                                      <p:to>
                                        <p:strVal val="visible"/>
                                      </p:to>
                                    </p:set>
                                    <p:animEffect transition="in" filter="wipe(down)">
                                      <p:cBhvr>
                                        <p:cTn id="37" dur="250"/>
                                        <p:tgtEl>
                                          <p:spTgt spid="24">
                                            <p:graphicEl>
                                              <a:chart seriesIdx="0" categoryIdx="5" bldStep="ptInSeries"/>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250"/>
                                        <p:tgtEl>
                                          <p:spTgt spid="8"/>
                                        </p:tgtEl>
                                      </p:cBhvr>
                                    </p:animEffect>
                                  </p:childTnLst>
                                </p:cTn>
                              </p:par>
                              <p:par>
                                <p:cTn id="43" presetID="22" presetClass="entr" presetSubtype="8"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left)">
                                      <p:cBhvr>
                                        <p:cTn id="45" dur="250"/>
                                        <p:tgtEl>
                                          <p:spTgt spid="37"/>
                                        </p:tgtEl>
                                      </p:cBhvr>
                                    </p:animEffect>
                                  </p:childTnLst>
                                </p:cTn>
                              </p:par>
                            </p:childTnLst>
                          </p:cTn>
                        </p:par>
                        <p:par>
                          <p:cTn id="46" fill="hold">
                            <p:stCondLst>
                              <p:cond delay="250"/>
                            </p:stCondLst>
                            <p:childTnLst>
                              <p:par>
                                <p:cTn id="47" presetID="22" presetClass="entr" presetSubtype="4" fill="hold" grpId="0" nodeType="afterEffect">
                                  <p:stCondLst>
                                    <p:cond delay="0"/>
                                  </p:stCondLst>
                                  <p:childTnLst>
                                    <p:set>
                                      <p:cBhvr>
                                        <p:cTn id="48" dur="1" fill="hold">
                                          <p:stCondLst>
                                            <p:cond delay="0"/>
                                          </p:stCondLst>
                                        </p:cTn>
                                        <p:tgtEl>
                                          <p:spTgt spid="25">
                                            <p:graphicEl>
                                              <a:chart seriesIdx="-3" categoryIdx="-3" bldStep="gridLegend"/>
                                            </p:graphicEl>
                                          </p:spTgt>
                                        </p:tgtEl>
                                        <p:attrNameLst>
                                          <p:attrName>style.visibility</p:attrName>
                                        </p:attrNameLst>
                                      </p:cBhvr>
                                      <p:to>
                                        <p:strVal val="visible"/>
                                      </p:to>
                                    </p:set>
                                    <p:animEffect transition="in" filter="wipe(down)">
                                      <p:cBhvr>
                                        <p:cTn id="49" dur="250"/>
                                        <p:tgtEl>
                                          <p:spTgt spid="25">
                                            <p:graphicEl>
                                              <a:chart seriesIdx="-3" categoryIdx="-3" bldStep="gridLegend"/>
                                            </p:graphicEl>
                                          </p:spTgt>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6">
                                            <p:graphicEl>
                                              <a:chart seriesIdx="-3" categoryIdx="-3" bldStep="gridLegend"/>
                                            </p:graphicEl>
                                          </p:spTgt>
                                        </p:tgtEl>
                                        <p:attrNameLst>
                                          <p:attrName>style.visibility</p:attrName>
                                        </p:attrNameLst>
                                      </p:cBhvr>
                                      <p:to>
                                        <p:strVal val="visible"/>
                                      </p:to>
                                    </p:set>
                                    <p:animEffect transition="in" filter="wipe(down)">
                                      <p:cBhvr>
                                        <p:cTn id="52" dur="250"/>
                                        <p:tgtEl>
                                          <p:spTgt spid="26">
                                            <p:graphicEl>
                                              <a:chart seriesIdx="-3" categoryIdx="-3" bldStep="gridLegend"/>
                                            </p:graphicEl>
                                          </p:spTgt>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25">
                                            <p:graphicEl>
                                              <a:chart seriesIdx="0" categoryIdx="0" bldStep="ptInSeries"/>
                                            </p:graphicEl>
                                          </p:spTgt>
                                        </p:tgtEl>
                                        <p:attrNameLst>
                                          <p:attrName>style.visibility</p:attrName>
                                        </p:attrNameLst>
                                      </p:cBhvr>
                                      <p:to>
                                        <p:strVal val="visible"/>
                                      </p:to>
                                    </p:set>
                                    <p:animEffect transition="in" filter="wipe(down)">
                                      <p:cBhvr>
                                        <p:cTn id="56" dur="250"/>
                                        <p:tgtEl>
                                          <p:spTgt spid="25">
                                            <p:graphicEl>
                                              <a:chart seriesIdx="0" categoryIdx="0" bldStep="ptInSeries"/>
                                            </p:graphicEl>
                                          </p:spTgt>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6">
                                            <p:graphicEl>
                                              <a:chart seriesIdx="0" categoryIdx="0" bldStep="ptInSeries"/>
                                            </p:graphicEl>
                                          </p:spTgt>
                                        </p:tgtEl>
                                        <p:attrNameLst>
                                          <p:attrName>style.visibility</p:attrName>
                                        </p:attrNameLst>
                                      </p:cBhvr>
                                      <p:to>
                                        <p:strVal val="visible"/>
                                      </p:to>
                                    </p:set>
                                    <p:animEffect transition="in" filter="wipe(down)">
                                      <p:cBhvr>
                                        <p:cTn id="59" dur="250"/>
                                        <p:tgtEl>
                                          <p:spTgt spid="26">
                                            <p:graphicEl>
                                              <a:chart seriesIdx="0" categoryIdx="0" bldStep="ptInSeries"/>
                                            </p:graphicEl>
                                          </p:spTgt>
                                        </p:tgtEl>
                                      </p:cBhvr>
                                    </p:animEffect>
                                  </p:childTnLst>
                                </p:cTn>
                              </p:par>
                            </p:childTnLst>
                          </p:cTn>
                        </p:par>
                        <p:par>
                          <p:cTn id="60" fill="hold">
                            <p:stCondLst>
                              <p:cond delay="750"/>
                            </p:stCondLst>
                            <p:childTnLst>
                              <p:par>
                                <p:cTn id="61" presetID="22" presetClass="entr" presetSubtype="4" fill="hold" grpId="0" nodeType="afterEffect">
                                  <p:stCondLst>
                                    <p:cond delay="0"/>
                                  </p:stCondLst>
                                  <p:childTnLst>
                                    <p:set>
                                      <p:cBhvr>
                                        <p:cTn id="62" dur="1" fill="hold">
                                          <p:stCondLst>
                                            <p:cond delay="0"/>
                                          </p:stCondLst>
                                        </p:cTn>
                                        <p:tgtEl>
                                          <p:spTgt spid="25">
                                            <p:graphicEl>
                                              <a:chart seriesIdx="0" categoryIdx="1" bldStep="ptInSeries"/>
                                            </p:graphicEl>
                                          </p:spTgt>
                                        </p:tgtEl>
                                        <p:attrNameLst>
                                          <p:attrName>style.visibility</p:attrName>
                                        </p:attrNameLst>
                                      </p:cBhvr>
                                      <p:to>
                                        <p:strVal val="visible"/>
                                      </p:to>
                                    </p:set>
                                    <p:animEffect transition="in" filter="wipe(down)">
                                      <p:cBhvr>
                                        <p:cTn id="63" dur="250"/>
                                        <p:tgtEl>
                                          <p:spTgt spid="25">
                                            <p:graphicEl>
                                              <a:chart seriesIdx="0" categoryIdx="1" bldStep="ptInSeries"/>
                                            </p:graphicEl>
                                          </p:spTgt>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6">
                                            <p:graphicEl>
                                              <a:chart seriesIdx="0" categoryIdx="1" bldStep="ptInSeries"/>
                                            </p:graphicEl>
                                          </p:spTgt>
                                        </p:tgtEl>
                                        <p:attrNameLst>
                                          <p:attrName>style.visibility</p:attrName>
                                        </p:attrNameLst>
                                      </p:cBhvr>
                                      <p:to>
                                        <p:strVal val="visible"/>
                                      </p:to>
                                    </p:set>
                                    <p:animEffect transition="in" filter="wipe(down)">
                                      <p:cBhvr>
                                        <p:cTn id="66" dur="250"/>
                                        <p:tgtEl>
                                          <p:spTgt spid="26">
                                            <p:graphicEl>
                                              <a:chart seriesIdx="0" categoryIdx="1" bldStep="ptInSeries"/>
                                            </p:graphicEl>
                                          </p:spTgt>
                                        </p:tgtEl>
                                      </p:cBhvr>
                                    </p:animEffect>
                                  </p:childTnLst>
                                </p:cTn>
                              </p:par>
                            </p:childTnLst>
                          </p:cTn>
                        </p:par>
                        <p:par>
                          <p:cTn id="67" fill="hold">
                            <p:stCondLst>
                              <p:cond delay="1000"/>
                            </p:stCondLst>
                            <p:childTnLst>
                              <p:par>
                                <p:cTn id="68" presetID="22" presetClass="entr" presetSubtype="4" fill="hold" grpId="0" nodeType="afterEffect">
                                  <p:stCondLst>
                                    <p:cond delay="0"/>
                                  </p:stCondLst>
                                  <p:childTnLst>
                                    <p:set>
                                      <p:cBhvr>
                                        <p:cTn id="69" dur="1" fill="hold">
                                          <p:stCondLst>
                                            <p:cond delay="0"/>
                                          </p:stCondLst>
                                        </p:cTn>
                                        <p:tgtEl>
                                          <p:spTgt spid="25">
                                            <p:graphicEl>
                                              <a:chart seriesIdx="0" categoryIdx="2" bldStep="ptInSeries"/>
                                            </p:graphicEl>
                                          </p:spTgt>
                                        </p:tgtEl>
                                        <p:attrNameLst>
                                          <p:attrName>style.visibility</p:attrName>
                                        </p:attrNameLst>
                                      </p:cBhvr>
                                      <p:to>
                                        <p:strVal val="visible"/>
                                      </p:to>
                                    </p:set>
                                    <p:animEffect transition="in" filter="wipe(down)">
                                      <p:cBhvr>
                                        <p:cTn id="70" dur="250"/>
                                        <p:tgtEl>
                                          <p:spTgt spid="25">
                                            <p:graphicEl>
                                              <a:chart seriesIdx="0" categoryIdx="2" bldStep="ptInSeries"/>
                                            </p:graphicEl>
                                          </p:spTgt>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26">
                                            <p:graphicEl>
                                              <a:chart seriesIdx="0" categoryIdx="2" bldStep="ptInSeries"/>
                                            </p:graphicEl>
                                          </p:spTgt>
                                        </p:tgtEl>
                                        <p:attrNameLst>
                                          <p:attrName>style.visibility</p:attrName>
                                        </p:attrNameLst>
                                      </p:cBhvr>
                                      <p:to>
                                        <p:strVal val="visible"/>
                                      </p:to>
                                    </p:set>
                                    <p:animEffect transition="in" filter="wipe(down)">
                                      <p:cBhvr>
                                        <p:cTn id="73" dur="250"/>
                                        <p:tgtEl>
                                          <p:spTgt spid="26">
                                            <p:graphicEl>
                                              <a:chart seriesIdx="0" categoryIdx="2" bldStep="ptInSeries"/>
                                            </p:graphicEl>
                                          </p:spTgt>
                                        </p:tgtEl>
                                      </p:cBhvr>
                                    </p:animEffect>
                                  </p:childTnLst>
                                </p:cTn>
                              </p:par>
                            </p:childTnLst>
                          </p:cTn>
                        </p:par>
                        <p:par>
                          <p:cTn id="74" fill="hold">
                            <p:stCondLst>
                              <p:cond delay="1250"/>
                            </p:stCondLst>
                            <p:childTnLst>
                              <p:par>
                                <p:cTn id="75" presetID="22" presetClass="entr" presetSubtype="4" fill="hold" grpId="0" nodeType="afterEffect">
                                  <p:stCondLst>
                                    <p:cond delay="0"/>
                                  </p:stCondLst>
                                  <p:childTnLst>
                                    <p:set>
                                      <p:cBhvr>
                                        <p:cTn id="76" dur="1" fill="hold">
                                          <p:stCondLst>
                                            <p:cond delay="0"/>
                                          </p:stCondLst>
                                        </p:cTn>
                                        <p:tgtEl>
                                          <p:spTgt spid="25">
                                            <p:graphicEl>
                                              <a:chart seriesIdx="0" categoryIdx="3" bldStep="ptInSeries"/>
                                            </p:graphicEl>
                                          </p:spTgt>
                                        </p:tgtEl>
                                        <p:attrNameLst>
                                          <p:attrName>style.visibility</p:attrName>
                                        </p:attrNameLst>
                                      </p:cBhvr>
                                      <p:to>
                                        <p:strVal val="visible"/>
                                      </p:to>
                                    </p:set>
                                    <p:animEffect transition="in" filter="wipe(down)">
                                      <p:cBhvr>
                                        <p:cTn id="77" dur="250"/>
                                        <p:tgtEl>
                                          <p:spTgt spid="25">
                                            <p:graphicEl>
                                              <a:chart seriesIdx="0" categoryIdx="3" bldStep="ptInSeries"/>
                                            </p:graphicEl>
                                          </p:spTgt>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26">
                                            <p:graphicEl>
                                              <a:chart seriesIdx="0" categoryIdx="3" bldStep="ptInSeries"/>
                                            </p:graphicEl>
                                          </p:spTgt>
                                        </p:tgtEl>
                                        <p:attrNameLst>
                                          <p:attrName>style.visibility</p:attrName>
                                        </p:attrNameLst>
                                      </p:cBhvr>
                                      <p:to>
                                        <p:strVal val="visible"/>
                                      </p:to>
                                    </p:set>
                                    <p:animEffect transition="in" filter="wipe(down)">
                                      <p:cBhvr>
                                        <p:cTn id="80" dur="250"/>
                                        <p:tgtEl>
                                          <p:spTgt spid="26">
                                            <p:graphicEl>
                                              <a:chart seriesIdx="0" categoryIdx="3" bldStep="ptInSeries"/>
                                            </p:graphicEl>
                                          </p:spTgt>
                                        </p:tgtEl>
                                      </p:cBhvr>
                                    </p:animEffect>
                                  </p:childTnLst>
                                </p:cTn>
                              </p:par>
                            </p:childTnLst>
                          </p:cTn>
                        </p:par>
                        <p:par>
                          <p:cTn id="81" fill="hold">
                            <p:stCondLst>
                              <p:cond delay="1500"/>
                            </p:stCondLst>
                            <p:childTnLst>
                              <p:par>
                                <p:cTn id="82" presetID="22" presetClass="entr" presetSubtype="4" fill="hold" grpId="0" nodeType="afterEffect">
                                  <p:stCondLst>
                                    <p:cond delay="0"/>
                                  </p:stCondLst>
                                  <p:childTnLst>
                                    <p:set>
                                      <p:cBhvr>
                                        <p:cTn id="83" dur="1" fill="hold">
                                          <p:stCondLst>
                                            <p:cond delay="0"/>
                                          </p:stCondLst>
                                        </p:cTn>
                                        <p:tgtEl>
                                          <p:spTgt spid="25">
                                            <p:graphicEl>
                                              <a:chart seriesIdx="0" categoryIdx="4" bldStep="ptInSeries"/>
                                            </p:graphicEl>
                                          </p:spTgt>
                                        </p:tgtEl>
                                        <p:attrNameLst>
                                          <p:attrName>style.visibility</p:attrName>
                                        </p:attrNameLst>
                                      </p:cBhvr>
                                      <p:to>
                                        <p:strVal val="visible"/>
                                      </p:to>
                                    </p:set>
                                    <p:animEffect transition="in" filter="wipe(down)">
                                      <p:cBhvr>
                                        <p:cTn id="84" dur="250"/>
                                        <p:tgtEl>
                                          <p:spTgt spid="25">
                                            <p:graphicEl>
                                              <a:chart seriesIdx="0" categoryIdx="4" bldStep="ptInSeries"/>
                                            </p:graphicEl>
                                          </p:spTgt>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26">
                                            <p:graphicEl>
                                              <a:chart seriesIdx="0" categoryIdx="4" bldStep="ptInSeries"/>
                                            </p:graphicEl>
                                          </p:spTgt>
                                        </p:tgtEl>
                                        <p:attrNameLst>
                                          <p:attrName>style.visibility</p:attrName>
                                        </p:attrNameLst>
                                      </p:cBhvr>
                                      <p:to>
                                        <p:strVal val="visible"/>
                                      </p:to>
                                    </p:set>
                                    <p:animEffect transition="in" filter="wipe(down)">
                                      <p:cBhvr>
                                        <p:cTn id="87" dur="250"/>
                                        <p:tgtEl>
                                          <p:spTgt spid="26">
                                            <p:graphicEl>
                                              <a:chart seriesIdx="0" categoryIdx="4" bldStep="ptInSeries"/>
                                            </p:graphicEl>
                                          </p:spTgt>
                                        </p:tgtEl>
                                      </p:cBhvr>
                                    </p:animEffect>
                                  </p:childTnLst>
                                </p:cTn>
                              </p:par>
                            </p:childTnLst>
                          </p:cTn>
                        </p:par>
                        <p:par>
                          <p:cTn id="88" fill="hold">
                            <p:stCondLst>
                              <p:cond delay="1750"/>
                            </p:stCondLst>
                            <p:childTnLst>
                              <p:par>
                                <p:cTn id="89" presetID="22" presetClass="entr" presetSubtype="4" fill="hold" grpId="0" nodeType="afterEffect">
                                  <p:stCondLst>
                                    <p:cond delay="0"/>
                                  </p:stCondLst>
                                  <p:childTnLst>
                                    <p:set>
                                      <p:cBhvr>
                                        <p:cTn id="90" dur="1" fill="hold">
                                          <p:stCondLst>
                                            <p:cond delay="0"/>
                                          </p:stCondLst>
                                        </p:cTn>
                                        <p:tgtEl>
                                          <p:spTgt spid="25">
                                            <p:graphicEl>
                                              <a:chart seriesIdx="0" categoryIdx="5" bldStep="ptInSeries"/>
                                            </p:graphicEl>
                                          </p:spTgt>
                                        </p:tgtEl>
                                        <p:attrNameLst>
                                          <p:attrName>style.visibility</p:attrName>
                                        </p:attrNameLst>
                                      </p:cBhvr>
                                      <p:to>
                                        <p:strVal val="visible"/>
                                      </p:to>
                                    </p:set>
                                    <p:animEffect transition="in" filter="wipe(down)">
                                      <p:cBhvr>
                                        <p:cTn id="91" dur="250"/>
                                        <p:tgtEl>
                                          <p:spTgt spid="25">
                                            <p:graphicEl>
                                              <a:chart seriesIdx="0" categoryIdx="5" bldStep="ptInSeries"/>
                                            </p:graphicEl>
                                          </p:spTgt>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26">
                                            <p:graphicEl>
                                              <a:chart seriesIdx="0" categoryIdx="5" bldStep="ptInSeries"/>
                                            </p:graphicEl>
                                          </p:spTgt>
                                        </p:tgtEl>
                                        <p:attrNameLst>
                                          <p:attrName>style.visibility</p:attrName>
                                        </p:attrNameLst>
                                      </p:cBhvr>
                                      <p:to>
                                        <p:strVal val="visible"/>
                                      </p:to>
                                    </p:set>
                                    <p:animEffect transition="in" filter="wipe(down)">
                                      <p:cBhvr>
                                        <p:cTn id="94" dur="250"/>
                                        <p:tgtEl>
                                          <p:spTgt spid="26">
                                            <p:graphicEl>
                                              <a:chart seriesIdx="0" categoryIdx="5" bldStep="ptInSeries"/>
                                            </p:graphic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fade">
                                      <p:cBhvr>
                                        <p:cTn id="9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4" grpId="0">
        <p:bldSub>
          <a:bldChart bld="seriesEl"/>
        </p:bldSub>
      </p:bldGraphic>
      <p:bldGraphic spid="25" grpId="0" uiExpand="1">
        <p:bldSub>
          <a:bldChart bld="seriesEl"/>
        </p:bldSub>
      </p:bldGraphic>
      <p:bldGraphic spid="26" grpId="0" uiExpand="1">
        <p:bldSub>
          <a:bldChart bld="seriesEl"/>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Part of </a:t>
            </a:r>
            <a:r>
              <a:rPr lang="en-US" i="1" dirty="0">
                <a:solidFill>
                  <a:srgbClr val="3DBF9C"/>
                </a:solidFill>
                <a:latin typeface="Lato Light" panose="020F0302020204030203" pitchFamily="34" charset="0"/>
              </a:rPr>
              <a:t>Histogram</a:t>
            </a:r>
            <a:endParaRPr lang="en-US" dirty="0">
              <a:solidFill>
                <a:schemeClr val="tx1"/>
              </a:solidFill>
            </a:endParaRPr>
          </a:p>
        </p:txBody>
      </p:sp>
      <p:sp>
        <p:nvSpPr>
          <p:cNvPr id="3" name="Text Placeholder 2"/>
          <p:cNvSpPr>
            <a:spLocks noGrp="1"/>
          </p:cNvSpPr>
          <p:nvPr>
            <p:ph type="body" sz="quarter" idx="11"/>
          </p:nvPr>
        </p:nvSpPr>
        <p:spPr/>
        <p:txBody>
          <a:bodyPr/>
          <a:lstStyle/>
          <a:p>
            <a:r>
              <a:rPr lang="en-US" b="1" dirty="0"/>
              <a:t>Feature Data Vs. Histogram</a:t>
            </a:r>
          </a:p>
        </p:txBody>
      </p:sp>
      <p:sp>
        <p:nvSpPr>
          <p:cNvPr id="9" name="Rectangle 8"/>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0" name="Straight Connector 9"/>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TextBox 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- 7</a:t>
            </a:r>
          </a:p>
        </p:txBody>
      </p:sp>
      <p:grpSp>
        <p:nvGrpSpPr>
          <p:cNvPr id="21" name="Group 20"/>
          <p:cNvGrpSpPr/>
          <p:nvPr/>
        </p:nvGrpSpPr>
        <p:grpSpPr>
          <a:xfrm>
            <a:off x="455000" y="491056"/>
            <a:ext cx="45720" cy="675713"/>
            <a:chOff x="455000" y="491056"/>
            <a:chExt cx="45720" cy="675713"/>
          </a:xfrm>
        </p:grpSpPr>
        <p:sp>
          <p:nvSpPr>
            <p:cNvPr id="22" name="Rectangle 21"/>
            <p:cNvSpPr/>
            <p:nvPr userDrawn="1"/>
          </p:nvSpPr>
          <p:spPr>
            <a:xfrm>
              <a:off x="455001" y="491056"/>
              <a:ext cx="45719" cy="675713"/>
            </a:xfrm>
            <a:prstGeom prst="rect">
              <a:avLst/>
            </a:prstGeom>
            <a:solidFill>
              <a:srgbClr val="3DBF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mc:AlternateContent xmlns:mc="http://schemas.openxmlformats.org/markup-compatibility/2006">
        <mc:Choice xmlns:cx1="http://schemas.microsoft.com/office/drawing/2015/9/8/chartex" Requires="cx1">
          <p:graphicFrame>
            <p:nvGraphicFramePr>
              <p:cNvPr id="36" name="Chart 35"/>
              <p:cNvGraphicFramePr/>
              <p:nvPr>
                <p:extLst>
                  <p:ext uri="{D42A27DB-BD31-4B8C-83A1-F6EECF244321}">
                    <p14:modId xmlns:p14="http://schemas.microsoft.com/office/powerpoint/2010/main" val="4170729375"/>
                  </p:ext>
                </p:extLst>
              </p:nvPr>
            </p:nvGraphicFramePr>
            <p:xfrm>
              <a:off x="3652215" y="2195476"/>
              <a:ext cx="4719291" cy="2520741"/>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36" name="Chart 35"/>
              <p:cNvPicPr>
                <a:picLocks noGrp="1" noRot="1" noChangeAspect="1" noMove="1" noResize="1" noEditPoints="1" noAdjustHandles="1" noChangeArrowheads="1" noChangeShapeType="1"/>
              </p:cNvPicPr>
              <p:nvPr/>
            </p:nvPicPr>
            <p:blipFill>
              <a:blip r:embed="rId3"/>
              <a:stretch>
                <a:fillRect/>
              </a:stretch>
            </p:blipFill>
            <p:spPr>
              <a:xfrm>
                <a:off x="3652215" y="2195476"/>
                <a:ext cx="4719291" cy="2520741"/>
              </a:xfrm>
              <a:prstGeom prst="rect">
                <a:avLst/>
              </a:prstGeom>
            </p:spPr>
          </p:pic>
        </mc:Fallback>
      </mc:AlternateContent>
      <p:grpSp>
        <p:nvGrpSpPr>
          <p:cNvPr id="37" name="Group 36"/>
          <p:cNvGrpSpPr/>
          <p:nvPr/>
        </p:nvGrpSpPr>
        <p:grpSpPr>
          <a:xfrm>
            <a:off x="203456" y="2586898"/>
            <a:ext cx="3569948" cy="1852960"/>
            <a:chOff x="1058593" y="3088761"/>
            <a:chExt cx="3569948" cy="1852960"/>
          </a:xfrm>
        </p:grpSpPr>
        <p:grpSp>
          <p:nvGrpSpPr>
            <p:cNvPr id="39" name="Group 38"/>
            <p:cNvGrpSpPr/>
            <p:nvPr/>
          </p:nvGrpSpPr>
          <p:grpSpPr>
            <a:xfrm>
              <a:off x="2993893" y="3632473"/>
              <a:ext cx="1634648" cy="464665"/>
              <a:chOff x="2993893" y="3632473"/>
              <a:chExt cx="1634648" cy="464665"/>
            </a:xfrm>
          </p:grpSpPr>
          <p:cxnSp>
            <p:nvCxnSpPr>
              <p:cNvPr id="42" name="Straight Connector 41"/>
              <p:cNvCxnSpPr/>
              <p:nvPr/>
            </p:nvCxnSpPr>
            <p:spPr>
              <a:xfrm flipH="1">
                <a:off x="3268980" y="3990458"/>
                <a:ext cx="1207162" cy="0"/>
              </a:xfrm>
              <a:prstGeom prst="line">
                <a:avLst/>
              </a:prstGeom>
              <a:ln w="28575">
                <a:solidFill>
                  <a:srgbClr val="A1BB22"/>
                </a:solidFill>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4399941" y="3868538"/>
                <a:ext cx="228600" cy="228600"/>
              </a:xfrm>
              <a:prstGeom prst="ellipse">
                <a:avLst/>
              </a:prstGeom>
              <a:solidFill>
                <a:srgbClr val="A1BB2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58" name="Straight Connector 57"/>
              <p:cNvCxnSpPr/>
              <p:nvPr/>
            </p:nvCxnSpPr>
            <p:spPr>
              <a:xfrm flipH="1" flipV="1">
                <a:off x="2993893" y="3632473"/>
                <a:ext cx="294137" cy="357985"/>
              </a:xfrm>
              <a:prstGeom prst="line">
                <a:avLst/>
              </a:prstGeom>
              <a:ln w="28575">
                <a:solidFill>
                  <a:srgbClr val="A1BB22"/>
                </a:solidFill>
              </a:ln>
            </p:spPr>
            <p:style>
              <a:lnRef idx="1">
                <a:schemeClr val="accent1"/>
              </a:lnRef>
              <a:fillRef idx="0">
                <a:schemeClr val="accent1"/>
              </a:fillRef>
              <a:effectRef idx="0">
                <a:schemeClr val="accent1"/>
              </a:effectRef>
              <a:fontRef idx="minor">
                <a:schemeClr val="tx1"/>
              </a:fontRef>
            </p:style>
          </p:cxnSp>
        </p:grpSp>
        <p:sp>
          <p:nvSpPr>
            <p:cNvPr id="40" name="TextBox 39"/>
            <p:cNvSpPr txBox="1">
              <a:spLocks noChangeAspect="1"/>
            </p:cNvSpPr>
            <p:nvPr/>
          </p:nvSpPr>
          <p:spPr>
            <a:xfrm>
              <a:off x="1058593" y="3088761"/>
              <a:ext cx="1892732" cy="467965"/>
            </a:xfrm>
            <a:prstGeom prst="rect">
              <a:avLst/>
            </a:prstGeom>
            <a:noFill/>
          </p:spPr>
          <p:txBody>
            <a:bodyPr wrap="none" lIns="0" tIns="0" rIns="0" bIns="0" rtlCol="0" anchor="ctr" anchorCtr="0">
              <a:noAutofit/>
            </a:bodyPr>
            <a:lstStyle/>
            <a:p>
              <a:pPr algn="r" defTabSz="914294"/>
              <a:r>
                <a:rPr lang="en-US" sz="2000" dirty="0">
                  <a:solidFill>
                    <a:prstClr val="black">
                      <a:lumMod val="85000"/>
                      <a:lumOff val="15000"/>
                    </a:prstClr>
                  </a:solidFill>
                  <a:latin typeface="Lato Black" panose="020F0A02020204030203" pitchFamily="34" charset="0"/>
                </a:rPr>
                <a:t>Frequency</a:t>
              </a:r>
              <a:r>
                <a:rPr lang="en-US" sz="2800" dirty="0">
                  <a:solidFill>
                    <a:prstClr val="black">
                      <a:lumMod val="85000"/>
                      <a:lumOff val="15000"/>
                    </a:prstClr>
                  </a:solidFill>
                  <a:latin typeface="FontAwesome" pitchFamily="2" charset="0"/>
                </a:rPr>
                <a:t> </a:t>
              </a:r>
              <a:endParaRPr lang="ru-RU" sz="2800" dirty="0">
                <a:solidFill>
                  <a:prstClr val="black">
                    <a:lumMod val="85000"/>
                    <a:lumOff val="15000"/>
                  </a:prstClr>
                </a:solidFill>
              </a:endParaRPr>
            </a:p>
          </p:txBody>
        </p:sp>
        <p:sp>
          <p:nvSpPr>
            <p:cNvPr id="41" name="TextBox 40"/>
            <p:cNvSpPr txBox="1"/>
            <p:nvPr/>
          </p:nvSpPr>
          <p:spPr>
            <a:xfrm>
              <a:off x="1180609" y="3556726"/>
              <a:ext cx="1742599" cy="1384995"/>
            </a:xfrm>
            <a:prstGeom prst="rect">
              <a:avLst/>
            </a:prstGeom>
            <a:noFill/>
          </p:spPr>
          <p:txBody>
            <a:bodyPr wrap="square" rtlCol="0">
              <a:spAutoFit/>
            </a:bodyPr>
            <a:lstStyle/>
            <a:p>
              <a:pPr algn="r"/>
              <a:r>
                <a:rPr lang="en-US" sz="1400" dirty="0">
                  <a:solidFill>
                    <a:prstClr val="black">
                      <a:lumMod val="75000"/>
                      <a:lumOff val="25000"/>
                    </a:prstClr>
                  </a:solidFill>
                  <a:latin typeface="Lato Light" panose="020F0402020204030203" pitchFamily="34" charset="0"/>
                  <a:cs typeface="Lato Light" panose="020F0402020204030203" pitchFamily="34" charset="0"/>
                </a:rPr>
                <a:t>The vertical or Y-axis is the scale that shows you the number of times the values within an interval occurred</a:t>
              </a:r>
            </a:p>
          </p:txBody>
        </p:sp>
      </p:grpSp>
      <p:grpSp>
        <p:nvGrpSpPr>
          <p:cNvPr id="59" name="Group 58"/>
          <p:cNvGrpSpPr/>
          <p:nvPr/>
        </p:nvGrpSpPr>
        <p:grpSpPr>
          <a:xfrm>
            <a:off x="7827430" y="3447181"/>
            <a:ext cx="4499242" cy="2059966"/>
            <a:chOff x="6823130" y="1507069"/>
            <a:chExt cx="4499242" cy="2059966"/>
          </a:xfrm>
        </p:grpSpPr>
        <p:grpSp>
          <p:nvGrpSpPr>
            <p:cNvPr id="60" name="Group 59"/>
            <p:cNvGrpSpPr/>
            <p:nvPr/>
          </p:nvGrpSpPr>
          <p:grpSpPr>
            <a:xfrm>
              <a:off x="6823130" y="2123912"/>
              <a:ext cx="1149931" cy="228600"/>
              <a:chOff x="7428229" y="5730615"/>
              <a:chExt cx="1149931" cy="228600"/>
            </a:xfrm>
          </p:grpSpPr>
          <p:cxnSp>
            <p:nvCxnSpPr>
              <p:cNvPr id="63" name="Straight Connector 62"/>
              <p:cNvCxnSpPr/>
              <p:nvPr/>
            </p:nvCxnSpPr>
            <p:spPr>
              <a:xfrm flipH="1">
                <a:off x="7549012" y="5844915"/>
                <a:ext cx="1029148" cy="0"/>
              </a:xfrm>
              <a:prstGeom prst="line">
                <a:avLst/>
              </a:prstGeom>
              <a:ln w="28575">
                <a:solidFill>
                  <a:srgbClr val="D43E01"/>
                </a:solidFill>
              </a:ln>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7428229" y="5730615"/>
                <a:ext cx="228600" cy="228600"/>
              </a:xfrm>
              <a:prstGeom prst="ellipse">
                <a:avLst/>
              </a:prstGeom>
              <a:solidFill>
                <a:srgbClr val="D43E0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1" name="TextBox 60"/>
            <p:cNvSpPr txBox="1">
              <a:spLocks noChangeAspect="1"/>
            </p:cNvSpPr>
            <p:nvPr/>
          </p:nvSpPr>
          <p:spPr>
            <a:xfrm>
              <a:off x="8093844" y="1507069"/>
              <a:ext cx="3228528" cy="467965"/>
            </a:xfrm>
            <a:prstGeom prst="rect">
              <a:avLst/>
            </a:prstGeom>
            <a:noFill/>
          </p:spPr>
          <p:txBody>
            <a:bodyPr wrap="none" lIns="0" tIns="0" rIns="0" bIns="0" rtlCol="0" anchor="ctr" anchorCtr="0">
              <a:noAutofit/>
            </a:bodyPr>
            <a:lstStyle/>
            <a:p>
              <a:pPr defTabSz="914294"/>
              <a:r>
                <a:rPr lang="en-US" sz="2000" dirty="0">
                  <a:solidFill>
                    <a:prstClr val="black">
                      <a:lumMod val="85000"/>
                      <a:lumOff val="15000"/>
                    </a:prstClr>
                  </a:solidFill>
                  <a:latin typeface="Lato Black" panose="020F0A02020204030203" pitchFamily="34" charset="0"/>
                </a:rPr>
                <a:t>Bin</a:t>
              </a:r>
              <a:r>
                <a:rPr lang="en-US" sz="2800" dirty="0">
                  <a:solidFill>
                    <a:prstClr val="black">
                      <a:lumMod val="85000"/>
                      <a:lumOff val="15000"/>
                    </a:prstClr>
                  </a:solidFill>
                  <a:latin typeface="FontAwesome" pitchFamily="2" charset="0"/>
                </a:rPr>
                <a:t> </a:t>
              </a:r>
              <a:endParaRPr lang="ru-RU" sz="2800" dirty="0">
                <a:solidFill>
                  <a:prstClr val="black">
                    <a:lumMod val="85000"/>
                    <a:lumOff val="15000"/>
                  </a:prstClr>
                </a:solidFill>
              </a:endParaRPr>
            </a:p>
          </p:txBody>
        </p:sp>
        <p:sp>
          <p:nvSpPr>
            <p:cNvPr id="62" name="TextBox 61"/>
            <p:cNvSpPr txBox="1"/>
            <p:nvPr/>
          </p:nvSpPr>
          <p:spPr>
            <a:xfrm>
              <a:off x="8015593" y="1966597"/>
              <a:ext cx="2878023" cy="1600438"/>
            </a:xfrm>
            <a:prstGeom prst="rect">
              <a:avLst/>
            </a:prstGeom>
            <a:noFill/>
          </p:spPr>
          <p:txBody>
            <a:bodyPr wrap="square" rtlCol="0">
              <a:spAutoFit/>
            </a:bodyPr>
            <a:lstStyle/>
            <a:p>
              <a:r>
                <a:rPr lang="en-US" sz="1400" dirty="0">
                  <a:solidFill>
                    <a:prstClr val="black">
                      <a:lumMod val="75000"/>
                      <a:lumOff val="25000"/>
                    </a:prstClr>
                  </a:solidFill>
                  <a:latin typeface="Lato Light" panose="020F0402020204030203" pitchFamily="34" charset="0"/>
                  <a:cs typeface="Lato Light" panose="020F0402020204030203" pitchFamily="34" charset="0"/>
                </a:rPr>
                <a:t>Bins have two important characteristics, height and width. The height represents the number of times the values within an interval occurred. The width represents the length of the interval covered by the bin</a:t>
              </a:r>
            </a:p>
          </p:txBody>
        </p:sp>
      </p:grpSp>
      <p:grpSp>
        <p:nvGrpSpPr>
          <p:cNvPr id="65" name="Group 64"/>
          <p:cNvGrpSpPr/>
          <p:nvPr/>
        </p:nvGrpSpPr>
        <p:grpSpPr>
          <a:xfrm>
            <a:off x="6990657" y="969471"/>
            <a:ext cx="4688184" cy="1519899"/>
            <a:chOff x="7428228" y="3463692"/>
            <a:chExt cx="4688184" cy="1519899"/>
          </a:xfrm>
        </p:grpSpPr>
        <p:grpSp>
          <p:nvGrpSpPr>
            <p:cNvPr id="66" name="Group 65"/>
            <p:cNvGrpSpPr/>
            <p:nvPr/>
          </p:nvGrpSpPr>
          <p:grpSpPr>
            <a:xfrm>
              <a:off x="7428228" y="4097862"/>
              <a:ext cx="1296672" cy="885729"/>
              <a:chOff x="7428228" y="4097862"/>
              <a:chExt cx="1296672" cy="885729"/>
            </a:xfrm>
          </p:grpSpPr>
          <p:cxnSp>
            <p:nvCxnSpPr>
              <p:cNvPr id="69" name="Straight Connector 68"/>
              <p:cNvCxnSpPr/>
              <p:nvPr/>
            </p:nvCxnSpPr>
            <p:spPr>
              <a:xfrm flipH="1">
                <a:off x="7549011" y="4869291"/>
                <a:ext cx="566289" cy="0"/>
              </a:xfrm>
              <a:prstGeom prst="line">
                <a:avLst/>
              </a:prstGeom>
              <a:ln w="28575">
                <a:solidFill>
                  <a:srgbClr val="FE8301"/>
                </a:solidFill>
              </a:ln>
            </p:spPr>
            <p:style>
              <a:lnRef idx="1">
                <a:schemeClr val="accent1"/>
              </a:lnRef>
              <a:fillRef idx="0">
                <a:schemeClr val="accent1"/>
              </a:fillRef>
              <a:effectRef idx="0">
                <a:schemeClr val="accent1"/>
              </a:effectRef>
              <a:fontRef idx="minor">
                <a:schemeClr val="tx1"/>
              </a:fontRef>
            </p:style>
          </p:cxnSp>
          <p:grpSp>
            <p:nvGrpSpPr>
              <p:cNvPr id="70" name="Group 69"/>
              <p:cNvGrpSpPr/>
              <p:nvPr/>
            </p:nvGrpSpPr>
            <p:grpSpPr>
              <a:xfrm>
                <a:off x="7428228" y="4097862"/>
                <a:ext cx="1296672" cy="885729"/>
                <a:chOff x="7428228" y="4097862"/>
                <a:chExt cx="1296672" cy="885729"/>
              </a:xfrm>
            </p:grpSpPr>
            <p:sp>
              <p:nvSpPr>
                <p:cNvPr id="71" name="Oval 70"/>
                <p:cNvSpPr/>
                <p:nvPr/>
              </p:nvSpPr>
              <p:spPr>
                <a:xfrm>
                  <a:off x="7428228" y="4754991"/>
                  <a:ext cx="228600" cy="228600"/>
                </a:xfrm>
                <a:prstGeom prst="ellipse">
                  <a:avLst/>
                </a:prstGeom>
                <a:solidFill>
                  <a:srgbClr val="FE830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2" name="Straight Connector 71"/>
                <p:cNvCxnSpPr/>
                <p:nvPr/>
              </p:nvCxnSpPr>
              <p:spPr>
                <a:xfrm flipH="1">
                  <a:off x="8115301" y="4097862"/>
                  <a:ext cx="609599" cy="771429"/>
                </a:xfrm>
                <a:prstGeom prst="line">
                  <a:avLst/>
                </a:prstGeom>
                <a:ln w="28575">
                  <a:solidFill>
                    <a:srgbClr val="FE8301"/>
                  </a:solidFill>
                </a:ln>
              </p:spPr>
              <p:style>
                <a:lnRef idx="1">
                  <a:schemeClr val="accent1"/>
                </a:lnRef>
                <a:fillRef idx="0">
                  <a:schemeClr val="accent1"/>
                </a:fillRef>
                <a:effectRef idx="0">
                  <a:schemeClr val="accent1"/>
                </a:effectRef>
                <a:fontRef idx="minor">
                  <a:schemeClr val="tx1"/>
                </a:fontRef>
              </p:style>
            </p:cxnSp>
          </p:grpSp>
        </p:grpSp>
        <p:sp>
          <p:nvSpPr>
            <p:cNvPr id="67" name="TextBox 66"/>
            <p:cNvSpPr txBox="1">
              <a:spLocks noChangeAspect="1"/>
            </p:cNvSpPr>
            <p:nvPr/>
          </p:nvSpPr>
          <p:spPr>
            <a:xfrm>
              <a:off x="8887884" y="3463692"/>
              <a:ext cx="3228528" cy="467965"/>
            </a:xfrm>
            <a:prstGeom prst="rect">
              <a:avLst/>
            </a:prstGeom>
            <a:noFill/>
          </p:spPr>
          <p:txBody>
            <a:bodyPr wrap="none" lIns="0" tIns="0" rIns="0" bIns="0" rtlCol="0" anchor="ctr" anchorCtr="0">
              <a:noAutofit/>
            </a:bodyPr>
            <a:lstStyle/>
            <a:p>
              <a:pPr defTabSz="914294"/>
              <a:r>
                <a:rPr lang="en-US" sz="2000" dirty="0">
                  <a:solidFill>
                    <a:prstClr val="black">
                      <a:lumMod val="85000"/>
                      <a:lumOff val="15000"/>
                    </a:prstClr>
                  </a:solidFill>
                  <a:latin typeface="Lato Black" panose="020F0A02020204030203" pitchFamily="34" charset="0"/>
                </a:rPr>
                <a:t>Title</a:t>
              </a:r>
              <a:r>
                <a:rPr lang="en-US" sz="2800" dirty="0">
                  <a:solidFill>
                    <a:prstClr val="black">
                      <a:lumMod val="85000"/>
                      <a:lumOff val="15000"/>
                    </a:prstClr>
                  </a:solidFill>
                  <a:latin typeface="FontAwesome" pitchFamily="2" charset="0"/>
                </a:rPr>
                <a:t> </a:t>
              </a:r>
              <a:endParaRPr lang="ru-RU" sz="2800" dirty="0">
                <a:solidFill>
                  <a:prstClr val="black">
                    <a:lumMod val="85000"/>
                    <a:lumOff val="15000"/>
                  </a:prstClr>
                </a:solidFill>
              </a:endParaRPr>
            </a:p>
          </p:txBody>
        </p:sp>
        <p:sp>
          <p:nvSpPr>
            <p:cNvPr id="68" name="TextBox 67"/>
            <p:cNvSpPr txBox="1"/>
            <p:nvPr/>
          </p:nvSpPr>
          <p:spPr>
            <a:xfrm>
              <a:off x="8809201" y="3909216"/>
              <a:ext cx="2497665" cy="738664"/>
            </a:xfrm>
            <a:prstGeom prst="rect">
              <a:avLst/>
            </a:prstGeom>
            <a:noFill/>
          </p:spPr>
          <p:txBody>
            <a:bodyPr wrap="square" rtlCol="0">
              <a:spAutoFit/>
            </a:bodyPr>
            <a:lstStyle/>
            <a:p>
              <a:pPr algn="just"/>
              <a:r>
                <a:rPr lang="en-US" sz="1400" dirty="0">
                  <a:solidFill>
                    <a:prstClr val="black">
                      <a:lumMod val="75000"/>
                      <a:lumOff val="25000"/>
                    </a:prstClr>
                  </a:solidFill>
                  <a:latin typeface="Lato Light" panose="020F0402020204030203" pitchFamily="34" charset="0"/>
                  <a:cs typeface="Lato Light" panose="020F0402020204030203" pitchFamily="34" charset="0"/>
                </a:rPr>
                <a:t>The title briefly describes the information that is contained in the Histogram</a:t>
              </a:r>
            </a:p>
          </p:txBody>
        </p:sp>
      </p:grpSp>
      <p:grpSp>
        <p:nvGrpSpPr>
          <p:cNvPr id="78" name="Group 77"/>
          <p:cNvGrpSpPr/>
          <p:nvPr/>
        </p:nvGrpSpPr>
        <p:grpSpPr>
          <a:xfrm rot="16200000">
            <a:off x="3413610" y="3716469"/>
            <a:ext cx="1918981" cy="3918491"/>
            <a:chOff x="2709560" y="178647"/>
            <a:chExt cx="1918981" cy="3918491"/>
          </a:xfrm>
        </p:grpSpPr>
        <p:grpSp>
          <p:nvGrpSpPr>
            <p:cNvPr id="79" name="Group 78"/>
            <p:cNvGrpSpPr/>
            <p:nvPr/>
          </p:nvGrpSpPr>
          <p:grpSpPr>
            <a:xfrm>
              <a:off x="3631845" y="3621859"/>
              <a:ext cx="996696" cy="475279"/>
              <a:chOff x="3631845" y="3621859"/>
              <a:chExt cx="996696" cy="475279"/>
            </a:xfrm>
          </p:grpSpPr>
          <p:cxnSp>
            <p:nvCxnSpPr>
              <p:cNvPr id="82" name="Straight Connector 81"/>
              <p:cNvCxnSpPr/>
              <p:nvPr/>
            </p:nvCxnSpPr>
            <p:spPr>
              <a:xfrm flipH="1">
                <a:off x="3906933" y="3979852"/>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3" name="Oval 82"/>
              <p:cNvSpPr/>
              <p:nvPr/>
            </p:nvSpPr>
            <p:spPr>
              <a:xfrm>
                <a:off x="4399941" y="3868538"/>
                <a:ext cx="228600" cy="228600"/>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4" name="Straight Connector 83"/>
              <p:cNvCxnSpPr/>
              <p:nvPr/>
            </p:nvCxnSpPr>
            <p:spPr>
              <a:xfrm flipH="1" flipV="1">
                <a:off x="3631845" y="3621859"/>
                <a:ext cx="294137" cy="35798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80" name="TextBox 79"/>
            <p:cNvSpPr txBox="1">
              <a:spLocks noChangeAspect="1"/>
            </p:cNvSpPr>
            <p:nvPr/>
          </p:nvSpPr>
          <p:spPr>
            <a:xfrm rot="5400000">
              <a:off x="3142748" y="2343447"/>
              <a:ext cx="1892732" cy="467965"/>
            </a:xfrm>
            <a:prstGeom prst="rect">
              <a:avLst/>
            </a:prstGeom>
            <a:noFill/>
          </p:spPr>
          <p:txBody>
            <a:bodyPr wrap="none" lIns="0" tIns="0" rIns="0" bIns="0" rtlCol="0" anchor="ctr" anchorCtr="0">
              <a:noAutofit/>
            </a:bodyPr>
            <a:lstStyle/>
            <a:p>
              <a:pPr algn="r" defTabSz="914294"/>
              <a:r>
                <a:rPr lang="en-US" sz="2000" dirty="0">
                  <a:solidFill>
                    <a:prstClr val="black">
                      <a:lumMod val="85000"/>
                      <a:lumOff val="15000"/>
                    </a:prstClr>
                  </a:solidFill>
                  <a:latin typeface="Lato Black" panose="020F0A02020204030203" pitchFamily="34" charset="0"/>
                </a:rPr>
                <a:t>Bin Size / Interval</a:t>
              </a:r>
              <a:r>
                <a:rPr lang="en-US" sz="2800" dirty="0">
                  <a:solidFill>
                    <a:prstClr val="black">
                      <a:lumMod val="85000"/>
                      <a:lumOff val="15000"/>
                    </a:prstClr>
                  </a:solidFill>
                  <a:latin typeface="FontAwesome" pitchFamily="2" charset="0"/>
                </a:rPr>
                <a:t> </a:t>
              </a:r>
              <a:endParaRPr lang="ru-RU" sz="2800" dirty="0">
                <a:solidFill>
                  <a:prstClr val="black">
                    <a:lumMod val="85000"/>
                    <a:lumOff val="15000"/>
                  </a:prstClr>
                </a:solidFill>
              </a:endParaRPr>
            </a:p>
          </p:txBody>
        </p:sp>
        <p:sp>
          <p:nvSpPr>
            <p:cNvPr id="81" name="TextBox 80"/>
            <p:cNvSpPr txBox="1"/>
            <p:nvPr/>
          </p:nvSpPr>
          <p:spPr>
            <a:xfrm rot="5400000">
              <a:off x="1614216" y="1273991"/>
              <a:ext cx="3360239" cy="1169551"/>
            </a:xfrm>
            <a:prstGeom prst="rect">
              <a:avLst/>
            </a:prstGeom>
            <a:noFill/>
          </p:spPr>
          <p:txBody>
            <a:bodyPr wrap="square" rtlCol="0">
              <a:spAutoFit/>
            </a:bodyPr>
            <a:lstStyle/>
            <a:p>
              <a:pPr algn="r"/>
              <a:r>
                <a:rPr lang="en-US" sz="1400" dirty="0">
                  <a:solidFill>
                    <a:prstClr val="black">
                      <a:lumMod val="75000"/>
                      <a:lumOff val="25000"/>
                    </a:prstClr>
                  </a:solidFill>
                  <a:latin typeface="Lato Light" panose="020F0402020204030203" pitchFamily="34" charset="0"/>
                  <a:cs typeface="Lato Light" panose="020F0402020204030203" pitchFamily="34" charset="0"/>
                </a:rPr>
                <a:t>The horizontal or X-axis shows you the scale of values into which the measurements fit. These measurements are generally grouped into intervals to help you summarize large data sets</a:t>
              </a:r>
            </a:p>
          </p:txBody>
        </p:sp>
      </p:grpSp>
    </p:spTree>
    <p:extLst>
      <p:ext uri="{BB962C8B-B14F-4D97-AF65-F5344CB8AC3E}">
        <p14:creationId xmlns:p14="http://schemas.microsoft.com/office/powerpoint/2010/main" val="2669220631"/>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250"/>
                                        <p:tgtEl>
                                          <p:spTgt spid="36"/>
                                        </p:tgtEl>
                                      </p:cBhvr>
                                    </p:animEffect>
                                  </p:childTnLst>
                                </p:cTn>
                              </p:par>
                            </p:childTnLst>
                          </p:cTn>
                        </p:par>
                        <p:par>
                          <p:cTn id="8" fill="hold">
                            <p:stCondLst>
                              <p:cond delay="250"/>
                            </p:stCondLst>
                            <p:childTnLst>
                              <p:par>
                                <p:cTn id="9" presetID="22" presetClass="entr" presetSubtype="2"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right)">
                                      <p:cBhvr>
                                        <p:cTn id="11" dur="500"/>
                                        <p:tgtEl>
                                          <p:spTgt spid="37"/>
                                        </p:tgtEl>
                                      </p:cBhvr>
                                    </p:animEffect>
                                  </p:childTnLst>
                                </p:cTn>
                              </p:par>
                            </p:childTnLst>
                          </p:cTn>
                        </p:par>
                        <p:par>
                          <p:cTn id="12" fill="hold">
                            <p:stCondLst>
                              <p:cond delay="750"/>
                            </p:stCondLst>
                            <p:childTnLst>
                              <p:par>
                                <p:cTn id="13" presetID="22" presetClass="entr" presetSubtype="8"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500"/>
                                        <p:tgtEl>
                                          <p:spTgt spid="59"/>
                                        </p:tgtEl>
                                      </p:cBhvr>
                                    </p:animEffect>
                                  </p:childTnLst>
                                </p:cTn>
                              </p:par>
                            </p:childTnLst>
                          </p:cTn>
                        </p:par>
                        <p:par>
                          <p:cTn id="16" fill="hold">
                            <p:stCondLst>
                              <p:cond delay="1250"/>
                            </p:stCondLst>
                            <p:childTnLst>
                              <p:par>
                                <p:cTn id="17" presetID="22" presetClass="entr" presetSubtype="8" fill="hold"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wipe(left)">
                                      <p:cBhvr>
                                        <p:cTn id="19" dur="500"/>
                                        <p:tgtEl>
                                          <p:spTgt spid="65"/>
                                        </p:tgtEl>
                                      </p:cBhvr>
                                    </p:animEffect>
                                  </p:childTnLst>
                                </p:cTn>
                              </p:par>
                            </p:childTnLst>
                          </p:cTn>
                        </p:par>
                        <p:par>
                          <p:cTn id="20" fill="hold">
                            <p:stCondLst>
                              <p:cond delay="1750"/>
                            </p:stCondLst>
                            <p:childTnLst>
                              <p:par>
                                <p:cTn id="21" presetID="22" presetClass="entr" presetSubtype="2" fill="hold" nodeType="after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wipe(right)">
                                      <p:cBhvr>
                                        <p:cTn id="23"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Pattern Of </a:t>
            </a:r>
            <a:r>
              <a:rPr lang="en-US" i="1" dirty="0">
                <a:solidFill>
                  <a:srgbClr val="FE8301"/>
                </a:solidFill>
                <a:latin typeface="Lato Light" panose="020F0302020204030203" pitchFamily="34" charset="0"/>
              </a:rPr>
              <a:t>Histograms</a:t>
            </a:r>
          </a:p>
        </p:txBody>
      </p:sp>
      <p:sp>
        <p:nvSpPr>
          <p:cNvPr id="3" name="Text Placeholder 2"/>
          <p:cNvSpPr>
            <a:spLocks noGrp="1"/>
          </p:cNvSpPr>
          <p:nvPr>
            <p:ph type="body" sz="quarter" idx="11"/>
          </p:nvPr>
        </p:nvSpPr>
        <p:spPr/>
        <p:txBody>
          <a:bodyPr/>
          <a:lstStyle/>
          <a:p>
            <a:r>
              <a:rPr lang="en-US" b="1" dirty="0"/>
              <a:t>Feature Data Vs. Histogram</a:t>
            </a:r>
          </a:p>
        </p:txBody>
      </p:sp>
      <p:grpSp>
        <p:nvGrpSpPr>
          <p:cNvPr id="4" name="Group 3"/>
          <p:cNvGrpSpPr/>
          <p:nvPr/>
        </p:nvGrpSpPr>
        <p:grpSpPr>
          <a:xfrm>
            <a:off x="1650651" y="1439404"/>
            <a:ext cx="2476502" cy="2172239"/>
            <a:chOff x="1650651" y="1608738"/>
            <a:chExt cx="2476502" cy="2172239"/>
          </a:xfrm>
        </p:grpSpPr>
        <p:graphicFrame>
          <p:nvGraphicFramePr>
            <p:cNvPr id="16" name="Diagram 15"/>
            <p:cNvGraphicFramePr/>
            <p:nvPr>
              <p:extLst>
                <p:ext uri="{D42A27DB-BD31-4B8C-83A1-F6EECF244321}">
                  <p14:modId xmlns:p14="http://schemas.microsoft.com/office/powerpoint/2010/main" val="793280341"/>
                </p:ext>
              </p:extLst>
            </p:nvPr>
          </p:nvGraphicFramePr>
          <p:xfrm>
            <a:off x="1650651" y="1608738"/>
            <a:ext cx="2476501" cy="1587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p:cNvSpPr txBox="1"/>
            <p:nvPr/>
          </p:nvSpPr>
          <p:spPr>
            <a:xfrm>
              <a:off x="1676777" y="3158008"/>
              <a:ext cx="2450376" cy="307777"/>
            </a:xfrm>
            <a:prstGeom prst="rect">
              <a:avLst/>
            </a:prstGeom>
            <a:noFill/>
          </p:spPr>
          <p:txBody>
            <a:bodyPr wrap="square" rtlCol="0">
              <a:spAutoFit/>
            </a:bodyPr>
            <a:lstStyle/>
            <a:p>
              <a:pPr algn="ctr"/>
              <a:r>
                <a:rPr lang="en-US" sz="1400" b="1" dirty="0">
                  <a:solidFill>
                    <a:srgbClr val="A1BC1F"/>
                  </a:solidFill>
                  <a:latin typeface="Lato Light" panose="020F0302020204030203" pitchFamily="34" charset="0"/>
                </a:rPr>
                <a:t>Symmetric</a:t>
              </a:r>
            </a:p>
          </p:txBody>
        </p:sp>
        <p:sp>
          <p:nvSpPr>
            <p:cNvPr id="14" name="TextBox 13"/>
            <p:cNvSpPr txBox="1"/>
            <p:nvPr/>
          </p:nvSpPr>
          <p:spPr>
            <a:xfrm>
              <a:off x="1650651" y="3365479"/>
              <a:ext cx="2476501" cy="415498"/>
            </a:xfrm>
            <a:prstGeom prst="rect">
              <a:avLst/>
            </a:prstGeom>
            <a:noFill/>
          </p:spPr>
          <p:txBody>
            <a:bodyPr wrap="square" rtlCol="0">
              <a:spAutoFit/>
            </a:bodyPr>
            <a:lstStyle/>
            <a:p>
              <a:pPr algn="ctr"/>
              <a:r>
                <a:rPr lang="en-US" sz="1050" dirty="0">
                  <a:solidFill>
                    <a:schemeClr val="tx1">
                      <a:lumMod val="50000"/>
                      <a:lumOff val="50000"/>
                    </a:schemeClr>
                  </a:solidFill>
                  <a:latin typeface="Lato Light" panose="020F0302020204030203" pitchFamily="34" charset="0"/>
                </a:rPr>
                <a:t>have </a:t>
              </a:r>
              <a:r>
                <a:rPr lang="en-US" sz="1050" b="1" dirty="0">
                  <a:solidFill>
                    <a:schemeClr val="tx1">
                      <a:lumMod val="50000"/>
                      <a:lumOff val="50000"/>
                    </a:schemeClr>
                  </a:solidFill>
                  <a:latin typeface="Lato Light" panose="020F0302020204030203" pitchFamily="34" charset="0"/>
                </a:rPr>
                <a:t>one clear center </a:t>
              </a:r>
              <a:r>
                <a:rPr lang="en-US" sz="1050" dirty="0">
                  <a:solidFill>
                    <a:schemeClr val="tx1">
                      <a:lumMod val="50000"/>
                      <a:lumOff val="50000"/>
                    </a:schemeClr>
                  </a:solidFill>
                  <a:latin typeface="Lato Light" panose="020F0302020204030203" pitchFamily="34" charset="0"/>
                </a:rPr>
                <a:t>that much of the data clusters around</a:t>
              </a:r>
            </a:p>
          </p:txBody>
        </p:sp>
      </p:grpSp>
      <p:grpSp>
        <p:nvGrpSpPr>
          <p:cNvPr id="9" name="Group 8"/>
          <p:cNvGrpSpPr/>
          <p:nvPr/>
        </p:nvGrpSpPr>
        <p:grpSpPr>
          <a:xfrm>
            <a:off x="1650651" y="3935622"/>
            <a:ext cx="2502626" cy="2671230"/>
            <a:chOff x="1650651" y="3842486"/>
            <a:chExt cx="2502626" cy="2671230"/>
          </a:xfrm>
        </p:grpSpPr>
        <p:graphicFrame>
          <p:nvGraphicFramePr>
            <p:cNvPr id="15" name="Diagram 14"/>
            <p:cNvGraphicFramePr/>
            <p:nvPr>
              <p:extLst>
                <p:ext uri="{D42A27DB-BD31-4B8C-83A1-F6EECF244321}">
                  <p14:modId xmlns:p14="http://schemas.microsoft.com/office/powerpoint/2010/main" val="1699901390"/>
                </p:ext>
              </p:extLst>
            </p:nvPr>
          </p:nvGraphicFramePr>
          <p:xfrm>
            <a:off x="1676776" y="3842486"/>
            <a:ext cx="2476501" cy="158761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7" name="TextBox 16"/>
            <p:cNvSpPr txBox="1"/>
            <p:nvPr/>
          </p:nvSpPr>
          <p:spPr>
            <a:xfrm>
              <a:off x="1676776" y="5410325"/>
              <a:ext cx="2476501" cy="307777"/>
            </a:xfrm>
            <a:prstGeom prst="rect">
              <a:avLst/>
            </a:prstGeom>
            <a:noFill/>
          </p:spPr>
          <p:txBody>
            <a:bodyPr wrap="square" rtlCol="0">
              <a:spAutoFit/>
            </a:bodyPr>
            <a:lstStyle/>
            <a:p>
              <a:pPr algn="ctr"/>
              <a:r>
                <a:rPr lang="en-US" sz="1400" b="1" dirty="0">
                  <a:solidFill>
                    <a:srgbClr val="0184AA"/>
                  </a:solidFill>
                  <a:latin typeface="Lato Light" panose="020F0302020204030203" pitchFamily="34" charset="0"/>
                </a:rPr>
                <a:t>Bimodal</a:t>
              </a:r>
            </a:p>
          </p:txBody>
        </p:sp>
        <p:sp>
          <p:nvSpPr>
            <p:cNvPr id="18" name="TextBox 17"/>
            <p:cNvSpPr txBox="1"/>
            <p:nvPr/>
          </p:nvSpPr>
          <p:spPr>
            <a:xfrm>
              <a:off x="1650651" y="5613470"/>
              <a:ext cx="2502626" cy="900246"/>
            </a:xfrm>
            <a:prstGeom prst="rect">
              <a:avLst/>
            </a:prstGeom>
            <a:noFill/>
          </p:spPr>
          <p:txBody>
            <a:bodyPr wrap="square" rtlCol="0">
              <a:spAutoFit/>
            </a:bodyPr>
            <a:lstStyle/>
            <a:p>
              <a:pPr algn="ctr"/>
              <a:r>
                <a:rPr lang="en-US" sz="1050" dirty="0">
                  <a:solidFill>
                    <a:schemeClr val="bg1">
                      <a:lumMod val="50000"/>
                    </a:schemeClr>
                  </a:solidFill>
                  <a:latin typeface="Lato Light" panose="020F0302020204030203" pitchFamily="34" charset="0"/>
                </a:rPr>
                <a:t>Instead of one clear center where there is are a lot of observations, there are </a:t>
              </a:r>
              <a:r>
                <a:rPr lang="en-US" sz="1050" b="1" dirty="0">
                  <a:solidFill>
                    <a:schemeClr val="bg1">
                      <a:lumMod val="50000"/>
                    </a:schemeClr>
                  </a:solidFill>
                  <a:latin typeface="Lato Light" panose="020F0302020204030203" pitchFamily="34" charset="0"/>
                </a:rPr>
                <a:t>two</a:t>
              </a:r>
              <a:r>
                <a:rPr lang="en-US" sz="1050" dirty="0">
                  <a:solidFill>
                    <a:schemeClr val="bg1">
                      <a:lumMod val="50000"/>
                    </a:schemeClr>
                  </a:solidFill>
                  <a:latin typeface="Lato Light" panose="020F0302020204030203" pitchFamily="34" charset="0"/>
                </a:rPr>
                <a:t>. Often this means that you are looking at </a:t>
              </a:r>
              <a:r>
                <a:rPr lang="en-US" sz="1050" b="1" dirty="0">
                  <a:solidFill>
                    <a:schemeClr val="bg1">
                      <a:lumMod val="50000"/>
                    </a:schemeClr>
                  </a:solidFill>
                  <a:latin typeface="Lato Light" panose="020F0302020204030203" pitchFamily="34" charset="0"/>
                </a:rPr>
                <a:t>two different groups </a:t>
              </a:r>
              <a:r>
                <a:rPr lang="en-US" sz="1050" dirty="0">
                  <a:solidFill>
                    <a:schemeClr val="bg1">
                      <a:lumMod val="50000"/>
                    </a:schemeClr>
                  </a:solidFill>
                  <a:latin typeface="Lato Light" panose="020F0302020204030203" pitchFamily="34" charset="0"/>
                </a:rPr>
                <a:t>and should take a closer look to see if you can separate them</a:t>
              </a:r>
            </a:p>
          </p:txBody>
        </p:sp>
      </p:grpSp>
      <p:grpSp>
        <p:nvGrpSpPr>
          <p:cNvPr id="5" name="Group 4"/>
          <p:cNvGrpSpPr/>
          <p:nvPr/>
        </p:nvGrpSpPr>
        <p:grpSpPr>
          <a:xfrm>
            <a:off x="4851281" y="1439404"/>
            <a:ext cx="2476502" cy="2346049"/>
            <a:chOff x="4851281" y="1608738"/>
            <a:chExt cx="2476502" cy="2346049"/>
          </a:xfrm>
        </p:grpSpPr>
        <p:graphicFrame>
          <p:nvGraphicFramePr>
            <p:cNvPr id="20" name="Diagram 19"/>
            <p:cNvGraphicFramePr/>
            <p:nvPr>
              <p:extLst>
                <p:ext uri="{D42A27DB-BD31-4B8C-83A1-F6EECF244321}">
                  <p14:modId xmlns:p14="http://schemas.microsoft.com/office/powerpoint/2010/main" val="790748178"/>
                </p:ext>
              </p:extLst>
            </p:nvPr>
          </p:nvGraphicFramePr>
          <p:xfrm>
            <a:off x="4851282" y="1608738"/>
            <a:ext cx="2476501" cy="158761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1" name="TextBox 20"/>
            <p:cNvSpPr txBox="1"/>
            <p:nvPr/>
          </p:nvSpPr>
          <p:spPr>
            <a:xfrm>
              <a:off x="4851281" y="3104147"/>
              <a:ext cx="2476501" cy="382092"/>
            </a:xfrm>
            <a:prstGeom prst="rect">
              <a:avLst/>
            </a:prstGeom>
            <a:noFill/>
          </p:spPr>
          <p:txBody>
            <a:bodyPr wrap="square" rtlCol="0">
              <a:spAutoFit/>
            </a:bodyPr>
            <a:lstStyle/>
            <a:p>
              <a:pPr algn="ctr">
                <a:lnSpc>
                  <a:spcPct val="150000"/>
                </a:lnSpc>
              </a:pPr>
              <a:r>
                <a:rPr lang="en-US" sz="1400" b="1" dirty="0">
                  <a:solidFill>
                    <a:srgbClr val="FF8504"/>
                  </a:solidFill>
                  <a:latin typeface="Lato Light" panose="020F0302020204030203" pitchFamily="34" charset="0"/>
                </a:rPr>
                <a:t>Skewed Right</a:t>
              </a:r>
            </a:p>
          </p:txBody>
        </p:sp>
        <p:sp>
          <p:nvSpPr>
            <p:cNvPr id="22" name="TextBox 21"/>
            <p:cNvSpPr txBox="1"/>
            <p:nvPr/>
          </p:nvSpPr>
          <p:spPr>
            <a:xfrm>
              <a:off x="4851281" y="3377706"/>
              <a:ext cx="2476501" cy="577081"/>
            </a:xfrm>
            <a:prstGeom prst="rect">
              <a:avLst/>
            </a:prstGeom>
            <a:noFill/>
          </p:spPr>
          <p:txBody>
            <a:bodyPr wrap="square" rtlCol="0">
              <a:spAutoFit/>
            </a:bodyPr>
            <a:lstStyle/>
            <a:p>
              <a:pPr algn="ctr"/>
              <a:r>
                <a:rPr lang="en-US" sz="1050" dirty="0">
                  <a:solidFill>
                    <a:schemeClr val="bg1">
                      <a:lumMod val="50000"/>
                    </a:schemeClr>
                  </a:solidFill>
                  <a:latin typeface="Lato Light" panose="020F0302020204030203" pitchFamily="34" charset="0"/>
                </a:rPr>
                <a:t>The data is generally clustered around a small value and as you look for larger and larger values, there are fewer and fewer</a:t>
              </a:r>
            </a:p>
          </p:txBody>
        </p:sp>
      </p:grpSp>
      <p:grpSp>
        <p:nvGrpSpPr>
          <p:cNvPr id="8" name="Group 7"/>
          <p:cNvGrpSpPr/>
          <p:nvPr/>
        </p:nvGrpSpPr>
        <p:grpSpPr>
          <a:xfrm>
            <a:off x="4851281" y="3935622"/>
            <a:ext cx="2476501" cy="2171094"/>
            <a:chOff x="4851281" y="3842486"/>
            <a:chExt cx="2476501" cy="2171094"/>
          </a:xfrm>
        </p:grpSpPr>
        <p:graphicFrame>
          <p:nvGraphicFramePr>
            <p:cNvPr id="19" name="Diagram 18"/>
            <p:cNvGraphicFramePr/>
            <p:nvPr>
              <p:extLst>
                <p:ext uri="{D42A27DB-BD31-4B8C-83A1-F6EECF244321}">
                  <p14:modId xmlns:p14="http://schemas.microsoft.com/office/powerpoint/2010/main" val="1348055870"/>
                </p:ext>
              </p:extLst>
            </p:nvPr>
          </p:nvGraphicFramePr>
          <p:xfrm>
            <a:off x="4851281" y="3842486"/>
            <a:ext cx="2476501" cy="1587613"/>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3" name="TextBox 22"/>
            <p:cNvSpPr txBox="1"/>
            <p:nvPr/>
          </p:nvSpPr>
          <p:spPr>
            <a:xfrm>
              <a:off x="4851281" y="5410325"/>
              <a:ext cx="2476501" cy="307777"/>
            </a:xfrm>
            <a:prstGeom prst="rect">
              <a:avLst/>
            </a:prstGeom>
            <a:noFill/>
          </p:spPr>
          <p:txBody>
            <a:bodyPr wrap="square" rtlCol="0">
              <a:spAutoFit/>
            </a:bodyPr>
            <a:lstStyle/>
            <a:p>
              <a:pPr algn="ctr"/>
              <a:r>
                <a:rPr lang="en-US" sz="1400" b="1" dirty="0">
                  <a:solidFill>
                    <a:srgbClr val="D73C05"/>
                  </a:solidFill>
                  <a:latin typeface="Lato Light" panose="020F0302020204030203" pitchFamily="34" charset="0"/>
                </a:rPr>
                <a:t>Multimodal</a:t>
              </a:r>
            </a:p>
          </p:txBody>
        </p:sp>
        <p:sp>
          <p:nvSpPr>
            <p:cNvPr id="24" name="TextBox 23"/>
            <p:cNvSpPr txBox="1"/>
            <p:nvPr/>
          </p:nvSpPr>
          <p:spPr>
            <a:xfrm>
              <a:off x="4851281" y="5613470"/>
              <a:ext cx="2476501" cy="400110"/>
            </a:xfrm>
            <a:prstGeom prst="rect">
              <a:avLst/>
            </a:prstGeom>
            <a:noFill/>
          </p:spPr>
          <p:txBody>
            <a:bodyPr wrap="square" rtlCol="0">
              <a:spAutoFit/>
            </a:bodyPr>
            <a:lstStyle/>
            <a:p>
              <a:pPr algn="ctr"/>
              <a:r>
                <a:rPr lang="en-US" sz="1000" dirty="0">
                  <a:solidFill>
                    <a:schemeClr val="bg1">
                      <a:lumMod val="50000"/>
                    </a:schemeClr>
                  </a:solidFill>
                  <a:latin typeface="Lato Light" panose="020F0302020204030203" pitchFamily="34" charset="0"/>
                </a:rPr>
                <a:t>A probability distribution with </a:t>
              </a:r>
              <a:r>
                <a:rPr lang="en-US" sz="1000" b="1" dirty="0">
                  <a:solidFill>
                    <a:schemeClr val="bg1">
                      <a:lumMod val="50000"/>
                    </a:schemeClr>
                  </a:solidFill>
                  <a:latin typeface="Lato Light" panose="020F0302020204030203" pitchFamily="34" charset="0"/>
                </a:rPr>
                <a:t>more than one peak</a:t>
              </a:r>
              <a:r>
                <a:rPr lang="en-US" sz="1000" dirty="0">
                  <a:solidFill>
                    <a:schemeClr val="bg1">
                      <a:lumMod val="50000"/>
                    </a:schemeClr>
                  </a:solidFill>
                  <a:latin typeface="Lato Light" panose="020F0302020204030203" pitchFamily="34" charset="0"/>
                </a:rPr>
                <a:t>, or “mode.”</a:t>
              </a:r>
            </a:p>
          </p:txBody>
        </p:sp>
      </p:grpSp>
      <p:grpSp>
        <p:nvGrpSpPr>
          <p:cNvPr id="6" name="Group 5"/>
          <p:cNvGrpSpPr/>
          <p:nvPr/>
        </p:nvGrpSpPr>
        <p:grpSpPr>
          <a:xfrm>
            <a:off x="7947312" y="1444940"/>
            <a:ext cx="2476502" cy="2340510"/>
            <a:chOff x="7947312" y="1614274"/>
            <a:chExt cx="2476502" cy="2340510"/>
          </a:xfrm>
        </p:grpSpPr>
        <p:graphicFrame>
          <p:nvGraphicFramePr>
            <p:cNvPr id="26" name="Diagram 25"/>
            <p:cNvGraphicFramePr/>
            <p:nvPr>
              <p:extLst>
                <p:ext uri="{D42A27DB-BD31-4B8C-83A1-F6EECF244321}">
                  <p14:modId xmlns:p14="http://schemas.microsoft.com/office/powerpoint/2010/main" val="176393783"/>
                </p:ext>
              </p:extLst>
            </p:nvPr>
          </p:nvGraphicFramePr>
          <p:xfrm>
            <a:off x="7947312" y="1614274"/>
            <a:ext cx="2476501" cy="1587613"/>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27" name="TextBox 26"/>
            <p:cNvSpPr txBox="1"/>
            <p:nvPr/>
          </p:nvSpPr>
          <p:spPr>
            <a:xfrm>
              <a:off x="7947312" y="3163544"/>
              <a:ext cx="2476502" cy="307777"/>
            </a:xfrm>
            <a:prstGeom prst="rect">
              <a:avLst/>
            </a:prstGeom>
            <a:noFill/>
          </p:spPr>
          <p:txBody>
            <a:bodyPr wrap="square" rtlCol="0">
              <a:spAutoFit/>
            </a:bodyPr>
            <a:lstStyle/>
            <a:p>
              <a:pPr algn="ctr"/>
              <a:r>
                <a:rPr lang="en-US" sz="1400" b="1" dirty="0">
                  <a:solidFill>
                    <a:schemeClr val="tx1">
                      <a:lumMod val="75000"/>
                      <a:lumOff val="25000"/>
                    </a:schemeClr>
                  </a:solidFill>
                  <a:latin typeface="Lato Light" panose="020F0302020204030203" pitchFamily="34" charset="0"/>
                </a:rPr>
                <a:t>Skewed Left</a:t>
              </a:r>
            </a:p>
          </p:txBody>
        </p:sp>
        <p:sp>
          <p:nvSpPr>
            <p:cNvPr id="28" name="TextBox 27"/>
            <p:cNvSpPr txBox="1"/>
            <p:nvPr/>
          </p:nvSpPr>
          <p:spPr>
            <a:xfrm>
              <a:off x="7947312" y="3377703"/>
              <a:ext cx="2476501" cy="577081"/>
            </a:xfrm>
            <a:prstGeom prst="rect">
              <a:avLst/>
            </a:prstGeom>
            <a:noFill/>
          </p:spPr>
          <p:txBody>
            <a:bodyPr wrap="square" rtlCol="0">
              <a:spAutoFit/>
            </a:bodyPr>
            <a:lstStyle/>
            <a:p>
              <a:pPr algn="ctr"/>
              <a:r>
                <a:rPr lang="en-US" sz="1050" dirty="0">
                  <a:solidFill>
                    <a:schemeClr val="bg1">
                      <a:lumMod val="50000"/>
                    </a:schemeClr>
                  </a:solidFill>
                  <a:latin typeface="Lato Light" panose="020F0302020204030203" pitchFamily="34" charset="0"/>
                </a:rPr>
                <a:t>As you move to smaller numbers, there is less and less frequency. This means there are fewer and fewer observations</a:t>
              </a:r>
            </a:p>
          </p:txBody>
        </p:sp>
      </p:grpSp>
      <p:grpSp>
        <p:nvGrpSpPr>
          <p:cNvPr id="7" name="Group 6"/>
          <p:cNvGrpSpPr/>
          <p:nvPr/>
        </p:nvGrpSpPr>
        <p:grpSpPr>
          <a:xfrm>
            <a:off x="7973437" y="3941158"/>
            <a:ext cx="2476501" cy="2185892"/>
            <a:chOff x="7973437" y="3848022"/>
            <a:chExt cx="2476501" cy="2185892"/>
          </a:xfrm>
        </p:grpSpPr>
        <p:graphicFrame>
          <p:nvGraphicFramePr>
            <p:cNvPr id="25" name="Diagram 24"/>
            <p:cNvGraphicFramePr/>
            <p:nvPr>
              <p:extLst>
                <p:ext uri="{D42A27DB-BD31-4B8C-83A1-F6EECF244321}">
                  <p14:modId xmlns:p14="http://schemas.microsoft.com/office/powerpoint/2010/main" val="3648999733"/>
                </p:ext>
              </p:extLst>
            </p:nvPr>
          </p:nvGraphicFramePr>
          <p:xfrm>
            <a:off x="7973437" y="3848022"/>
            <a:ext cx="2476501" cy="1587613"/>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29" name="TextBox 28"/>
            <p:cNvSpPr txBox="1"/>
            <p:nvPr/>
          </p:nvSpPr>
          <p:spPr>
            <a:xfrm>
              <a:off x="7979204" y="5415861"/>
              <a:ext cx="2444610" cy="307777"/>
            </a:xfrm>
            <a:prstGeom prst="rect">
              <a:avLst/>
            </a:prstGeom>
            <a:noFill/>
          </p:spPr>
          <p:txBody>
            <a:bodyPr wrap="square" rtlCol="0">
              <a:spAutoFit/>
            </a:bodyPr>
            <a:lstStyle/>
            <a:p>
              <a:pPr algn="ctr"/>
              <a:r>
                <a:rPr lang="en-US" sz="1400" b="1" dirty="0">
                  <a:solidFill>
                    <a:srgbClr val="5C4233"/>
                  </a:solidFill>
                  <a:latin typeface="Lato Light" panose="020F0302020204030203" pitchFamily="34" charset="0"/>
                </a:rPr>
                <a:t>Uniform</a:t>
              </a:r>
            </a:p>
          </p:txBody>
        </p:sp>
        <p:sp>
          <p:nvSpPr>
            <p:cNvPr id="30" name="TextBox 29"/>
            <p:cNvSpPr txBox="1"/>
            <p:nvPr/>
          </p:nvSpPr>
          <p:spPr>
            <a:xfrm>
              <a:off x="7973437" y="5618416"/>
              <a:ext cx="2476501" cy="415498"/>
            </a:xfrm>
            <a:prstGeom prst="rect">
              <a:avLst/>
            </a:prstGeom>
            <a:noFill/>
          </p:spPr>
          <p:txBody>
            <a:bodyPr wrap="square" rtlCol="0">
              <a:spAutoFit/>
            </a:bodyPr>
            <a:lstStyle/>
            <a:p>
              <a:pPr algn="ctr"/>
              <a:r>
                <a:rPr lang="en-US" sz="1050" dirty="0">
                  <a:solidFill>
                    <a:schemeClr val="bg1">
                      <a:lumMod val="50000"/>
                    </a:schemeClr>
                  </a:solidFill>
                  <a:latin typeface="Lato Light" panose="020F0302020204030203"/>
                </a:rPr>
                <a:t>Every bar is almost exactly the </a:t>
              </a:r>
              <a:r>
                <a:rPr lang="en-US" sz="1050" b="1" dirty="0">
                  <a:solidFill>
                    <a:schemeClr val="bg1">
                      <a:lumMod val="50000"/>
                    </a:schemeClr>
                  </a:solidFill>
                  <a:latin typeface="Lato Light" panose="020F0302020204030203"/>
                </a:rPr>
                <a:t>same height</a:t>
              </a:r>
              <a:endParaRPr lang="en-US" sz="1050" dirty="0">
                <a:solidFill>
                  <a:schemeClr val="bg1">
                    <a:lumMod val="50000"/>
                  </a:schemeClr>
                </a:solidFill>
                <a:latin typeface="Lato Light" panose="020F0302020204030203"/>
              </a:endParaRPr>
            </a:p>
          </p:txBody>
        </p:sp>
      </p:grpSp>
      <p:sp>
        <p:nvSpPr>
          <p:cNvPr id="31" name="Rectangle 30"/>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2" name="Straight Connector 31"/>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4" name="Rectangle 33"/>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3" name="Group 42"/>
          <p:cNvGrpSpPr/>
          <p:nvPr/>
        </p:nvGrpSpPr>
        <p:grpSpPr>
          <a:xfrm>
            <a:off x="455000" y="491056"/>
            <a:ext cx="45720" cy="675713"/>
            <a:chOff x="455000" y="491056"/>
            <a:chExt cx="45720" cy="675713"/>
          </a:xfrm>
        </p:grpSpPr>
        <p:sp>
          <p:nvSpPr>
            <p:cNvPr id="44" name="Rectangle 43"/>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TextBox 45"/>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- 8</a:t>
            </a:r>
          </a:p>
        </p:txBody>
      </p:sp>
    </p:spTree>
    <p:extLst>
      <p:ext uri="{BB962C8B-B14F-4D97-AF65-F5344CB8AC3E}">
        <p14:creationId xmlns:p14="http://schemas.microsoft.com/office/powerpoint/2010/main" val="3821385102"/>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7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10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2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8"/>
          <p:cNvSpPr/>
          <p:nvPr/>
        </p:nvSpPr>
        <p:spPr>
          <a:xfrm rot="5400000">
            <a:off x="11075158" y="1856683"/>
            <a:ext cx="335649" cy="32895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8" name="Rectangle 77"/>
          <p:cNvSpPr/>
          <p:nvPr/>
        </p:nvSpPr>
        <p:spPr>
          <a:xfrm rot="5400000">
            <a:off x="11425640" y="2787686"/>
            <a:ext cx="335649" cy="37200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5" name="Rectangle 74"/>
          <p:cNvSpPr/>
          <p:nvPr/>
        </p:nvSpPr>
        <p:spPr>
          <a:xfrm rot="5400000">
            <a:off x="11425640" y="1500103"/>
            <a:ext cx="335649" cy="37200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Rectangle 72"/>
          <p:cNvSpPr/>
          <p:nvPr/>
        </p:nvSpPr>
        <p:spPr>
          <a:xfrm rot="5400000">
            <a:off x="11075158" y="582634"/>
            <a:ext cx="335649" cy="32895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2" name="Rectangle 91"/>
          <p:cNvSpPr/>
          <p:nvPr/>
        </p:nvSpPr>
        <p:spPr>
          <a:xfrm rot="5400000">
            <a:off x="11075158" y="3145282"/>
            <a:ext cx="335649" cy="328958"/>
          </a:xfrm>
          <a:prstGeom prst="rect">
            <a:avLst/>
          </a:prstGeom>
          <a:solidFill>
            <a:srgbClr val="A12F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3" name="Rectangle 92"/>
          <p:cNvSpPr/>
          <p:nvPr/>
        </p:nvSpPr>
        <p:spPr>
          <a:xfrm rot="5400000">
            <a:off x="11425640" y="4076285"/>
            <a:ext cx="335649" cy="372006"/>
          </a:xfrm>
          <a:prstGeom prst="rect">
            <a:avLst/>
          </a:prstGeom>
          <a:solidFill>
            <a:srgbClr val="A12F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 name="Group 1"/>
          <p:cNvGrpSpPr/>
          <p:nvPr/>
        </p:nvGrpSpPr>
        <p:grpSpPr>
          <a:xfrm rot="5400000">
            <a:off x="8113733" y="1785482"/>
            <a:ext cx="6575818" cy="563313"/>
            <a:chOff x="94339" y="3043641"/>
            <a:chExt cx="11107008" cy="1088571"/>
          </a:xfrm>
        </p:grpSpPr>
        <p:cxnSp>
          <p:nvCxnSpPr>
            <p:cNvPr id="17" name="Straight Connector 16"/>
            <p:cNvCxnSpPr>
              <a:endCxn id="21" idx="3"/>
            </p:cNvCxnSpPr>
            <p:nvPr/>
          </p:nvCxnSpPr>
          <p:spPr>
            <a:xfrm>
              <a:off x="94339" y="3587923"/>
              <a:ext cx="10366780" cy="5"/>
            </a:xfrm>
            <a:prstGeom prst="line">
              <a:avLst/>
            </a:prstGeom>
            <a:ln w="196850" cap="sq">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sp>
          <p:nvSpPr>
            <p:cNvPr id="21" name="Isosceles Triangle 20"/>
            <p:cNvSpPr/>
            <p:nvPr/>
          </p:nvSpPr>
          <p:spPr>
            <a:xfrm rot="5400000">
              <a:off x="10286947" y="3217813"/>
              <a:ext cx="1088571" cy="740228"/>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nvGrpSpPr>
          <p:cNvPr id="5" name="Group 4"/>
          <p:cNvGrpSpPr/>
          <p:nvPr/>
        </p:nvGrpSpPr>
        <p:grpSpPr>
          <a:xfrm rot="5400000">
            <a:off x="10792317" y="849628"/>
            <a:ext cx="1280099" cy="732893"/>
            <a:chOff x="3129250" y="2820417"/>
            <a:chExt cx="2162175" cy="1416274"/>
          </a:xfrm>
        </p:grpSpPr>
        <p:sp>
          <p:nvSpPr>
            <p:cNvPr id="67" name="Parallelogram 21"/>
            <p:cNvSpPr/>
            <p:nvPr/>
          </p:nvSpPr>
          <p:spPr>
            <a:xfrm>
              <a:off x="3129250" y="2846554"/>
              <a:ext cx="2162175" cy="1367634"/>
            </a:xfrm>
            <a:custGeom>
              <a:avLst/>
              <a:gdLst>
                <a:gd name="connsiteX0" fmla="*/ 0 w 1562100"/>
                <a:gd name="connsiteY0" fmla="*/ 1637166 h 1637166"/>
                <a:gd name="connsiteX1" fmla="*/ 436029 w 1562100"/>
                <a:gd name="connsiteY1" fmla="*/ 0 h 1637166"/>
                <a:gd name="connsiteX2" fmla="*/ 1562100 w 1562100"/>
                <a:gd name="connsiteY2" fmla="*/ 0 h 1637166"/>
                <a:gd name="connsiteX3" fmla="*/ 1126071 w 1562100"/>
                <a:gd name="connsiteY3" fmla="*/ 1637166 h 1637166"/>
                <a:gd name="connsiteX4" fmla="*/ 0 w 1562100"/>
                <a:gd name="connsiteY4" fmla="*/ 1637166 h 1637166"/>
                <a:gd name="connsiteX0" fmla="*/ 0 w 2162175"/>
                <a:gd name="connsiteY0" fmla="*/ 1637166 h 1637166"/>
                <a:gd name="connsiteX1" fmla="*/ 436029 w 2162175"/>
                <a:gd name="connsiteY1" fmla="*/ 0 h 1637166"/>
                <a:gd name="connsiteX2" fmla="*/ 2162175 w 2162175"/>
                <a:gd name="connsiteY2" fmla="*/ 0 h 1637166"/>
                <a:gd name="connsiteX3" fmla="*/ 1126071 w 2162175"/>
                <a:gd name="connsiteY3" fmla="*/ 1637166 h 1637166"/>
                <a:gd name="connsiteX4" fmla="*/ 0 w 2162175"/>
                <a:gd name="connsiteY4" fmla="*/ 1637166 h 1637166"/>
                <a:gd name="connsiteX0" fmla="*/ 0 w 2162175"/>
                <a:gd name="connsiteY0" fmla="*/ 1646691 h 1646691"/>
                <a:gd name="connsiteX1" fmla="*/ 988479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 name="connsiteX0" fmla="*/ 0 w 2162175"/>
                <a:gd name="connsiteY0" fmla="*/ 1646691 h 1646691"/>
                <a:gd name="connsiteX1" fmla="*/ 1012292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175" h="1646691">
                  <a:moveTo>
                    <a:pt x="0" y="1646691"/>
                  </a:moveTo>
                  <a:lnTo>
                    <a:pt x="1012292" y="0"/>
                  </a:lnTo>
                  <a:lnTo>
                    <a:pt x="2162175" y="9525"/>
                  </a:lnTo>
                  <a:lnTo>
                    <a:pt x="1126071" y="1646691"/>
                  </a:lnTo>
                  <a:lnTo>
                    <a:pt x="0" y="1646691"/>
                  </a:lnTo>
                  <a:close/>
                </a:path>
              </a:pathLst>
            </a:cu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Rectangle 29"/>
            <p:cNvSpPr/>
            <p:nvPr/>
          </p:nvSpPr>
          <p:spPr>
            <a:xfrm rot="18660512">
              <a:off x="3460440" y="3138662"/>
              <a:ext cx="1416274" cy="779784"/>
            </a:xfrm>
            <a:prstGeom prst="rect">
              <a:avLst/>
            </a:prstGeom>
          </p:spPr>
          <p:txBody>
            <a:bodyPr wrap="none">
              <a:spAutoFit/>
            </a:bodyPr>
            <a:lstStyle/>
            <a:p>
              <a:pPr algn="ctr" defTabSz="914294"/>
              <a:r>
                <a:rPr lang="en-US" sz="1200" dirty="0">
                  <a:solidFill>
                    <a:prstClr val="white"/>
                  </a:solidFill>
                  <a:latin typeface="FontAwesome" pitchFamily="2" charset="0"/>
                </a:rPr>
                <a:t>Feature </a:t>
              </a:r>
            </a:p>
            <a:p>
              <a:pPr algn="ctr" defTabSz="914294"/>
              <a:r>
                <a:rPr lang="en-US" sz="1200" dirty="0">
                  <a:solidFill>
                    <a:prstClr val="white"/>
                  </a:solidFill>
                  <a:latin typeface="FontAwesome" pitchFamily="2" charset="0"/>
                </a:rPr>
                <a:t>Data</a:t>
              </a:r>
              <a:endParaRPr lang="ru-RU" sz="1200" dirty="0">
                <a:solidFill>
                  <a:prstClr val="white"/>
                </a:solidFill>
              </a:endParaRPr>
            </a:p>
          </p:txBody>
        </p:sp>
      </p:grpSp>
      <p:grpSp>
        <p:nvGrpSpPr>
          <p:cNvPr id="8" name="Group 7"/>
          <p:cNvGrpSpPr/>
          <p:nvPr/>
        </p:nvGrpSpPr>
        <p:grpSpPr>
          <a:xfrm rot="5400000">
            <a:off x="10792316" y="2145576"/>
            <a:ext cx="1280099" cy="707723"/>
            <a:chOff x="5296937" y="2844740"/>
            <a:chExt cx="2162175" cy="1367634"/>
          </a:xfrm>
        </p:grpSpPr>
        <p:sp>
          <p:nvSpPr>
            <p:cNvPr id="69" name="Parallelogram 21"/>
            <p:cNvSpPr/>
            <p:nvPr/>
          </p:nvSpPr>
          <p:spPr>
            <a:xfrm>
              <a:off x="5296937" y="2844740"/>
              <a:ext cx="2162175" cy="1367634"/>
            </a:xfrm>
            <a:custGeom>
              <a:avLst/>
              <a:gdLst>
                <a:gd name="connsiteX0" fmla="*/ 0 w 1562100"/>
                <a:gd name="connsiteY0" fmla="*/ 1637166 h 1637166"/>
                <a:gd name="connsiteX1" fmla="*/ 436029 w 1562100"/>
                <a:gd name="connsiteY1" fmla="*/ 0 h 1637166"/>
                <a:gd name="connsiteX2" fmla="*/ 1562100 w 1562100"/>
                <a:gd name="connsiteY2" fmla="*/ 0 h 1637166"/>
                <a:gd name="connsiteX3" fmla="*/ 1126071 w 1562100"/>
                <a:gd name="connsiteY3" fmla="*/ 1637166 h 1637166"/>
                <a:gd name="connsiteX4" fmla="*/ 0 w 1562100"/>
                <a:gd name="connsiteY4" fmla="*/ 1637166 h 1637166"/>
                <a:gd name="connsiteX0" fmla="*/ 0 w 2162175"/>
                <a:gd name="connsiteY0" fmla="*/ 1637166 h 1637166"/>
                <a:gd name="connsiteX1" fmla="*/ 436029 w 2162175"/>
                <a:gd name="connsiteY1" fmla="*/ 0 h 1637166"/>
                <a:gd name="connsiteX2" fmla="*/ 2162175 w 2162175"/>
                <a:gd name="connsiteY2" fmla="*/ 0 h 1637166"/>
                <a:gd name="connsiteX3" fmla="*/ 1126071 w 2162175"/>
                <a:gd name="connsiteY3" fmla="*/ 1637166 h 1637166"/>
                <a:gd name="connsiteX4" fmla="*/ 0 w 2162175"/>
                <a:gd name="connsiteY4" fmla="*/ 1637166 h 1637166"/>
                <a:gd name="connsiteX0" fmla="*/ 0 w 2162175"/>
                <a:gd name="connsiteY0" fmla="*/ 1646691 h 1646691"/>
                <a:gd name="connsiteX1" fmla="*/ 988479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 name="connsiteX0" fmla="*/ 0 w 2162175"/>
                <a:gd name="connsiteY0" fmla="*/ 1646691 h 1646691"/>
                <a:gd name="connsiteX1" fmla="*/ 1012292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175" h="1646691">
                  <a:moveTo>
                    <a:pt x="0" y="1646691"/>
                  </a:moveTo>
                  <a:lnTo>
                    <a:pt x="1012292" y="0"/>
                  </a:lnTo>
                  <a:lnTo>
                    <a:pt x="2162175" y="9525"/>
                  </a:lnTo>
                  <a:lnTo>
                    <a:pt x="1126071" y="1646691"/>
                  </a:lnTo>
                  <a:lnTo>
                    <a:pt x="0" y="1646691"/>
                  </a:lnTo>
                  <a:close/>
                </a:path>
              </a:pathLst>
            </a:custGeom>
            <a:solidFill>
              <a:srgbClr val="A1B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TextBox 94"/>
            <p:cNvSpPr txBox="1">
              <a:spLocks noChangeAspect="1"/>
            </p:cNvSpPr>
            <p:nvPr/>
          </p:nvSpPr>
          <p:spPr>
            <a:xfrm rot="18618461">
              <a:off x="5975068" y="3118552"/>
              <a:ext cx="799117" cy="790425"/>
            </a:xfrm>
            <a:prstGeom prst="rect">
              <a:avLst/>
            </a:prstGeom>
            <a:noFill/>
          </p:spPr>
          <p:txBody>
            <a:bodyPr wrap="none" lIns="0" tIns="0" rIns="0" bIns="0" rtlCol="0" anchor="ctr" anchorCtr="0">
              <a:noAutofit/>
            </a:bodyPr>
            <a:lstStyle/>
            <a:p>
              <a:pPr algn="ctr" defTabSz="914294"/>
              <a:r>
                <a:rPr lang="en-US" sz="1200" dirty="0">
                  <a:solidFill>
                    <a:prstClr val="white"/>
                  </a:solidFill>
                  <a:latin typeface="FontAwesome" pitchFamily="2" charset="0"/>
                </a:rPr>
                <a:t>Summarize</a:t>
              </a:r>
              <a:endParaRPr lang="ru-RU" sz="1200" dirty="0">
                <a:solidFill>
                  <a:prstClr val="white"/>
                </a:solidFill>
              </a:endParaRPr>
            </a:p>
          </p:txBody>
        </p:sp>
      </p:grpSp>
      <p:grpSp>
        <p:nvGrpSpPr>
          <p:cNvPr id="9" name="Group 8"/>
          <p:cNvGrpSpPr/>
          <p:nvPr/>
        </p:nvGrpSpPr>
        <p:grpSpPr>
          <a:xfrm rot="5400000">
            <a:off x="10793496" y="3332137"/>
            <a:ext cx="1280099" cy="894797"/>
            <a:chOff x="7459112" y="2661706"/>
            <a:chExt cx="2162175" cy="1729144"/>
          </a:xfrm>
        </p:grpSpPr>
        <p:sp>
          <p:nvSpPr>
            <p:cNvPr id="70" name="Parallelogram 21"/>
            <p:cNvSpPr/>
            <p:nvPr/>
          </p:nvSpPr>
          <p:spPr>
            <a:xfrm>
              <a:off x="7459112" y="2844740"/>
              <a:ext cx="2162175" cy="1367634"/>
            </a:xfrm>
            <a:custGeom>
              <a:avLst/>
              <a:gdLst>
                <a:gd name="connsiteX0" fmla="*/ 0 w 1562100"/>
                <a:gd name="connsiteY0" fmla="*/ 1637166 h 1637166"/>
                <a:gd name="connsiteX1" fmla="*/ 436029 w 1562100"/>
                <a:gd name="connsiteY1" fmla="*/ 0 h 1637166"/>
                <a:gd name="connsiteX2" fmla="*/ 1562100 w 1562100"/>
                <a:gd name="connsiteY2" fmla="*/ 0 h 1637166"/>
                <a:gd name="connsiteX3" fmla="*/ 1126071 w 1562100"/>
                <a:gd name="connsiteY3" fmla="*/ 1637166 h 1637166"/>
                <a:gd name="connsiteX4" fmla="*/ 0 w 1562100"/>
                <a:gd name="connsiteY4" fmla="*/ 1637166 h 1637166"/>
                <a:gd name="connsiteX0" fmla="*/ 0 w 2162175"/>
                <a:gd name="connsiteY0" fmla="*/ 1637166 h 1637166"/>
                <a:gd name="connsiteX1" fmla="*/ 436029 w 2162175"/>
                <a:gd name="connsiteY1" fmla="*/ 0 h 1637166"/>
                <a:gd name="connsiteX2" fmla="*/ 2162175 w 2162175"/>
                <a:gd name="connsiteY2" fmla="*/ 0 h 1637166"/>
                <a:gd name="connsiteX3" fmla="*/ 1126071 w 2162175"/>
                <a:gd name="connsiteY3" fmla="*/ 1637166 h 1637166"/>
                <a:gd name="connsiteX4" fmla="*/ 0 w 2162175"/>
                <a:gd name="connsiteY4" fmla="*/ 1637166 h 1637166"/>
                <a:gd name="connsiteX0" fmla="*/ 0 w 2162175"/>
                <a:gd name="connsiteY0" fmla="*/ 1646691 h 1646691"/>
                <a:gd name="connsiteX1" fmla="*/ 988479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 name="connsiteX0" fmla="*/ 0 w 2162175"/>
                <a:gd name="connsiteY0" fmla="*/ 1646691 h 1646691"/>
                <a:gd name="connsiteX1" fmla="*/ 1012292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175" h="1646691">
                  <a:moveTo>
                    <a:pt x="0" y="1646691"/>
                  </a:moveTo>
                  <a:lnTo>
                    <a:pt x="1012292" y="0"/>
                  </a:lnTo>
                  <a:lnTo>
                    <a:pt x="2162175" y="9525"/>
                  </a:lnTo>
                  <a:lnTo>
                    <a:pt x="1126071" y="1646691"/>
                  </a:lnTo>
                  <a:lnTo>
                    <a:pt x="0" y="1646691"/>
                  </a:lnTo>
                  <a:close/>
                </a:path>
              </a:pathLst>
            </a:cu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rot="18732951">
              <a:off x="7654516" y="3292343"/>
              <a:ext cx="1729144" cy="467870"/>
            </a:xfrm>
            <a:prstGeom prst="rect">
              <a:avLst/>
            </a:prstGeom>
          </p:spPr>
          <p:txBody>
            <a:bodyPr wrap="none">
              <a:spAutoFit/>
            </a:bodyPr>
            <a:lstStyle/>
            <a:p>
              <a:pPr algn="ctr" defTabSz="914294"/>
              <a:r>
                <a:rPr lang="en-US" sz="1200" dirty="0">
                  <a:solidFill>
                    <a:prstClr val="white"/>
                  </a:solidFill>
                  <a:latin typeface="FontAwesome" pitchFamily="2" charset="0"/>
                </a:rPr>
                <a:t>Histogram</a:t>
              </a:r>
              <a:endParaRPr lang="ru-RU" sz="1200" dirty="0">
                <a:solidFill>
                  <a:prstClr val="white"/>
                </a:solidFill>
              </a:endParaRPr>
            </a:p>
          </p:txBody>
        </p:sp>
      </p:grpSp>
      <p:sp>
        <p:nvSpPr>
          <p:cNvPr id="32" name="Rectangle 31"/>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3" name="Straight Connector 32"/>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Rectangle 36"/>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Text Placeholder 5"/>
          <p:cNvSpPr>
            <a:spLocks noGrp="1"/>
          </p:cNvSpPr>
          <p:nvPr>
            <p:ph type="body" sz="quarter" idx="10"/>
          </p:nvPr>
        </p:nvSpPr>
        <p:spPr>
          <a:xfrm>
            <a:off x="507226" y="382630"/>
            <a:ext cx="11009271" cy="642938"/>
          </a:xfrm>
        </p:spPr>
        <p:txBody>
          <a:bodyPr/>
          <a:lstStyle/>
          <a:p>
            <a:r>
              <a:rPr lang="en-US" dirty="0"/>
              <a:t>Constructing </a:t>
            </a:r>
            <a:r>
              <a:rPr lang="en-US" i="1" dirty="0">
                <a:solidFill>
                  <a:srgbClr val="D43E01"/>
                </a:solidFill>
                <a:latin typeface="Lato Light" panose="020F0302020204030203" pitchFamily="34" charset="0"/>
              </a:rPr>
              <a:t>Histogram</a:t>
            </a:r>
          </a:p>
        </p:txBody>
      </p:sp>
      <p:sp>
        <p:nvSpPr>
          <p:cNvPr id="58" name="Text Placeholder 6"/>
          <p:cNvSpPr>
            <a:spLocks noGrp="1"/>
          </p:cNvSpPr>
          <p:nvPr>
            <p:ph type="body" sz="quarter" idx="11"/>
          </p:nvPr>
        </p:nvSpPr>
        <p:spPr>
          <a:xfrm>
            <a:off x="531940" y="942806"/>
            <a:ext cx="10984557" cy="305229"/>
          </a:xfrm>
        </p:spPr>
        <p:txBody>
          <a:bodyPr/>
          <a:lstStyle/>
          <a:p>
            <a:r>
              <a:rPr lang="en-US" b="1" dirty="0"/>
              <a:t>Feature Data Vs. Histogram</a:t>
            </a:r>
          </a:p>
        </p:txBody>
      </p:sp>
      <p:grpSp>
        <p:nvGrpSpPr>
          <p:cNvPr id="59" name="Group 58"/>
          <p:cNvGrpSpPr/>
          <p:nvPr/>
        </p:nvGrpSpPr>
        <p:grpSpPr>
          <a:xfrm>
            <a:off x="455000" y="491056"/>
            <a:ext cx="45720" cy="675713"/>
            <a:chOff x="455000" y="491056"/>
            <a:chExt cx="45720" cy="675713"/>
          </a:xfrm>
        </p:grpSpPr>
        <p:sp>
          <p:nvSpPr>
            <p:cNvPr id="60" name="Rectangle 59"/>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Rectangle 60"/>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aphicFrame>
        <p:nvGraphicFramePr>
          <p:cNvPr id="72" name="Table 71"/>
          <p:cNvGraphicFramePr>
            <a:graphicFrameLocks noGrp="1"/>
          </p:cNvGraphicFramePr>
          <p:nvPr>
            <p:extLst>
              <p:ext uri="{D42A27DB-BD31-4B8C-83A1-F6EECF244321}">
                <p14:modId xmlns:p14="http://schemas.microsoft.com/office/powerpoint/2010/main" val="854818468"/>
              </p:ext>
            </p:extLst>
          </p:nvPr>
        </p:nvGraphicFramePr>
        <p:xfrm>
          <a:off x="951050" y="1305165"/>
          <a:ext cx="1550582" cy="5338200"/>
        </p:xfrm>
        <a:graphic>
          <a:graphicData uri="http://schemas.openxmlformats.org/drawingml/2006/table">
            <a:tbl>
              <a:tblPr>
                <a:tableStyleId>{073A0DAA-6AF3-43AB-8588-CEC1D06C72B9}</a:tableStyleId>
              </a:tblPr>
              <a:tblGrid>
                <a:gridCol w="394216">
                  <a:extLst>
                    <a:ext uri="{9D8B030D-6E8A-4147-A177-3AD203B41FA5}">
                      <a16:colId xmlns:a16="http://schemas.microsoft.com/office/drawing/2014/main" val="4260094733"/>
                    </a:ext>
                  </a:extLst>
                </a:gridCol>
                <a:gridCol w="1156366">
                  <a:extLst>
                    <a:ext uri="{9D8B030D-6E8A-4147-A177-3AD203B41FA5}">
                      <a16:colId xmlns:a16="http://schemas.microsoft.com/office/drawing/2014/main" val="903750163"/>
                    </a:ext>
                  </a:extLst>
                </a:gridCol>
              </a:tblGrid>
              <a:tr h="155405">
                <a:tc>
                  <a:txBody>
                    <a:bodyPr/>
                    <a:lstStyle/>
                    <a:p>
                      <a:pPr algn="ctr" fontAlgn="b"/>
                      <a:r>
                        <a:rPr lang="en-US" sz="1200" b="1" u="none" strike="noStrike" dirty="0">
                          <a:effectLst/>
                        </a:rPr>
                        <a:t>Flick</a:t>
                      </a:r>
                      <a:endParaRPr lang="en-US" sz="1200" b="1" i="0" u="none" strike="noStrike" dirty="0">
                        <a:solidFill>
                          <a:srgbClr val="000000"/>
                        </a:solidFill>
                        <a:effectLst/>
                        <a:latin typeface="Calibri" panose="020F0502020204030204" pitchFamily="34" charset="0"/>
                      </a:endParaRPr>
                    </a:p>
                  </a:txBody>
                  <a:tcPr marL="7770" marR="7770" marT="7770" marB="0" anchor="b"/>
                </a:tc>
                <a:tc>
                  <a:txBody>
                    <a:bodyPr/>
                    <a:lstStyle/>
                    <a:p>
                      <a:pPr algn="ctr" fontAlgn="b"/>
                      <a:r>
                        <a:rPr lang="en-US" sz="1200" b="1" u="none" strike="noStrike" dirty="0">
                          <a:effectLst/>
                        </a:rPr>
                        <a:t>Touch Pressure</a:t>
                      </a:r>
                      <a:endParaRPr lang="en-US" sz="1200" b="1"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89993594"/>
                  </a:ext>
                </a:extLst>
              </a:tr>
              <a:tr h="155405">
                <a:tc>
                  <a:txBody>
                    <a:bodyPr/>
                    <a:lstStyle/>
                    <a:p>
                      <a:pPr algn="ctr" fontAlgn="b"/>
                      <a:r>
                        <a:rPr lang="en-US" sz="1200" u="none" strike="noStrike" dirty="0">
                          <a:effectLst/>
                          <a:latin typeface="Tw Cen MT" panose="020B0602020104020603" pitchFamily="34" charset="0"/>
                        </a:rPr>
                        <a:t>1</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a:effectLst/>
                          <a:latin typeface="Tw Cen MT" panose="020B0602020104020603" pitchFamily="34" charset="0"/>
                        </a:rPr>
                        <a:t>0.29804</a:t>
                      </a:r>
                      <a:endParaRPr lang="en-US" sz="1200" b="0" i="0" u="none" strike="noStrike">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783168159"/>
                  </a:ext>
                </a:extLst>
              </a:tr>
              <a:tr h="155405">
                <a:tc>
                  <a:txBody>
                    <a:bodyPr/>
                    <a:lstStyle/>
                    <a:p>
                      <a:pPr algn="ctr" fontAlgn="b"/>
                      <a:r>
                        <a:rPr lang="en-US" sz="1200" u="none" strike="noStrike" dirty="0">
                          <a:effectLst/>
                          <a:latin typeface="Tw Cen MT" panose="020B0602020104020603" pitchFamily="34" charset="0"/>
                        </a:rPr>
                        <a:t>1</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a:effectLst/>
                          <a:latin typeface="Tw Cen MT" panose="020B0602020104020603" pitchFamily="34" charset="0"/>
                        </a:rPr>
                        <a:t>0.32549</a:t>
                      </a:r>
                      <a:endParaRPr lang="en-US" sz="1200" b="0" i="0" u="none" strike="noStrike">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462056044"/>
                  </a:ext>
                </a:extLst>
              </a:tr>
              <a:tr h="155405">
                <a:tc>
                  <a:txBody>
                    <a:bodyPr/>
                    <a:lstStyle/>
                    <a:p>
                      <a:pPr algn="ctr" fontAlgn="b"/>
                      <a:r>
                        <a:rPr lang="en-US" sz="1200" u="none" strike="noStrike" dirty="0">
                          <a:effectLst/>
                          <a:latin typeface="Tw Cen MT" panose="020B0602020104020603" pitchFamily="34" charset="0"/>
                        </a:rPr>
                        <a:t>1</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a:effectLst/>
                          <a:latin typeface="Tw Cen MT" panose="020B0602020104020603" pitchFamily="34" charset="0"/>
                        </a:rPr>
                        <a:t>0.32157</a:t>
                      </a:r>
                      <a:endParaRPr lang="en-US" sz="1200" b="0" i="0" u="none" strike="noStrike">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35632300"/>
                  </a:ext>
                </a:extLst>
              </a:tr>
              <a:tr h="155405">
                <a:tc>
                  <a:txBody>
                    <a:bodyPr/>
                    <a:lstStyle/>
                    <a:p>
                      <a:pPr algn="ctr" fontAlgn="b"/>
                      <a:r>
                        <a:rPr lang="en-US" sz="1200" u="none" strike="noStrike" dirty="0">
                          <a:effectLst/>
                          <a:latin typeface="Tw Cen MT" panose="020B0602020104020603" pitchFamily="34" charset="0"/>
                        </a:rPr>
                        <a:t>2</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0.29804</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594618755"/>
                  </a:ext>
                </a:extLst>
              </a:tr>
              <a:tr h="155405">
                <a:tc>
                  <a:txBody>
                    <a:bodyPr/>
                    <a:lstStyle/>
                    <a:p>
                      <a:pPr algn="ctr" fontAlgn="b"/>
                      <a:r>
                        <a:rPr lang="en-US" sz="1200" u="none" strike="noStrike">
                          <a:effectLst/>
                          <a:latin typeface="Tw Cen MT" panose="020B0602020104020603" pitchFamily="34" charset="0"/>
                        </a:rPr>
                        <a:t>2</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27088837"/>
                  </a:ext>
                </a:extLst>
              </a:tr>
              <a:tr h="155405">
                <a:tc>
                  <a:txBody>
                    <a:bodyPr/>
                    <a:lstStyle/>
                    <a:p>
                      <a:pPr algn="ctr" fontAlgn="b"/>
                      <a:r>
                        <a:rPr lang="en-US" sz="1200" u="none" strike="noStrike">
                          <a:effectLst/>
                          <a:latin typeface="Tw Cen MT" panose="020B0602020104020603" pitchFamily="34" charset="0"/>
                        </a:rPr>
                        <a:t>2</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4108654391"/>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0.29804</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380764642"/>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0.31373</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809456487"/>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455735091"/>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52066704"/>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444891989"/>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81313120"/>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997337698"/>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73071009"/>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377834091"/>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0.32941</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283769514"/>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117895007"/>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0.32941</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23671054"/>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90368583"/>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4120976264"/>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913954101"/>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152518377"/>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514420551"/>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208524266"/>
                  </a:ext>
                </a:extLst>
              </a:tr>
              <a:tr h="155405">
                <a:tc>
                  <a:txBody>
                    <a:bodyPr/>
                    <a:lstStyle/>
                    <a:p>
                      <a:pPr algn="ctr" fontAlgn="b"/>
                      <a:r>
                        <a:rPr lang="en-US" sz="1200" u="none" strike="noStrike">
                          <a:effectLst/>
                          <a:latin typeface="Tw Cen MT" panose="020B0602020104020603" pitchFamily="34" charset="0"/>
                        </a:rPr>
                        <a:t>5</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0.29804</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233716650"/>
                  </a:ext>
                </a:extLst>
              </a:tr>
              <a:tr h="155405">
                <a:tc>
                  <a:txBody>
                    <a:bodyPr/>
                    <a:lstStyle/>
                    <a:p>
                      <a:pPr algn="ctr" fontAlgn="b"/>
                      <a:r>
                        <a:rPr lang="en-US" sz="1200" u="none" strike="noStrike">
                          <a:effectLst/>
                          <a:latin typeface="Tw Cen MT" panose="020B0602020104020603" pitchFamily="34" charset="0"/>
                        </a:rPr>
                        <a:t>5</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938332411"/>
                  </a:ext>
                </a:extLst>
              </a:tr>
              <a:tr h="155405">
                <a:tc>
                  <a:txBody>
                    <a:bodyPr/>
                    <a:lstStyle/>
                    <a:p>
                      <a:pPr algn="ctr" fontAlgn="b"/>
                      <a:r>
                        <a:rPr lang="en-US" sz="1200" u="none" strike="noStrike">
                          <a:effectLst/>
                          <a:latin typeface="Tw Cen MT" panose="020B0602020104020603" pitchFamily="34" charset="0"/>
                        </a:rPr>
                        <a:t>5</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0.32941</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4285384274"/>
                  </a:ext>
                </a:extLst>
              </a:tr>
            </a:tbl>
          </a:graphicData>
        </a:graphic>
      </p:graphicFrame>
      <p:sp>
        <p:nvSpPr>
          <p:cNvPr id="74" name="Rectangle 73"/>
          <p:cNvSpPr/>
          <p:nvPr/>
        </p:nvSpPr>
        <p:spPr>
          <a:xfrm>
            <a:off x="1265273" y="1273099"/>
            <a:ext cx="1297172" cy="5394960"/>
          </a:xfrm>
          <a:prstGeom prst="rect">
            <a:avLst/>
          </a:prstGeom>
          <a:noFill/>
          <a:ln w="22225">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6" name="Table 75"/>
          <p:cNvGraphicFramePr>
            <a:graphicFrameLocks noGrp="1"/>
          </p:cNvGraphicFramePr>
          <p:nvPr>
            <p:extLst>
              <p:ext uri="{D42A27DB-BD31-4B8C-83A1-F6EECF244321}">
                <p14:modId xmlns:p14="http://schemas.microsoft.com/office/powerpoint/2010/main" val="1080569075"/>
              </p:ext>
            </p:extLst>
          </p:nvPr>
        </p:nvGraphicFramePr>
        <p:xfrm>
          <a:off x="3372546" y="1990962"/>
          <a:ext cx="2745811" cy="3122565"/>
        </p:xfrm>
        <a:graphic>
          <a:graphicData uri="http://schemas.openxmlformats.org/drawingml/2006/table">
            <a:tbl>
              <a:tblPr>
                <a:tableStyleId>{073A0DAA-6AF3-43AB-8588-CEC1D06C72B9}</a:tableStyleId>
              </a:tblPr>
              <a:tblGrid>
                <a:gridCol w="555987">
                  <a:extLst>
                    <a:ext uri="{9D8B030D-6E8A-4147-A177-3AD203B41FA5}">
                      <a16:colId xmlns:a16="http://schemas.microsoft.com/office/drawing/2014/main" val="3829313981"/>
                    </a:ext>
                  </a:extLst>
                </a:gridCol>
                <a:gridCol w="1498708">
                  <a:extLst>
                    <a:ext uri="{9D8B030D-6E8A-4147-A177-3AD203B41FA5}">
                      <a16:colId xmlns:a16="http://schemas.microsoft.com/office/drawing/2014/main" val="112110905"/>
                    </a:ext>
                  </a:extLst>
                </a:gridCol>
                <a:gridCol w="691116">
                  <a:extLst>
                    <a:ext uri="{9D8B030D-6E8A-4147-A177-3AD203B41FA5}">
                      <a16:colId xmlns:a16="http://schemas.microsoft.com/office/drawing/2014/main" val="2305127525"/>
                    </a:ext>
                  </a:extLst>
                </a:gridCol>
              </a:tblGrid>
              <a:tr h="298439">
                <a:tc>
                  <a:txBody>
                    <a:bodyPr/>
                    <a:lstStyle/>
                    <a:p>
                      <a:pPr algn="ctr" fontAlgn="ctr"/>
                      <a:r>
                        <a:rPr lang="en-US" sz="1600" b="1" i="0" u="none" strike="noStrike" dirty="0" err="1">
                          <a:solidFill>
                            <a:srgbClr val="000000"/>
                          </a:solidFill>
                          <a:effectLst/>
                          <a:latin typeface="Calibri" panose="020F0502020204030204" pitchFamily="34" charset="0"/>
                        </a:rPr>
                        <a:t>Num</a:t>
                      </a:r>
                      <a:r>
                        <a:rPr lang="en-US" sz="1600" b="1" i="0" u="none" strike="noStrike" dirty="0">
                          <a:solidFill>
                            <a:srgbClr val="000000"/>
                          </a:solidFill>
                          <a:effectLst/>
                          <a:latin typeface="Calibri" panose="020F0502020204030204" pitchFamily="34" charset="0"/>
                        </a:rPr>
                        <a:t> of Bin</a:t>
                      </a:r>
                    </a:p>
                  </a:txBody>
                  <a:tcPr marL="9525" marR="9525" marT="9525" marB="0" anchor="ctr"/>
                </a:tc>
                <a:tc>
                  <a:txBody>
                    <a:bodyPr/>
                    <a:lstStyle/>
                    <a:p>
                      <a:pPr algn="ctr" fontAlgn="ctr"/>
                      <a:r>
                        <a:rPr lang="en-US" sz="1600" b="1" u="none" strike="noStrike" dirty="0">
                          <a:effectLst/>
                        </a:rPr>
                        <a:t>Interval</a:t>
                      </a:r>
                    </a:p>
                    <a:p>
                      <a:pPr algn="ctr" fontAlgn="ctr"/>
                      <a:r>
                        <a:rPr lang="en-US" sz="1100" b="0" u="none" strike="noStrike" dirty="0">
                          <a:effectLst/>
                        </a:rPr>
                        <a:t>Bin Size = 0.005</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600" b="1" u="none" strike="noStrike">
                          <a:effectLst/>
                        </a:rPr>
                        <a:t>Count</a:t>
                      </a:r>
                      <a:endParaRPr lang="en-US"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76973532"/>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1</a:t>
                      </a:r>
                    </a:p>
                  </a:txBody>
                  <a:tcPr marL="9525" marR="9525" marT="9525" marB="0" anchor="ctr"/>
                </a:tc>
                <a:tc>
                  <a:txBody>
                    <a:bodyPr/>
                    <a:lstStyle/>
                    <a:p>
                      <a:pPr algn="ctr" fontAlgn="ctr"/>
                      <a:r>
                        <a:rPr lang="en-US" sz="1400" u="none" strike="noStrike" dirty="0">
                          <a:effectLst/>
                          <a:latin typeface="Tw Cen MT" panose="020B0602020104020603" pitchFamily="34" charset="0"/>
                        </a:rPr>
                        <a:t>0.29000-0.29500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dirty="0">
                          <a:effectLst/>
                          <a:latin typeface="Tw Cen MT" panose="020B0602020104020603" pitchFamily="34" charset="0"/>
                        </a:rPr>
                        <a:t>0</a:t>
                      </a:r>
                      <a:endParaRPr lang="en-US" sz="14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3805632452"/>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2</a:t>
                      </a:r>
                    </a:p>
                  </a:txBody>
                  <a:tcPr marL="9525" marR="9525" marT="9525" marB="0" anchor="ctr"/>
                </a:tc>
                <a:tc>
                  <a:txBody>
                    <a:bodyPr/>
                    <a:lstStyle/>
                    <a:p>
                      <a:pPr algn="ctr" fontAlgn="ctr"/>
                      <a:r>
                        <a:rPr lang="en-US" sz="1400" u="none" strike="noStrike" dirty="0">
                          <a:effectLst/>
                          <a:latin typeface="Tw Cen MT" panose="020B0602020104020603" pitchFamily="34" charset="0"/>
                        </a:rPr>
                        <a:t>0.29500-0.30000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a:effectLst/>
                          <a:latin typeface="Tw Cen MT" panose="020B0602020104020603" pitchFamily="34" charset="0"/>
                        </a:rPr>
                        <a:t>4</a:t>
                      </a:r>
                      <a:endParaRPr lang="en-US" sz="1400" b="0" i="0" u="none" strike="noStrike">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91056604"/>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3</a:t>
                      </a:r>
                    </a:p>
                  </a:txBody>
                  <a:tcPr marL="9525" marR="9525" marT="9525" marB="0" anchor="ctr"/>
                </a:tc>
                <a:tc>
                  <a:txBody>
                    <a:bodyPr/>
                    <a:lstStyle/>
                    <a:p>
                      <a:pPr algn="ctr" fontAlgn="ctr"/>
                      <a:r>
                        <a:rPr lang="en-US" sz="1400" u="none" strike="noStrike" dirty="0">
                          <a:effectLst/>
                          <a:latin typeface="Tw Cen MT" panose="020B0602020104020603" pitchFamily="34" charset="0"/>
                        </a:rPr>
                        <a:t>0.30000-0.30500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a:effectLst/>
                          <a:latin typeface="Tw Cen MT" panose="020B0602020104020603" pitchFamily="34" charset="0"/>
                        </a:rPr>
                        <a:t>0</a:t>
                      </a:r>
                      <a:endParaRPr lang="en-US" sz="1400" b="0" i="0" u="none" strike="noStrike">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696577299"/>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4</a:t>
                      </a:r>
                    </a:p>
                  </a:txBody>
                  <a:tcPr marL="9525" marR="9525" marT="9525" marB="0" anchor="ctr"/>
                </a:tc>
                <a:tc>
                  <a:txBody>
                    <a:bodyPr/>
                    <a:lstStyle/>
                    <a:p>
                      <a:pPr algn="ctr" fontAlgn="ctr"/>
                      <a:r>
                        <a:rPr lang="en-US" sz="1400" u="none" strike="noStrike" dirty="0">
                          <a:effectLst/>
                          <a:latin typeface="Tw Cen MT" panose="020B0602020104020603" pitchFamily="34" charset="0"/>
                        </a:rPr>
                        <a:t>0.30500-0.31000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a:effectLst/>
                          <a:latin typeface="Tw Cen MT" panose="020B0602020104020603" pitchFamily="34" charset="0"/>
                        </a:rPr>
                        <a:t>0</a:t>
                      </a:r>
                      <a:endParaRPr lang="en-US" sz="1400" b="0" i="0" u="none" strike="noStrike">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3073801454"/>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5</a:t>
                      </a:r>
                    </a:p>
                  </a:txBody>
                  <a:tcPr marL="9525" marR="9525" marT="9525" marB="0" anchor="ctr"/>
                </a:tc>
                <a:tc>
                  <a:txBody>
                    <a:bodyPr/>
                    <a:lstStyle/>
                    <a:p>
                      <a:pPr algn="ctr" fontAlgn="ctr"/>
                      <a:r>
                        <a:rPr lang="en-US" sz="1400" u="none" strike="noStrike" dirty="0">
                          <a:effectLst/>
                          <a:latin typeface="Tw Cen MT" panose="020B0602020104020603" pitchFamily="34" charset="0"/>
                        </a:rPr>
                        <a:t>0.31000-0.31500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a:effectLst/>
                          <a:latin typeface="Tw Cen MT" panose="020B0602020104020603" pitchFamily="34" charset="0"/>
                        </a:rPr>
                        <a:t>1</a:t>
                      </a:r>
                      <a:endParaRPr lang="en-US" sz="1400" b="0" i="0" u="none" strike="noStrike">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938259625"/>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6</a:t>
                      </a:r>
                    </a:p>
                  </a:txBody>
                  <a:tcPr marL="9525" marR="9525" marT="9525" marB="0" anchor="ctr"/>
                </a:tc>
                <a:tc>
                  <a:txBody>
                    <a:bodyPr/>
                    <a:lstStyle/>
                    <a:p>
                      <a:pPr algn="ctr" fontAlgn="ctr"/>
                      <a:r>
                        <a:rPr lang="en-US" sz="1400" u="none" strike="noStrike" dirty="0">
                          <a:effectLst/>
                          <a:latin typeface="Tw Cen MT" panose="020B0602020104020603" pitchFamily="34" charset="0"/>
                        </a:rPr>
                        <a:t>0.31500-0.32000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a:effectLst/>
                          <a:latin typeface="Tw Cen MT" panose="020B0602020104020603" pitchFamily="34" charset="0"/>
                        </a:rPr>
                        <a:t>5</a:t>
                      </a:r>
                      <a:endParaRPr lang="en-US" sz="1400" b="0" i="0" u="none" strike="noStrike">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443356070"/>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7</a:t>
                      </a:r>
                    </a:p>
                  </a:txBody>
                  <a:tcPr marL="9525" marR="9525" marT="9525" marB="0" anchor="ctr"/>
                </a:tc>
                <a:tc>
                  <a:txBody>
                    <a:bodyPr/>
                    <a:lstStyle/>
                    <a:p>
                      <a:pPr algn="ctr" fontAlgn="ctr"/>
                      <a:r>
                        <a:rPr lang="en-US" sz="1400" u="none" strike="noStrike" dirty="0">
                          <a:effectLst/>
                          <a:latin typeface="Tw Cen MT" panose="020B0602020104020603" pitchFamily="34" charset="0"/>
                        </a:rPr>
                        <a:t>0.32000-0.32500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dirty="0">
                          <a:effectLst/>
                          <a:latin typeface="Tw Cen MT" panose="020B0602020104020603" pitchFamily="34" charset="0"/>
                        </a:rPr>
                        <a:t>6</a:t>
                      </a:r>
                      <a:endParaRPr lang="en-US" sz="14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15051423"/>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8</a:t>
                      </a:r>
                    </a:p>
                  </a:txBody>
                  <a:tcPr marL="9525" marR="9525" marT="9525" marB="0" anchor="ctr"/>
                </a:tc>
                <a:tc>
                  <a:txBody>
                    <a:bodyPr/>
                    <a:lstStyle/>
                    <a:p>
                      <a:pPr algn="ctr" fontAlgn="ctr"/>
                      <a:r>
                        <a:rPr lang="en-US" sz="1400" u="none" strike="noStrike" dirty="0">
                          <a:effectLst/>
                          <a:latin typeface="Tw Cen MT" panose="020B0602020104020603" pitchFamily="34" charset="0"/>
                        </a:rPr>
                        <a:t>0.32500-0.33000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dirty="0">
                          <a:effectLst/>
                          <a:latin typeface="Tw Cen MT" panose="020B0602020104020603" pitchFamily="34" charset="0"/>
                        </a:rPr>
                        <a:t>11</a:t>
                      </a:r>
                      <a:endParaRPr lang="en-US" sz="14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513523348"/>
                  </a:ext>
                </a:extLst>
              </a:tr>
              <a:tr h="262536">
                <a:tc>
                  <a:txBody>
                    <a:bodyPr/>
                    <a:lstStyle/>
                    <a:p>
                      <a:pPr algn="ctr" fontAlgn="ctr"/>
                      <a:r>
                        <a:rPr lang="en-US" sz="1400" b="0" i="0" u="none" strike="noStrike" dirty="0">
                          <a:solidFill>
                            <a:srgbClr val="000000"/>
                          </a:solidFill>
                          <a:effectLst/>
                          <a:latin typeface="Tw Cen MT" panose="020B0602020104020603" pitchFamily="34" charset="0"/>
                        </a:rPr>
                        <a:t>9</a:t>
                      </a:r>
                    </a:p>
                  </a:txBody>
                  <a:tcPr marL="9525" marR="9525" marT="9525" marB="0" anchor="ctr"/>
                </a:tc>
                <a:tc>
                  <a:txBody>
                    <a:bodyPr/>
                    <a:lstStyle/>
                    <a:p>
                      <a:pPr algn="ctr" fontAlgn="ctr"/>
                      <a:r>
                        <a:rPr lang="en-US" sz="1400" u="none" strike="noStrike" dirty="0">
                          <a:effectLst/>
                          <a:latin typeface="Tw Cen MT" panose="020B0602020104020603" pitchFamily="34" charset="0"/>
                        </a:rPr>
                        <a:t>0.33000-0.33500</a:t>
                      </a:r>
                      <a:endParaRPr lang="en-US" sz="14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fontAlgn="ctr"/>
                      <a:r>
                        <a:rPr lang="en-US" sz="1400" u="none" strike="noStrike" dirty="0">
                          <a:effectLst/>
                          <a:latin typeface="Tw Cen MT" panose="020B0602020104020603" pitchFamily="34" charset="0"/>
                        </a:rPr>
                        <a:t>0</a:t>
                      </a:r>
                      <a:endParaRPr lang="en-US" sz="14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3375819237"/>
                  </a:ext>
                </a:extLst>
              </a:tr>
              <a:tr h="262536">
                <a:tc gridSpan="2">
                  <a:txBody>
                    <a:bodyPr/>
                    <a:lstStyle/>
                    <a:p>
                      <a:pPr algn="ctr" fontAlgn="ctr"/>
                      <a:r>
                        <a:rPr lang="en-US" sz="1400" b="1" u="none" strike="noStrike" dirty="0">
                          <a:effectLst/>
                        </a:rPr>
                        <a:t>Total</a:t>
                      </a:r>
                      <a:endParaRPr lang="en-US"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ctr"/>
                      <a:endParaRPr lang="en-US"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b="1" u="none" strike="noStrike" dirty="0">
                          <a:effectLst/>
                          <a:latin typeface="Tw Cen MT" panose="020B0602020104020603" pitchFamily="34" charset="0"/>
                        </a:rPr>
                        <a:t>27</a:t>
                      </a:r>
                      <a:endParaRPr lang="en-US" sz="14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4053222301"/>
                  </a:ext>
                </a:extLst>
              </a:tr>
            </a:tbl>
          </a:graphicData>
        </a:graphic>
      </p:graphicFrame>
      <p:graphicFrame>
        <p:nvGraphicFramePr>
          <p:cNvPr id="80" name="Chart 79"/>
          <p:cNvGraphicFramePr>
            <a:graphicFrameLocks/>
          </p:cNvGraphicFramePr>
          <p:nvPr>
            <p:extLst>
              <p:ext uri="{D42A27DB-BD31-4B8C-83A1-F6EECF244321}">
                <p14:modId xmlns:p14="http://schemas.microsoft.com/office/powerpoint/2010/main" val="4084131828"/>
              </p:ext>
            </p:extLst>
          </p:nvPr>
        </p:nvGraphicFramePr>
        <p:xfrm>
          <a:off x="6689788" y="2297782"/>
          <a:ext cx="3590554" cy="2743200"/>
        </p:xfrm>
        <a:graphic>
          <a:graphicData uri="http://schemas.openxmlformats.org/drawingml/2006/chart">
            <c:chart xmlns:c="http://schemas.openxmlformats.org/drawingml/2006/chart" xmlns:r="http://schemas.openxmlformats.org/officeDocument/2006/relationships" r:id="rId3"/>
          </a:graphicData>
        </a:graphic>
      </p:graphicFrame>
      <p:grpSp>
        <p:nvGrpSpPr>
          <p:cNvPr id="18" name="Group 17"/>
          <p:cNvGrpSpPr/>
          <p:nvPr/>
        </p:nvGrpSpPr>
        <p:grpSpPr>
          <a:xfrm rot="16200000">
            <a:off x="2166469" y="1669157"/>
            <a:ext cx="1278837" cy="994575"/>
            <a:chOff x="4025945" y="4716224"/>
            <a:chExt cx="2290735" cy="1914423"/>
          </a:xfrm>
        </p:grpSpPr>
        <p:cxnSp>
          <p:nvCxnSpPr>
            <p:cNvPr id="81" name="Straight Connector 80"/>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rot="16200000">
              <a:off x="6095914" y="4724059"/>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3" name="Straight Connector 82"/>
            <p:cNvCxnSpPr/>
            <p:nvPr/>
          </p:nvCxnSpPr>
          <p:spPr>
            <a:xfrm rot="5400000">
              <a:off x="4514567" y="4930161"/>
              <a:ext cx="1211864" cy="218910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rot="16200000">
            <a:off x="1137389" y="4055335"/>
            <a:ext cx="3350665" cy="1000648"/>
            <a:chOff x="6103749" y="4716223"/>
            <a:chExt cx="6001927" cy="1926112"/>
          </a:xfrm>
        </p:grpSpPr>
        <p:cxnSp>
          <p:nvCxnSpPr>
            <p:cNvPr id="85" name="Straight Connector 84"/>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rot="16200000">
              <a:off x="6095914" y="4724058"/>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7" name="Straight Connector 86"/>
            <p:cNvCxnSpPr/>
            <p:nvPr/>
          </p:nvCxnSpPr>
          <p:spPr>
            <a:xfrm rot="5400000" flipV="1">
              <a:off x="8548586" y="3085246"/>
              <a:ext cx="1223553" cy="589062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rot="16200000">
            <a:off x="2423588" y="1985939"/>
            <a:ext cx="774214" cy="996592"/>
            <a:chOff x="4946238" y="4716223"/>
            <a:chExt cx="1386823" cy="1918305"/>
          </a:xfrm>
        </p:grpSpPr>
        <p:cxnSp>
          <p:nvCxnSpPr>
            <p:cNvPr id="89" name="Straight Connector 88"/>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rot="16200000">
              <a:off x="6104105" y="4715868"/>
              <a:ext cx="228601" cy="22931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91" name="Straight Connector 90"/>
            <p:cNvCxnSpPr/>
            <p:nvPr/>
          </p:nvCxnSpPr>
          <p:spPr>
            <a:xfrm rot="5400000">
              <a:off x="4972772" y="5392248"/>
              <a:ext cx="1215746" cy="126881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rot="16200000">
            <a:off x="2703891" y="2298127"/>
            <a:ext cx="188360" cy="976042"/>
            <a:chOff x="5979275" y="4716223"/>
            <a:chExt cx="337402" cy="1878749"/>
          </a:xfrm>
        </p:grpSpPr>
        <p:cxnSp>
          <p:nvCxnSpPr>
            <p:cNvPr id="106" name="Straight Connector 105"/>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rot="16200000">
              <a:off x="6095911" y="4724058"/>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08" name="Straight Connector 107"/>
            <p:cNvCxnSpPr/>
            <p:nvPr/>
          </p:nvCxnSpPr>
          <p:spPr>
            <a:xfrm rot="5400000">
              <a:off x="5509068" y="5888988"/>
              <a:ext cx="1176191" cy="2357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9" name="Oval 108"/>
          <p:cNvSpPr/>
          <p:nvPr/>
        </p:nvSpPr>
        <p:spPr>
          <a:xfrm rot="10800000">
            <a:off x="3249138" y="2810328"/>
            <a:ext cx="118762" cy="11887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10" name="Group 109"/>
          <p:cNvGrpSpPr/>
          <p:nvPr/>
        </p:nvGrpSpPr>
        <p:grpSpPr>
          <a:xfrm rot="16200000">
            <a:off x="6047710" y="2667415"/>
            <a:ext cx="1528678" cy="1830564"/>
            <a:chOff x="3578412" y="4716223"/>
            <a:chExt cx="2738269" cy="3523587"/>
          </a:xfrm>
        </p:grpSpPr>
        <p:cxnSp>
          <p:nvCxnSpPr>
            <p:cNvPr id="111" name="Straight Connector 110"/>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2" name="Oval 111"/>
            <p:cNvSpPr/>
            <p:nvPr/>
          </p:nvSpPr>
          <p:spPr>
            <a:xfrm rot="16200000">
              <a:off x="6095915" y="4724058"/>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13" name="Straight Connector 112"/>
            <p:cNvCxnSpPr/>
            <p:nvPr/>
          </p:nvCxnSpPr>
          <p:spPr>
            <a:xfrm rot="5400000">
              <a:off x="3486217" y="5510975"/>
              <a:ext cx="2821030" cy="263663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14" name="Oval 113"/>
          <p:cNvSpPr/>
          <p:nvPr/>
        </p:nvSpPr>
        <p:spPr>
          <a:xfrm rot="10800000">
            <a:off x="7679149" y="4287600"/>
            <a:ext cx="118762" cy="11887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TextBox 1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- 9</a:t>
            </a:r>
          </a:p>
        </p:txBody>
      </p:sp>
      <p:grpSp>
        <p:nvGrpSpPr>
          <p:cNvPr id="54" name="Group 53"/>
          <p:cNvGrpSpPr/>
          <p:nvPr/>
        </p:nvGrpSpPr>
        <p:grpSpPr>
          <a:xfrm>
            <a:off x="3683744" y="1399993"/>
            <a:ext cx="482247" cy="540916"/>
            <a:chOff x="3797444" y="1518470"/>
            <a:chExt cx="482247" cy="540916"/>
          </a:xfrm>
        </p:grpSpPr>
        <p:cxnSp>
          <p:nvCxnSpPr>
            <p:cNvPr id="116" name="Straight Connector 115"/>
            <p:cNvCxnSpPr>
              <a:endCxn id="119" idx="1"/>
            </p:cNvCxnSpPr>
            <p:nvPr/>
          </p:nvCxnSpPr>
          <p:spPr>
            <a:xfrm flipV="1">
              <a:off x="3872274" y="1518470"/>
              <a:ext cx="407417" cy="37223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7" name="Oval 116"/>
            <p:cNvSpPr/>
            <p:nvPr/>
          </p:nvSpPr>
          <p:spPr>
            <a:xfrm>
              <a:off x="3797444" y="1908630"/>
              <a:ext cx="150756" cy="150756"/>
            </a:xfrm>
            <a:prstGeom prst="ellipse">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8" name="Group 117"/>
          <p:cNvGrpSpPr/>
          <p:nvPr/>
        </p:nvGrpSpPr>
        <p:grpSpPr>
          <a:xfrm>
            <a:off x="4165991" y="1100428"/>
            <a:ext cx="6013124" cy="769257"/>
            <a:chOff x="925382" y="2051096"/>
            <a:chExt cx="6013124" cy="769257"/>
          </a:xfrm>
          <a:solidFill>
            <a:schemeClr val="bg1">
              <a:lumMod val="85000"/>
            </a:schemeClr>
          </a:solidFill>
        </p:grpSpPr>
        <p:sp>
          <p:nvSpPr>
            <p:cNvPr id="119" name="Rounded Rectangle 118"/>
            <p:cNvSpPr/>
            <p:nvPr/>
          </p:nvSpPr>
          <p:spPr>
            <a:xfrm>
              <a:off x="925382" y="2051096"/>
              <a:ext cx="6013124" cy="76925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1023937" y="2132534"/>
              <a:ext cx="606379" cy="6063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dirty="0">
                <a:solidFill>
                  <a:prstClr val="white"/>
                </a:solidFill>
              </a:endParaRPr>
            </a:p>
          </p:txBody>
        </p:sp>
        <p:sp>
          <p:nvSpPr>
            <p:cNvPr id="121" name="TextBox 120"/>
            <p:cNvSpPr txBox="1"/>
            <p:nvPr/>
          </p:nvSpPr>
          <p:spPr>
            <a:xfrm>
              <a:off x="1660106" y="2097168"/>
              <a:ext cx="4942157" cy="677108"/>
            </a:xfrm>
            <a:prstGeom prst="rect">
              <a:avLst/>
            </a:prstGeom>
            <a:grpFill/>
          </p:spPr>
          <p:txBody>
            <a:bodyPr wrap="square" rtlCol="0">
              <a:spAutoFit/>
            </a:bodyPr>
            <a:lstStyle/>
            <a:p>
              <a:r>
                <a:rPr lang="en-US" sz="1400" b="1" dirty="0">
                  <a:solidFill>
                    <a:schemeClr val="tx1">
                      <a:lumMod val="75000"/>
                      <a:lumOff val="25000"/>
                    </a:schemeClr>
                  </a:solidFill>
                  <a:latin typeface="Lato Black" panose="020F0A02020204030203" pitchFamily="34" charset="0"/>
                </a:rPr>
                <a:t>Number of Bin and Bin Size</a:t>
              </a:r>
            </a:p>
            <a:p>
              <a:r>
                <a:rPr lang="en-US" sz="1200" dirty="0">
                  <a:solidFill>
                    <a:schemeClr val="tx1">
                      <a:lumMod val="75000"/>
                      <a:lumOff val="25000"/>
                    </a:schemeClr>
                  </a:solidFill>
                  <a:latin typeface="Lato Light" panose="020F0302020204030203" pitchFamily="34" charset="0"/>
                </a:rPr>
                <a:t>There is no "best" number of bins, and different bin sizes can reveal different features of the data</a:t>
              </a:r>
            </a:p>
          </p:txBody>
        </p:sp>
      </p:grpSp>
    </p:spTree>
    <p:extLst>
      <p:ext uri="{BB962C8B-B14F-4D97-AF65-F5344CB8AC3E}">
        <p14:creationId xmlns:p14="http://schemas.microsoft.com/office/powerpoint/2010/main" val="3704707361"/>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wipe(right)">
                                      <p:cBhvr>
                                        <p:cTn id="12" dur="250"/>
                                        <p:tgtEl>
                                          <p:spTgt spid="73"/>
                                        </p:tgtEl>
                                      </p:cBhvr>
                                    </p:animEffect>
                                  </p:childTnLst>
                                </p:cTn>
                              </p:par>
                            </p:childTnLst>
                          </p:cTn>
                        </p:par>
                        <p:par>
                          <p:cTn id="13" fill="hold">
                            <p:stCondLst>
                              <p:cond delay="75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250"/>
                                        <p:tgtEl>
                                          <p:spTgt spid="5"/>
                                        </p:tgtEl>
                                      </p:cBhvr>
                                    </p:animEffect>
                                  </p:childTnLst>
                                </p:cTn>
                              </p:par>
                            </p:childTnLst>
                          </p:cTn>
                        </p:par>
                        <p:par>
                          <p:cTn id="17" fill="hold">
                            <p:stCondLst>
                              <p:cond delay="1000"/>
                            </p:stCondLst>
                            <p:childTnLst>
                              <p:par>
                                <p:cTn id="18" presetID="22" presetClass="entr" presetSubtype="2" fill="hold" grpId="0" nodeType="afterEffect">
                                  <p:stCondLst>
                                    <p:cond delay="0"/>
                                  </p:stCondLst>
                                  <p:childTnLst>
                                    <p:set>
                                      <p:cBhvr>
                                        <p:cTn id="19" dur="1" fill="hold">
                                          <p:stCondLst>
                                            <p:cond delay="0"/>
                                          </p:stCondLst>
                                        </p:cTn>
                                        <p:tgtEl>
                                          <p:spTgt spid="75"/>
                                        </p:tgtEl>
                                        <p:attrNameLst>
                                          <p:attrName>style.visibility</p:attrName>
                                        </p:attrNameLst>
                                      </p:cBhvr>
                                      <p:to>
                                        <p:strVal val="visible"/>
                                      </p:to>
                                    </p:set>
                                    <p:animEffect transition="in" filter="wipe(right)">
                                      <p:cBhvr>
                                        <p:cTn id="20" dur="250"/>
                                        <p:tgtEl>
                                          <p:spTgt spid="75"/>
                                        </p:tgtEl>
                                      </p:cBhvr>
                                    </p:animEffect>
                                  </p:childTnLst>
                                </p:cTn>
                              </p:par>
                              <p:par>
                                <p:cTn id="21" presetID="10"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500"/>
                                        <p:tgtEl>
                                          <p:spTgt spid="72"/>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wheel(1)">
                                      <p:cBhvr>
                                        <p:cTn id="28" dur="500"/>
                                        <p:tgtEl>
                                          <p:spTgt spid="7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79"/>
                                        </p:tgtEl>
                                        <p:attrNameLst>
                                          <p:attrName>style.visibility</p:attrName>
                                        </p:attrNameLst>
                                      </p:cBhvr>
                                      <p:to>
                                        <p:strVal val="visible"/>
                                      </p:to>
                                    </p:set>
                                    <p:animEffect transition="in" filter="wipe(right)">
                                      <p:cBhvr>
                                        <p:cTn id="33" dur="250"/>
                                        <p:tgtEl>
                                          <p:spTgt spid="79"/>
                                        </p:tgtEl>
                                      </p:cBhvr>
                                    </p:animEffect>
                                  </p:childTnLst>
                                </p:cTn>
                              </p:par>
                            </p:childTnLst>
                          </p:cTn>
                        </p:par>
                        <p:par>
                          <p:cTn id="34" fill="hold">
                            <p:stCondLst>
                              <p:cond delay="250"/>
                            </p:stCondLst>
                            <p:childTnLst>
                              <p:par>
                                <p:cTn id="35" presetID="22" presetClass="entr" presetSubtype="1"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250"/>
                                        <p:tgtEl>
                                          <p:spTgt spid="8"/>
                                        </p:tgtEl>
                                      </p:cBhvr>
                                    </p:animEffect>
                                  </p:childTnLst>
                                </p:cTn>
                              </p:par>
                            </p:childTnLst>
                          </p:cTn>
                        </p:par>
                        <p:par>
                          <p:cTn id="38" fill="hold">
                            <p:stCondLst>
                              <p:cond delay="500"/>
                            </p:stCondLst>
                            <p:childTnLst>
                              <p:par>
                                <p:cTn id="39" presetID="22" presetClass="entr" presetSubtype="2" fill="hold" grpId="0"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right)">
                                      <p:cBhvr>
                                        <p:cTn id="41" dur="250"/>
                                        <p:tgtEl>
                                          <p:spTgt spid="78"/>
                                        </p:tgtEl>
                                      </p:cBhvr>
                                    </p:animEffect>
                                  </p:childTnLst>
                                </p:cTn>
                              </p:par>
                              <p:par>
                                <p:cTn id="42" presetID="10" presetClass="entr" presetSubtype="0" fill="hold" nodeType="with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fade">
                                      <p:cBhvr>
                                        <p:cTn id="44" dur="500"/>
                                        <p:tgtEl>
                                          <p:spTgt spid="7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250"/>
                                        <p:tgtEl>
                                          <p:spTgt spid="18"/>
                                        </p:tgtEl>
                                      </p:cBhvr>
                                    </p:animEffect>
                                  </p:childTnLst>
                                </p:cTn>
                              </p:par>
                            </p:childTnLst>
                          </p:cTn>
                        </p:par>
                        <p:par>
                          <p:cTn id="50" fill="hold">
                            <p:stCondLst>
                              <p:cond delay="250"/>
                            </p:stCondLst>
                            <p:childTnLst>
                              <p:par>
                                <p:cTn id="51" presetID="10" presetClass="entr" presetSubtype="0" fill="hold" grpId="0" nodeType="afterEffect">
                                  <p:stCondLst>
                                    <p:cond delay="0"/>
                                  </p:stCondLst>
                                  <p:childTnLst>
                                    <p:set>
                                      <p:cBhvr>
                                        <p:cTn id="52" dur="1" fill="hold">
                                          <p:stCondLst>
                                            <p:cond delay="0"/>
                                          </p:stCondLst>
                                        </p:cTn>
                                        <p:tgtEl>
                                          <p:spTgt spid="109"/>
                                        </p:tgtEl>
                                        <p:attrNameLst>
                                          <p:attrName>style.visibility</p:attrName>
                                        </p:attrNameLst>
                                      </p:cBhvr>
                                      <p:to>
                                        <p:strVal val="visible"/>
                                      </p:to>
                                    </p:set>
                                    <p:animEffect transition="in" filter="fade">
                                      <p:cBhvr>
                                        <p:cTn id="53" dur="250"/>
                                        <p:tgtEl>
                                          <p:spTgt spid="109"/>
                                        </p:tgtEl>
                                      </p:cBhvr>
                                    </p:animEffect>
                                  </p:childTnLst>
                                </p:cTn>
                              </p:par>
                            </p:childTnLst>
                          </p:cTn>
                        </p:par>
                        <p:par>
                          <p:cTn id="54" fill="hold">
                            <p:stCondLst>
                              <p:cond delay="500"/>
                            </p:stCondLst>
                            <p:childTnLst>
                              <p:par>
                                <p:cTn id="55" presetID="22" presetClass="entr" presetSubtype="1" fill="hold" nodeType="afterEffect">
                                  <p:stCondLst>
                                    <p:cond delay="0"/>
                                  </p:stCondLst>
                                  <p:childTnLst>
                                    <p:set>
                                      <p:cBhvr>
                                        <p:cTn id="56" dur="1" fill="hold">
                                          <p:stCondLst>
                                            <p:cond delay="0"/>
                                          </p:stCondLst>
                                        </p:cTn>
                                        <p:tgtEl>
                                          <p:spTgt spid="88"/>
                                        </p:tgtEl>
                                        <p:attrNameLst>
                                          <p:attrName>style.visibility</p:attrName>
                                        </p:attrNameLst>
                                      </p:cBhvr>
                                      <p:to>
                                        <p:strVal val="visible"/>
                                      </p:to>
                                    </p:set>
                                    <p:animEffect transition="in" filter="wipe(up)">
                                      <p:cBhvr>
                                        <p:cTn id="57" dur="250"/>
                                        <p:tgtEl>
                                          <p:spTgt spid="88"/>
                                        </p:tgtEl>
                                      </p:cBhvr>
                                    </p:animEffect>
                                  </p:childTnLst>
                                </p:cTn>
                              </p:par>
                            </p:childTnLst>
                          </p:cTn>
                        </p:par>
                        <p:par>
                          <p:cTn id="58" fill="hold">
                            <p:stCondLst>
                              <p:cond delay="750"/>
                            </p:stCondLst>
                            <p:childTnLst>
                              <p:par>
                                <p:cTn id="59" presetID="22" presetClass="entr" presetSubtype="8" fill="hold" nodeType="afterEffect">
                                  <p:stCondLst>
                                    <p:cond delay="0"/>
                                  </p:stCondLst>
                                  <p:childTnLst>
                                    <p:set>
                                      <p:cBhvr>
                                        <p:cTn id="60" dur="1" fill="hold">
                                          <p:stCondLst>
                                            <p:cond delay="0"/>
                                          </p:stCondLst>
                                        </p:cTn>
                                        <p:tgtEl>
                                          <p:spTgt spid="97"/>
                                        </p:tgtEl>
                                        <p:attrNameLst>
                                          <p:attrName>style.visibility</p:attrName>
                                        </p:attrNameLst>
                                      </p:cBhvr>
                                      <p:to>
                                        <p:strVal val="visible"/>
                                      </p:to>
                                    </p:set>
                                    <p:animEffect transition="in" filter="wipe(left)">
                                      <p:cBhvr>
                                        <p:cTn id="61" dur="250"/>
                                        <p:tgtEl>
                                          <p:spTgt spid="97"/>
                                        </p:tgtEl>
                                      </p:cBhvr>
                                    </p:animEffect>
                                  </p:childTnLst>
                                </p:cTn>
                              </p:par>
                            </p:childTnLst>
                          </p:cTn>
                        </p:par>
                        <p:par>
                          <p:cTn id="62" fill="hold">
                            <p:stCondLst>
                              <p:cond delay="1000"/>
                            </p:stCondLst>
                            <p:childTnLst>
                              <p:par>
                                <p:cTn id="63" presetID="22" presetClass="entr" presetSubtype="4" fill="hold"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wipe(down)">
                                      <p:cBhvr>
                                        <p:cTn id="65" dur="25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2" fill="hold" grpId="0" nodeType="clickEffect">
                                  <p:stCondLst>
                                    <p:cond delay="0"/>
                                  </p:stCondLst>
                                  <p:childTnLst>
                                    <p:set>
                                      <p:cBhvr>
                                        <p:cTn id="69" dur="1" fill="hold">
                                          <p:stCondLst>
                                            <p:cond delay="0"/>
                                          </p:stCondLst>
                                        </p:cTn>
                                        <p:tgtEl>
                                          <p:spTgt spid="92"/>
                                        </p:tgtEl>
                                        <p:attrNameLst>
                                          <p:attrName>style.visibility</p:attrName>
                                        </p:attrNameLst>
                                      </p:cBhvr>
                                      <p:to>
                                        <p:strVal val="visible"/>
                                      </p:to>
                                    </p:set>
                                    <p:animEffect transition="in" filter="wipe(right)">
                                      <p:cBhvr>
                                        <p:cTn id="70" dur="250"/>
                                        <p:tgtEl>
                                          <p:spTgt spid="92"/>
                                        </p:tgtEl>
                                      </p:cBhvr>
                                    </p:animEffect>
                                  </p:childTnLst>
                                </p:cTn>
                              </p:par>
                            </p:childTnLst>
                          </p:cTn>
                        </p:par>
                        <p:par>
                          <p:cTn id="71" fill="hold">
                            <p:stCondLst>
                              <p:cond delay="250"/>
                            </p:stCondLst>
                            <p:childTnLst>
                              <p:par>
                                <p:cTn id="72" presetID="22" presetClass="entr" presetSubtype="1" fill="hold"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wipe(up)">
                                      <p:cBhvr>
                                        <p:cTn id="74" dur="250"/>
                                        <p:tgtEl>
                                          <p:spTgt spid="9"/>
                                        </p:tgtEl>
                                      </p:cBhvr>
                                    </p:animEffect>
                                  </p:childTnLst>
                                </p:cTn>
                              </p:par>
                            </p:childTnLst>
                          </p:cTn>
                        </p:par>
                        <p:par>
                          <p:cTn id="75" fill="hold">
                            <p:stCondLst>
                              <p:cond delay="500"/>
                            </p:stCondLst>
                            <p:childTnLst>
                              <p:par>
                                <p:cTn id="76" presetID="22" presetClass="entr" presetSubtype="4" fill="hold" grpId="0" nodeType="afterEffect">
                                  <p:stCondLst>
                                    <p:cond delay="0"/>
                                  </p:stCondLst>
                                  <p:childTnLst>
                                    <p:set>
                                      <p:cBhvr>
                                        <p:cTn id="77" dur="1" fill="hold">
                                          <p:stCondLst>
                                            <p:cond delay="0"/>
                                          </p:stCondLst>
                                        </p:cTn>
                                        <p:tgtEl>
                                          <p:spTgt spid="93"/>
                                        </p:tgtEl>
                                        <p:attrNameLst>
                                          <p:attrName>style.visibility</p:attrName>
                                        </p:attrNameLst>
                                      </p:cBhvr>
                                      <p:to>
                                        <p:strVal val="visible"/>
                                      </p:to>
                                    </p:set>
                                    <p:animEffect transition="in" filter="wipe(down)">
                                      <p:cBhvr>
                                        <p:cTn id="78" dur="250"/>
                                        <p:tgtEl>
                                          <p:spTgt spid="93"/>
                                        </p:tgtEl>
                                      </p:cBhvr>
                                    </p:animEffect>
                                  </p:childTnLst>
                                </p:cTn>
                              </p:par>
                            </p:childTnLst>
                          </p:cTn>
                        </p:par>
                        <p:par>
                          <p:cTn id="79" fill="hold">
                            <p:stCondLst>
                              <p:cond delay="750"/>
                            </p:stCondLst>
                            <p:childTnLst>
                              <p:par>
                                <p:cTn id="80" presetID="22" presetClass="entr" presetSubtype="4" fill="hold" grpId="0" nodeType="afterEffect">
                                  <p:stCondLst>
                                    <p:cond delay="0"/>
                                  </p:stCondLst>
                                  <p:childTnLst>
                                    <p:set>
                                      <p:cBhvr>
                                        <p:cTn id="81" dur="1" fill="hold">
                                          <p:stCondLst>
                                            <p:cond delay="0"/>
                                          </p:stCondLst>
                                        </p:cTn>
                                        <p:tgtEl>
                                          <p:spTgt spid="80">
                                            <p:graphicEl>
                                              <a:chart seriesIdx="-3" categoryIdx="-3" bldStep="gridLegend"/>
                                            </p:graphicEl>
                                          </p:spTgt>
                                        </p:tgtEl>
                                        <p:attrNameLst>
                                          <p:attrName>style.visibility</p:attrName>
                                        </p:attrNameLst>
                                      </p:cBhvr>
                                      <p:to>
                                        <p:strVal val="visible"/>
                                      </p:to>
                                    </p:set>
                                    <p:animEffect transition="in" filter="wipe(down)">
                                      <p:cBhvr>
                                        <p:cTn id="82" dur="500"/>
                                        <p:tgtEl>
                                          <p:spTgt spid="80">
                                            <p:graphicEl>
                                              <a:chart seriesIdx="-3" categoryIdx="-3" bldStep="gridLegend"/>
                                            </p:graphicEl>
                                          </p:spTgt>
                                        </p:tgtEl>
                                      </p:cBhvr>
                                    </p:animEffect>
                                  </p:childTnLst>
                                </p:cTn>
                              </p:par>
                            </p:childTnLst>
                          </p:cTn>
                        </p:par>
                        <p:par>
                          <p:cTn id="83" fill="hold">
                            <p:stCondLst>
                              <p:cond delay="1250"/>
                            </p:stCondLst>
                            <p:childTnLst>
                              <p:par>
                                <p:cTn id="84" presetID="22" presetClass="entr" presetSubtype="4" fill="hold" grpId="0" nodeType="afterEffect">
                                  <p:stCondLst>
                                    <p:cond delay="0"/>
                                  </p:stCondLst>
                                  <p:childTnLst>
                                    <p:set>
                                      <p:cBhvr>
                                        <p:cTn id="85" dur="1" fill="hold">
                                          <p:stCondLst>
                                            <p:cond delay="0"/>
                                          </p:stCondLst>
                                        </p:cTn>
                                        <p:tgtEl>
                                          <p:spTgt spid="80">
                                            <p:graphicEl>
                                              <a:chart seriesIdx="0" categoryIdx="0" bldStep="ptInSeries"/>
                                            </p:graphicEl>
                                          </p:spTgt>
                                        </p:tgtEl>
                                        <p:attrNameLst>
                                          <p:attrName>style.visibility</p:attrName>
                                        </p:attrNameLst>
                                      </p:cBhvr>
                                      <p:to>
                                        <p:strVal val="visible"/>
                                      </p:to>
                                    </p:set>
                                    <p:animEffect transition="in" filter="wipe(down)">
                                      <p:cBhvr>
                                        <p:cTn id="86" dur="250"/>
                                        <p:tgtEl>
                                          <p:spTgt spid="80">
                                            <p:graphicEl>
                                              <a:chart seriesIdx="0" categoryIdx="0" bldStep="ptInSeries"/>
                                            </p:graphicEl>
                                          </p:spTgt>
                                        </p:tgtEl>
                                      </p:cBhvr>
                                    </p:animEffect>
                                  </p:childTnLst>
                                </p:cTn>
                              </p:par>
                            </p:childTnLst>
                          </p:cTn>
                        </p:par>
                        <p:par>
                          <p:cTn id="87" fill="hold">
                            <p:stCondLst>
                              <p:cond delay="1500"/>
                            </p:stCondLst>
                            <p:childTnLst>
                              <p:par>
                                <p:cTn id="88" presetID="22" presetClass="entr" presetSubtype="4" fill="hold" grpId="0" nodeType="afterEffect">
                                  <p:stCondLst>
                                    <p:cond delay="0"/>
                                  </p:stCondLst>
                                  <p:childTnLst>
                                    <p:set>
                                      <p:cBhvr>
                                        <p:cTn id="89" dur="1" fill="hold">
                                          <p:stCondLst>
                                            <p:cond delay="0"/>
                                          </p:stCondLst>
                                        </p:cTn>
                                        <p:tgtEl>
                                          <p:spTgt spid="80">
                                            <p:graphicEl>
                                              <a:chart seriesIdx="0" categoryIdx="1" bldStep="ptInSeries"/>
                                            </p:graphicEl>
                                          </p:spTgt>
                                        </p:tgtEl>
                                        <p:attrNameLst>
                                          <p:attrName>style.visibility</p:attrName>
                                        </p:attrNameLst>
                                      </p:cBhvr>
                                      <p:to>
                                        <p:strVal val="visible"/>
                                      </p:to>
                                    </p:set>
                                    <p:animEffect transition="in" filter="wipe(down)">
                                      <p:cBhvr>
                                        <p:cTn id="90" dur="500"/>
                                        <p:tgtEl>
                                          <p:spTgt spid="80">
                                            <p:graphicEl>
                                              <a:chart seriesIdx="0" categoryIdx="1" bldStep="ptInSeries"/>
                                            </p:graphicEl>
                                          </p:spTgt>
                                        </p:tgtEl>
                                      </p:cBhvr>
                                    </p:animEffect>
                                  </p:childTnLst>
                                </p:cTn>
                              </p:par>
                            </p:childTnLst>
                          </p:cTn>
                        </p:par>
                        <p:par>
                          <p:cTn id="91" fill="hold">
                            <p:stCondLst>
                              <p:cond delay="2000"/>
                            </p:stCondLst>
                            <p:childTnLst>
                              <p:par>
                                <p:cTn id="92" presetID="22" presetClass="entr" presetSubtype="8" fill="hold" nodeType="afterEffect">
                                  <p:stCondLst>
                                    <p:cond delay="0"/>
                                  </p:stCondLst>
                                  <p:childTnLst>
                                    <p:set>
                                      <p:cBhvr>
                                        <p:cTn id="93" dur="1" fill="hold">
                                          <p:stCondLst>
                                            <p:cond delay="0"/>
                                          </p:stCondLst>
                                        </p:cTn>
                                        <p:tgtEl>
                                          <p:spTgt spid="110"/>
                                        </p:tgtEl>
                                        <p:attrNameLst>
                                          <p:attrName>style.visibility</p:attrName>
                                        </p:attrNameLst>
                                      </p:cBhvr>
                                      <p:to>
                                        <p:strVal val="visible"/>
                                      </p:to>
                                    </p:set>
                                    <p:animEffect transition="in" filter="wipe(left)">
                                      <p:cBhvr>
                                        <p:cTn id="94" dur="250"/>
                                        <p:tgtEl>
                                          <p:spTgt spid="110"/>
                                        </p:tgtEl>
                                      </p:cBhvr>
                                    </p:animEffect>
                                  </p:childTnLst>
                                </p:cTn>
                              </p:par>
                            </p:childTnLst>
                          </p:cTn>
                        </p:par>
                        <p:par>
                          <p:cTn id="95" fill="hold">
                            <p:stCondLst>
                              <p:cond delay="2250"/>
                            </p:stCondLst>
                            <p:childTnLst>
                              <p:par>
                                <p:cTn id="96" presetID="10" presetClass="entr" presetSubtype="0" fill="hold" grpId="0" nodeType="afterEffect">
                                  <p:stCondLst>
                                    <p:cond delay="0"/>
                                  </p:stCondLst>
                                  <p:childTnLst>
                                    <p:set>
                                      <p:cBhvr>
                                        <p:cTn id="97" dur="1" fill="hold">
                                          <p:stCondLst>
                                            <p:cond delay="0"/>
                                          </p:stCondLst>
                                        </p:cTn>
                                        <p:tgtEl>
                                          <p:spTgt spid="114"/>
                                        </p:tgtEl>
                                        <p:attrNameLst>
                                          <p:attrName>style.visibility</p:attrName>
                                        </p:attrNameLst>
                                      </p:cBhvr>
                                      <p:to>
                                        <p:strVal val="visible"/>
                                      </p:to>
                                    </p:set>
                                    <p:animEffect transition="in" filter="fade">
                                      <p:cBhvr>
                                        <p:cTn id="98" dur="250"/>
                                        <p:tgtEl>
                                          <p:spTgt spid="114"/>
                                        </p:tgtEl>
                                      </p:cBhvr>
                                    </p:animEffect>
                                  </p:childTnLst>
                                </p:cTn>
                              </p:par>
                            </p:childTnLst>
                          </p:cTn>
                        </p:par>
                        <p:par>
                          <p:cTn id="99" fill="hold">
                            <p:stCondLst>
                              <p:cond delay="2500"/>
                            </p:stCondLst>
                            <p:childTnLst>
                              <p:par>
                                <p:cTn id="100" presetID="22" presetClass="entr" presetSubtype="4" fill="hold" grpId="0" nodeType="afterEffect">
                                  <p:stCondLst>
                                    <p:cond delay="0"/>
                                  </p:stCondLst>
                                  <p:childTnLst>
                                    <p:set>
                                      <p:cBhvr>
                                        <p:cTn id="101" dur="1" fill="hold">
                                          <p:stCondLst>
                                            <p:cond delay="0"/>
                                          </p:stCondLst>
                                        </p:cTn>
                                        <p:tgtEl>
                                          <p:spTgt spid="80">
                                            <p:graphicEl>
                                              <a:chart seriesIdx="0" categoryIdx="2" bldStep="ptInSeries"/>
                                            </p:graphicEl>
                                          </p:spTgt>
                                        </p:tgtEl>
                                        <p:attrNameLst>
                                          <p:attrName>style.visibility</p:attrName>
                                        </p:attrNameLst>
                                      </p:cBhvr>
                                      <p:to>
                                        <p:strVal val="visible"/>
                                      </p:to>
                                    </p:set>
                                    <p:animEffect transition="in" filter="wipe(down)">
                                      <p:cBhvr>
                                        <p:cTn id="102" dur="250"/>
                                        <p:tgtEl>
                                          <p:spTgt spid="80">
                                            <p:graphicEl>
                                              <a:chart seriesIdx="0" categoryIdx="2" bldStep="ptInSeries"/>
                                            </p:graphicEl>
                                          </p:spTgt>
                                        </p:tgtEl>
                                      </p:cBhvr>
                                    </p:animEffect>
                                  </p:childTnLst>
                                </p:cTn>
                              </p:par>
                            </p:childTnLst>
                          </p:cTn>
                        </p:par>
                        <p:par>
                          <p:cTn id="103" fill="hold">
                            <p:stCondLst>
                              <p:cond delay="2750"/>
                            </p:stCondLst>
                            <p:childTnLst>
                              <p:par>
                                <p:cTn id="104" presetID="22" presetClass="entr" presetSubtype="4" fill="hold" grpId="0" nodeType="afterEffect">
                                  <p:stCondLst>
                                    <p:cond delay="0"/>
                                  </p:stCondLst>
                                  <p:childTnLst>
                                    <p:set>
                                      <p:cBhvr>
                                        <p:cTn id="105" dur="1" fill="hold">
                                          <p:stCondLst>
                                            <p:cond delay="0"/>
                                          </p:stCondLst>
                                        </p:cTn>
                                        <p:tgtEl>
                                          <p:spTgt spid="80">
                                            <p:graphicEl>
                                              <a:chart seriesIdx="0" categoryIdx="3" bldStep="ptInSeries"/>
                                            </p:graphicEl>
                                          </p:spTgt>
                                        </p:tgtEl>
                                        <p:attrNameLst>
                                          <p:attrName>style.visibility</p:attrName>
                                        </p:attrNameLst>
                                      </p:cBhvr>
                                      <p:to>
                                        <p:strVal val="visible"/>
                                      </p:to>
                                    </p:set>
                                    <p:animEffect transition="in" filter="wipe(down)">
                                      <p:cBhvr>
                                        <p:cTn id="106" dur="250"/>
                                        <p:tgtEl>
                                          <p:spTgt spid="80">
                                            <p:graphicEl>
                                              <a:chart seriesIdx="0" categoryIdx="3" bldStep="ptInSeries"/>
                                            </p:graphic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grpId="0" nodeType="clickEffect">
                                  <p:stCondLst>
                                    <p:cond delay="0"/>
                                  </p:stCondLst>
                                  <p:childTnLst>
                                    <p:set>
                                      <p:cBhvr>
                                        <p:cTn id="110" dur="1" fill="hold">
                                          <p:stCondLst>
                                            <p:cond delay="0"/>
                                          </p:stCondLst>
                                        </p:cTn>
                                        <p:tgtEl>
                                          <p:spTgt spid="80">
                                            <p:graphicEl>
                                              <a:chart seriesIdx="0" categoryIdx="4" bldStep="ptInSeries"/>
                                            </p:graphicEl>
                                          </p:spTgt>
                                        </p:tgtEl>
                                        <p:attrNameLst>
                                          <p:attrName>style.visibility</p:attrName>
                                        </p:attrNameLst>
                                      </p:cBhvr>
                                      <p:to>
                                        <p:strVal val="visible"/>
                                      </p:to>
                                    </p:set>
                                    <p:animEffect transition="in" filter="wipe(down)">
                                      <p:cBhvr>
                                        <p:cTn id="111" dur="250"/>
                                        <p:tgtEl>
                                          <p:spTgt spid="80">
                                            <p:graphicEl>
                                              <a:chart seriesIdx="0" categoryIdx="4" bldStep="ptInSeries"/>
                                            </p:graphicEl>
                                          </p:spTgt>
                                        </p:tgtEl>
                                      </p:cBhvr>
                                    </p:animEffect>
                                  </p:childTnLst>
                                </p:cTn>
                              </p:par>
                            </p:childTnLst>
                          </p:cTn>
                        </p:par>
                        <p:par>
                          <p:cTn id="112" fill="hold">
                            <p:stCondLst>
                              <p:cond delay="250"/>
                            </p:stCondLst>
                            <p:childTnLst>
                              <p:par>
                                <p:cTn id="113" presetID="22" presetClass="entr" presetSubtype="4" fill="hold" grpId="0" nodeType="afterEffect">
                                  <p:stCondLst>
                                    <p:cond delay="0"/>
                                  </p:stCondLst>
                                  <p:childTnLst>
                                    <p:set>
                                      <p:cBhvr>
                                        <p:cTn id="114" dur="1" fill="hold">
                                          <p:stCondLst>
                                            <p:cond delay="0"/>
                                          </p:stCondLst>
                                        </p:cTn>
                                        <p:tgtEl>
                                          <p:spTgt spid="80">
                                            <p:graphicEl>
                                              <a:chart seriesIdx="0" categoryIdx="5" bldStep="ptInSeries"/>
                                            </p:graphicEl>
                                          </p:spTgt>
                                        </p:tgtEl>
                                        <p:attrNameLst>
                                          <p:attrName>style.visibility</p:attrName>
                                        </p:attrNameLst>
                                      </p:cBhvr>
                                      <p:to>
                                        <p:strVal val="visible"/>
                                      </p:to>
                                    </p:set>
                                    <p:animEffect transition="in" filter="wipe(down)">
                                      <p:cBhvr>
                                        <p:cTn id="115" dur="250"/>
                                        <p:tgtEl>
                                          <p:spTgt spid="80">
                                            <p:graphicEl>
                                              <a:chart seriesIdx="0" categoryIdx="5" bldStep="ptInSeries"/>
                                            </p:graphicEl>
                                          </p:spTgt>
                                        </p:tgtEl>
                                      </p:cBhvr>
                                    </p:animEffect>
                                  </p:childTnLst>
                                </p:cTn>
                              </p:par>
                            </p:childTnLst>
                          </p:cTn>
                        </p:par>
                        <p:par>
                          <p:cTn id="116" fill="hold">
                            <p:stCondLst>
                              <p:cond delay="500"/>
                            </p:stCondLst>
                            <p:childTnLst>
                              <p:par>
                                <p:cTn id="117" presetID="22" presetClass="entr" presetSubtype="4" fill="hold" grpId="0" nodeType="afterEffect">
                                  <p:stCondLst>
                                    <p:cond delay="0"/>
                                  </p:stCondLst>
                                  <p:childTnLst>
                                    <p:set>
                                      <p:cBhvr>
                                        <p:cTn id="118" dur="1" fill="hold">
                                          <p:stCondLst>
                                            <p:cond delay="0"/>
                                          </p:stCondLst>
                                        </p:cTn>
                                        <p:tgtEl>
                                          <p:spTgt spid="80">
                                            <p:graphicEl>
                                              <a:chart seriesIdx="0" categoryIdx="6" bldStep="ptInSeries"/>
                                            </p:graphicEl>
                                          </p:spTgt>
                                        </p:tgtEl>
                                        <p:attrNameLst>
                                          <p:attrName>style.visibility</p:attrName>
                                        </p:attrNameLst>
                                      </p:cBhvr>
                                      <p:to>
                                        <p:strVal val="visible"/>
                                      </p:to>
                                    </p:set>
                                    <p:animEffect transition="in" filter="wipe(down)">
                                      <p:cBhvr>
                                        <p:cTn id="119" dur="250"/>
                                        <p:tgtEl>
                                          <p:spTgt spid="80">
                                            <p:graphicEl>
                                              <a:chart seriesIdx="0" categoryIdx="6" bldStep="ptInSeries"/>
                                            </p:graphicEl>
                                          </p:spTgt>
                                        </p:tgtEl>
                                      </p:cBhvr>
                                    </p:animEffect>
                                  </p:childTnLst>
                                </p:cTn>
                              </p:par>
                            </p:childTnLst>
                          </p:cTn>
                        </p:par>
                        <p:par>
                          <p:cTn id="120" fill="hold">
                            <p:stCondLst>
                              <p:cond delay="750"/>
                            </p:stCondLst>
                            <p:childTnLst>
                              <p:par>
                                <p:cTn id="121" presetID="22" presetClass="entr" presetSubtype="4" fill="hold" grpId="0" nodeType="afterEffect">
                                  <p:stCondLst>
                                    <p:cond delay="0"/>
                                  </p:stCondLst>
                                  <p:childTnLst>
                                    <p:set>
                                      <p:cBhvr>
                                        <p:cTn id="122" dur="1" fill="hold">
                                          <p:stCondLst>
                                            <p:cond delay="0"/>
                                          </p:stCondLst>
                                        </p:cTn>
                                        <p:tgtEl>
                                          <p:spTgt spid="80">
                                            <p:graphicEl>
                                              <a:chart seriesIdx="0" categoryIdx="7" bldStep="ptInSeries"/>
                                            </p:graphicEl>
                                          </p:spTgt>
                                        </p:tgtEl>
                                        <p:attrNameLst>
                                          <p:attrName>style.visibility</p:attrName>
                                        </p:attrNameLst>
                                      </p:cBhvr>
                                      <p:to>
                                        <p:strVal val="visible"/>
                                      </p:to>
                                    </p:set>
                                    <p:animEffect transition="in" filter="wipe(down)">
                                      <p:cBhvr>
                                        <p:cTn id="123" dur="250"/>
                                        <p:tgtEl>
                                          <p:spTgt spid="80">
                                            <p:graphicEl>
                                              <a:chart seriesIdx="0" categoryIdx="7" bldStep="ptInSeries"/>
                                            </p:graphicEl>
                                          </p:spTgt>
                                        </p:tgtEl>
                                      </p:cBhvr>
                                    </p:animEffect>
                                  </p:childTnLst>
                                </p:cTn>
                              </p:par>
                            </p:childTnLst>
                          </p:cTn>
                        </p:par>
                        <p:par>
                          <p:cTn id="124" fill="hold">
                            <p:stCondLst>
                              <p:cond delay="1000"/>
                            </p:stCondLst>
                            <p:childTnLst>
                              <p:par>
                                <p:cTn id="125" presetID="22" presetClass="entr" presetSubtype="4" fill="hold" grpId="0" nodeType="afterEffect">
                                  <p:stCondLst>
                                    <p:cond delay="0"/>
                                  </p:stCondLst>
                                  <p:childTnLst>
                                    <p:set>
                                      <p:cBhvr>
                                        <p:cTn id="126" dur="1" fill="hold">
                                          <p:stCondLst>
                                            <p:cond delay="0"/>
                                          </p:stCondLst>
                                        </p:cTn>
                                        <p:tgtEl>
                                          <p:spTgt spid="80">
                                            <p:graphicEl>
                                              <a:chart seriesIdx="0" categoryIdx="8" bldStep="ptInSeries"/>
                                            </p:graphicEl>
                                          </p:spTgt>
                                        </p:tgtEl>
                                        <p:attrNameLst>
                                          <p:attrName>style.visibility</p:attrName>
                                        </p:attrNameLst>
                                      </p:cBhvr>
                                      <p:to>
                                        <p:strVal val="visible"/>
                                      </p:to>
                                    </p:set>
                                    <p:animEffect transition="in" filter="wipe(down)">
                                      <p:cBhvr>
                                        <p:cTn id="127" dur="250"/>
                                        <p:tgtEl>
                                          <p:spTgt spid="80">
                                            <p:graphicEl>
                                              <a:chart seriesIdx="0" categoryIdx="8" bldStep="ptInSeries"/>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nodeType="click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wipe(down)">
                                      <p:cBhvr>
                                        <p:cTn id="132" dur="250"/>
                                        <p:tgtEl>
                                          <p:spTgt spid="54"/>
                                        </p:tgtEl>
                                      </p:cBhvr>
                                    </p:animEffect>
                                  </p:childTnLst>
                                </p:cTn>
                              </p:par>
                            </p:childTnLst>
                          </p:cTn>
                        </p:par>
                        <p:par>
                          <p:cTn id="133" fill="hold">
                            <p:stCondLst>
                              <p:cond delay="250"/>
                            </p:stCondLst>
                            <p:childTnLst>
                              <p:par>
                                <p:cTn id="134" presetID="22" presetClass="entr" presetSubtype="8" fill="hold" nodeType="afterEffect">
                                  <p:stCondLst>
                                    <p:cond delay="0"/>
                                  </p:stCondLst>
                                  <p:childTnLst>
                                    <p:set>
                                      <p:cBhvr>
                                        <p:cTn id="135" dur="1" fill="hold">
                                          <p:stCondLst>
                                            <p:cond delay="0"/>
                                          </p:stCondLst>
                                        </p:cTn>
                                        <p:tgtEl>
                                          <p:spTgt spid="118"/>
                                        </p:tgtEl>
                                        <p:attrNameLst>
                                          <p:attrName>style.visibility</p:attrName>
                                        </p:attrNameLst>
                                      </p:cBhvr>
                                      <p:to>
                                        <p:strVal val="visible"/>
                                      </p:to>
                                    </p:set>
                                    <p:animEffect transition="in" filter="wipe(left)">
                                      <p:cBhvr>
                                        <p:cTn id="136"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78" grpId="0" animBg="1"/>
      <p:bldP spid="75" grpId="0" animBg="1"/>
      <p:bldP spid="73" grpId="0" animBg="1"/>
      <p:bldP spid="92" grpId="0" animBg="1"/>
      <p:bldP spid="93" grpId="0" animBg="1"/>
      <p:bldP spid="74" grpId="0" animBg="1"/>
      <p:bldGraphic spid="80" grpId="0" uiExpand="1">
        <p:bldSub>
          <a:bldChart bld="seriesEl"/>
        </p:bldSub>
      </p:bldGraphic>
      <p:bldP spid="109" grpId="0" animBg="1"/>
      <p:bldP spid="1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Choosing the Correct </a:t>
            </a:r>
            <a:r>
              <a:rPr lang="en-US" i="1" dirty="0">
                <a:solidFill>
                  <a:srgbClr val="3DBF9C"/>
                </a:solidFill>
                <a:latin typeface="Lato Light" panose="020F0302020204030203" pitchFamily="34" charset="0"/>
              </a:rPr>
              <a:t>Bin Size</a:t>
            </a:r>
            <a:endParaRPr lang="en-US" dirty="0">
              <a:solidFill>
                <a:schemeClr val="tx1"/>
              </a:solidFill>
            </a:endParaRPr>
          </a:p>
        </p:txBody>
      </p:sp>
      <p:sp>
        <p:nvSpPr>
          <p:cNvPr id="3" name="Text Placeholder 2"/>
          <p:cNvSpPr>
            <a:spLocks noGrp="1"/>
          </p:cNvSpPr>
          <p:nvPr>
            <p:ph type="body" sz="quarter" idx="11"/>
          </p:nvPr>
        </p:nvSpPr>
        <p:spPr/>
        <p:txBody>
          <a:bodyPr/>
          <a:lstStyle/>
          <a:p>
            <a:r>
              <a:rPr lang="en-US" b="1" dirty="0"/>
              <a:t>Feature Data Vs. Histogram</a:t>
            </a:r>
          </a:p>
        </p:txBody>
      </p:sp>
      <p:sp>
        <p:nvSpPr>
          <p:cNvPr id="9" name="Rectangle 8"/>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0" name="Straight Connector 9"/>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TextBox 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- 10</a:t>
            </a:r>
          </a:p>
        </p:txBody>
      </p:sp>
      <p:grpSp>
        <p:nvGrpSpPr>
          <p:cNvPr id="21" name="Group 20"/>
          <p:cNvGrpSpPr/>
          <p:nvPr/>
        </p:nvGrpSpPr>
        <p:grpSpPr>
          <a:xfrm>
            <a:off x="455000" y="491056"/>
            <a:ext cx="45720" cy="675713"/>
            <a:chOff x="455000" y="491056"/>
            <a:chExt cx="45720" cy="675713"/>
          </a:xfrm>
        </p:grpSpPr>
        <p:sp>
          <p:nvSpPr>
            <p:cNvPr id="22" name="Rectangle 21"/>
            <p:cNvSpPr/>
            <p:nvPr userDrawn="1"/>
          </p:nvSpPr>
          <p:spPr>
            <a:xfrm>
              <a:off x="455001" y="491056"/>
              <a:ext cx="45719" cy="675713"/>
            </a:xfrm>
            <a:prstGeom prst="rect">
              <a:avLst/>
            </a:prstGeom>
            <a:solidFill>
              <a:srgbClr val="3DBF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48" name="Group 47"/>
          <p:cNvGrpSpPr/>
          <p:nvPr/>
        </p:nvGrpSpPr>
        <p:grpSpPr>
          <a:xfrm>
            <a:off x="736104" y="5294070"/>
            <a:ext cx="5172328" cy="834232"/>
            <a:chOff x="6479875" y="2933195"/>
            <a:chExt cx="2451732" cy="1503021"/>
          </a:xfrm>
        </p:grpSpPr>
        <p:sp>
          <p:nvSpPr>
            <p:cNvPr id="49" name="TextBox 48"/>
            <p:cNvSpPr txBox="1"/>
            <p:nvPr/>
          </p:nvSpPr>
          <p:spPr>
            <a:xfrm>
              <a:off x="6545750" y="2939023"/>
              <a:ext cx="2317873" cy="1497193"/>
            </a:xfrm>
            <a:prstGeom prst="rect">
              <a:avLst/>
            </a:prstGeom>
            <a:noFill/>
          </p:spPr>
          <p:txBody>
            <a:bodyPr wrap="square" rtlCol="0">
              <a:spAutoFit/>
            </a:bodyPr>
            <a:lstStyle/>
            <a:p>
              <a:pPr algn="just"/>
              <a:r>
                <a:rPr lang="en-US" sz="1600" dirty="0">
                  <a:latin typeface="Lato Light" panose="020F0302020204030203"/>
                </a:rPr>
                <a:t>Using </a:t>
              </a:r>
              <a:r>
                <a:rPr lang="en-US" sz="1600" b="1" dirty="0">
                  <a:latin typeface="Lato Light" panose="020F0302020204030203"/>
                </a:rPr>
                <a:t>narrower bins </a:t>
              </a:r>
              <a:r>
                <a:rPr lang="en-US" sz="1600" dirty="0">
                  <a:latin typeface="Lato Light" panose="020F0302020204030203"/>
                </a:rPr>
                <a:t>will show too much individual data and does not allow the </a:t>
              </a:r>
              <a:r>
                <a:rPr lang="en-US" sz="1600" b="1" dirty="0">
                  <a:latin typeface="Lato Light" panose="020F0302020204030203"/>
                </a:rPr>
                <a:t>underlying pattern </a:t>
              </a:r>
              <a:r>
                <a:rPr lang="en-US" sz="1600" dirty="0">
                  <a:latin typeface="Lato Light" panose="020F0302020204030203"/>
                </a:rPr>
                <a:t>(frequency distribution) of the data to be easily seen. </a:t>
              </a:r>
              <a:endParaRPr lang="ru-RU" sz="1600" dirty="0">
                <a:latin typeface="Lato Medium"/>
              </a:endParaRPr>
            </a:p>
          </p:txBody>
        </p:sp>
        <p:sp>
          <p:nvSpPr>
            <p:cNvPr id="50" name="Rounded Rectangle 49"/>
            <p:cNvSpPr/>
            <p:nvPr/>
          </p:nvSpPr>
          <p:spPr>
            <a:xfrm>
              <a:off x="6479875" y="2933195"/>
              <a:ext cx="2451732" cy="1483410"/>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pic>
        <p:nvPicPr>
          <p:cNvPr id="4" name="Picture 3"/>
          <p:cNvPicPr>
            <a:picLocks noChangeAspect="1"/>
          </p:cNvPicPr>
          <p:nvPr/>
        </p:nvPicPr>
        <p:blipFill rotWithShape="1">
          <a:blip r:embed="rId3">
            <a:clrChange>
              <a:clrFrom>
                <a:srgbClr val="FFFFFF"/>
              </a:clrFrom>
              <a:clrTo>
                <a:srgbClr val="FFFFFF">
                  <a:alpha val="0"/>
                </a:srgbClr>
              </a:clrTo>
            </a:clrChange>
            <a:grayscl/>
          </a:blip>
          <a:srcRect r="49331"/>
          <a:stretch/>
        </p:blipFill>
        <p:spPr>
          <a:xfrm>
            <a:off x="1711703" y="1599356"/>
            <a:ext cx="3216680" cy="3367500"/>
          </a:xfrm>
          <a:prstGeom prst="rect">
            <a:avLst/>
          </a:prstGeom>
        </p:spPr>
      </p:pic>
      <p:grpSp>
        <p:nvGrpSpPr>
          <p:cNvPr id="27" name="Group 26"/>
          <p:cNvGrpSpPr/>
          <p:nvPr/>
        </p:nvGrpSpPr>
        <p:grpSpPr>
          <a:xfrm>
            <a:off x="6288628" y="5294067"/>
            <a:ext cx="5172328" cy="823347"/>
            <a:chOff x="6479875" y="2933195"/>
            <a:chExt cx="2451732" cy="1483410"/>
          </a:xfrm>
        </p:grpSpPr>
        <p:sp>
          <p:nvSpPr>
            <p:cNvPr id="28" name="TextBox 27"/>
            <p:cNvSpPr txBox="1"/>
            <p:nvPr/>
          </p:nvSpPr>
          <p:spPr>
            <a:xfrm>
              <a:off x="6545750" y="3144949"/>
              <a:ext cx="2317873" cy="1053579"/>
            </a:xfrm>
            <a:prstGeom prst="rect">
              <a:avLst/>
            </a:prstGeom>
            <a:noFill/>
          </p:spPr>
          <p:txBody>
            <a:bodyPr wrap="square" rtlCol="0">
              <a:spAutoFit/>
            </a:bodyPr>
            <a:lstStyle/>
            <a:p>
              <a:pPr algn="just"/>
              <a:r>
                <a:rPr lang="en-US" sz="1600" dirty="0">
                  <a:latin typeface="Lato Light" panose="020F0302020204030203"/>
                </a:rPr>
                <a:t>At the other hand, if we use </a:t>
              </a:r>
              <a:r>
                <a:rPr lang="en-US" sz="1600" b="1" dirty="0">
                  <a:latin typeface="Lato Light" panose="020F0302020204030203"/>
                </a:rPr>
                <a:t>wider bins</a:t>
              </a:r>
              <a:r>
                <a:rPr lang="en-US" sz="1600" dirty="0">
                  <a:latin typeface="Lato Light" panose="020F0302020204030203"/>
                </a:rPr>
                <a:t> we will unable to find the </a:t>
              </a:r>
              <a:r>
                <a:rPr lang="en-US" sz="1600" b="1" dirty="0">
                  <a:latin typeface="Lato Light" panose="020F0302020204030203"/>
                </a:rPr>
                <a:t>underlying trend </a:t>
              </a:r>
              <a:r>
                <a:rPr lang="en-US" sz="1600" dirty="0">
                  <a:latin typeface="Lato Light" panose="020F0302020204030203"/>
                </a:rPr>
                <a:t>in the data.</a:t>
              </a:r>
              <a:endParaRPr lang="ru-RU" sz="1600" dirty="0">
                <a:latin typeface="Lato Medium"/>
              </a:endParaRPr>
            </a:p>
          </p:txBody>
        </p:sp>
        <p:sp>
          <p:nvSpPr>
            <p:cNvPr id="29" name="Rounded Rectangle 28"/>
            <p:cNvSpPr/>
            <p:nvPr/>
          </p:nvSpPr>
          <p:spPr>
            <a:xfrm>
              <a:off x="6479875" y="2933195"/>
              <a:ext cx="2451732" cy="1483410"/>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pic>
        <p:nvPicPr>
          <p:cNvPr id="30" name="Picture 29"/>
          <p:cNvPicPr>
            <a:picLocks noChangeAspect="1"/>
          </p:cNvPicPr>
          <p:nvPr/>
        </p:nvPicPr>
        <p:blipFill rotWithShape="1">
          <a:blip r:embed="rId3">
            <a:clrChange>
              <a:clrFrom>
                <a:srgbClr val="FFFFFF"/>
              </a:clrFrom>
              <a:clrTo>
                <a:srgbClr val="FFFFFF">
                  <a:alpha val="0"/>
                </a:srgbClr>
              </a:clrTo>
            </a:clrChange>
            <a:grayscl/>
          </a:blip>
          <a:srcRect l="50428"/>
          <a:stretch/>
        </p:blipFill>
        <p:spPr>
          <a:xfrm>
            <a:off x="7299065" y="1531053"/>
            <a:ext cx="3147004" cy="3367500"/>
          </a:xfrm>
          <a:prstGeom prst="rect">
            <a:avLst/>
          </a:prstGeom>
        </p:spPr>
      </p:pic>
    </p:spTree>
    <p:extLst>
      <p:ext uri="{BB962C8B-B14F-4D97-AF65-F5344CB8AC3E}">
        <p14:creationId xmlns:p14="http://schemas.microsoft.com/office/powerpoint/2010/main" val="929783354"/>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8"/>
          <p:cNvSpPr/>
          <p:nvPr/>
        </p:nvSpPr>
        <p:spPr>
          <a:xfrm rot="5400000">
            <a:off x="11075158" y="1856683"/>
            <a:ext cx="335649" cy="32895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8" name="Rectangle 77"/>
          <p:cNvSpPr/>
          <p:nvPr/>
        </p:nvSpPr>
        <p:spPr>
          <a:xfrm rot="5400000">
            <a:off x="11425640" y="2787686"/>
            <a:ext cx="335649" cy="37200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5" name="Rectangle 74"/>
          <p:cNvSpPr/>
          <p:nvPr/>
        </p:nvSpPr>
        <p:spPr>
          <a:xfrm rot="5400000">
            <a:off x="11425640" y="1500103"/>
            <a:ext cx="335649" cy="37200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Rectangle 72"/>
          <p:cNvSpPr/>
          <p:nvPr/>
        </p:nvSpPr>
        <p:spPr>
          <a:xfrm rot="5400000">
            <a:off x="11075158" y="582634"/>
            <a:ext cx="335649" cy="32895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2" name="Rectangle 91"/>
          <p:cNvSpPr/>
          <p:nvPr/>
        </p:nvSpPr>
        <p:spPr>
          <a:xfrm rot="5400000">
            <a:off x="11075158" y="3145282"/>
            <a:ext cx="335649" cy="328958"/>
          </a:xfrm>
          <a:prstGeom prst="rect">
            <a:avLst/>
          </a:prstGeom>
          <a:solidFill>
            <a:srgbClr val="A12F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3" name="Rectangle 92"/>
          <p:cNvSpPr/>
          <p:nvPr/>
        </p:nvSpPr>
        <p:spPr>
          <a:xfrm rot="5400000">
            <a:off x="11425640" y="4076285"/>
            <a:ext cx="335649" cy="372006"/>
          </a:xfrm>
          <a:prstGeom prst="rect">
            <a:avLst/>
          </a:prstGeom>
          <a:solidFill>
            <a:srgbClr val="A12F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 name="Group 1"/>
          <p:cNvGrpSpPr/>
          <p:nvPr/>
        </p:nvGrpSpPr>
        <p:grpSpPr>
          <a:xfrm rot="5400000">
            <a:off x="8113733" y="1785482"/>
            <a:ext cx="6575818" cy="563313"/>
            <a:chOff x="94339" y="3043641"/>
            <a:chExt cx="11107008" cy="1088571"/>
          </a:xfrm>
        </p:grpSpPr>
        <p:cxnSp>
          <p:nvCxnSpPr>
            <p:cNvPr id="17" name="Straight Connector 16"/>
            <p:cNvCxnSpPr>
              <a:endCxn id="21" idx="3"/>
            </p:cNvCxnSpPr>
            <p:nvPr/>
          </p:nvCxnSpPr>
          <p:spPr>
            <a:xfrm>
              <a:off x="94339" y="3587923"/>
              <a:ext cx="10366780" cy="5"/>
            </a:xfrm>
            <a:prstGeom prst="line">
              <a:avLst/>
            </a:prstGeom>
            <a:ln w="196850" cap="sq">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sp>
          <p:nvSpPr>
            <p:cNvPr id="21" name="Isosceles Triangle 20"/>
            <p:cNvSpPr/>
            <p:nvPr/>
          </p:nvSpPr>
          <p:spPr>
            <a:xfrm rot="5400000">
              <a:off x="10286947" y="3217813"/>
              <a:ext cx="1088571" cy="740228"/>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nvGrpSpPr>
          <p:cNvPr id="5" name="Group 4"/>
          <p:cNvGrpSpPr/>
          <p:nvPr/>
        </p:nvGrpSpPr>
        <p:grpSpPr>
          <a:xfrm rot="5400000">
            <a:off x="10792317" y="849628"/>
            <a:ext cx="1280099" cy="732893"/>
            <a:chOff x="3129250" y="2820417"/>
            <a:chExt cx="2162175" cy="1416274"/>
          </a:xfrm>
        </p:grpSpPr>
        <p:sp>
          <p:nvSpPr>
            <p:cNvPr id="67" name="Parallelogram 21"/>
            <p:cNvSpPr/>
            <p:nvPr/>
          </p:nvSpPr>
          <p:spPr>
            <a:xfrm>
              <a:off x="3129250" y="2846554"/>
              <a:ext cx="2162175" cy="1367634"/>
            </a:xfrm>
            <a:custGeom>
              <a:avLst/>
              <a:gdLst>
                <a:gd name="connsiteX0" fmla="*/ 0 w 1562100"/>
                <a:gd name="connsiteY0" fmla="*/ 1637166 h 1637166"/>
                <a:gd name="connsiteX1" fmla="*/ 436029 w 1562100"/>
                <a:gd name="connsiteY1" fmla="*/ 0 h 1637166"/>
                <a:gd name="connsiteX2" fmla="*/ 1562100 w 1562100"/>
                <a:gd name="connsiteY2" fmla="*/ 0 h 1637166"/>
                <a:gd name="connsiteX3" fmla="*/ 1126071 w 1562100"/>
                <a:gd name="connsiteY3" fmla="*/ 1637166 h 1637166"/>
                <a:gd name="connsiteX4" fmla="*/ 0 w 1562100"/>
                <a:gd name="connsiteY4" fmla="*/ 1637166 h 1637166"/>
                <a:gd name="connsiteX0" fmla="*/ 0 w 2162175"/>
                <a:gd name="connsiteY0" fmla="*/ 1637166 h 1637166"/>
                <a:gd name="connsiteX1" fmla="*/ 436029 w 2162175"/>
                <a:gd name="connsiteY1" fmla="*/ 0 h 1637166"/>
                <a:gd name="connsiteX2" fmla="*/ 2162175 w 2162175"/>
                <a:gd name="connsiteY2" fmla="*/ 0 h 1637166"/>
                <a:gd name="connsiteX3" fmla="*/ 1126071 w 2162175"/>
                <a:gd name="connsiteY3" fmla="*/ 1637166 h 1637166"/>
                <a:gd name="connsiteX4" fmla="*/ 0 w 2162175"/>
                <a:gd name="connsiteY4" fmla="*/ 1637166 h 1637166"/>
                <a:gd name="connsiteX0" fmla="*/ 0 w 2162175"/>
                <a:gd name="connsiteY0" fmla="*/ 1646691 h 1646691"/>
                <a:gd name="connsiteX1" fmla="*/ 988479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 name="connsiteX0" fmla="*/ 0 w 2162175"/>
                <a:gd name="connsiteY0" fmla="*/ 1646691 h 1646691"/>
                <a:gd name="connsiteX1" fmla="*/ 1012292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175" h="1646691">
                  <a:moveTo>
                    <a:pt x="0" y="1646691"/>
                  </a:moveTo>
                  <a:lnTo>
                    <a:pt x="1012292" y="0"/>
                  </a:lnTo>
                  <a:lnTo>
                    <a:pt x="2162175" y="9525"/>
                  </a:lnTo>
                  <a:lnTo>
                    <a:pt x="1126071" y="1646691"/>
                  </a:lnTo>
                  <a:lnTo>
                    <a:pt x="0" y="1646691"/>
                  </a:lnTo>
                  <a:close/>
                </a:path>
              </a:pathLst>
            </a:cu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Rectangle 29"/>
            <p:cNvSpPr/>
            <p:nvPr/>
          </p:nvSpPr>
          <p:spPr>
            <a:xfrm rot="18660512">
              <a:off x="3460440" y="3138662"/>
              <a:ext cx="1416274" cy="779784"/>
            </a:xfrm>
            <a:prstGeom prst="rect">
              <a:avLst/>
            </a:prstGeom>
          </p:spPr>
          <p:txBody>
            <a:bodyPr wrap="none">
              <a:spAutoFit/>
            </a:bodyPr>
            <a:lstStyle/>
            <a:p>
              <a:pPr algn="ctr" defTabSz="914294"/>
              <a:r>
                <a:rPr lang="en-US" sz="1200" dirty="0">
                  <a:solidFill>
                    <a:prstClr val="white"/>
                  </a:solidFill>
                  <a:latin typeface="FontAwesome" pitchFamily="2" charset="0"/>
                </a:rPr>
                <a:t>Feature </a:t>
              </a:r>
            </a:p>
            <a:p>
              <a:pPr algn="ctr" defTabSz="914294"/>
              <a:r>
                <a:rPr lang="en-US" sz="1200" dirty="0">
                  <a:solidFill>
                    <a:prstClr val="white"/>
                  </a:solidFill>
                  <a:latin typeface="FontAwesome" pitchFamily="2" charset="0"/>
                </a:rPr>
                <a:t>Data</a:t>
              </a:r>
              <a:endParaRPr lang="ru-RU" sz="1200" dirty="0">
                <a:solidFill>
                  <a:prstClr val="white"/>
                </a:solidFill>
              </a:endParaRPr>
            </a:p>
          </p:txBody>
        </p:sp>
      </p:grpSp>
      <p:grpSp>
        <p:nvGrpSpPr>
          <p:cNvPr id="8" name="Group 7"/>
          <p:cNvGrpSpPr/>
          <p:nvPr/>
        </p:nvGrpSpPr>
        <p:grpSpPr>
          <a:xfrm rot="5400000">
            <a:off x="10792316" y="2145576"/>
            <a:ext cx="1280099" cy="707723"/>
            <a:chOff x="5296937" y="2844740"/>
            <a:chExt cx="2162175" cy="1367634"/>
          </a:xfrm>
        </p:grpSpPr>
        <p:sp>
          <p:nvSpPr>
            <p:cNvPr id="69" name="Parallelogram 21"/>
            <p:cNvSpPr/>
            <p:nvPr/>
          </p:nvSpPr>
          <p:spPr>
            <a:xfrm>
              <a:off x="5296937" y="2844740"/>
              <a:ext cx="2162175" cy="1367634"/>
            </a:xfrm>
            <a:custGeom>
              <a:avLst/>
              <a:gdLst>
                <a:gd name="connsiteX0" fmla="*/ 0 w 1562100"/>
                <a:gd name="connsiteY0" fmla="*/ 1637166 h 1637166"/>
                <a:gd name="connsiteX1" fmla="*/ 436029 w 1562100"/>
                <a:gd name="connsiteY1" fmla="*/ 0 h 1637166"/>
                <a:gd name="connsiteX2" fmla="*/ 1562100 w 1562100"/>
                <a:gd name="connsiteY2" fmla="*/ 0 h 1637166"/>
                <a:gd name="connsiteX3" fmla="*/ 1126071 w 1562100"/>
                <a:gd name="connsiteY3" fmla="*/ 1637166 h 1637166"/>
                <a:gd name="connsiteX4" fmla="*/ 0 w 1562100"/>
                <a:gd name="connsiteY4" fmla="*/ 1637166 h 1637166"/>
                <a:gd name="connsiteX0" fmla="*/ 0 w 2162175"/>
                <a:gd name="connsiteY0" fmla="*/ 1637166 h 1637166"/>
                <a:gd name="connsiteX1" fmla="*/ 436029 w 2162175"/>
                <a:gd name="connsiteY1" fmla="*/ 0 h 1637166"/>
                <a:gd name="connsiteX2" fmla="*/ 2162175 w 2162175"/>
                <a:gd name="connsiteY2" fmla="*/ 0 h 1637166"/>
                <a:gd name="connsiteX3" fmla="*/ 1126071 w 2162175"/>
                <a:gd name="connsiteY3" fmla="*/ 1637166 h 1637166"/>
                <a:gd name="connsiteX4" fmla="*/ 0 w 2162175"/>
                <a:gd name="connsiteY4" fmla="*/ 1637166 h 1637166"/>
                <a:gd name="connsiteX0" fmla="*/ 0 w 2162175"/>
                <a:gd name="connsiteY0" fmla="*/ 1646691 h 1646691"/>
                <a:gd name="connsiteX1" fmla="*/ 988479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 name="connsiteX0" fmla="*/ 0 w 2162175"/>
                <a:gd name="connsiteY0" fmla="*/ 1646691 h 1646691"/>
                <a:gd name="connsiteX1" fmla="*/ 1012292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175" h="1646691">
                  <a:moveTo>
                    <a:pt x="0" y="1646691"/>
                  </a:moveTo>
                  <a:lnTo>
                    <a:pt x="1012292" y="0"/>
                  </a:lnTo>
                  <a:lnTo>
                    <a:pt x="2162175" y="9525"/>
                  </a:lnTo>
                  <a:lnTo>
                    <a:pt x="1126071" y="1646691"/>
                  </a:lnTo>
                  <a:lnTo>
                    <a:pt x="0" y="1646691"/>
                  </a:lnTo>
                  <a:close/>
                </a:path>
              </a:pathLst>
            </a:custGeom>
            <a:solidFill>
              <a:srgbClr val="A1B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TextBox 94"/>
            <p:cNvSpPr txBox="1">
              <a:spLocks noChangeAspect="1"/>
            </p:cNvSpPr>
            <p:nvPr/>
          </p:nvSpPr>
          <p:spPr>
            <a:xfrm rot="18618461">
              <a:off x="5975068" y="3118552"/>
              <a:ext cx="799117" cy="790425"/>
            </a:xfrm>
            <a:prstGeom prst="rect">
              <a:avLst/>
            </a:prstGeom>
            <a:noFill/>
          </p:spPr>
          <p:txBody>
            <a:bodyPr wrap="none" lIns="0" tIns="0" rIns="0" bIns="0" rtlCol="0" anchor="ctr" anchorCtr="0">
              <a:noAutofit/>
            </a:bodyPr>
            <a:lstStyle/>
            <a:p>
              <a:pPr algn="ctr" defTabSz="914294"/>
              <a:r>
                <a:rPr lang="en-US" sz="1200" dirty="0">
                  <a:solidFill>
                    <a:prstClr val="white"/>
                  </a:solidFill>
                  <a:latin typeface="FontAwesome" pitchFamily="2" charset="0"/>
                </a:rPr>
                <a:t>Summarize</a:t>
              </a:r>
              <a:endParaRPr lang="ru-RU" sz="1200" dirty="0">
                <a:solidFill>
                  <a:prstClr val="white"/>
                </a:solidFill>
              </a:endParaRPr>
            </a:p>
          </p:txBody>
        </p:sp>
      </p:grpSp>
      <p:grpSp>
        <p:nvGrpSpPr>
          <p:cNvPr id="9" name="Group 8"/>
          <p:cNvGrpSpPr/>
          <p:nvPr/>
        </p:nvGrpSpPr>
        <p:grpSpPr>
          <a:xfrm rot="5400000">
            <a:off x="10793496" y="3332137"/>
            <a:ext cx="1280099" cy="894797"/>
            <a:chOff x="7459112" y="2661706"/>
            <a:chExt cx="2162175" cy="1729144"/>
          </a:xfrm>
        </p:grpSpPr>
        <p:sp>
          <p:nvSpPr>
            <p:cNvPr id="70" name="Parallelogram 21"/>
            <p:cNvSpPr/>
            <p:nvPr/>
          </p:nvSpPr>
          <p:spPr>
            <a:xfrm>
              <a:off x="7459112" y="2844740"/>
              <a:ext cx="2162175" cy="1367634"/>
            </a:xfrm>
            <a:custGeom>
              <a:avLst/>
              <a:gdLst>
                <a:gd name="connsiteX0" fmla="*/ 0 w 1562100"/>
                <a:gd name="connsiteY0" fmla="*/ 1637166 h 1637166"/>
                <a:gd name="connsiteX1" fmla="*/ 436029 w 1562100"/>
                <a:gd name="connsiteY1" fmla="*/ 0 h 1637166"/>
                <a:gd name="connsiteX2" fmla="*/ 1562100 w 1562100"/>
                <a:gd name="connsiteY2" fmla="*/ 0 h 1637166"/>
                <a:gd name="connsiteX3" fmla="*/ 1126071 w 1562100"/>
                <a:gd name="connsiteY3" fmla="*/ 1637166 h 1637166"/>
                <a:gd name="connsiteX4" fmla="*/ 0 w 1562100"/>
                <a:gd name="connsiteY4" fmla="*/ 1637166 h 1637166"/>
                <a:gd name="connsiteX0" fmla="*/ 0 w 2162175"/>
                <a:gd name="connsiteY0" fmla="*/ 1637166 h 1637166"/>
                <a:gd name="connsiteX1" fmla="*/ 436029 w 2162175"/>
                <a:gd name="connsiteY1" fmla="*/ 0 h 1637166"/>
                <a:gd name="connsiteX2" fmla="*/ 2162175 w 2162175"/>
                <a:gd name="connsiteY2" fmla="*/ 0 h 1637166"/>
                <a:gd name="connsiteX3" fmla="*/ 1126071 w 2162175"/>
                <a:gd name="connsiteY3" fmla="*/ 1637166 h 1637166"/>
                <a:gd name="connsiteX4" fmla="*/ 0 w 2162175"/>
                <a:gd name="connsiteY4" fmla="*/ 1637166 h 1637166"/>
                <a:gd name="connsiteX0" fmla="*/ 0 w 2162175"/>
                <a:gd name="connsiteY0" fmla="*/ 1646691 h 1646691"/>
                <a:gd name="connsiteX1" fmla="*/ 988479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 name="connsiteX0" fmla="*/ 0 w 2162175"/>
                <a:gd name="connsiteY0" fmla="*/ 1646691 h 1646691"/>
                <a:gd name="connsiteX1" fmla="*/ 1012292 w 2162175"/>
                <a:gd name="connsiteY1" fmla="*/ 0 h 1646691"/>
                <a:gd name="connsiteX2" fmla="*/ 2162175 w 2162175"/>
                <a:gd name="connsiteY2" fmla="*/ 9525 h 1646691"/>
                <a:gd name="connsiteX3" fmla="*/ 1126071 w 2162175"/>
                <a:gd name="connsiteY3" fmla="*/ 1646691 h 1646691"/>
                <a:gd name="connsiteX4" fmla="*/ 0 w 2162175"/>
                <a:gd name="connsiteY4" fmla="*/ 1646691 h 164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175" h="1646691">
                  <a:moveTo>
                    <a:pt x="0" y="1646691"/>
                  </a:moveTo>
                  <a:lnTo>
                    <a:pt x="1012292" y="0"/>
                  </a:lnTo>
                  <a:lnTo>
                    <a:pt x="2162175" y="9525"/>
                  </a:lnTo>
                  <a:lnTo>
                    <a:pt x="1126071" y="1646691"/>
                  </a:lnTo>
                  <a:lnTo>
                    <a:pt x="0" y="1646691"/>
                  </a:lnTo>
                  <a:close/>
                </a:path>
              </a:pathLst>
            </a:cu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rot="18732951">
              <a:off x="7654516" y="3292343"/>
              <a:ext cx="1729144" cy="467870"/>
            </a:xfrm>
            <a:prstGeom prst="rect">
              <a:avLst/>
            </a:prstGeom>
          </p:spPr>
          <p:txBody>
            <a:bodyPr wrap="none">
              <a:spAutoFit/>
            </a:bodyPr>
            <a:lstStyle/>
            <a:p>
              <a:pPr algn="ctr" defTabSz="914294"/>
              <a:r>
                <a:rPr lang="en-US" sz="1200" dirty="0">
                  <a:solidFill>
                    <a:prstClr val="white"/>
                  </a:solidFill>
                  <a:latin typeface="FontAwesome" pitchFamily="2" charset="0"/>
                </a:rPr>
                <a:t>Histogram</a:t>
              </a:r>
              <a:endParaRPr lang="ru-RU" sz="1200" dirty="0">
                <a:solidFill>
                  <a:prstClr val="white"/>
                </a:solidFill>
              </a:endParaRPr>
            </a:p>
          </p:txBody>
        </p:sp>
      </p:grpSp>
      <p:sp>
        <p:nvSpPr>
          <p:cNvPr id="32" name="Rectangle 31"/>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3" name="Straight Connector 32"/>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Rectangle 34"/>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Rectangle 35"/>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Rectangle 36"/>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Text Placeholder 5"/>
          <p:cNvSpPr>
            <a:spLocks noGrp="1"/>
          </p:cNvSpPr>
          <p:nvPr>
            <p:ph type="body" sz="quarter" idx="10"/>
          </p:nvPr>
        </p:nvSpPr>
        <p:spPr>
          <a:xfrm>
            <a:off x="507226" y="382630"/>
            <a:ext cx="11009271" cy="642938"/>
          </a:xfrm>
        </p:spPr>
        <p:txBody>
          <a:bodyPr/>
          <a:lstStyle/>
          <a:p>
            <a:r>
              <a:rPr lang="en-US" dirty="0"/>
              <a:t>Constructing </a:t>
            </a:r>
            <a:r>
              <a:rPr lang="en-US" i="1" dirty="0">
                <a:solidFill>
                  <a:srgbClr val="D43E01"/>
                </a:solidFill>
                <a:latin typeface="Lato Light" panose="020F0302020204030203" pitchFamily="34" charset="0"/>
              </a:rPr>
              <a:t>Histogram </a:t>
            </a:r>
            <a:r>
              <a:rPr lang="en-US" dirty="0">
                <a:solidFill>
                  <a:schemeClr val="tx1"/>
                </a:solidFill>
              </a:rPr>
              <a:t>(Probability Value)</a:t>
            </a:r>
          </a:p>
        </p:txBody>
      </p:sp>
      <p:sp>
        <p:nvSpPr>
          <p:cNvPr id="58" name="Text Placeholder 6"/>
          <p:cNvSpPr>
            <a:spLocks noGrp="1"/>
          </p:cNvSpPr>
          <p:nvPr>
            <p:ph type="body" sz="quarter" idx="11"/>
          </p:nvPr>
        </p:nvSpPr>
        <p:spPr>
          <a:xfrm>
            <a:off x="531940" y="942806"/>
            <a:ext cx="10984557" cy="305229"/>
          </a:xfrm>
        </p:spPr>
        <p:txBody>
          <a:bodyPr/>
          <a:lstStyle/>
          <a:p>
            <a:r>
              <a:rPr lang="en-US" b="1" dirty="0"/>
              <a:t>Feature Data Vs. Histogram</a:t>
            </a:r>
          </a:p>
        </p:txBody>
      </p:sp>
      <p:grpSp>
        <p:nvGrpSpPr>
          <p:cNvPr id="59" name="Group 58"/>
          <p:cNvGrpSpPr/>
          <p:nvPr/>
        </p:nvGrpSpPr>
        <p:grpSpPr>
          <a:xfrm>
            <a:off x="455000" y="491056"/>
            <a:ext cx="45720" cy="675713"/>
            <a:chOff x="455000" y="491056"/>
            <a:chExt cx="45720" cy="675713"/>
          </a:xfrm>
        </p:grpSpPr>
        <p:sp>
          <p:nvSpPr>
            <p:cNvPr id="60" name="Rectangle 59"/>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Rectangle 60"/>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aphicFrame>
        <p:nvGraphicFramePr>
          <p:cNvPr id="72" name="Table 71"/>
          <p:cNvGraphicFramePr>
            <a:graphicFrameLocks noGrp="1"/>
          </p:cNvGraphicFramePr>
          <p:nvPr>
            <p:extLst>
              <p:ext uri="{D42A27DB-BD31-4B8C-83A1-F6EECF244321}">
                <p14:modId xmlns:p14="http://schemas.microsoft.com/office/powerpoint/2010/main" val="854818468"/>
              </p:ext>
            </p:extLst>
          </p:nvPr>
        </p:nvGraphicFramePr>
        <p:xfrm>
          <a:off x="951050" y="1305165"/>
          <a:ext cx="1550582" cy="5338200"/>
        </p:xfrm>
        <a:graphic>
          <a:graphicData uri="http://schemas.openxmlformats.org/drawingml/2006/table">
            <a:tbl>
              <a:tblPr>
                <a:tableStyleId>{073A0DAA-6AF3-43AB-8588-CEC1D06C72B9}</a:tableStyleId>
              </a:tblPr>
              <a:tblGrid>
                <a:gridCol w="394216">
                  <a:extLst>
                    <a:ext uri="{9D8B030D-6E8A-4147-A177-3AD203B41FA5}">
                      <a16:colId xmlns:a16="http://schemas.microsoft.com/office/drawing/2014/main" val="4260094733"/>
                    </a:ext>
                  </a:extLst>
                </a:gridCol>
                <a:gridCol w="1156366">
                  <a:extLst>
                    <a:ext uri="{9D8B030D-6E8A-4147-A177-3AD203B41FA5}">
                      <a16:colId xmlns:a16="http://schemas.microsoft.com/office/drawing/2014/main" val="903750163"/>
                    </a:ext>
                  </a:extLst>
                </a:gridCol>
              </a:tblGrid>
              <a:tr h="155405">
                <a:tc>
                  <a:txBody>
                    <a:bodyPr/>
                    <a:lstStyle/>
                    <a:p>
                      <a:pPr algn="ctr" fontAlgn="b"/>
                      <a:r>
                        <a:rPr lang="en-US" sz="1200" b="1" u="none" strike="noStrike" dirty="0">
                          <a:effectLst/>
                        </a:rPr>
                        <a:t>Flick</a:t>
                      </a:r>
                      <a:endParaRPr lang="en-US" sz="1200" b="1" i="0" u="none" strike="noStrike" dirty="0">
                        <a:solidFill>
                          <a:srgbClr val="000000"/>
                        </a:solidFill>
                        <a:effectLst/>
                        <a:latin typeface="Calibri" panose="020F0502020204030204" pitchFamily="34" charset="0"/>
                      </a:endParaRPr>
                    </a:p>
                  </a:txBody>
                  <a:tcPr marL="7770" marR="7770" marT="7770" marB="0" anchor="b"/>
                </a:tc>
                <a:tc>
                  <a:txBody>
                    <a:bodyPr/>
                    <a:lstStyle/>
                    <a:p>
                      <a:pPr algn="ctr" fontAlgn="b"/>
                      <a:r>
                        <a:rPr lang="en-US" sz="1200" b="1" u="none" strike="noStrike" dirty="0">
                          <a:effectLst/>
                        </a:rPr>
                        <a:t>Touch Pressure</a:t>
                      </a:r>
                      <a:endParaRPr lang="en-US" sz="1200" b="1"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89993594"/>
                  </a:ext>
                </a:extLst>
              </a:tr>
              <a:tr h="155405">
                <a:tc>
                  <a:txBody>
                    <a:bodyPr/>
                    <a:lstStyle/>
                    <a:p>
                      <a:pPr algn="ctr" fontAlgn="b"/>
                      <a:r>
                        <a:rPr lang="en-US" sz="1200" u="none" strike="noStrike" dirty="0">
                          <a:effectLst/>
                          <a:latin typeface="Tw Cen MT" panose="020B0602020104020603" pitchFamily="34" charset="0"/>
                        </a:rPr>
                        <a:t>1</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a:effectLst/>
                          <a:latin typeface="Tw Cen MT" panose="020B0602020104020603" pitchFamily="34" charset="0"/>
                        </a:rPr>
                        <a:t>0.29804</a:t>
                      </a:r>
                      <a:endParaRPr lang="en-US" sz="1200" b="0" i="0" u="none" strike="noStrike">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783168159"/>
                  </a:ext>
                </a:extLst>
              </a:tr>
              <a:tr h="155405">
                <a:tc>
                  <a:txBody>
                    <a:bodyPr/>
                    <a:lstStyle/>
                    <a:p>
                      <a:pPr algn="ctr" fontAlgn="b"/>
                      <a:r>
                        <a:rPr lang="en-US" sz="1200" u="none" strike="noStrike" dirty="0">
                          <a:effectLst/>
                          <a:latin typeface="Tw Cen MT" panose="020B0602020104020603" pitchFamily="34" charset="0"/>
                        </a:rPr>
                        <a:t>1</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a:effectLst/>
                          <a:latin typeface="Tw Cen MT" panose="020B0602020104020603" pitchFamily="34" charset="0"/>
                        </a:rPr>
                        <a:t>0.32549</a:t>
                      </a:r>
                      <a:endParaRPr lang="en-US" sz="1200" b="0" i="0" u="none" strike="noStrike">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462056044"/>
                  </a:ext>
                </a:extLst>
              </a:tr>
              <a:tr h="155405">
                <a:tc>
                  <a:txBody>
                    <a:bodyPr/>
                    <a:lstStyle/>
                    <a:p>
                      <a:pPr algn="ctr" fontAlgn="b"/>
                      <a:r>
                        <a:rPr lang="en-US" sz="1200" u="none" strike="noStrike" dirty="0">
                          <a:effectLst/>
                          <a:latin typeface="Tw Cen MT" panose="020B0602020104020603" pitchFamily="34" charset="0"/>
                        </a:rPr>
                        <a:t>1</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a:effectLst/>
                          <a:latin typeface="Tw Cen MT" panose="020B0602020104020603" pitchFamily="34" charset="0"/>
                        </a:rPr>
                        <a:t>0.32157</a:t>
                      </a:r>
                      <a:endParaRPr lang="en-US" sz="1200" b="0" i="0" u="none" strike="noStrike">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35632300"/>
                  </a:ext>
                </a:extLst>
              </a:tr>
              <a:tr h="155405">
                <a:tc>
                  <a:txBody>
                    <a:bodyPr/>
                    <a:lstStyle/>
                    <a:p>
                      <a:pPr algn="ctr" fontAlgn="b"/>
                      <a:r>
                        <a:rPr lang="en-US" sz="1200" u="none" strike="noStrike" dirty="0">
                          <a:effectLst/>
                          <a:latin typeface="Tw Cen MT" panose="020B0602020104020603" pitchFamily="34" charset="0"/>
                        </a:rPr>
                        <a:t>2</a:t>
                      </a:r>
                      <a:endParaRPr lang="en-US" sz="1200" b="0" i="0" u="none" strike="noStrike" dirty="0">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0.29804</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594618755"/>
                  </a:ext>
                </a:extLst>
              </a:tr>
              <a:tr h="155405">
                <a:tc>
                  <a:txBody>
                    <a:bodyPr/>
                    <a:lstStyle/>
                    <a:p>
                      <a:pPr algn="ctr" fontAlgn="b"/>
                      <a:r>
                        <a:rPr lang="en-US" sz="1200" u="none" strike="noStrike">
                          <a:effectLst/>
                          <a:latin typeface="Tw Cen MT" panose="020B0602020104020603" pitchFamily="34" charset="0"/>
                        </a:rPr>
                        <a:t>2</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27088837"/>
                  </a:ext>
                </a:extLst>
              </a:tr>
              <a:tr h="155405">
                <a:tc>
                  <a:txBody>
                    <a:bodyPr/>
                    <a:lstStyle/>
                    <a:p>
                      <a:pPr algn="ctr" fontAlgn="b"/>
                      <a:r>
                        <a:rPr lang="en-US" sz="1200" u="none" strike="noStrike">
                          <a:effectLst/>
                          <a:latin typeface="Tw Cen MT" panose="020B0602020104020603" pitchFamily="34" charset="0"/>
                        </a:rPr>
                        <a:t>2</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4108654391"/>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0.29804</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380764642"/>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0.31373</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809456487"/>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455735091"/>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52066704"/>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444891989"/>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81313120"/>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997337698"/>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73071009"/>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377834091"/>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0.32941</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283769514"/>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117895007"/>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0.32941</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023671054"/>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90368583"/>
                  </a:ext>
                </a:extLst>
              </a:tr>
              <a:tr h="155405">
                <a:tc>
                  <a:txBody>
                    <a:bodyPr/>
                    <a:lstStyle/>
                    <a:p>
                      <a:pPr algn="ctr" fontAlgn="b"/>
                      <a:r>
                        <a:rPr lang="en-US" sz="1200" u="none" strike="noStrike">
                          <a:effectLst/>
                          <a:latin typeface="Tw Cen MT" panose="020B0602020104020603" pitchFamily="34" charset="0"/>
                        </a:rPr>
                        <a:t>3</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4120976264"/>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3913954101"/>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0.31765</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152518377"/>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0.32549</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514420551"/>
                  </a:ext>
                </a:extLst>
              </a:tr>
              <a:tr h="155405">
                <a:tc>
                  <a:txBody>
                    <a:bodyPr/>
                    <a:lstStyle/>
                    <a:p>
                      <a:pPr algn="ctr" fontAlgn="b"/>
                      <a:r>
                        <a:rPr lang="en-US" sz="1200" u="none" strike="noStrike">
                          <a:effectLst/>
                          <a:latin typeface="Tw Cen MT" panose="020B0602020104020603" pitchFamily="34" charset="0"/>
                        </a:rPr>
                        <a:t>4</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208524266"/>
                  </a:ext>
                </a:extLst>
              </a:tr>
              <a:tr h="155405">
                <a:tc>
                  <a:txBody>
                    <a:bodyPr/>
                    <a:lstStyle/>
                    <a:p>
                      <a:pPr algn="ctr" fontAlgn="b"/>
                      <a:r>
                        <a:rPr lang="en-US" sz="1200" u="none" strike="noStrike">
                          <a:effectLst/>
                          <a:latin typeface="Tw Cen MT" panose="020B0602020104020603" pitchFamily="34" charset="0"/>
                        </a:rPr>
                        <a:t>5</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0.29804</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1233716650"/>
                  </a:ext>
                </a:extLst>
              </a:tr>
              <a:tr h="155405">
                <a:tc>
                  <a:txBody>
                    <a:bodyPr/>
                    <a:lstStyle/>
                    <a:p>
                      <a:pPr algn="ctr" fontAlgn="b"/>
                      <a:r>
                        <a:rPr lang="en-US" sz="1200" u="none" strike="noStrike">
                          <a:effectLst/>
                          <a:latin typeface="Tw Cen MT" panose="020B0602020104020603" pitchFamily="34" charset="0"/>
                        </a:rPr>
                        <a:t>5</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0.32157</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2938332411"/>
                  </a:ext>
                </a:extLst>
              </a:tr>
              <a:tr h="155405">
                <a:tc>
                  <a:txBody>
                    <a:bodyPr/>
                    <a:lstStyle/>
                    <a:p>
                      <a:pPr algn="ctr" fontAlgn="b"/>
                      <a:r>
                        <a:rPr lang="en-US" sz="1200" u="none" strike="noStrike">
                          <a:effectLst/>
                          <a:latin typeface="Tw Cen MT" panose="020B0602020104020603" pitchFamily="34" charset="0"/>
                        </a:rPr>
                        <a:t>5</a:t>
                      </a:r>
                      <a:endParaRPr lang="en-US" sz="1200" b="0" i="0" u="none" strike="noStrike">
                        <a:solidFill>
                          <a:srgbClr val="000000"/>
                        </a:solidFill>
                        <a:effectLst/>
                        <a:latin typeface="Tw Cen MT" panose="020B0602020104020603" pitchFamily="34" charset="0"/>
                      </a:endParaRPr>
                    </a:p>
                  </a:txBody>
                  <a:tcPr marL="7770" marR="7770" marT="7770" marB="0" anchor="b"/>
                </a:tc>
                <a:tc>
                  <a:txBody>
                    <a:bodyPr/>
                    <a:lstStyle/>
                    <a:p>
                      <a:pPr algn="ctr" fontAlgn="b"/>
                      <a:r>
                        <a:rPr lang="en-US" sz="1200" u="none" strike="noStrike" dirty="0">
                          <a:effectLst/>
                          <a:latin typeface="Tw Cen MT" panose="020B0602020104020603" pitchFamily="34" charset="0"/>
                        </a:rPr>
                        <a:t>0.32941</a:t>
                      </a:r>
                      <a:endParaRPr lang="en-US" sz="1200" b="0" i="0" u="none" strike="noStrike" dirty="0">
                        <a:solidFill>
                          <a:srgbClr val="000000"/>
                        </a:solidFill>
                        <a:effectLst/>
                        <a:latin typeface="Tw Cen MT" panose="020B0602020104020603" pitchFamily="34" charset="0"/>
                      </a:endParaRPr>
                    </a:p>
                  </a:txBody>
                  <a:tcPr marL="7770" marR="7770" marT="7770" marB="0" anchor="b"/>
                </a:tc>
                <a:extLst>
                  <a:ext uri="{0D108BD9-81ED-4DB2-BD59-A6C34878D82A}">
                    <a16:rowId xmlns:a16="http://schemas.microsoft.com/office/drawing/2014/main" val="4285384274"/>
                  </a:ext>
                </a:extLst>
              </a:tr>
            </a:tbl>
          </a:graphicData>
        </a:graphic>
      </p:graphicFrame>
      <p:sp>
        <p:nvSpPr>
          <p:cNvPr id="74" name="Rectangle 73"/>
          <p:cNvSpPr/>
          <p:nvPr/>
        </p:nvSpPr>
        <p:spPr>
          <a:xfrm>
            <a:off x="1265273" y="1273099"/>
            <a:ext cx="1297172" cy="5394960"/>
          </a:xfrm>
          <a:prstGeom prst="rect">
            <a:avLst/>
          </a:prstGeom>
          <a:noFill/>
          <a:ln w="22225">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p:nvGrpSpPr>
        <p:grpSpPr>
          <a:xfrm rot="16200000">
            <a:off x="2166469" y="1669157"/>
            <a:ext cx="1278837" cy="994575"/>
            <a:chOff x="4025945" y="4716224"/>
            <a:chExt cx="2290735" cy="1914423"/>
          </a:xfrm>
        </p:grpSpPr>
        <p:cxnSp>
          <p:nvCxnSpPr>
            <p:cNvPr id="81" name="Straight Connector 80"/>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rot="16200000">
              <a:off x="6095914" y="4724059"/>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3" name="Straight Connector 82"/>
            <p:cNvCxnSpPr/>
            <p:nvPr/>
          </p:nvCxnSpPr>
          <p:spPr>
            <a:xfrm rot="5400000">
              <a:off x="4514567" y="4930161"/>
              <a:ext cx="1211864" cy="218910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rot="16200000">
            <a:off x="1137389" y="4055335"/>
            <a:ext cx="3350665" cy="1000648"/>
            <a:chOff x="6103749" y="4716223"/>
            <a:chExt cx="6001927" cy="1926112"/>
          </a:xfrm>
        </p:grpSpPr>
        <p:cxnSp>
          <p:nvCxnSpPr>
            <p:cNvPr id="85" name="Straight Connector 84"/>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rot="16200000">
              <a:off x="6095914" y="4724058"/>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7" name="Straight Connector 86"/>
            <p:cNvCxnSpPr/>
            <p:nvPr/>
          </p:nvCxnSpPr>
          <p:spPr>
            <a:xfrm rot="5400000" flipV="1">
              <a:off x="8548586" y="3085246"/>
              <a:ext cx="1223553" cy="589062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rot="16200000">
            <a:off x="2423588" y="1985939"/>
            <a:ext cx="774214" cy="996592"/>
            <a:chOff x="4946238" y="4716223"/>
            <a:chExt cx="1386823" cy="1918305"/>
          </a:xfrm>
        </p:grpSpPr>
        <p:cxnSp>
          <p:nvCxnSpPr>
            <p:cNvPr id="89" name="Straight Connector 88"/>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rot="16200000">
              <a:off x="6104105" y="4715868"/>
              <a:ext cx="228601" cy="22931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91" name="Straight Connector 90"/>
            <p:cNvCxnSpPr/>
            <p:nvPr/>
          </p:nvCxnSpPr>
          <p:spPr>
            <a:xfrm rot="5400000">
              <a:off x="4972772" y="5392248"/>
              <a:ext cx="1215746" cy="126881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rot="16200000">
            <a:off x="2703891" y="2298127"/>
            <a:ext cx="188360" cy="976042"/>
            <a:chOff x="5979275" y="4716223"/>
            <a:chExt cx="337402" cy="1878749"/>
          </a:xfrm>
        </p:grpSpPr>
        <p:cxnSp>
          <p:nvCxnSpPr>
            <p:cNvPr id="106" name="Straight Connector 105"/>
            <p:cNvCxnSpPr/>
            <p:nvPr/>
          </p:nvCxnSpPr>
          <p:spPr>
            <a:xfrm rot="16200000" flipH="1">
              <a:off x="5940741" y="5163511"/>
              <a:ext cx="54864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rot="16200000">
              <a:off x="6095911" y="4724058"/>
              <a:ext cx="228601" cy="212931"/>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08" name="Straight Connector 107"/>
            <p:cNvCxnSpPr/>
            <p:nvPr/>
          </p:nvCxnSpPr>
          <p:spPr>
            <a:xfrm rot="5400000">
              <a:off x="5509068" y="5888988"/>
              <a:ext cx="1176191" cy="2357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9" name="Oval 108"/>
          <p:cNvSpPr/>
          <p:nvPr/>
        </p:nvSpPr>
        <p:spPr>
          <a:xfrm rot="10800000">
            <a:off x="3249138" y="2810328"/>
            <a:ext cx="118762" cy="11887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TextBox 1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- 9</a:t>
            </a:r>
          </a:p>
        </p:txBody>
      </p:sp>
      <p:sp>
        <p:nvSpPr>
          <p:cNvPr id="6" name="AutoShape 3"/>
          <p:cNvSpPr>
            <a:spLocks noChangeAspect="1" noChangeArrowheads="1" noTextEdit="1"/>
          </p:cNvSpPr>
          <p:nvPr/>
        </p:nvSpPr>
        <p:spPr bwMode="auto">
          <a:xfrm>
            <a:off x="3449638" y="1912938"/>
            <a:ext cx="6762750"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Rectangle 5"/>
          <p:cNvSpPr>
            <a:spLocks noChangeArrowheads="1"/>
          </p:cNvSpPr>
          <p:nvPr/>
        </p:nvSpPr>
        <p:spPr bwMode="auto">
          <a:xfrm>
            <a:off x="3455988" y="1970088"/>
            <a:ext cx="1090613" cy="45243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6"/>
          <p:cNvSpPr>
            <a:spLocks noChangeArrowheads="1"/>
          </p:cNvSpPr>
          <p:nvPr/>
        </p:nvSpPr>
        <p:spPr bwMode="auto">
          <a:xfrm>
            <a:off x="4546601" y="1970088"/>
            <a:ext cx="1590675" cy="45243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7"/>
          <p:cNvSpPr>
            <a:spLocks noChangeArrowheads="1"/>
          </p:cNvSpPr>
          <p:nvPr/>
        </p:nvSpPr>
        <p:spPr bwMode="auto">
          <a:xfrm>
            <a:off x="6137276" y="1970088"/>
            <a:ext cx="830263" cy="45243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8"/>
          <p:cNvSpPr>
            <a:spLocks noChangeArrowheads="1"/>
          </p:cNvSpPr>
          <p:nvPr/>
        </p:nvSpPr>
        <p:spPr bwMode="auto">
          <a:xfrm>
            <a:off x="6967538" y="1970088"/>
            <a:ext cx="3228975" cy="45243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9"/>
          <p:cNvSpPr>
            <a:spLocks noChangeArrowheads="1"/>
          </p:cNvSpPr>
          <p:nvPr/>
        </p:nvSpPr>
        <p:spPr bwMode="auto">
          <a:xfrm>
            <a:off x="3455988" y="2422526"/>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10"/>
          <p:cNvSpPr>
            <a:spLocks noChangeArrowheads="1"/>
          </p:cNvSpPr>
          <p:nvPr/>
        </p:nvSpPr>
        <p:spPr bwMode="auto">
          <a:xfrm>
            <a:off x="4546601" y="2422526"/>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1"/>
          <p:cNvSpPr>
            <a:spLocks noChangeArrowheads="1"/>
          </p:cNvSpPr>
          <p:nvPr/>
        </p:nvSpPr>
        <p:spPr bwMode="auto">
          <a:xfrm>
            <a:off x="6137276" y="2422526"/>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2"/>
          <p:cNvSpPr>
            <a:spLocks noChangeArrowheads="1"/>
          </p:cNvSpPr>
          <p:nvPr/>
        </p:nvSpPr>
        <p:spPr bwMode="auto">
          <a:xfrm>
            <a:off x="6967538" y="2422526"/>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3"/>
          <p:cNvSpPr>
            <a:spLocks noChangeArrowheads="1"/>
          </p:cNvSpPr>
          <p:nvPr/>
        </p:nvSpPr>
        <p:spPr bwMode="auto">
          <a:xfrm>
            <a:off x="3455988" y="2705101"/>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4"/>
          <p:cNvSpPr>
            <a:spLocks noChangeArrowheads="1"/>
          </p:cNvSpPr>
          <p:nvPr/>
        </p:nvSpPr>
        <p:spPr bwMode="auto">
          <a:xfrm>
            <a:off x="4546601" y="2705101"/>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15"/>
          <p:cNvSpPr>
            <a:spLocks noChangeArrowheads="1"/>
          </p:cNvSpPr>
          <p:nvPr/>
        </p:nvSpPr>
        <p:spPr bwMode="auto">
          <a:xfrm>
            <a:off x="6137276" y="2705101"/>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6"/>
          <p:cNvSpPr>
            <a:spLocks noChangeArrowheads="1"/>
          </p:cNvSpPr>
          <p:nvPr/>
        </p:nvSpPr>
        <p:spPr bwMode="auto">
          <a:xfrm>
            <a:off x="6967538" y="2705101"/>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17"/>
          <p:cNvSpPr>
            <a:spLocks noChangeArrowheads="1"/>
          </p:cNvSpPr>
          <p:nvPr/>
        </p:nvSpPr>
        <p:spPr bwMode="auto">
          <a:xfrm>
            <a:off x="3455988" y="2987676"/>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18"/>
          <p:cNvSpPr>
            <a:spLocks noChangeArrowheads="1"/>
          </p:cNvSpPr>
          <p:nvPr/>
        </p:nvSpPr>
        <p:spPr bwMode="auto">
          <a:xfrm>
            <a:off x="4546601" y="2987676"/>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19"/>
          <p:cNvSpPr>
            <a:spLocks noChangeArrowheads="1"/>
          </p:cNvSpPr>
          <p:nvPr/>
        </p:nvSpPr>
        <p:spPr bwMode="auto">
          <a:xfrm>
            <a:off x="6137276" y="2987676"/>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0"/>
          <p:cNvSpPr>
            <a:spLocks noChangeArrowheads="1"/>
          </p:cNvSpPr>
          <p:nvPr/>
        </p:nvSpPr>
        <p:spPr bwMode="auto">
          <a:xfrm>
            <a:off x="6967538" y="2987676"/>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1"/>
          <p:cNvSpPr>
            <a:spLocks noChangeArrowheads="1"/>
          </p:cNvSpPr>
          <p:nvPr/>
        </p:nvSpPr>
        <p:spPr bwMode="auto">
          <a:xfrm>
            <a:off x="3455988" y="3270251"/>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22"/>
          <p:cNvSpPr>
            <a:spLocks noChangeArrowheads="1"/>
          </p:cNvSpPr>
          <p:nvPr/>
        </p:nvSpPr>
        <p:spPr bwMode="auto">
          <a:xfrm>
            <a:off x="4546601" y="3270251"/>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23"/>
          <p:cNvSpPr>
            <a:spLocks noChangeArrowheads="1"/>
          </p:cNvSpPr>
          <p:nvPr/>
        </p:nvSpPr>
        <p:spPr bwMode="auto">
          <a:xfrm>
            <a:off x="6137276" y="3270251"/>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24"/>
          <p:cNvSpPr>
            <a:spLocks noChangeArrowheads="1"/>
          </p:cNvSpPr>
          <p:nvPr/>
        </p:nvSpPr>
        <p:spPr bwMode="auto">
          <a:xfrm>
            <a:off x="6967538" y="3270251"/>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25"/>
          <p:cNvSpPr>
            <a:spLocks noChangeArrowheads="1"/>
          </p:cNvSpPr>
          <p:nvPr/>
        </p:nvSpPr>
        <p:spPr bwMode="auto">
          <a:xfrm>
            <a:off x="3455988" y="3552826"/>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26"/>
          <p:cNvSpPr>
            <a:spLocks noChangeArrowheads="1"/>
          </p:cNvSpPr>
          <p:nvPr/>
        </p:nvSpPr>
        <p:spPr bwMode="auto">
          <a:xfrm>
            <a:off x="4546601" y="3552826"/>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27"/>
          <p:cNvSpPr>
            <a:spLocks noChangeArrowheads="1"/>
          </p:cNvSpPr>
          <p:nvPr/>
        </p:nvSpPr>
        <p:spPr bwMode="auto">
          <a:xfrm>
            <a:off x="6137276" y="3552826"/>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28"/>
          <p:cNvSpPr>
            <a:spLocks noChangeArrowheads="1"/>
          </p:cNvSpPr>
          <p:nvPr/>
        </p:nvSpPr>
        <p:spPr bwMode="auto">
          <a:xfrm>
            <a:off x="6967538" y="3552826"/>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29"/>
          <p:cNvSpPr>
            <a:spLocks noChangeArrowheads="1"/>
          </p:cNvSpPr>
          <p:nvPr/>
        </p:nvSpPr>
        <p:spPr bwMode="auto">
          <a:xfrm>
            <a:off x="3455988" y="3835401"/>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30"/>
          <p:cNvSpPr>
            <a:spLocks noChangeArrowheads="1"/>
          </p:cNvSpPr>
          <p:nvPr/>
        </p:nvSpPr>
        <p:spPr bwMode="auto">
          <a:xfrm>
            <a:off x="4546601" y="3835401"/>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31"/>
          <p:cNvSpPr>
            <a:spLocks noChangeArrowheads="1"/>
          </p:cNvSpPr>
          <p:nvPr/>
        </p:nvSpPr>
        <p:spPr bwMode="auto">
          <a:xfrm>
            <a:off x="6137276" y="3835401"/>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32"/>
          <p:cNvSpPr>
            <a:spLocks noChangeArrowheads="1"/>
          </p:cNvSpPr>
          <p:nvPr/>
        </p:nvSpPr>
        <p:spPr bwMode="auto">
          <a:xfrm>
            <a:off x="6967538" y="3835401"/>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33"/>
          <p:cNvSpPr>
            <a:spLocks noChangeArrowheads="1"/>
          </p:cNvSpPr>
          <p:nvPr/>
        </p:nvSpPr>
        <p:spPr bwMode="auto">
          <a:xfrm>
            <a:off x="3455988" y="4117976"/>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34"/>
          <p:cNvSpPr>
            <a:spLocks noChangeArrowheads="1"/>
          </p:cNvSpPr>
          <p:nvPr/>
        </p:nvSpPr>
        <p:spPr bwMode="auto">
          <a:xfrm>
            <a:off x="4546601" y="4117976"/>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Rectangle 35"/>
          <p:cNvSpPr>
            <a:spLocks noChangeArrowheads="1"/>
          </p:cNvSpPr>
          <p:nvPr/>
        </p:nvSpPr>
        <p:spPr bwMode="auto">
          <a:xfrm>
            <a:off x="6137276" y="4117976"/>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36"/>
          <p:cNvSpPr>
            <a:spLocks noChangeArrowheads="1"/>
          </p:cNvSpPr>
          <p:nvPr/>
        </p:nvSpPr>
        <p:spPr bwMode="auto">
          <a:xfrm>
            <a:off x="6967538" y="4117976"/>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Rectangle 37"/>
          <p:cNvSpPr>
            <a:spLocks noChangeArrowheads="1"/>
          </p:cNvSpPr>
          <p:nvPr/>
        </p:nvSpPr>
        <p:spPr bwMode="auto">
          <a:xfrm>
            <a:off x="3455988" y="4400551"/>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Rectangle 38"/>
          <p:cNvSpPr>
            <a:spLocks noChangeArrowheads="1"/>
          </p:cNvSpPr>
          <p:nvPr/>
        </p:nvSpPr>
        <p:spPr bwMode="auto">
          <a:xfrm>
            <a:off x="4546601" y="4400551"/>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39"/>
          <p:cNvSpPr>
            <a:spLocks noChangeArrowheads="1"/>
          </p:cNvSpPr>
          <p:nvPr/>
        </p:nvSpPr>
        <p:spPr bwMode="auto">
          <a:xfrm>
            <a:off x="6137276" y="4400551"/>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40"/>
          <p:cNvSpPr>
            <a:spLocks noChangeArrowheads="1"/>
          </p:cNvSpPr>
          <p:nvPr/>
        </p:nvSpPr>
        <p:spPr bwMode="auto">
          <a:xfrm>
            <a:off x="6967538" y="4400551"/>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41"/>
          <p:cNvSpPr>
            <a:spLocks noChangeArrowheads="1"/>
          </p:cNvSpPr>
          <p:nvPr/>
        </p:nvSpPr>
        <p:spPr bwMode="auto">
          <a:xfrm>
            <a:off x="3455988" y="4683126"/>
            <a:ext cx="109061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42"/>
          <p:cNvSpPr>
            <a:spLocks noChangeArrowheads="1"/>
          </p:cNvSpPr>
          <p:nvPr/>
        </p:nvSpPr>
        <p:spPr bwMode="auto">
          <a:xfrm>
            <a:off x="4546601" y="4683126"/>
            <a:ext cx="15906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43"/>
          <p:cNvSpPr>
            <a:spLocks noChangeArrowheads="1"/>
          </p:cNvSpPr>
          <p:nvPr/>
        </p:nvSpPr>
        <p:spPr bwMode="auto">
          <a:xfrm>
            <a:off x="6137276" y="4683126"/>
            <a:ext cx="830263"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44"/>
          <p:cNvSpPr>
            <a:spLocks noChangeArrowheads="1"/>
          </p:cNvSpPr>
          <p:nvPr/>
        </p:nvSpPr>
        <p:spPr bwMode="auto">
          <a:xfrm>
            <a:off x="6967538" y="4683126"/>
            <a:ext cx="3228975" cy="282575"/>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45"/>
          <p:cNvSpPr>
            <a:spLocks noChangeArrowheads="1"/>
          </p:cNvSpPr>
          <p:nvPr/>
        </p:nvSpPr>
        <p:spPr bwMode="auto">
          <a:xfrm>
            <a:off x="3455988" y="4965701"/>
            <a:ext cx="2681288" cy="28098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46"/>
          <p:cNvSpPr>
            <a:spLocks noChangeArrowheads="1"/>
          </p:cNvSpPr>
          <p:nvPr/>
        </p:nvSpPr>
        <p:spPr bwMode="auto">
          <a:xfrm>
            <a:off x="6137276" y="4965701"/>
            <a:ext cx="830263" cy="28098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47"/>
          <p:cNvSpPr>
            <a:spLocks noChangeArrowheads="1"/>
          </p:cNvSpPr>
          <p:nvPr/>
        </p:nvSpPr>
        <p:spPr bwMode="auto">
          <a:xfrm>
            <a:off x="6967538" y="4965701"/>
            <a:ext cx="3228975" cy="28098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Line 48"/>
          <p:cNvSpPr>
            <a:spLocks noChangeShapeType="1"/>
          </p:cNvSpPr>
          <p:nvPr/>
        </p:nvSpPr>
        <p:spPr bwMode="auto">
          <a:xfrm>
            <a:off x="4546601" y="1963738"/>
            <a:ext cx="0" cy="30083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Line 49"/>
          <p:cNvSpPr>
            <a:spLocks noChangeShapeType="1"/>
          </p:cNvSpPr>
          <p:nvPr/>
        </p:nvSpPr>
        <p:spPr bwMode="auto">
          <a:xfrm>
            <a:off x="6137276" y="1963738"/>
            <a:ext cx="0" cy="3290888"/>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Line 50"/>
          <p:cNvSpPr>
            <a:spLocks noChangeShapeType="1"/>
          </p:cNvSpPr>
          <p:nvPr/>
        </p:nvSpPr>
        <p:spPr bwMode="auto">
          <a:xfrm>
            <a:off x="6967538" y="1963738"/>
            <a:ext cx="0" cy="3290888"/>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Line 51"/>
          <p:cNvSpPr>
            <a:spLocks noChangeShapeType="1"/>
          </p:cNvSpPr>
          <p:nvPr/>
        </p:nvSpPr>
        <p:spPr bwMode="auto">
          <a:xfrm>
            <a:off x="3449638" y="2422526"/>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Line 52"/>
          <p:cNvSpPr>
            <a:spLocks noChangeShapeType="1"/>
          </p:cNvSpPr>
          <p:nvPr/>
        </p:nvSpPr>
        <p:spPr bwMode="auto">
          <a:xfrm>
            <a:off x="3449638" y="2705101"/>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Line 53"/>
          <p:cNvSpPr>
            <a:spLocks noChangeShapeType="1"/>
          </p:cNvSpPr>
          <p:nvPr/>
        </p:nvSpPr>
        <p:spPr bwMode="auto">
          <a:xfrm>
            <a:off x="3449638" y="2987676"/>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1" name="Line 54"/>
          <p:cNvSpPr>
            <a:spLocks noChangeShapeType="1"/>
          </p:cNvSpPr>
          <p:nvPr/>
        </p:nvSpPr>
        <p:spPr bwMode="auto">
          <a:xfrm>
            <a:off x="3449638" y="3270251"/>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Line 55"/>
          <p:cNvSpPr>
            <a:spLocks noChangeShapeType="1"/>
          </p:cNvSpPr>
          <p:nvPr/>
        </p:nvSpPr>
        <p:spPr bwMode="auto">
          <a:xfrm>
            <a:off x="3449638" y="3552826"/>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56"/>
          <p:cNvSpPr>
            <a:spLocks noChangeShapeType="1"/>
          </p:cNvSpPr>
          <p:nvPr/>
        </p:nvSpPr>
        <p:spPr bwMode="auto">
          <a:xfrm>
            <a:off x="3449638" y="3835401"/>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57"/>
          <p:cNvSpPr>
            <a:spLocks noChangeShapeType="1"/>
          </p:cNvSpPr>
          <p:nvPr/>
        </p:nvSpPr>
        <p:spPr bwMode="auto">
          <a:xfrm>
            <a:off x="3449638" y="4117976"/>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58"/>
          <p:cNvSpPr>
            <a:spLocks noChangeShapeType="1"/>
          </p:cNvSpPr>
          <p:nvPr/>
        </p:nvSpPr>
        <p:spPr bwMode="auto">
          <a:xfrm>
            <a:off x="3449638" y="4400551"/>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Line 59"/>
          <p:cNvSpPr>
            <a:spLocks noChangeShapeType="1"/>
          </p:cNvSpPr>
          <p:nvPr/>
        </p:nvSpPr>
        <p:spPr bwMode="auto">
          <a:xfrm>
            <a:off x="3449638" y="4683126"/>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Line 60"/>
          <p:cNvSpPr>
            <a:spLocks noChangeShapeType="1"/>
          </p:cNvSpPr>
          <p:nvPr/>
        </p:nvSpPr>
        <p:spPr bwMode="auto">
          <a:xfrm>
            <a:off x="3449638" y="4965701"/>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Line 61"/>
          <p:cNvSpPr>
            <a:spLocks noChangeShapeType="1"/>
          </p:cNvSpPr>
          <p:nvPr/>
        </p:nvSpPr>
        <p:spPr bwMode="auto">
          <a:xfrm>
            <a:off x="3455988" y="1963738"/>
            <a:ext cx="0" cy="3290888"/>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Line 62"/>
          <p:cNvSpPr>
            <a:spLocks noChangeShapeType="1"/>
          </p:cNvSpPr>
          <p:nvPr/>
        </p:nvSpPr>
        <p:spPr bwMode="auto">
          <a:xfrm>
            <a:off x="10196513" y="1963738"/>
            <a:ext cx="0" cy="3290888"/>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Line 63"/>
          <p:cNvSpPr>
            <a:spLocks noChangeShapeType="1"/>
          </p:cNvSpPr>
          <p:nvPr/>
        </p:nvSpPr>
        <p:spPr bwMode="auto">
          <a:xfrm>
            <a:off x="3449638" y="1970088"/>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Line 64"/>
          <p:cNvSpPr>
            <a:spLocks noChangeShapeType="1"/>
          </p:cNvSpPr>
          <p:nvPr/>
        </p:nvSpPr>
        <p:spPr bwMode="auto">
          <a:xfrm>
            <a:off x="3449638" y="5246688"/>
            <a:ext cx="675322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Rectangle 65"/>
          <p:cNvSpPr>
            <a:spLocks noChangeArrowheads="1"/>
          </p:cNvSpPr>
          <p:nvPr/>
        </p:nvSpPr>
        <p:spPr bwMode="auto">
          <a:xfrm>
            <a:off x="3502026" y="2074863"/>
            <a:ext cx="5413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a:ln>
                  <a:noFill/>
                </a:ln>
                <a:solidFill>
                  <a:srgbClr val="000000"/>
                </a:solidFill>
                <a:effectLst/>
                <a:latin typeface="Calibri" panose="020F0502020204030204" pitchFamily="34" charset="0"/>
              </a:rPr>
              <a:t>Num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66"/>
          <p:cNvSpPr>
            <a:spLocks noChangeArrowheads="1"/>
          </p:cNvSpPr>
          <p:nvPr/>
        </p:nvSpPr>
        <p:spPr bwMode="auto">
          <a:xfrm>
            <a:off x="3992563" y="2074863"/>
            <a:ext cx="63341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a:ln>
                  <a:noFill/>
                </a:ln>
                <a:solidFill>
                  <a:srgbClr val="000000"/>
                </a:solidFill>
                <a:effectLst/>
                <a:latin typeface="Calibri" panose="020F0502020204030204" pitchFamily="34" charset="0"/>
              </a:rPr>
              <a:t>of Bin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0" name="Rectangle 67"/>
          <p:cNvSpPr>
            <a:spLocks noChangeArrowheads="1"/>
          </p:cNvSpPr>
          <p:nvPr/>
        </p:nvSpPr>
        <p:spPr bwMode="auto">
          <a:xfrm>
            <a:off x="5000626" y="1982788"/>
            <a:ext cx="8080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a:ln>
                  <a:noFill/>
                </a:ln>
                <a:solidFill>
                  <a:srgbClr val="000000"/>
                </a:solidFill>
                <a:effectLst/>
                <a:latin typeface="Calibri" panose="020F0502020204030204" pitchFamily="34" charset="0"/>
              </a:rPr>
              <a:t>Interval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1" name="Rectangle 68"/>
          <p:cNvSpPr>
            <a:spLocks noChangeArrowheads="1"/>
          </p:cNvSpPr>
          <p:nvPr/>
        </p:nvSpPr>
        <p:spPr bwMode="auto">
          <a:xfrm>
            <a:off x="4878388" y="2239963"/>
            <a:ext cx="11144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Bin Size = 0.005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2" name="Rectangle 69"/>
          <p:cNvSpPr>
            <a:spLocks noChangeArrowheads="1"/>
          </p:cNvSpPr>
          <p:nvPr/>
        </p:nvSpPr>
        <p:spPr bwMode="auto">
          <a:xfrm>
            <a:off x="6296026" y="2074863"/>
            <a:ext cx="6540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a:ln>
                  <a:noFill/>
                </a:ln>
                <a:solidFill>
                  <a:srgbClr val="000000"/>
                </a:solidFill>
                <a:effectLst/>
                <a:latin typeface="Calibri" panose="020F0502020204030204" pitchFamily="34" charset="0"/>
              </a:rPr>
              <a:t>Count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3" name="Rectangle 70"/>
          <p:cNvSpPr>
            <a:spLocks noChangeArrowheads="1"/>
          </p:cNvSpPr>
          <p:nvPr/>
        </p:nvSpPr>
        <p:spPr bwMode="auto">
          <a:xfrm>
            <a:off x="8107363" y="2074863"/>
            <a:ext cx="9842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rgbClr val="000000"/>
                </a:solidFill>
                <a:effectLst/>
                <a:latin typeface="Calibri" panose="020F0502020204030204" pitchFamily="34" charset="0"/>
              </a:rPr>
              <a:t>Probability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4" name="Rectangle 71"/>
          <p:cNvSpPr>
            <a:spLocks noChangeArrowheads="1"/>
          </p:cNvSpPr>
          <p:nvPr/>
        </p:nvSpPr>
        <p:spPr bwMode="auto">
          <a:xfrm>
            <a:off x="3951288" y="2449513"/>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5" name="Rectangle 72"/>
          <p:cNvSpPr>
            <a:spLocks noChangeArrowheads="1"/>
          </p:cNvSpPr>
          <p:nvPr/>
        </p:nvSpPr>
        <p:spPr bwMode="auto">
          <a:xfrm>
            <a:off x="4664076" y="2449513"/>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0.29000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6" name="Rectangle 73"/>
          <p:cNvSpPr>
            <a:spLocks noChangeArrowheads="1"/>
          </p:cNvSpPr>
          <p:nvPr/>
        </p:nvSpPr>
        <p:spPr bwMode="auto">
          <a:xfrm>
            <a:off x="5318126" y="2449513"/>
            <a:ext cx="1524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7" name="Rectangle 74"/>
          <p:cNvSpPr>
            <a:spLocks noChangeArrowheads="1"/>
          </p:cNvSpPr>
          <p:nvPr/>
        </p:nvSpPr>
        <p:spPr bwMode="auto">
          <a:xfrm>
            <a:off x="5380038" y="2449513"/>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0.29500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8" name="Rectangle 75"/>
          <p:cNvSpPr>
            <a:spLocks noChangeArrowheads="1"/>
          </p:cNvSpPr>
          <p:nvPr/>
        </p:nvSpPr>
        <p:spPr bwMode="auto">
          <a:xfrm>
            <a:off x="6500813" y="2449513"/>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9" name="Rectangle 76"/>
          <p:cNvSpPr>
            <a:spLocks noChangeArrowheads="1"/>
          </p:cNvSpPr>
          <p:nvPr/>
        </p:nvSpPr>
        <p:spPr bwMode="auto">
          <a:xfrm>
            <a:off x="8208963" y="2449513"/>
            <a:ext cx="8890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0/27 = 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0" name="Rectangle 77"/>
          <p:cNvSpPr>
            <a:spLocks noChangeArrowheads="1"/>
          </p:cNvSpPr>
          <p:nvPr/>
        </p:nvSpPr>
        <p:spPr bwMode="auto">
          <a:xfrm>
            <a:off x="3951288" y="273208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1" name="Rectangle 78"/>
          <p:cNvSpPr>
            <a:spLocks noChangeArrowheads="1"/>
          </p:cNvSpPr>
          <p:nvPr/>
        </p:nvSpPr>
        <p:spPr bwMode="auto">
          <a:xfrm>
            <a:off x="4664076" y="2732088"/>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0.29500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2" name="Rectangle 79"/>
          <p:cNvSpPr>
            <a:spLocks noChangeArrowheads="1"/>
          </p:cNvSpPr>
          <p:nvPr/>
        </p:nvSpPr>
        <p:spPr bwMode="auto">
          <a:xfrm>
            <a:off x="5318126" y="2732088"/>
            <a:ext cx="1524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 name="Rectangle 80"/>
          <p:cNvSpPr>
            <a:spLocks noChangeArrowheads="1"/>
          </p:cNvSpPr>
          <p:nvPr/>
        </p:nvSpPr>
        <p:spPr bwMode="auto">
          <a:xfrm>
            <a:off x="5380038" y="2732088"/>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0.30000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 name="Rectangle 81"/>
          <p:cNvSpPr>
            <a:spLocks noChangeArrowheads="1"/>
          </p:cNvSpPr>
          <p:nvPr/>
        </p:nvSpPr>
        <p:spPr bwMode="auto">
          <a:xfrm>
            <a:off x="6500813" y="273208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0000"/>
                </a:solidFill>
                <a:effectLst/>
                <a:latin typeface="Tw Cen MT" panose="020B0602020104020603" pitchFamily="34"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5" name="Rectangle 82"/>
          <p:cNvSpPr>
            <a:spLocks noChangeArrowheads="1"/>
          </p:cNvSpPr>
          <p:nvPr/>
        </p:nvSpPr>
        <p:spPr bwMode="auto">
          <a:xfrm>
            <a:off x="8035926" y="2732088"/>
            <a:ext cx="1265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0000"/>
                </a:solidFill>
                <a:effectLst/>
                <a:latin typeface="Tw Cen MT" panose="020B0602020104020603" pitchFamily="34" charset="0"/>
              </a:rPr>
              <a:t>4/27 = 0.148</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6" name="Rectangle 83"/>
          <p:cNvSpPr>
            <a:spLocks noChangeArrowheads="1"/>
          </p:cNvSpPr>
          <p:nvPr/>
        </p:nvSpPr>
        <p:spPr bwMode="auto">
          <a:xfrm>
            <a:off x="3951288" y="3014663"/>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7" name="Rectangle 84"/>
          <p:cNvSpPr>
            <a:spLocks noChangeArrowheads="1"/>
          </p:cNvSpPr>
          <p:nvPr/>
        </p:nvSpPr>
        <p:spPr bwMode="auto">
          <a:xfrm>
            <a:off x="4664076" y="3014663"/>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0.30000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8" name="Rectangle 85"/>
          <p:cNvSpPr>
            <a:spLocks noChangeArrowheads="1"/>
          </p:cNvSpPr>
          <p:nvPr/>
        </p:nvSpPr>
        <p:spPr bwMode="auto">
          <a:xfrm>
            <a:off x="5318126" y="3014663"/>
            <a:ext cx="1524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9" name="Rectangle 86"/>
          <p:cNvSpPr>
            <a:spLocks noChangeArrowheads="1"/>
          </p:cNvSpPr>
          <p:nvPr/>
        </p:nvSpPr>
        <p:spPr bwMode="auto">
          <a:xfrm>
            <a:off x="5380038" y="3014663"/>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0.30500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0" name="Rectangle 87"/>
          <p:cNvSpPr>
            <a:spLocks noChangeArrowheads="1"/>
          </p:cNvSpPr>
          <p:nvPr/>
        </p:nvSpPr>
        <p:spPr bwMode="auto">
          <a:xfrm>
            <a:off x="6500813" y="3014663"/>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1" name="Rectangle 88"/>
          <p:cNvSpPr>
            <a:spLocks noChangeArrowheads="1"/>
          </p:cNvSpPr>
          <p:nvPr/>
        </p:nvSpPr>
        <p:spPr bwMode="auto">
          <a:xfrm>
            <a:off x="8535988" y="3014663"/>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2" name="Rectangle 89"/>
          <p:cNvSpPr>
            <a:spLocks noChangeArrowheads="1"/>
          </p:cNvSpPr>
          <p:nvPr/>
        </p:nvSpPr>
        <p:spPr bwMode="auto">
          <a:xfrm>
            <a:off x="3951288" y="3297238"/>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3" name="Rectangle 90"/>
          <p:cNvSpPr>
            <a:spLocks noChangeArrowheads="1"/>
          </p:cNvSpPr>
          <p:nvPr/>
        </p:nvSpPr>
        <p:spPr bwMode="auto">
          <a:xfrm>
            <a:off x="4664076" y="3297238"/>
            <a:ext cx="806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0.30500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4" name="Rectangle 91"/>
          <p:cNvSpPr>
            <a:spLocks noChangeArrowheads="1"/>
          </p:cNvSpPr>
          <p:nvPr/>
        </p:nvSpPr>
        <p:spPr bwMode="auto">
          <a:xfrm>
            <a:off x="5318126" y="3297238"/>
            <a:ext cx="1524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5" name="Rectangle 92"/>
          <p:cNvSpPr>
            <a:spLocks noChangeArrowheads="1"/>
          </p:cNvSpPr>
          <p:nvPr/>
        </p:nvSpPr>
        <p:spPr bwMode="auto">
          <a:xfrm>
            <a:off x="5380038" y="3297238"/>
            <a:ext cx="806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6" name="Rectangle 93"/>
          <p:cNvSpPr>
            <a:spLocks noChangeArrowheads="1"/>
          </p:cNvSpPr>
          <p:nvPr/>
        </p:nvSpPr>
        <p:spPr bwMode="auto">
          <a:xfrm>
            <a:off x="6500813" y="3297238"/>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7" name="Rectangle 94"/>
          <p:cNvSpPr>
            <a:spLocks noChangeArrowheads="1"/>
          </p:cNvSpPr>
          <p:nvPr/>
        </p:nvSpPr>
        <p:spPr bwMode="auto">
          <a:xfrm>
            <a:off x="8535988" y="3297238"/>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8" name="Rectangle 95"/>
          <p:cNvSpPr>
            <a:spLocks noChangeArrowheads="1"/>
          </p:cNvSpPr>
          <p:nvPr/>
        </p:nvSpPr>
        <p:spPr bwMode="auto">
          <a:xfrm>
            <a:off x="3951288" y="3579813"/>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9" name="Rectangle 96"/>
          <p:cNvSpPr>
            <a:spLocks noChangeArrowheads="1"/>
          </p:cNvSpPr>
          <p:nvPr/>
        </p:nvSpPr>
        <p:spPr bwMode="auto">
          <a:xfrm>
            <a:off x="4664076" y="3579813"/>
            <a:ext cx="806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0" name="Rectangle 97"/>
          <p:cNvSpPr>
            <a:spLocks noChangeArrowheads="1"/>
          </p:cNvSpPr>
          <p:nvPr/>
        </p:nvSpPr>
        <p:spPr bwMode="auto">
          <a:xfrm>
            <a:off x="5318126" y="3579813"/>
            <a:ext cx="1524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1" name="Rectangle 98"/>
          <p:cNvSpPr>
            <a:spLocks noChangeArrowheads="1"/>
          </p:cNvSpPr>
          <p:nvPr/>
        </p:nvSpPr>
        <p:spPr bwMode="auto">
          <a:xfrm>
            <a:off x="5380038" y="3579813"/>
            <a:ext cx="806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0.31500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2" name="Rectangle 99"/>
          <p:cNvSpPr>
            <a:spLocks noChangeArrowheads="1"/>
          </p:cNvSpPr>
          <p:nvPr/>
        </p:nvSpPr>
        <p:spPr bwMode="auto">
          <a:xfrm>
            <a:off x="6500813" y="3579813"/>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 name="Rectangle 100"/>
          <p:cNvSpPr>
            <a:spLocks noChangeArrowheads="1"/>
          </p:cNvSpPr>
          <p:nvPr/>
        </p:nvSpPr>
        <p:spPr bwMode="auto">
          <a:xfrm>
            <a:off x="8361363" y="3579813"/>
            <a:ext cx="5730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0.037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 name="Rectangle 101"/>
          <p:cNvSpPr>
            <a:spLocks noChangeArrowheads="1"/>
          </p:cNvSpPr>
          <p:nvPr/>
        </p:nvSpPr>
        <p:spPr bwMode="auto">
          <a:xfrm>
            <a:off x="3951288" y="3862388"/>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5" name="Rectangle 102"/>
          <p:cNvSpPr>
            <a:spLocks noChangeArrowheads="1"/>
          </p:cNvSpPr>
          <p:nvPr/>
        </p:nvSpPr>
        <p:spPr bwMode="auto">
          <a:xfrm>
            <a:off x="4664076" y="3862388"/>
            <a:ext cx="806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0.31500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6" name="Rectangle 103"/>
          <p:cNvSpPr>
            <a:spLocks noChangeArrowheads="1"/>
          </p:cNvSpPr>
          <p:nvPr/>
        </p:nvSpPr>
        <p:spPr bwMode="auto">
          <a:xfrm>
            <a:off x="5318126" y="3862388"/>
            <a:ext cx="1524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7" name="Rectangle 104"/>
          <p:cNvSpPr>
            <a:spLocks noChangeArrowheads="1"/>
          </p:cNvSpPr>
          <p:nvPr/>
        </p:nvSpPr>
        <p:spPr bwMode="auto">
          <a:xfrm>
            <a:off x="5380038" y="3862388"/>
            <a:ext cx="806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0.32000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8" name="Rectangle 105"/>
          <p:cNvSpPr>
            <a:spLocks noChangeArrowheads="1"/>
          </p:cNvSpPr>
          <p:nvPr/>
        </p:nvSpPr>
        <p:spPr bwMode="auto">
          <a:xfrm>
            <a:off x="6500813" y="3862388"/>
            <a:ext cx="193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9" name="Rectangle 106"/>
          <p:cNvSpPr>
            <a:spLocks noChangeArrowheads="1"/>
          </p:cNvSpPr>
          <p:nvPr/>
        </p:nvSpPr>
        <p:spPr bwMode="auto">
          <a:xfrm>
            <a:off x="8361363" y="3862388"/>
            <a:ext cx="5730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0.185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0" name="Rectangle 107"/>
          <p:cNvSpPr>
            <a:spLocks noChangeArrowheads="1"/>
          </p:cNvSpPr>
          <p:nvPr/>
        </p:nvSpPr>
        <p:spPr bwMode="auto">
          <a:xfrm>
            <a:off x="3951288" y="414178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1" name="Rectangle 108"/>
          <p:cNvSpPr>
            <a:spLocks noChangeArrowheads="1"/>
          </p:cNvSpPr>
          <p:nvPr/>
        </p:nvSpPr>
        <p:spPr bwMode="auto">
          <a:xfrm>
            <a:off x="4664076" y="4141788"/>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0.32000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2" name="Rectangle 109"/>
          <p:cNvSpPr>
            <a:spLocks noChangeArrowheads="1"/>
          </p:cNvSpPr>
          <p:nvPr/>
        </p:nvSpPr>
        <p:spPr bwMode="auto">
          <a:xfrm>
            <a:off x="5318126" y="4141788"/>
            <a:ext cx="1524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3" name="Rectangle 110"/>
          <p:cNvSpPr>
            <a:spLocks noChangeArrowheads="1"/>
          </p:cNvSpPr>
          <p:nvPr/>
        </p:nvSpPr>
        <p:spPr bwMode="auto">
          <a:xfrm>
            <a:off x="5380038" y="4141788"/>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0.32500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4" name="Rectangle 111"/>
          <p:cNvSpPr>
            <a:spLocks noChangeArrowheads="1"/>
          </p:cNvSpPr>
          <p:nvPr/>
        </p:nvSpPr>
        <p:spPr bwMode="auto">
          <a:xfrm>
            <a:off x="6500813" y="414178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5" name="Rectangle 112"/>
          <p:cNvSpPr>
            <a:spLocks noChangeArrowheads="1"/>
          </p:cNvSpPr>
          <p:nvPr/>
        </p:nvSpPr>
        <p:spPr bwMode="auto">
          <a:xfrm>
            <a:off x="8361363" y="4141788"/>
            <a:ext cx="5730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0.454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6" name="Rectangle 113"/>
          <p:cNvSpPr>
            <a:spLocks noChangeArrowheads="1"/>
          </p:cNvSpPr>
          <p:nvPr/>
        </p:nvSpPr>
        <p:spPr bwMode="auto">
          <a:xfrm>
            <a:off x="3951288" y="4424363"/>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7" name="Rectangle 114"/>
          <p:cNvSpPr>
            <a:spLocks noChangeArrowheads="1"/>
          </p:cNvSpPr>
          <p:nvPr/>
        </p:nvSpPr>
        <p:spPr bwMode="auto">
          <a:xfrm>
            <a:off x="4664076" y="4424363"/>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0.32500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8" name="Rectangle 115"/>
          <p:cNvSpPr>
            <a:spLocks noChangeArrowheads="1"/>
          </p:cNvSpPr>
          <p:nvPr/>
        </p:nvSpPr>
        <p:spPr bwMode="auto">
          <a:xfrm>
            <a:off x="5318126" y="4424363"/>
            <a:ext cx="1524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9" name="Rectangle 116"/>
          <p:cNvSpPr>
            <a:spLocks noChangeArrowheads="1"/>
          </p:cNvSpPr>
          <p:nvPr/>
        </p:nvSpPr>
        <p:spPr bwMode="auto">
          <a:xfrm>
            <a:off x="5380038" y="4424363"/>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0.33000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0" name="Rectangle 117"/>
          <p:cNvSpPr>
            <a:spLocks noChangeArrowheads="1"/>
          </p:cNvSpPr>
          <p:nvPr/>
        </p:nvSpPr>
        <p:spPr bwMode="auto">
          <a:xfrm>
            <a:off x="6450013" y="4424363"/>
            <a:ext cx="3063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1" name="Rectangle 118"/>
          <p:cNvSpPr>
            <a:spLocks noChangeArrowheads="1"/>
          </p:cNvSpPr>
          <p:nvPr/>
        </p:nvSpPr>
        <p:spPr bwMode="auto">
          <a:xfrm>
            <a:off x="8382001" y="4424363"/>
            <a:ext cx="46487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0000"/>
                </a:solidFill>
                <a:effectLst/>
                <a:latin typeface="Tw Cen MT" panose="020B0602020104020603" pitchFamily="34" charset="0"/>
              </a:rPr>
              <a:t>0.407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2" name="Rectangle 119"/>
          <p:cNvSpPr>
            <a:spLocks noChangeArrowheads="1"/>
          </p:cNvSpPr>
          <p:nvPr/>
        </p:nvSpPr>
        <p:spPr bwMode="auto">
          <a:xfrm>
            <a:off x="3951288" y="470693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3" name="Rectangle 120"/>
          <p:cNvSpPr>
            <a:spLocks noChangeArrowheads="1"/>
          </p:cNvSpPr>
          <p:nvPr/>
        </p:nvSpPr>
        <p:spPr bwMode="auto">
          <a:xfrm>
            <a:off x="4664076" y="4706938"/>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0.33000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 name="Rectangle 121"/>
          <p:cNvSpPr>
            <a:spLocks noChangeArrowheads="1"/>
          </p:cNvSpPr>
          <p:nvPr/>
        </p:nvSpPr>
        <p:spPr bwMode="auto">
          <a:xfrm>
            <a:off x="5318126" y="4706938"/>
            <a:ext cx="1524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 name="Rectangle 122"/>
          <p:cNvSpPr>
            <a:spLocks noChangeArrowheads="1"/>
          </p:cNvSpPr>
          <p:nvPr/>
        </p:nvSpPr>
        <p:spPr bwMode="auto">
          <a:xfrm>
            <a:off x="5380038" y="4706938"/>
            <a:ext cx="8064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0.33500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6" name="Rectangle 123"/>
          <p:cNvSpPr>
            <a:spLocks noChangeArrowheads="1"/>
          </p:cNvSpPr>
          <p:nvPr/>
        </p:nvSpPr>
        <p:spPr bwMode="auto">
          <a:xfrm>
            <a:off x="6500813" y="470693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7" name="Rectangle 124"/>
          <p:cNvSpPr>
            <a:spLocks noChangeArrowheads="1"/>
          </p:cNvSpPr>
          <p:nvPr/>
        </p:nvSpPr>
        <p:spPr bwMode="auto">
          <a:xfrm>
            <a:off x="8535988" y="4706938"/>
            <a:ext cx="1936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Tw Cen MT" panose="020B0602020104020603"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8" name="Rectangle 125"/>
          <p:cNvSpPr>
            <a:spLocks noChangeArrowheads="1"/>
          </p:cNvSpPr>
          <p:nvPr/>
        </p:nvSpPr>
        <p:spPr bwMode="auto">
          <a:xfrm>
            <a:off x="4605338" y="4991101"/>
            <a:ext cx="550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Rectangle 126"/>
          <p:cNvSpPr>
            <a:spLocks noChangeArrowheads="1"/>
          </p:cNvSpPr>
          <p:nvPr/>
        </p:nvSpPr>
        <p:spPr bwMode="auto">
          <a:xfrm>
            <a:off x="6450013" y="4991101"/>
            <a:ext cx="29527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rgbClr val="000000"/>
                </a:solidFill>
                <a:effectLst/>
                <a:latin typeface="Tw Cen MT" panose="020B0602020104020603" pitchFamily="34" charset="0"/>
              </a:rPr>
              <a:t>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866158"/>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randombar(horizontal)">
                                      <p:cBhvr>
                                        <p:cTn id="10" dur="500"/>
                                        <p:tgtEl>
                                          <p:spTgt spid="16"/>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randombar(horizontal)">
                                      <p:cBhvr>
                                        <p:cTn id="13" dur="500"/>
                                        <p:tgtEl>
                                          <p:spTgt spid="23"/>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randombar(horizontal)">
                                      <p:cBhvr>
                                        <p:cTn id="16" dur="500"/>
                                        <p:tgtEl>
                                          <p:spTgt spid="2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randombar(horizontal)">
                                      <p:cBhvr>
                                        <p:cTn id="19" dur="500"/>
                                        <p:tgtEl>
                                          <p:spTgt spid="3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randombar(horizontal)">
                                      <p:cBhvr>
                                        <p:cTn id="22" dur="500"/>
                                        <p:tgtEl>
                                          <p:spTgt spid="43"/>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randombar(horizontal)">
                                      <p:cBhvr>
                                        <p:cTn id="25" dur="500"/>
                                        <p:tgtEl>
                                          <p:spTgt spid="47"/>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randombar(horizontal)">
                                      <p:cBhvr>
                                        <p:cTn id="28" dur="500"/>
                                        <p:tgtEl>
                                          <p:spTgt spid="51"/>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randombar(horizontal)">
                                      <p:cBhvr>
                                        <p:cTn id="31" dur="500"/>
                                        <p:tgtEl>
                                          <p:spTgt spid="56"/>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randombar(horizontal)">
                                      <p:cBhvr>
                                        <p:cTn id="34" dur="500"/>
                                        <p:tgtEl>
                                          <p:spTgt spid="65"/>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randombar(horizontal)">
                                      <p:cBhvr>
                                        <p:cTn id="37" dur="500"/>
                                        <p:tgtEl>
                                          <p:spTgt spid="71"/>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96"/>
                                        </p:tgtEl>
                                        <p:attrNameLst>
                                          <p:attrName>style.visibility</p:attrName>
                                        </p:attrNameLst>
                                      </p:cBhvr>
                                      <p:to>
                                        <p:strVal val="visible"/>
                                      </p:to>
                                    </p:set>
                                    <p:animEffect transition="in" filter="randombar(horizontal)">
                                      <p:cBhvr>
                                        <p:cTn id="40" dur="500"/>
                                        <p:tgtEl>
                                          <p:spTgt spid="96"/>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25"/>
                                        </p:tgtEl>
                                        <p:attrNameLst>
                                          <p:attrName>style.visibility</p:attrName>
                                        </p:attrNameLst>
                                      </p:cBhvr>
                                      <p:to>
                                        <p:strVal val="visible"/>
                                      </p:to>
                                    </p:set>
                                    <p:animEffect transition="in" filter="randombar(horizontal)">
                                      <p:cBhvr>
                                        <p:cTn id="43" dur="500"/>
                                        <p:tgtEl>
                                          <p:spTgt spid="125"/>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randombar(horizontal)">
                                      <p:cBhvr>
                                        <p:cTn id="46" dur="500"/>
                                        <p:tgtEl>
                                          <p:spTgt spid="133"/>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139"/>
                                        </p:tgtEl>
                                        <p:attrNameLst>
                                          <p:attrName>style.visibility</p:attrName>
                                        </p:attrNameLst>
                                      </p:cBhvr>
                                      <p:to>
                                        <p:strVal val="visible"/>
                                      </p:to>
                                    </p:set>
                                    <p:animEffect transition="in" filter="randombar(horizontal)">
                                      <p:cBhvr>
                                        <p:cTn id="49" dur="500"/>
                                        <p:tgtEl>
                                          <p:spTgt spid="13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45"/>
                                        </p:tgtEl>
                                        <p:attrNameLst>
                                          <p:attrName>style.visibility</p:attrName>
                                        </p:attrNameLst>
                                      </p:cBhvr>
                                      <p:to>
                                        <p:strVal val="visible"/>
                                      </p:to>
                                    </p:set>
                                    <p:animEffect transition="in" filter="randombar(horizontal)">
                                      <p:cBhvr>
                                        <p:cTn id="52" dur="500"/>
                                        <p:tgtEl>
                                          <p:spTgt spid="145"/>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51"/>
                                        </p:tgtEl>
                                        <p:attrNameLst>
                                          <p:attrName>style.visibility</p:attrName>
                                        </p:attrNameLst>
                                      </p:cBhvr>
                                      <p:to>
                                        <p:strVal val="visible"/>
                                      </p:to>
                                    </p:set>
                                    <p:animEffect transition="in" filter="randombar(horizontal)">
                                      <p:cBhvr>
                                        <p:cTn id="55" dur="500"/>
                                        <p:tgtEl>
                                          <p:spTgt spid="151"/>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157"/>
                                        </p:tgtEl>
                                        <p:attrNameLst>
                                          <p:attrName>style.visibility</p:attrName>
                                        </p:attrNameLst>
                                      </p:cBhvr>
                                      <p:to>
                                        <p:strVal val="visible"/>
                                      </p:to>
                                    </p:set>
                                    <p:animEffect transition="in" filter="randombar(horizontal)">
                                      <p:cBhvr>
                                        <p:cTn id="58" dur="500"/>
                                        <p:tgtEl>
                                          <p:spTgt spid="157"/>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163"/>
                                        </p:tgtEl>
                                        <p:attrNameLst>
                                          <p:attrName>style.visibility</p:attrName>
                                        </p:attrNameLst>
                                      </p:cBhvr>
                                      <p:to>
                                        <p:strVal val="visible"/>
                                      </p:to>
                                    </p:set>
                                    <p:animEffect transition="in" filter="randombar(horizontal)">
                                      <p:cBhvr>
                                        <p:cTn id="61" dur="500"/>
                                        <p:tgtEl>
                                          <p:spTgt spid="163"/>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169"/>
                                        </p:tgtEl>
                                        <p:attrNameLst>
                                          <p:attrName>style.visibility</p:attrName>
                                        </p:attrNameLst>
                                      </p:cBhvr>
                                      <p:to>
                                        <p:strVal val="visible"/>
                                      </p:to>
                                    </p:set>
                                    <p:animEffect transition="in" filter="randombar(horizontal)">
                                      <p:cBhvr>
                                        <p:cTn id="64" dur="500"/>
                                        <p:tgtEl>
                                          <p:spTgt spid="169"/>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175"/>
                                        </p:tgtEl>
                                        <p:attrNameLst>
                                          <p:attrName>style.visibility</p:attrName>
                                        </p:attrNameLst>
                                      </p:cBhvr>
                                      <p:to>
                                        <p:strVal val="visible"/>
                                      </p:to>
                                    </p:set>
                                    <p:animEffect transition="in" filter="randombar(horizontal)">
                                      <p:cBhvr>
                                        <p:cTn id="67" dur="500"/>
                                        <p:tgtEl>
                                          <p:spTgt spid="175"/>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181"/>
                                        </p:tgtEl>
                                        <p:attrNameLst>
                                          <p:attrName>style.visibility</p:attrName>
                                        </p:attrNameLst>
                                      </p:cBhvr>
                                      <p:to>
                                        <p:strVal val="visible"/>
                                      </p:to>
                                    </p:set>
                                    <p:animEffect transition="in" filter="randombar(horizontal)">
                                      <p:cBhvr>
                                        <p:cTn id="70" dur="500"/>
                                        <p:tgtEl>
                                          <p:spTgt spid="181"/>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187"/>
                                        </p:tgtEl>
                                        <p:attrNameLst>
                                          <p:attrName>style.visibility</p:attrName>
                                        </p:attrNameLst>
                                      </p:cBhvr>
                                      <p:to>
                                        <p:strVal val="visible"/>
                                      </p:to>
                                    </p:set>
                                    <p:animEffect transition="in" filter="randombar(horizontal)">
                                      <p:cBhvr>
                                        <p:cTn id="73" dur="50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3" grpId="0" animBg="1"/>
      <p:bldP spid="27" grpId="0" animBg="1"/>
      <p:bldP spid="39" grpId="0" animBg="1"/>
      <p:bldP spid="43" grpId="0" animBg="1"/>
      <p:bldP spid="47" grpId="0" animBg="1"/>
      <p:bldP spid="51" grpId="0" animBg="1"/>
      <p:bldP spid="56" grpId="0" animBg="1"/>
      <p:bldP spid="65" grpId="0" animBg="1"/>
      <p:bldP spid="71" grpId="0" animBg="1"/>
      <p:bldP spid="96" grpId="0" animBg="1"/>
      <p:bldP spid="125" grpId="0" animBg="1"/>
      <p:bldP spid="133" grpId="0"/>
      <p:bldP spid="139" grpId="0"/>
      <p:bldP spid="145" grpId="0"/>
      <p:bldP spid="151" grpId="0"/>
      <p:bldP spid="157" grpId="0"/>
      <p:bldP spid="163" grpId="0"/>
      <p:bldP spid="169" grpId="0"/>
      <p:bldP spid="175" grpId="0"/>
      <p:bldP spid="181" grpId="0"/>
      <p:bldP spid="18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Straight Arrow Connector 77"/>
          <p:cNvCxnSpPr>
            <a:stCxn id="96" idx="3"/>
            <a:endCxn id="33" idx="1"/>
          </p:cNvCxnSpPr>
          <p:nvPr/>
        </p:nvCxnSpPr>
        <p:spPr>
          <a:xfrm flipV="1">
            <a:off x="6866467" y="2427246"/>
            <a:ext cx="701112" cy="1535"/>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57" name="Text Placeholder 5"/>
          <p:cNvSpPr>
            <a:spLocks noGrp="1"/>
          </p:cNvSpPr>
          <p:nvPr>
            <p:ph type="body" sz="quarter" idx="10"/>
          </p:nvPr>
        </p:nvSpPr>
        <p:spPr>
          <a:xfrm>
            <a:off x="507226" y="382630"/>
            <a:ext cx="11009271" cy="642938"/>
          </a:xfrm>
        </p:spPr>
        <p:txBody>
          <a:bodyPr/>
          <a:lstStyle/>
          <a:p>
            <a:r>
              <a:rPr lang="en-US" dirty="0"/>
              <a:t>Handling </a:t>
            </a:r>
            <a:r>
              <a:rPr lang="en-US" i="1" dirty="0">
                <a:solidFill>
                  <a:srgbClr val="D43E01"/>
                </a:solidFill>
                <a:latin typeface="Lato Light" panose="020F0302020204030203" pitchFamily="34" charset="0"/>
              </a:rPr>
              <a:t>Noise</a:t>
            </a:r>
          </a:p>
        </p:txBody>
      </p:sp>
      <p:sp>
        <p:nvSpPr>
          <p:cNvPr id="58" name="Text Placeholder 6"/>
          <p:cNvSpPr>
            <a:spLocks noGrp="1"/>
          </p:cNvSpPr>
          <p:nvPr>
            <p:ph type="body" sz="quarter" idx="11"/>
          </p:nvPr>
        </p:nvSpPr>
        <p:spPr>
          <a:xfrm>
            <a:off x="538446" y="912983"/>
            <a:ext cx="10984557" cy="305229"/>
          </a:xfrm>
        </p:spPr>
        <p:txBody>
          <a:bodyPr/>
          <a:lstStyle/>
          <a:p>
            <a:r>
              <a:rPr lang="en-US" b="1" dirty="0"/>
              <a:t>Feature Data Vs. Histogram</a:t>
            </a:r>
          </a:p>
        </p:txBody>
      </p:sp>
      <p:grpSp>
        <p:nvGrpSpPr>
          <p:cNvPr id="59" name="Group 58"/>
          <p:cNvGrpSpPr/>
          <p:nvPr/>
        </p:nvGrpSpPr>
        <p:grpSpPr>
          <a:xfrm>
            <a:off x="455000" y="491056"/>
            <a:ext cx="45720" cy="675713"/>
            <a:chOff x="455000" y="491056"/>
            <a:chExt cx="45720" cy="675713"/>
          </a:xfrm>
        </p:grpSpPr>
        <p:sp>
          <p:nvSpPr>
            <p:cNvPr id="60" name="Rectangle 59"/>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Rectangle 60"/>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15" name="TextBox 1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- 11</a:t>
            </a:r>
          </a:p>
        </p:txBody>
      </p:sp>
      <p:graphicFrame>
        <p:nvGraphicFramePr>
          <p:cNvPr id="25" name="Chart 24"/>
          <p:cNvGraphicFramePr>
            <a:graphicFrameLocks/>
          </p:cNvGraphicFramePr>
          <p:nvPr>
            <p:extLst>
              <p:ext uri="{D42A27DB-BD31-4B8C-83A1-F6EECF244321}">
                <p14:modId xmlns:p14="http://schemas.microsoft.com/office/powerpoint/2010/main" val="956109170"/>
              </p:ext>
            </p:extLst>
          </p:nvPr>
        </p:nvGraphicFramePr>
        <p:xfrm>
          <a:off x="7554567" y="1754270"/>
          <a:ext cx="2743200"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hart 25"/>
          <p:cNvGraphicFramePr>
            <a:graphicFrameLocks/>
          </p:cNvGraphicFramePr>
          <p:nvPr>
            <p:extLst>
              <p:ext uri="{D42A27DB-BD31-4B8C-83A1-F6EECF244321}">
                <p14:modId xmlns:p14="http://schemas.microsoft.com/office/powerpoint/2010/main" val="1159709428"/>
              </p:ext>
            </p:extLst>
          </p:nvPr>
        </p:nvGraphicFramePr>
        <p:xfrm>
          <a:off x="7561073" y="1598523"/>
          <a:ext cx="27432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33" name="Rounded Rectangle 32"/>
          <p:cNvSpPr/>
          <p:nvPr/>
        </p:nvSpPr>
        <p:spPr>
          <a:xfrm>
            <a:off x="7567579" y="1284246"/>
            <a:ext cx="2743200" cy="2286000"/>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aphicFrame>
        <p:nvGraphicFramePr>
          <p:cNvPr id="36" name="Chart 35"/>
          <p:cNvGraphicFramePr>
            <a:graphicFrameLocks/>
          </p:cNvGraphicFramePr>
          <p:nvPr>
            <p:extLst>
              <p:ext uri="{D42A27DB-BD31-4B8C-83A1-F6EECF244321}">
                <p14:modId xmlns:p14="http://schemas.microsoft.com/office/powerpoint/2010/main" val="3060013328"/>
              </p:ext>
            </p:extLst>
          </p:nvPr>
        </p:nvGraphicFramePr>
        <p:xfrm>
          <a:off x="2052518" y="1574175"/>
          <a:ext cx="2743200" cy="1989439"/>
        </p:xfrm>
        <a:graphic>
          <a:graphicData uri="http://schemas.openxmlformats.org/drawingml/2006/chart">
            <c:chart xmlns:c="http://schemas.openxmlformats.org/drawingml/2006/chart" xmlns:r="http://schemas.openxmlformats.org/officeDocument/2006/relationships" r:id="rId5"/>
          </a:graphicData>
        </a:graphic>
      </p:graphicFrame>
      <p:sp>
        <p:nvSpPr>
          <p:cNvPr id="37" name="TextBox 36"/>
          <p:cNvSpPr txBox="1"/>
          <p:nvPr/>
        </p:nvSpPr>
        <p:spPr>
          <a:xfrm>
            <a:off x="8090133" y="1307505"/>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Testing Data</a:t>
            </a:r>
            <a:endParaRPr lang="ru-RU" sz="1400" b="1" dirty="0">
              <a:solidFill>
                <a:prstClr val="white">
                  <a:lumMod val="65000"/>
                </a:prstClr>
              </a:solidFill>
            </a:endParaRPr>
          </a:p>
        </p:txBody>
      </p:sp>
      <p:sp>
        <p:nvSpPr>
          <p:cNvPr id="38" name="TextBox 37"/>
          <p:cNvSpPr txBox="1"/>
          <p:nvPr/>
        </p:nvSpPr>
        <p:spPr>
          <a:xfrm>
            <a:off x="8090133" y="1509776"/>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grpSp>
        <p:nvGrpSpPr>
          <p:cNvPr id="71" name="Group 70"/>
          <p:cNvGrpSpPr/>
          <p:nvPr/>
        </p:nvGrpSpPr>
        <p:grpSpPr>
          <a:xfrm>
            <a:off x="5444807" y="2008756"/>
            <a:ext cx="1421660" cy="840049"/>
            <a:chOff x="6758468" y="3025228"/>
            <a:chExt cx="1369669" cy="840049"/>
          </a:xfrm>
        </p:grpSpPr>
        <p:sp>
          <p:nvSpPr>
            <p:cNvPr id="96" name="Rounded Rectangle 95"/>
            <p:cNvSpPr/>
            <p:nvPr/>
          </p:nvSpPr>
          <p:spPr>
            <a:xfrm>
              <a:off x="6758468" y="3025228"/>
              <a:ext cx="1369669" cy="840049"/>
            </a:xfrm>
            <a:prstGeom prst="roundRect">
              <a:avLst>
                <a:gd name="adj" fmla="val 7324"/>
              </a:avLst>
            </a:prstGeom>
            <a:solidFill>
              <a:schemeClr val="accent3">
                <a:lumMod val="20000"/>
                <a:lumOff val="80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4" name="TextBox 93"/>
            <p:cNvSpPr txBox="1"/>
            <p:nvPr/>
          </p:nvSpPr>
          <p:spPr>
            <a:xfrm>
              <a:off x="6860479" y="3288196"/>
              <a:ext cx="1267658" cy="577081"/>
            </a:xfrm>
            <a:prstGeom prst="rect">
              <a:avLst/>
            </a:prstGeom>
            <a:noFill/>
          </p:spPr>
          <p:txBody>
            <a:bodyPr wrap="square" rtlCol="0">
              <a:spAutoFit/>
            </a:bodyPr>
            <a:lstStyle/>
            <a:p>
              <a:pPr marL="111125" indent="-111125">
                <a:buFont typeface="Courier New" panose="02070309020205020404" pitchFamily="49" charset="0"/>
                <a:buChar char="o"/>
              </a:pPr>
              <a:r>
                <a:rPr lang="en-US" sz="1050" b="1" dirty="0">
                  <a:solidFill>
                    <a:schemeClr val="tx1">
                      <a:lumMod val="65000"/>
                      <a:lumOff val="35000"/>
                    </a:schemeClr>
                  </a:solidFill>
                  <a:latin typeface="Lato Light" panose="020F0302020204030203" pitchFamily="34" charset="0"/>
                </a:rPr>
                <a:t>Behavior</a:t>
              </a:r>
              <a:r>
                <a:rPr lang="en-US" sz="1050" dirty="0">
                  <a:solidFill>
                    <a:schemeClr val="tx1">
                      <a:lumMod val="65000"/>
                      <a:lumOff val="35000"/>
                    </a:schemeClr>
                  </a:solidFill>
                  <a:latin typeface="Lato Light" panose="020F0302020204030203" pitchFamily="34" charset="0"/>
                </a:rPr>
                <a:t> Change</a:t>
              </a:r>
            </a:p>
            <a:p>
              <a:pPr marL="111125" indent="-111125">
                <a:buFont typeface="Courier New" panose="02070309020205020404" pitchFamily="49" charset="0"/>
                <a:buChar char="o"/>
              </a:pPr>
              <a:r>
                <a:rPr lang="en-US" sz="1050" b="1" dirty="0">
                  <a:solidFill>
                    <a:schemeClr val="tx1">
                      <a:lumMod val="65000"/>
                      <a:lumOff val="35000"/>
                    </a:schemeClr>
                  </a:solidFill>
                  <a:latin typeface="Lato Light" panose="020F0302020204030203" pitchFamily="34" charset="0"/>
                </a:rPr>
                <a:t>Signal</a:t>
              </a:r>
              <a:r>
                <a:rPr lang="en-US" sz="1050" dirty="0">
                  <a:solidFill>
                    <a:schemeClr val="tx1">
                      <a:lumMod val="65000"/>
                      <a:lumOff val="35000"/>
                    </a:schemeClr>
                  </a:solidFill>
                  <a:latin typeface="Lato Light" panose="020F0302020204030203" pitchFamily="34" charset="0"/>
                </a:rPr>
                <a:t> Problem</a:t>
              </a:r>
            </a:p>
            <a:p>
              <a:pPr marL="111125" indent="-111125">
                <a:buFont typeface="Courier New" panose="02070309020205020404" pitchFamily="49" charset="0"/>
                <a:buChar char="o"/>
              </a:pPr>
              <a:r>
                <a:rPr lang="en-US" sz="1050" b="1" dirty="0">
                  <a:solidFill>
                    <a:schemeClr val="tx1">
                      <a:lumMod val="65000"/>
                      <a:lumOff val="35000"/>
                    </a:schemeClr>
                  </a:solidFill>
                  <a:latin typeface="Lato Light" panose="020F0302020204030203" pitchFamily="34" charset="0"/>
                </a:rPr>
                <a:t>Sensor</a:t>
              </a:r>
              <a:r>
                <a:rPr lang="en-US" sz="1050" dirty="0">
                  <a:solidFill>
                    <a:schemeClr val="tx1">
                      <a:lumMod val="65000"/>
                      <a:lumOff val="35000"/>
                    </a:schemeClr>
                  </a:solidFill>
                  <a:latin typeface="Lato Light" panose="020F0302020204030203" pitchFamily="34" charset="0"/>
                </a:rPr>
                <a:t> Problem</a:t>
              </a:r>
              <a:endParaRPr lang="ru-RU" sz="1050" dirty="0">
                <a:solidFill>
                  <a:schemeClr val="tx1">
                    <a:lumMod val="65000"/>
                    <a:lumOff val="35000"/>
                  </a:schemeClr>
                </a:solidFill>
              </a:endParaRPr>
            </a:p>
          </p:txBody>
        </p:sp>
        <p:sp>
          <p:nvSpPr>
            <p:cNvPr id="98" name="TextBox 97"/>
            <p:cNvSpPr txBox="1"/>
            <p:nvPr/>
          </p:nvSpPr>
          <p:spPr>
            <a:xfrm>
              <a:off x="6987292" y="3037578"/>
              <a:ext cx="603050" cy="276999"/>
            </a:xfrm>
            <a:prstGeom prst="rect">
              <a:avLst/>
            </a:prstGeom>
            <a:noFill/>
          </p:spPr>
          <p:txBody>
            <a:bodyPr wrap="none" rtlCol="0">
              <a:spAutoFit/>
            </a:bodyPr>
            <a:lstStyle/>
            <a:p>
              <a:r>
                <a:rPr lang="en-US" sz="1200" b="1" dirty="0">
                  <a:solidFill>
                    <a:prstClr val="black">
                      <a:lumMod val="75000"/>
                      <a:lumOff val="25000"/>
                    </a:prstClr>
                  </a:solidFill>
                  <a:latin typeface="Lato Medium"/>
                </a:rPr>
                <a:t>Noise</a:t>
              </a:r>
            </a:p>
          </p:txBody>
        </p:sp>
        <p:sp>
          <p:nvSpPr>
            <p:cNvPr id="77" name="Teardrop 76"/>
            <p:cNvSpPr/>
            <p:nvPr/>
          </p:nvSpPr>
          <p:spPr>
            <a:xfrm rot="8100000">
              <a:off x="6813128" y="3082155"/>
              <a:ext cx="176192" cy="182880"/>
            </a:xfrm>
            <a:prstGeom prst="teardrop">
              <a:avLst/>
            </a:prstGeom>
            <a:solidFill>
              <a:srgbClr val="A12F01"/>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Rounded Rectangle 46"/>
          <p:cNvSpPr/>
          <p:nvPr/>
        </p:nvSpPr>
        <p:spPr>
          <a:xfrm>
            <a:off x="2039506" y="1276256"/>
            <a:ext cx="2743200" cy="2286000"/>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0" name="TextBox 49"/>
          <p:cNvSpPr txBox="1"/>
          <p:nvPr/>
        </p:nvSpPr>
        <p:spPr>
          <a:xfrm>
            <a:off x="2588182" y="1285063"/>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Training Data</a:t>
            </a:r>
            <a:endParaRPr lang="ru-RU" sz="1400" b="1" dirty="0">
              <a:solidFill>
                <a:prstClr val="white">
                  <a:lumMod val="65000"/>
                </a:prstClr>
              </a:solidFill>
            </a:endParaRPr>
          </a:p>
        </p:txBody>
      </p:sp>
      <p:sp>
        <p:nvSpPr>
          <p:cNvPr id="76" name="TextBox 75"/>
          <p:cNvSpPr txBox="1"/>
          <p:nvPr/>
        </p:nvSpPr>
        <p:spPr>
          <a:xfrm>
            <a:off x="2585919" y="1510744"/>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grpSp>
        <p:nvGrpSpPr>
          <p:cNvPr id="87" name="Group 86"/>
          <p:cNvGrpSpPr/>
          <p:nvPr/>
        </p:nvGrpSpPr>
        <p:grpSpPr>
          <a:xfrm>
            <a:off x="5444807" y="4815945"/>
            <a:ext cx="1421660" cy="840049"/>
            <a:chOff x="6758468" y="3025228"/>
            <a:chExt cx="1369669" cy="840049"/>
          </a:xfrm>
        </p:grpSpPr>
        <p:sp>
          <p:nvSpPr>
            <p:cNvPr id="88" name="Rounded Rectangle 87"/>
            <p:cNvSpPr/>
            <p:nvPr/>
          </p:nvSpPr>
          <p:spPr>
            <a:xfrm>
              <a:off x="6758468" y="3025228"/>
              <a:ext cx="1369669" cy="840049"/>
            </a:xfrm>
            <a:prstGeom prst="roundRect">
              <a:avLst>
                <a:gd name="adj" fmla="val 7324"/>
              </a:avLst>
            </a:prstGeom>
            <a:solidFill>
              <a:schemeClr val="accent3">
                <a:lumMod val="20000"/>
                <a:lumOff val="80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TextBox 88"/>
            <p:cNvSpPr txBox="1"/>
            <p:nvPr/>
          </p:nvSpPr>
          <p:spPr>
            <a:xfrm>
              <a:off x="6860479" y="3288196"/>
              <a:ext cx="1267658" cy="577081"/>
            </a:xfrm>
            <a:prstGeom prst="rect">
              <a:avLst/>
            </a:prstGeom>
            <a:noFill/>
          </p:spPr>
          <p:txBody>
            <a:bodyPr wrap="square" rtlCol="0">
              <a:spAutoFit/>
            </a:bodyPr>
            <a:lstStyle/>
            <a:p>
              <a:r>
                <a:rPr lang="en-US" sz="1050" b="1" dirty="0">
                  <a:solidFill>
                    <a:schemeClr val="tx1">
                      <a:lumMod val="65000"/>
                      <a:lumOff val="35000"/>
                    </a:schemeClr>
                  </a:solidFill>
                  <a:latin typeface="Lato Light" panose="020F0302020204030203" pitchFamily="34" charset="0"/>
                </a:rPr>
                <a:t>Spreading</a:t>
              </a:r>
              <a:r>
                <a:rPr lang="en-US" sz="1050" dirty="0">
                  <a:solidFill>
                    <a:schemeClr val="tx1">
                      <a:lumMod val="65000"/>
                      <a:lumOff val="35000"/>
                    </a:schemeClr>
                  </a:solidFill>
                  <a:latin typeface="Lato Light" panose="020F0302020204030203" pitchFamily="34" charset="0"/>
                </a:rPr>
                <a:t> the value of histogram to </a:t>
              </a:r>
              <a:r>
                <a:rPr lang="en-US" sz="1050" b="1" dirty="0">
                  <a:solidFill>
                    <a:schemeClr val="tx1">
                      <a:lumMod val="65000"/>
                      <a:lumOff val="35000"/>
                    </a:schemeClr>
                  </a:solidFill>
                  <a:latin typeface="Lato Light" panose="020F0302020204030203" pitchFamily="34" charset="0"/>
                </a:rPr>
                <a:t>neighbor’s bin</a:t>
              </a:r>
              <a:endParaRPr lang="ru-RU" sz="1050" b="1" dirty="0">
                <a:solidFill>
                  <a:schemeClr val="tx1">
                    <a:lumMod val="65000"/>
                    <a:lumOff val="35000"/>
                  </a:schemeClr>
                </a:solidFill>
              </a:endParaRPr>
            </a:p>
          </p:txBody>
        </p:sp>
        <p:sp>
          <p:nvSpPr>
            <p:cNvPr id="90" name="TextBox 89"/>
            <p:cNvSpPr txBox="1"/>
            <p:nvPr/>
          </p:nvSpPr>
          <p:spPr>
            <a:xfrm>
              <a:off x="6987292" y="3037578"/>
              <a:ext cx="993345" cy="276999"/>
            </a:xfrm>
            <a:prstGeom prst="rect">
              <a:avLst/>
            </a:prstGeom>
            <a:noFill/>
          </p:spPr>
          <p:txBody>
            <a:bodyPr wrap="none" rtlCol="0">
              <a:spAutoFit/>
            </a:bodyPr>
            <a:lstStyle/>
            <a:p>
              <a:r>
                <a:rPr lang="en-US" sz="1200" b="1" dirty="0">
                  <a:solidFill>
                    <a:prstClr val="black">
                      <a:lumMod val="75000"/>
                      <a:lumOff val="25000"/>
                    </a:prstClr>
                  </a:solidFill>
                  <a:latin typeface="Lato Medium"/>
                </a:rPr>
                <a:t>Adjustment</a:t>
              </a:r>
            </a:p>
          </p:txBody>
        </p:sp>
        <p:sp>
          <p:nvSpPr>
            <p:cNvPr id="91" name="Teardrop 90"/>
            <p:cNvSpPr/>
            <p:nvPr/>
          </p:nvSpPr>
          <p:spPr>
            <a:xfrm rot="8100000">
              <a:off x="6813128" y="3082155"/>
              <a:ext cx="176192" cy="182880"/>
            </a:xfrm>
            <a:prstGeom prst="teardrop">
              <a:avLst/>
            </a:prstGeom>
            <a:solidFill>
              <a:schemeClr val="accent6"/>
            </a:solidFill>
            <a:ln w="381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29" name="Group 128"/>
          <p:cNvGrpSpPr/>
          <p:nvPr/>
        </p:nvGrpSpPr>
        <p:grpSpPr>
          <a:xfrm>
            <a:off x="2049031" y="4092970"/>
            <a:ext cx="2743200" cy="2315799"/>
            <a:chOff x="2049031" y="4092970"/>
            <a:chExt cx="2743200" cy="2315799"/>
          </a:xfrm>
        </p:grpSpPr>
        <p:graphicFrame>
          <p:nvGraphicFramePr>
            <p:cNvPr id="85" name="Chart 84"/>
            <p:cNvGraphicFramePr>
              <a:graphicFrameLocks/>
            </p:cNvGraphicFramePr>
            <p:nvPr>
              <p:extLst>
                <p:ext uri="{D42A27DB-BD31-4B8C-83A1-F6EECF244321}">
                  <p14:modId xmlns:p14="http://schemas.microsoft.com/office/powerpoint/2010/main" val="391940139"/>
                </p:ext>
              </p:extLst>
            </p:nvPr>
          </p:nvGraphicFramePr>
          <p:xfrm>
            <a:off x="2125884" y="4503532"/>
            <a:ext cx="2615557" cy="1905237"/>
          </p:xfrm>
          <a:graphic>
            <a:graphicData uri="http://schemas.openxmlformats.org/drawingml/2006/chart">
              <c:chart xmlns:c="http://schemas.openxmlformats.org/drawingml/2006/chart" xmlns:r="http://schemas.openxmlformats.org/officeDocument/2006/relationships" r:id="rId6"/>
            </a:graphicData>
          </a:graphic>
        </p:graphicFrame>
        <p:sp>
          <p:nvSpPr>
            <p:cNvPr id="86" name="Rounded Rectangle 85"/>
            <p:cNvSpPr/>
            <p:nvPr/>
          </p:nvSpPr>
          <p:spPr>
            <a:xfrm>
              <a:off x="2049031" y="4092970"/>
              <a:ext cx="2743200" cy="2286000"/>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2" name="TextBox 91"/>
            <p:cNvSpPr txBox="1"/>
            <p:nvPr/>
          </p:nvSpPr>
          <p:spPr>
            <a:xfrm>
              <a:off x="2552409" y="4137711"/>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Training Data</a:t>
              </a:r>
              <a:endParaRPr lang="ru-RU" sz="1400" b="1" dirty="0">
                <a:solidFill>
                  <a:prstClr val="white">
                    <a:lumMod val="65000"/>
                  </a:prstClr>
                </a:solidFill>
              </a:endParaRPr>
            </a:p>
          </p:txBody>
        </p:sp>
        <p:sp>
          <p:nvSpPr>
            <p:cNvPr id="93" name="TextBox 92"/>
            <p:cNvSpPr txBox="1"/>
            <p:nvPr/>
          </p:nvSpPr>
          <p:spPr>
            <a:xfrm>
              <a:off x="2552409" y="4339982"/>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grpSp>
      <p:grpSp>
        <p:nvGrpSpPr>
          <p:cNvPr id="130" name="Group 129"/>
          <p:cNvGrpSpPr/>
          <p:nvPr/>
        </p:nvGrpSpPr>
        <p:grpSpPr>
          <a:xfrm>
            <a:off x="7558054" y="4092970"/>
            <a:ext cx="2943422" cy="2315799"/>
            <a:chOff x="7558054" y="4092970"/>
            <a:chExt cx="2943422" cy="2315799"/>
          </a:xfrm>
        </p:grpSpPr>
        <p:sp>
          <p:nvSpPr>
            <p:cNvPr id="97" name="Rounded Rectangle 96"/>
            <p:cNvSpPr/>
            <p:nvPr/>
          </p:nvSpPr>
          <p:spPr>
            <a:xfrm>
              <a:off x="7558054" y="4092970"/>
              <a:ext cx="2743200" cy="2286000"/>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TextBox 98"/>
            <p:cNvSpPr txBox="1"/>
            <p:nvPr/>
          </p:nvSpPr>
          <p:spPr>
            <a:xfrm>
              <a:off x="8064527" y="4137711"/>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Testing Data</a:t>
              </a:r>
              <a:endParaRPr lang="ru-RU" sz="1400" b="1" dirty="0">
                <a:solidFill>
                  <a:prstClr val="white">
                    <a:lumMod val="65000"/>
                  </a:prstClr>
                </a:solidFill>
              </a:endParaRPr>
            </a:p>
          </p:txBody>
        </p:sp>
        <p:sp>
          <p:nvSpPr>
            <p:cNvPr id="100" name="TextBox 99"/>
            <p:cNvSpPr txBox="1"/>
            <p:nvPr/>
          </p:nvSpPr>
          <p:spPr>
            <a:xfrm>
              <a:off x="8064527" y="4339982"/>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graphicFrame>
          <p:nvGraphicFramePr>
            <p:cNvPr id="95" name="Chart 94"/>
            <p:cNvGraphicFramePr>
              <a:graphicFrameLocks/>
            </p:cNvGraphicFramePr>
            <p:nvPr>
              <p:extLst>
                <p:ext uri="{D42A27DB-BD31-4B8C-83A1-F6EECF244321}">
                  <p14:modId xmlns:p14="http://schemas.microsoft.com/office/powerpoint/2010/main" val="1218105919"/>
                </p:ext>
              </p:extLst>
            </p:nvPr>
          </p:nvGraphicFramePr>
          <p:xfrm>
            <a:off x="7634907" y="4503532"/>
            <a:ext cx="2615557" cy="19052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1" name="Chart 100"/>
            <p:cNvGraphicFramePr>
              <a:graphicFrameLocks/>
            </p:cNvGraphicFramePr>
            <p:nvPr>
              <p:extLst>
                <p:ext uri="{D42A27DB-BD31-4B8C-83A1-F6EECF244321}">
                  <p14:modId xmlns:p14="http://schemas.microsoft.com/office/powerpoint/2010/main" val="4170527345"/>
                </p:ext>
              </p:extLst>
            </p:nvPr>
          </p:nvGraphicFramePr>
          <p:xfrm>
            <a:off x="7885919" y="4503533"/>
            <a:ext cx="2615557" cy="1742486"/>
          </p:xfrm>
          <a:graphic>
            <a:graphicData uri="http://schemas.openxmlformats.org/drawingml/2006/chart">
              <c:chart xmlns:c="http://schemas.openxmlformats.org/drawingml/2006/chart" xmlns:r="http://schemas.openxmlformats.org/officeDocument/2006/relationships" r:id="rId8"/>
            </a:graphicData>
          </a:graphic>
        </p:graphicFrame>
      </p:grpSp>
      <p:sp>
        <p:nvSpPr>
          <p:cNvPr id="102" name="Oval 101"/>
          <p:cNvSpPr/>
          <p:nvPr/>
        </p:nvSpPr>
        <p:spPr>
          <a:xfrm rot="10800000">
            <a:off x="4726578" y="2364392"/>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63" name="Straight Arrow Connector 62"/>
          <p:cNvCxnSpPr>
            <a:stCxn id="102" idx="2"/>
            <a:endCxn id="96" idx="1"/>
          </p:cNvCxnSpPr>
          <p:nvPr/>
        </p:nvCxnSpPr>
        <p:spPr>
          <a:xfrm>
            <a:off x="4845340" y="2423828"/>
            <a:ext cx="599467" cy="4953"/>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11" name="Oval 110"/>
          <p:cNvSpPr/>
          <p:nvPr/>
        </p:nvSpPr>
        <p:spPr>
          <a:xfrm rot="10800000">
            <a:off x="6813592" y="2364392"/>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Oval 111"/>
          <p:cNvSpPr/>
          <p:nvPr/>
        </p:nvSpPr>
        <p:spPr>
          <a:xfrm rot="10800000">
            <a:off x="3364737" y="3517720"/>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3" name="Oval 112"/>
          <p:cNvSpPr/>
          <p:nvPr/>
        </p:nvSpPr>
        <p:spPr>
          <a:xfrm rot="10800000">
            <a:off x="8869110" y="3517222"/>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Oval 116"/>
          <p:cNvSpPr/>
          <p:nvPr/>
        </p:nvSpPr>
        <p:spPr>
          <a:xfrm rot="10800000">
            <a:off x="6098537" y="2801719"/>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8" name="Oval 117"/>
          <p:cNvSpPr/>
          <p:nvPr/>
        </p:nvSpPr>
        <p:spPr>
          <a:xfrm rot="10800000">
            <a:off x="5365056" y="5179311"/>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9" name="Oval 118"/>
          <p:cNvSpPr/>
          <p:nvPr/>
        </p:nvSpPr>
        <p:spPr>
          <a:xfrm rot="10800000">
            <a:off x="6807086" y="5179312"/>
            <a:ext cx="118762" cy="118872"/>
          </a:xfrm>
          <a:prstGeom prst="ellipse">
            <a:avLst/>
          </a:prstGeom>
          <a:solidFill>
            <a:schemeClr val="bg1">
              <a:lumMod val="6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20" name="Straight Arrow Connector 119"/>
          <p:cNvCxnSpPr>
            <a:stCxn id="112" idx="0"/>
            <a:endCxn id="86" idx="0"/>
          </p:cNvCxnSpPr>
          <p:nvPr/>
        </p:nvCxnSpPr>
        <p:spPr>
          <a:xfrm flipH="1">
            <a:off x="3420631" y="3636592"/>
            <a:ext cx="3487" cy="456378"/>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22" name="Straight Arrow Connector 121"/>
          <p:cNvCxnSpPr>
            <a:stCxn id="117" idx="0"/>
            <a:endCxn id="88" idx="0"/>
          </p:cNvCxnSpPr>
          <p:nvPr/>
        </p:nvCxnSpPr>
        <p:spPr>
          <a:xfrm flipH="1">
            <a:off x="6155637" y="2920591"/>
            <a:ext cx="2281" cy="1895354"/>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24" name="Straight Arrow Connector 123"/>
          <p:cNvCxnSpPr>
            <a:stCxn id="118" idx="6"/>
            <a:endCxn id="86" idx="3"/>
          </p:cNvCxnSpPr>
          <p:nvPr/>
        </p:nvCxnSpPr>
        <p:spPr>
          <a:xfrm flipH="1" flipV="1">
            <a:off x="4792231" y="5235970"/>
            <a:ext cx="572825" cy="2777"/>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26" name="Straight Arrow Connector 125"/>
          <p:cNvCxnSpPr>
            <a:stCxn id="119" idx="2"/>
            <a:endCxn id="97" idx="1"/>
          </p:cNvCxnSpPr>
          <p:nvPr/>
        </p:nvCxnSpPr>
        <p:spPr>
          <a:xfrm flipV="1">
            <a:off x="6925848" y="5235970"/>
            <a:ext cx="632206" cy="2778"/>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28" name="Straight Arrow Connector 127"/>
          <p:cNvCxnSpPr>
            <a:stCxn id="113" idx="0"/>
            <a:endCxn id="97" idx="0"/>
          </p:cNvCxnSpPr>
          <p:nvPr/>
        </p:nvCxnSpPr>
        <p:spPr>
          <a:xfrm>
            <a:off x="8928491" y="3636094"/>
            <a:ext cx="1163" cy="456876"/>
          </a:xfrm>
          <a:prstGeom prst="straightConnector1">
            <a:avLst/>
          </a:prstGeom>
          <a:ln w="9525" cap="flat" cmpd="sng" algn="ctr">
            <a:solidFill>
              <a:schemeClr val="accent3"/>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31" name="Arc 130"/>
          <p:cNvSpPr/>
          <p:nvPr/>
        </p:nvSpPr>
        <p:spPr>
          <a:xfrm>
            <a:off x="4782472" y="1356318"/>
            <a:ext cx="2775348" cy="502929"/>
          </a:xfrm>
          <a:prstGeom prst="arc">
            <a:avLst>
              <a:gd name="adj1" fmla="val 10858503"/>
              <a:gd name="adj2" fmla="val 0"/>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32" name="Arc 131"/>
          <p:cNvSpPr/>
          <p:nvPr/>
        </p:nvSpPr>
        <p:spPr>
          <a:xfrm flipV="1">
            <a:off x="4782472" y="5641915"/>
            <a:ext cx="2775348" cy="523979"/>
          </a:xfrm>
          <a:prstGeom prst="arc">
            <a:avLst>
              <a:gd name="adj1" fmla="val 10858503"/>
              <a:gd name="adj2" fmla="val 0"/>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grpSp>
        <p:nvGrpSpPr>
          <p:cNvPr id="133" name="Group 132"/>
          <p:cNvGrpSpPr/>
          <p:nvPr/>
        </p:nvGrpSpPr>
        <p:grpSpPr>
          <a:xfrm>
            <a:off x="5656043" y="5999724"/>
            <a:ext cx="862383" cy="279133"/>
            <a:chOff x="6758468" y="3025228"/>
            <a:chExt cx="830845" cy="279133"/>
          </a:xfrm>
        </p:grpSpPr>
        <p:sp>
          <p:nvSpPr>
            <p:cNvPr id="134" name="Rounded Rectangle 133"/>
            <p:cNvSpPr/>
            <p:nvPr/>
          </p:nvSpPr>
          <p:spPr>
            <a:xfrm>
              <a:off x="6758468" y="3025228"/>
              <a:ext cx="830845" cy="279133"/>
            </a:xfrm>
            <a:prstGeom prst="roundRect">
              <a:avLst>
                <a:gd name="adj" fmla="val 7324"/>
              </a:avLst>
            </a:prstGeom>
            <a:solidFill>
              <a:srgbClr val="FE8301"/>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6" name="TextBox 135"/>
            <p:cNvSpPr txBox="1"/>
            <p:nvPr/>
          </p:nvSpPr>
          <p:spPr>
            <a:xfrm>
              <a:off x="6854049" y="3025228"/>
              <a:ext cx="639682" cy="253916"/>
            </a:xfrm>
            <a:prstGeom prst="rect">
              <a:avLst/>
            </a:prstGeom>
            <a:noFill/>
          </p:spPr>
          <p:txBody>
            <a:bodyPr wrap="none" rtlCol="0">
              <a:spAutoFit/>
            </a:bodyPr>
            <a:lstStyle/>
            <a:p>
              <a:pPr algn="ctr"/>
              <a:r>
                <a:rPr lang="en-US" sz="1050" b="1" dirty="0">
                  <a:solidFill>
                    <a:schemeClr val="bg1"/>
                  </a:solidFill>
                  <a:latin typeface="Lato"/>
                </a:rPr>
                <a:t>Shorter</a:t>
              </a:r>
            </a:p>
          </p:txBody>
        </p:sp>
      </p:grpSp>
    </p:spTree>
    <p:extLst>
      <p:ext uri="{BB962C8B-B14F-4D97-AF65-F5344CB8AC3E}">
        <p14:creationId xmlns:p14="http://schemas.microsoft.com/office/powerpoint/2010/main" val="3372112179"/>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heel(1)">
                                      <p:cBhvr>
                                        <p:cTn id="7" dur="250"/>
                                        <p:tgtEl>
                                          <p:spTgt spid="4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250"/>
                                        <p:tgtEl>
                                          <p:spTgt spid="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250"/>
                                        <p:tgtEl>
                                          <p:spTgt spid="7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6">
                                            <p:graphicEl>
                                              <a:chart seriesIdx="-3" categoryIdx="-3" bldStep="gridLegend"/>
                                            </p:graphicEl>
                                          </p:spTgt>
                                        </p:tgtEl>
                                        <p:attrNameLst>
                                          <p:attrName>style.visibility</p:attrName>
                                        </p:attrNameLst>
                                      </p:cBhvr>
                                      <p:to>
                                        <p:strVal val="visible"/>
                                      </p:to>
                                    </p:set>
                                    <p:animEffect transition="in" filter="wipe(down)">
                                      <p:cBhvr>
                                        <p:cTn id="16" dur="250"/>
                                        <p:tgtEl>
                                          <p:spTgt spid="36">
                                            <p:graphicEl>
                                              <a:chart seriesIdx="-3" categoryIdx="-3" bldStep="gridLegend"/>
                                            </p:graphicEl>
                                          </p:spTgt>
                                        </p:tgtEl>
                                      </p:cBhvr>
                                    </p:animEffect>
                                  </p:childTnLst>
                                </p:cTn>
                              </p:par>
                            </p:childTnLst>
                          </p:cTn>
                        </p:par>
                        <p:par>
                          <p:cTn id="17" fill="hold">
                            <p:stCondLst>
                              <p:cond delay="250"/>
                            </p:stCondLst>
                            <p:childTnLst>
                              <p:par>
                                <p:cTn id="18" presetID="22" presetClass="entr" presetSubtype="4" fill="hold" grpId="0" nodeType="afterEffect">
                                  <p:stCondLst>
                                    <p:cond delay="0"/>
                                  </p:stCondLst>
                                  <p:childTnLst>
                                    <p:set>
                                      <p:cBhvr>
                                        <p:cTn id="19" dur="1" fill="hold">
                                          <p:stCondLst>
                                            <p:cond delay="0"/>
                                          </p:stCondLst>
                                        </p:cTn>
                                        <p:tgtEl>
                                          <p:spTgt spid="36">
                                            <p:graphicEl>
                                              <a:chart seriesIdx="0" categoryIdx="0" bldStep="ptInSeries"/>
                                            </p:graphicEl>
                                          </p:spTgt>
                                        </p:tgtEl>
                                        <p:attrNameLst>
                                          <p:attrName>style.visibility</p:attrName>
                                        </p:attrNameLst>
                                      </p:cBhvr>
                                      <p:to>
                                        <p:strVal val="visible"/>
                                      </p:to>
                                    </p:set>
                                    <p:animEffect transition="in" filter="wipe(down)">
                                      <p:cBhvr>
                                        <p:cTn id="20" dur="250"/>
                                        <p:tgtEl>
                                          <p:spTgt spid="36">
                                            <p:graphicEl>
                                              <a:chart seriesIdx="0" categoryIdx="0" bldStep="ptInSeries"/>
                                            </p:graphicEl>
                                          </p:spTgt>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36">
                                            <p:graphicEl>
                                              <a:chart seriesIdx="0" categoryIdx="1" bldStep="ptInSeries"/>
                                            </p:graphicEl>
                                          </p:spTgt>
                                        </p:tgtEl>
                                        <p:attrNameLst>
                                          <p:attrName>style.visibility</p:attrName>
                                        </p:attrNameLst>
                                      </p:cBhvr>
                                      <p:to>
                                        <p:strVal val="visible"/>
                                      </p:to>
                                    </p:set>
                                    <p:animEffect transition="in" filter="wipe(down)">
                                      <p:cBhvr>
                                        <p:cTn id="24" dur="250"/>
                                        <p:tgtEl>
                                          <p:spTgt spid="36">
                                            <p:graphicEl>
                                              <a:chart seriesIdx="0" categoryIdx="1" bldStep="ptInSeries"/>
                                            </p:graphicEl>
                                          </p:spTgt>
                                        </p:tgtEl>
                                      </p:cBhvr>
                                    </p:animEffect>
                                  </p:childTnLst>
                                </p:cTn>
                              </p:par>
                            </p:childTnLst>
                          </p:cTn>
                        </p:par>
                        <p:par>
                          <p:cTn id="25" fill="hold">
                            <p:stCondLst>
                              <p:cond delay="750"/>
                            </p:stCondLst>
                            <p:childTnLst>
                              <p:par>
                                <p:cTn id="26" presetID="22" presetClass="entr" presetSubtype="4" fill="hold" grpId="0" nodeType="afterEffect">
                                  <p:stCondLst>
                                    <p:cond delay="0"/>
                                  </p:stCondLst>
                                  <p:childTnLst>
                                    <p:set>
                                      <p:cBhvr>
                                        <p:cTn id="27" dur="1" fill="hold">
                                          <p:stCondLst>
                                            <p:cond delay="0"/>
                                          </p:stCondLst>
                                        </p:cTn>
                                        <p:tgtEl>
                                          <p:spTgt spid="36">
                                            <p:graphicEl>
                                              <a:chart seriesIdx="0" categoryIdx="2" bldStep="ptInSeries"/>
                                            </p:graphicEl>
                                          </p:spTgt>
                                        </p:tgtEl>
                                        <p:attrNameLst>
                                          <p:attrName>style.visibility</p:attrName>
                                        </p:attrNameLst>
                                      </p:cBhvr>
                                      <p:to>
                                        <p:strVal val="visible"/>
                                      </p:to>
                                    </p:set>
                                    <p:animEffect transition="in" filter="wipe(down)">
                                      <p:cBhvr>
                                        <p:cTn id="28" dur="250"/>
                                        <p:tgtEl>
                                          <p:spTgt spid="36">
                                            <p:graphicEl>
                                              <a:chart seriesIdx="0" categoryIdx="2" bldStep="ptInSeries"/>
                                            </p:graphicEl>
                                          </p:spTgt>
                                        </p:tgtEl>
                                      </p:cBhvr>
                                    </p:animEffect>
                                  </p:childTnLst>
                                </p:cTn>
                              </p:par>
                            </p:childTnLst>
                          </p:cTn>
                        </p:par>
                        <p:par>
                          <p:cTn id="29" fill="hold">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36">
                                            <p:graphicEl>
                                              <a:chart seriesIdx="0" categoryIdx="3" bldStep="ptInSeries"/>
                                            </p:graphicEl>
                                          </p:spTgt>
                                        </p:tgtEl>
                                        <p:attrNameLst>
                                          <p:attrName>style.visibility</p:attrName>
                                        </p:attrNameLst>
                                      </p:cBhvr>
                                      <p:to>
                                        <p:strVal val="visible"/>
                                      </p:to>
                                    </p:set>
                                    <p:animEffect transition="in" filter="wipe(down)">
                                      <p:cBhvr>
                                        <p:cTn id="32" dur="250"/>
                                        <p:tgtEl>
                                          <p:spTgt spid="36">
                                            <p:graphicEl>
                                              <a:chart seriesIdx="0" categoryIdx="3" bldStep="ptInSeries"/>
                                            </p:graphicEl>
                                          </p:spTgt>
                                        </p:tgtEl>
                                      </p:cBhvr>
                                    </p:animEffect>
                                  </p:childTnLst>
                                </p:cTn>
                              </p:par>
                            </p:childTnLst>
                          </p:cTn>
                        </p:par>
                        <p:par>
                          <p:cTn id="33" fill="hold">
                            <p:stCondLst>
                              <p:cond delay="1250"/>
                            </p:stCondLst>
                            <p:childTnLst>
                              <p:par>
                                <p:cTn id="34" presetID="22" presetClass="entr" presetSubtype="4" fill="hold" grpId="0" nodeType="afterEffect">
                                  <p:stCondLst>
                                    <p:cond delay="0"/>
                                  </p:stCondLst>
                                  <p:childTnLst>
                                    <p:set>
                                      <p:cBhvr>
                                        <p:cTn id="35" dur="1" fill="hold">
                                          <p:stCondLst>
                                            <p:cond delay="0"/>
                                          </p:stCondLst>
                                        </p:cTn>
                                        <p:tgtEl>
                                          <p:spTgt spid="36">
                                            <p:graphicEl>
                                              <a:chart seriesIdx="0" categoryIdx="4" bldStep="ptInSeries"/>
                                            </p:graphicEl>
                                          </p:spTgt>
                                        </p:tgtEl>
                                        <p:attrNameLst>
                                          <p:attrName>style.visibility</p:attrName>
                                        </p:attrNameLst>
                                      </p:cBhvr>
                                      <p:to>
                                        <p:strVal val="visible"/>
                                      </p:to>
                                    </p:set>
                                    <p:animEffect transition="in" filter="wipe(down)">
                                      <p:cBhvr>
                                        <p:cTn id="36" dur="250"/>
                                        <p:tgtEl>
                                          <p:spTgt spid="36">
                                            <p:graphicEl>
                                              <a:chart seriesIdx="0" categoryIdx="4" bldStep="ptInSeries"/>
                                            </p:graphicEl>
                                          </p:spTgt>
                                        </p:tgtEl>
                                      </p:cBhvr>
                                    </p:animEffect>
                                  </p:childTnLst>
                                </p:cTn>
                              </p:par>
                            </p:childTnLst>
                          </p:cTn>
                        </p:par>
                        <p:par>
                          <p:cTn id="37" fill="hold">
                            <p:stCondLst>
                              <p:cond delay="1500"/>
                            </p:stCondLst>
                            <p:childTnLst>
                              <p:par>
                                <p:cTn id="38" presetID="22" presetClass="entr" presetSubtype="4" fill="hold" grpId="0" nodeType="afterEffect">
                                  <p:stCondLst>
                                    <p:cond delay="0"/>
                                  </p:stCondLst>
                                  <p:childTnLst>
                                    <p:set>
                                      <p:cBhvr>
                                        <p:cTn id="39" dur="1" fill="hold">
                                          <p:stCondLst>
                                            <p:cond delay="0"/>
                                          </p:stCondLst>
                                        </p:cTn>
                                        <p:tgtEl>
                                          <p:spTgt spid="36">
                                            <p:graphicEl>
                                              <a:chart seriesIdx="0" categoryIdx="5" bldStep="ptInSeries"/>
                                            </p:graphicEl>
                                          </p:spTgt>
                                        </p:tgtEl>
                                        <p:attrNameLst>
                                          <p:attrName>style.visibility</p:attrName>
                                        </p:attrNameLst>
                                      </p:cBhvr>
                                      <p:to>
                                        <p:strVal val="visible"/>
                                      </p:to>
                                    </p:set>
                                    <p:animEffect transition="in" filter="wipe(down)">
                                      <p:cBhvr>
                                        <p:cTn id="40" dur="250"/>
                                        <p:tgtEl>
                                          <p:spTgt spid="36">
                                            <p:graphicEl>
                                              <a:chart seriesIdx="0" categoryIdx="5" bldStep="ptInSeries"/>
                                            </p:graphicEl>
                                          </p:spTgt>
                                        </p:tgtEl>
                                      </p:cBhvr>
                                    </p:animEffect>
                                  </p:childTnLst>
                                </p:cTn>
                              </p:par>
                            </p:childTnLst>
                          </p:cTn>
                        </p:par>
                        <p:par>
                          <p:cTn id="41" fill="hold">
                            <p:stCondLst>
                              <p:cond delay="1750"/>
                            </p:stCondLst>
                            <p:childTnLst>
                              <p:par>
                                <p:cTn id="42" presetID="22" presetClass="entr" presetSubtype="4" fill="hold" grpId="0" nodeType="afterEffect">
                                  <p:stCondLst>
                                    <p:cond delay="0"/>
                                  </p:stCondLst>
                                  <p:childTnLst>
                                    <p:set>
                                      <p:cBhvr>
                                        <p:cTn id="43" dur="1" fill="hold">
                                          <p:stCondLst>
                                            <p:cond delay="0"/>
                                          </p:stCondLst>
                                        </p:cTn>
                                        <p:tgtEl>
                                          <p:spTgt spid="36">
                                            <p:graphicEl>
                                              <a:chart seriesIdx="0" categoryIdx="6" bldStep="ptInSeries"/>
                                            </p:graphicEl>
                                          </p:spTgt>
                                        </p:tgtEl>
                                        <p:attrNameLst>
                                          <p:attrName>style.visibility</p:attrName>
                                        </p:attrNameLst>
                                      </p:cBhvr>
                                      <p:to>
                                        <p:strVal val="visible"/>
                                      </p:to>
                                    </p:set>
                                    <p:animEffect transition="in" filter="wipe(down)">
                                      <p:cBhvr>
                                        <p:cTn id="44" dur="250"/>
                                        <p:tgtEl>
                                          <p:spTgt spid="36">
                                            <p:graphicEl>
                                              <a:chart seriesIdx="0" categoryIdx="6" bldStep="ptInSeries"/>
                                            </p:graphicEl>
                                          </p:spTgt>
                                        </p:tgtEl>
                                      </p:cBhvr>
                                    </p:animEffect>
                                  </p:childTnLst>
                                </p:cTn>
                              </p:par>
                            </p:childTnLst>
                          </p:cTn>
                        </p:par>
                        <p:par>
                          <p:cTn id="45" fill="hold">
                            <p:stCondLst>
                              <p:cond delay="2000"/>
                            </p:stCondLst>
                            <p:childTnLst>
                              <p:par>
                                <p:cTn id="46" presetID="22" presetClass="entr" presetSubtype="4" fill="hold" grpId="0" nodeType="afterEffect">
                                  <p:stCondLst>
                                    <p:cond delay="0"/>
                                  </p:stCondLst>
                                  <p:childTnLst>
                                    <p:set>
                                      <p:cBhvr>
                                        <p:cTn id="47" dur="1" fill="hold">
                                          <p:stCondLst>
                                            <p:cond delay="0"/>
                                          </p:stCondLst>
                                        </p:cTn>
                                        <p:tgtEl>
                                          <p:spTgt spid="36">
                                            <p:graphicEl>
                                              <a:chart seriesIdx="0" categoryIdx="7" bldStep="ptInSeries"/>
                                            </p:graphicEl>
                                          </p:spTgt>
                                        </p:tgtEl>
                                        <p:attrNameLst>
                                          <p:attrName>style.visibility</p:attrName>
                                        </p:attrNameLst>
                                      </p:cBhvr>
                                      <p:to>
                                        <p:strVal val="visible"/>
                                      </p:to>
                                    </p:set>
                                    <p:animEffect transition="in" filter="wipe(down)">
                                      <p:cBhvr>
                                        <p:cTn id="48" dur="250"/>
                                        <p:tgtEl>
                                          <p:spTgt spid="36">
                                            <p:graphicEl>
                                              <a:chart seriesIdx="0" categoryIdx="7" bldStep="ptInSeries"/>
                                            </p:graphicEl>
                                          </p:spTgt>
                                        </p:tgtEl>
                                      </p:cBhvr>
                                    </p:animEffect>
                                  </p:childTnLst>
                                </p:cTn>
                              </p:par>
                            </p:childTnLst>
                          </p:cTn>
                        </p:par>
                        <p:par>
                          <p:cTn id="49" fill="hold">
                            <p:stCondLst>
                              <p:cond delay="2250"/>
                            </p:stCondLst>
                            <p:childTnLst>
                              <p:par>
                                <p:cTn id="50" presetID="22" presetClass="entr" presetSubtype="4" fill="hold" grpId="0" nodeType="afterEffect">
                                  <p:stCondLst>
                                    <p:cond delay="0"/>
                                  </p:stCondLst>
                                  <p:childTnLst>
                                    <p:set>
                                      <p:cBhvr>
                                        <p:cTn id="51" dur="1" fill="hold">
                                          <p:stCondLst>
                                            <p:cond delay="0"/>
                                          </p:stCondLst>
                                        </p:cTn>
                                        <p:tgtEl>
                                          <p:spTgt spid="36">
                                            <p:graphicEl>
                                              <a:chart seriesIdx="0" categoryIdx="8" bldStep="ptInSeries"/>
                                            </p:graphicEl>
                                          </p:spTgt>
                                        </p:tgtEl>
                                        <p:attrNameLst>
                                          <p:attrName>style.visibility</p:attrName>
                                        </p:attrNameLst>
                                      </p:cBhvr>
                                      <p:to>
                                        <p:strVal val="visible"/>
                                      </p:to>
                                    </p:set>
                                    <p:animEffect transition="in" filter="wipe(down)">
                                      <p:cBhvr>
                                        <p:cTn id="52" dur="250"/>
                                        <p:tgtEl>
                                          <p:spTgt spid="36">
                                            <p:graphicEl>
                                              <a:chart seriesIdx="0" categoryIdx="8" bldStep="ptInSeries"/>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2"/>
                                        </p:tgtEl>
                                        <p:attrNameLst>
                                          <p:attrName>style.visibility</p:attrName>
                                        </p:attrNameLst>
                                      </p:cBhvr>
                                      <p:to>
                                        <p:strVal val="visible"/>
                                      </p:to>
                                    </p:set>
                                    <p:animEffect transition="in" filter="fade">
                                      <p:cBhvr>
                                        <p:cTn id="57" dur="250"/>
                                        <p:tgtEl>
                                          <p:spTgt spid="102"/>
                                        </p:tgtEl>
                                      </p:cBhvr>
                                    </p:animEffect>
                                  </p:childTnLst>
                                </p:cTn>
                              </p:par>
                            </p:childTnLst>
                          </p:cTn>
                        </p:par>
                        <p:par>
                          <p:cTn id="58" fill="hold">
                            <p:stCondLst>
                              <p:cond delay="250"/>
                            </p:stCondLst>
                            <p:childTnLst>
                              <p:par>
                                <p:cTn id="59" presetID="22" presetClass="entr" presetSubtype="8" fill="hold" nodeType="after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wipe(left)">
                                      <p:cBhvr>
                                        <p:cTn id="61" dur="250"/>
                                        <p:tgtEl>
                                          <p:spTgt spid="63"/>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250"/>
                                        <p:tgtEl>
                                          <p:spTgt spid="71"/>
                                        </p:tgtEl>
                                      </p:cBhvr>
                                    </p:animEffect>
                                  </p:childTnLst>
                                </p:cTn>
                              </p:par>
                            </p:childTnLst>
                          </p:cTn>
                        </p:par>
                        <p:par>
                          <p:cTn id="66" fill="hold">
                            <p:stCondLst>
                              <p:cond delay="750"/>
                            </p:stCondLst>
                            <p:childTnLst>
                              <p:par>
                                <p:cTn id="67" presetID="10" presetClass="entr" presetSubtype="0" fill="hold" grpId="0" nodeType="afterEffect">
                                  <p:stCondLst>
                                    <p:cond delay="0"/>
                                  </p:stCondLst>
                                  <p:childTnLst>
                                    <p:set>
                                      <p:cBhvr>
                                        <p:cTn id="68" dur="1" fill="hold">
                                          <p:stCondLst>
                                            <p:cond delay="0"/>
                                          </p:stCondLst>
                                        </p:cTn>
                                        <p:tgtEl>
                                          <p:spTgt spid="111"/>
                                        </p:tgtEl>
                                        <p:attrNameLst>
                                          <p:attrName>style.visibility</p:attrName>
                                        </p:attrNameLst>
                                      </p:cBhvr>
                                      <p:to>
                                        <p:strVal val="visible"/>
                                      </p:to>
                                    </p:set>
                                    <p:animEffect transition="in" filter="fade">
                                      <p:cBhvr>
                                        <p:cTn id="69" dur="250"/>
                                        <p:tgtEl>
                                          <p:spTgt spid="111"/>
                                        </p:tgtEl>
                                      </p:cBhvr>
                                    </p:animEffect>
                                  </p:childTnLst>
                                </p:cTn>
                              </p:par>
                            </p:childTnLst>
                          </p:cTn>
                        </p:par>
                        <p:par>
                          <p:cTn id="70" fill="hold">
                            <p:stCondLst>
                              <p:cond delay="1000"/>
                            </p:stCondLst>
                            <p:childTnLst>
                              <p:par>
                                <p:cTn id="71" presetID="22" presetClass="entr" presetSubtype="8" fill="hold" nodeType="afterEffect">
                                  <p:stCondLst>
                                    <p:cond delay="0"/>
                                  </p:stCondLst>
                                  <p:childTnLst>
                                    <p:set>
                                      <p:cBhvr>
                                        <p:cTn id="72" dur="1" fill="hold">
                                          <p:stCondLst>
                                            <p:cond delay="0"/>
                                          </p:stCondLst>
                                        </p:cTn>
                                        <p:tgtEl>
                                          <p:spTgt spid="78"/>
                                        </p:tgtEl>
                                        <p:attrNameLst>
                                          <p:attrName>style.visibility</p:attrName>
                                        </p:attrNameLst>
                                      </p:cBhvr>
                                      <p:to>
                                        <p:strVal val="visible"/>
                                      </p:to>
                                    </p:set>
                                    <p:animEffect transition="in" filter="wipe(left)">
                                      <p:cBhvr>
                                        <p:cTn id="73" dur="250"/>
                                        <p:tgtEl>
                                          <p:spTgt spid="78"/>
                                        </p:tgtEl>
                                      </p:cBhvr>
                                    </p:animEffect>
                                  </p:childTnLst>
                                </p:cTn>
                              </p:par>
                            </p:childTnLst>
                          </p:cTn>
                        </p:par>
                        <p:par>
                          <p:cTn id="74" fill="hold">
                            <p:stCondLst>
                              <p:cond delay="1250"/>
                            </p:stCondLst>
                            <p:childTnLst>
                              <p:par>
                                <p:cTn id="75" presetID="21" presetClass="entr" presetSubtype="1"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heel(1)">
                                      <p:cBhvr>
                                        <p:cTn id="77" dur="250"/>
                                        <p:tgtEl>
                                          <p:spTgt spid="3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25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25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250"/>
                                        <p:tgtEl>
                                          <p:spTgt spid="25"/>
                                        </p:tgtEl>
                                      </p:cBhvr>
                                    </p:animEffect>
                                  </p:childTnLst>
                                </p:cTn>
                              </p:par>
                            </p:childTnLst>
                          </p:cTn>
                        </p:par>
                        <p:par>
                          <p:cTn id="87" fill="hold">
                            <p:stCondLst>
                              <p:cond delay="1500"/>
                            </p:stCondLst>
                            <p:childTnLst>
                              <p:par>
                                <p:cTn id="88" presetID="22" presetClass="entr" presetSubtype="4"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wipe(down)">
                                      <p:cBhvr>
                                        <p:cTn id="90" dur="250"/>
                                        <p:tgtEl>
                                          <p:spTgt spid="26"/>
                                        </p:tgtEl>
                                      </p:cBhvr>
                                    </p:animEffect>
                                  </p:childTnLst>
                                </p:cTn>
                              </p:par>
                            </p:childTnLst>
                          </p:cTn>
                        </p:par>
                        <p:par>
                          <p:cTn id="91" fill="hold">
                            <p:stCondLst>
                              <p:cond delay="1750"/>
                            </p:stCondLst>
                            <p:childTnLst>
                              <p:par>
                                <p:cTn id="92" presetID="42" presetClass="path" presetSubtype="0" accel="50000" decel="50000" fill="hold" grpId="1" nodeType="afterEffect">
                                  <p:stCondLst>
                                    <p:cond delay="0"/>
                                  </p:stCondLst>
                                  <p:childTnLst>
                                    <p:animMotion origin="layout" path="M -2.29167E-6 4.81481E-6 L 0.02201 0.00023 " pathEditMode="relative" rAng="0" ptsTypes="AA">
                                      <p:cBhvr>
                                        <p:cTn id="93" dur="1000" fill="hold"/>
                                        <p:tgtEl>
                                          <p:spTgt spid="26"/>
                                        </p:tgtEl>
                                        <p:attrNameLst>
                                          <p:attrName>ppt_x</p:attrName>
                                          <p:attrName>ppt_y</p:attrName>
                                        </p:attrNameLst>
                                      </p:cBhvr>
                                      <p:rCtr x="1094" y="0"/>
                                    </p:animMotion>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17"/>
                                        </p:tgtEl>
                                        <p:attrNameLst>
                                          <p:attrName>style.visibility</p:attrName>
                                        </p:attrNameLst>
                                      </p:cBhvr>
                                      <p:to>
                                        <p:strVal val="visible"/>
                                      </p:to>
                                    </p:set>
                                    <p:animEffect transition="in" filter="fade">
                                      <p:cBhvr>
                                        <p:cTn id="98" dur="250"/>
                                        <p:tgtEl>
                                          <p:spTgt spid="117"/>
                                        </p:tgtEl>
                                      </p:cBhvr>
                                    </p:animEffect>
                                  </p:childTnLst>
                                </p:cTn>
                              </p:par>
                            </p:childTnLst>
                          </p:cTn>
                        </p:par>
                        <p:par>
                          <p:cTn id="99" fill="hold">
                            <p:stCondLst>
                              <p:cond delay="250"/>
                            </p:stCondLst>
                            <p:childTnLst>
                              <p:par>
                                <p:cTn id="100" presetID="22" presetClass="entr" presetSubtype="1" fill="hold" nodeType="afterEffect">
                                  <p:stCondLst>
                                    <p:cond delay="0"/>
                                  </p:stCondLst>
                                  <p:childTnLst>
                                    <p:set>
                                      <p:cBhvr>
                                        <p:cTn id="101" dur="1" fill="hold">
                                          <p:stCondLst>
                                            <p:cond delay="0"/>
                                          </p:stCondLst>
                                        </p:cTn>
                                        <p:tgtEl>
                                          <p:spTgt spid="122"/>
                                        </p:tgtEl>
                                        <p:attrNameLst>
                                          <p:attrName>style.visibility</p:attrName>
                                        </p:attrNameLst>
                                      </p:cBhvr>
                                      <p:to>
                                        <p:strVal val="visible"/>
                                      </p:to>
                                    </p:set>
                                    <p:animEffect transition="in" filter="wipe(up)">
                                      <p:cBhvr>
                                        <p:cTn id="102" dur="250"/>
                                        <p:tgtEl>
                                          <p:spTgt spid="122"/>
                                        </p:tgtEl>
                                      </p:cBhvr>
                                    </p:animEffect>
                                  </p:childTnLst>
                                </p:cTn>
                              </p:par>
                            </p:childTnLst>
                          </p:cTn>
                        </p:par>
                        <p:par>
                          <p:cTn id="103" fill="hold">
                            <p:stCondLst>
                              <p:cond delay="500"/>
                            </p:stCondLst>
                            <p:childTnLst>
                              <p:par>
                                <p:cTn id="104" presetID="10" presetClass="entr" presetSubtype="0" fill="hold" nodeType="afterEffect">
                                  <p:stCondLst>
                                    <p:cond delay="0"/>
                                  </p:stCondLst>
                                  <p:childTnLst>
                                    <p:set>
                                      <p:cBhvr>
                                        <p:cTn id="105" dur="1" fill="hold">
                                          <p:stCondLst>
                                            <p:cond delay="0"/>
                                          </p:stCondLst>
                                        </p:cTn>
                                        <p:tgtEl>
                                          <p:spTgt spid="87"/>
                                        </p:tgtEl>
                                        <p:attrNameLst>
                                          <p:attrName>style.visibility</p:attrName>
                                        </p:attrNameLst>
                                      </p:cBhvr>
                                      <p:to>
                                        <p:strVal val="visible"/>
                                      </p:to>
                                    </p:set>
                                    <p:animEffect transition="in" filter="fade">
                                      <p:cBhvr>
                                        <p:cTn id="106" dur="250"/>
                                        <p:tgtEl>
                                          <p:spTgt spid="87"/>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18"/>
                                        </p:tgtEl>
                                        <p:attrNameLst>
                                          <p:attrName>style.visibility</p:attrName>
                                        </p:attrNameLst>
                                      </p:cBhvr>
                                      <p:to>
                                        <p:strVal val="visible"/>
                                      </p:to>
                                    </p:set>
                                    <p:animEffect transition="in" filter="fade">
                                      <p:cBhvr>
                                        <p:cTn id="111" dur="250"/>
                                        <p:tgtEl>
                                          <p:spTgt spid="11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112"/>
                                        </p:tgtEl>
                                        <p:attrNameLst>
                                          <p:attrName>style.visibility</p:attrName>
                                        </p:attrNameLst>
                                      </p:cBhvr>
                                      <p:to>
                                        <p:strVal val="visible"/>
                                      </p:to>
                                    </p:set>
                                    <p:animEffect transition="in" filter="fade">
                                      <p:cBhvr>
                                        <p:cTn id="114" dur="250"/>
                                        <p:tgtEl>
                                          <p:spTgt spid="11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19"/>
                                        </p:tgtEl>
                                        <p:attrNameLst>
                                          <p:attrName>style.visibility</p:attrName>
                                        </p:attrNameLst>
                                      </p:cBhvr>
                                      <p:to>
                                        <p:strVal val="visible"/>
                                      </p:to>
                                    </p:set>
                                    <p:animEffect transition="in" filter="fade">
                                      <p:cBhvr>
                                        <p:cTn id="117" dur="250"/>
                                        <p:tgtEl>
                                          <p:spTgt spid="11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13"/>
                                        </p:tgtEl>
                                        <p:attrNameLst>
                                          <p:attrName>style.visibility</p:attrName>
                                        </p:attrNameLst>
                                      </p:cBhvr>
                                      <p:to>
                                        <p:strVal val="visible"/>
                                      </p:to>
                                    </p:set>
                                    <p:animEffect transition="in" filter="fade">
                                      <p:cBhvr>
                                        <p:cTn id="120" dur="250"/>
                                        <p:tgtEl>
                                          <p:spTgt spid="113"/>
                                        </p:tgtEl>
                                      </p:cBhvr>
                                    </p:animEffect>
                                  </p:childTnLst>
                                </p:cTn>
                              </p:par>
                            </p:childTnLst>
                          </p:cTn>
                        </p:par>
                        <p:par>
                          <p:cTn id="121" fill="hold">
                            <p:stCondLst>
                              <p:cond delay="250"/>
                            </p:stCondLst>
                            <p:childTnLst>
                              <p:par>
                                <p:cTn id="122" presetID="22" presetClass="entr" presetSubtype="1" fill="hold" nodeType="afterEffect">
                                  <p:stCondLst>
                                    <p:cond delay="0"/>
                                  </p:stCondLst>
                                  <p:childTnLst>
                                    <p:set>
                                      <p:cBhvr>
                                        <p:cTn id="123" dur="1" fill="hold">
                                          <p:stCondLst>
                                            <p:cond delay="0"/>
                                          </p:stCondLst>
                                        </p:cTn>
                                        <p:tgtEl>
                                          <p:spTgt spid="120"/>
                                        </p:tgtEl>
                                        <p:attrNameLst>
                                          <p:attrName>style.visibility</p:attrName>
                                        </p:attrNameLst>
                                      </p:cBhvr>
                                      <p:to>
                                        <p:strVal val="visible"/>
                                      </p:to>
                                    </p:set>
                                    <p:animEffect transition="in" filter="wipe(up)">
                                      <p:cBhvr>
                                        <p:cTn id="124" dur="250"/>
                                        <p:tgtEl>
                                          <p:spTgt spid="120"/>
                                        </p:tgtEl>
                                      </p:cBhvr>
                                    </p:animEffect>
                                  </p:childTnLst>
                                </p:cTn>
                              </p:par>
                              <p:par>
                                <p:cTn id="125" presetID="22" presetClass="entr" presetSubtype="1" fill="hold" nodeType="withEffect">
                                  <p:stCondLst>
                                    <p:cond delay="0"/>
                                  </p:stCondLst>
                                  <p:childTnLst>
                                    <p:set>
                                      <p:cBhvr>
                                        <p:cTn id="126" dur="1" fill="hold">
                                          <p:stCondLst>
                                            <p:cond delay="0"/>
                                          </p:stCondLst>
                                        </p:cTn>
                                        <p:tgtEl>
                                          <p:spTgt spid="128"/>
                                        </p:tgtEl>
                                        <p:attrNameLst>
                                          <p:attrName>style.visibility</p:attrName>
                                        </p:attrNameLst>
                                      </p:cBhvr>
                                      <p:to>
                                        <p:strVal val="visible"/>
                                      </p:to>
                                    </p:set>
                                    <p:animEffect transition="in" filter="wipe(up)">
                                      <p:cBhvr>
                                        <p:cTn id="127" dur="250"/>
                                        <p:tgtEl>
                                          <p:spTgt spid="128"/>
                                        </p:tgtEl>
                                      </p:cBhvr>
                                    </p:animEffect>
                                  </p:childTnLst>
                                </p:cTn>
                              </p:par>
                              <p:par>
                                <p:cTn id="128" presetID="22" presetClass="entr" presetSubtype="2" fill="hold" nodeType="withEffect">
                                  <p:stCondLst>
                                    <p:cond delay="0"/>
                                  </p:stCondLst>
                                  <p:childTnLst>
                                    <p:set>
                                      <p:cBhvr>
                                        <p:cTn id="129" dur="1" fill="hold">
                                          <p:stCondLst>
                                            <p:cond delay="0"/>
                                          </p:stCondLst>
                                        </p:cTn>
                                        <p:tgtEl>
                                          <p:spTgt spid="124"/>
                                        </p:tgtEl>
                                        <p:attrNameLst>
                                          <p:attrName>style.visibility</p:attrName>
                                        </p:attrNameLst>
                                      </p:cBhvr>
                                      <p:to>
                                        <p:strVal val="visible"/>
                                      </p:to>
                                    </p:set>
                                    <p:animEffect transition="in" filter="wipe(right)">
                                      <p:cBhvr>
                                        <p:cTn id="130" dur="250"/>
                                        <p:tgtEl>
                                          <p:spTgt spid="124"/>
                                        </p:tgtEl>
                                      </p:cBhvr>
                                    </p:animEffect>
                                  </p:childTnLst>
                                </p:cTn>
                              </p:par>
                              <p:par>
                                <p:cTn id="131" presetID="22" presetClass="entr" presetSubtype="8" fill="hold" nodeType="withEffect">
                                  <p:stCondLst>
                                    <p:cond delay="0"/>
                                  </p:stCondLst>
                                  <p:childTnLst>
                                    <p:set>
                                      <p:cBhvr>
                                        <p:cTn id="132" dur="1" fill="hold">
                                          <p:stCondLst>
                                            <p:cond delay="0"/>
                                          </p:stCondLst>
                                        </p:cTn>
                                        <p:tgtEl>
                                          <p:spTgt spid="126"/>
                                        </p:tgtEl>
                                        <p:attrNameLst>
                                          <p:attrName>style.visibility</p:attrName>
                                        </p:attrNameLst>
                                      </p:cBhvr>
                                      <p:to>
                                        <p:strVal val="visible"/>
                                      </p:to>
                                    </p:set>
                                    <p:animEffect transition="in" filter="wipe(left)">
                                      <p:cBhvr>
                                        <p:cTn id="133" dur="250"/>
                                        <p:tgtEl>
                                          <p:spTgt spid="126"/>
                                        </p:tgtEl>
                                      </p:cBhvr>
                                    </p:animEffect>
                                  </p:childTnLst>
                                </p:cTn>
                              </p:par>
                            </p:childTnLst>
                          </p:cTn>
                        </p:par>
                        <p:par>
                          <p:cTn id="134" fill="hold">
                            <p:stCondLst>
                              <p:cond delay="500"/>
                            </p:stCondLst>
                            <p:childTnLst>
                              <p:par>
                                <p:cTn id="135" presetID="10" presetClass="entr" presetSubtype="0" fill="hold" nodeType="afterEffect">
                                  <p:stCondLst>
                                    <p:cond delay="0"/>
                                  </p:stCondLst>
                                  <p:childTnLst>
                                    <p:set>
                                      <p:cBhvr>
                                        <p:cTn id="136" dur="1" fill="hold">
                                          <p:stCondLst>
                                            <p:cond delay="0"/>
                                          </p:stCondLst>
                                        </p:cTn>
                                        <p:tgtEl>
                                          <p:spTgt spid="129"/>
                                        </p:tgtEl>
                                        <p:attrNameLst>
                                          <p:attrName>style.visibility</p:attrName>
                                        </p:attrNameLst>
                                      </p:cBhvr>
                                      <p:to>
                                        <p:strVal val="visible"/>
                                      </p:to>
                                    </p:set>
                                    <p:animEffect transition="in" filter="fade">
                                      <p:cBhvr>
                                        <p:cTn id="137" dur="250"/>
                                        <p:tgtEl>
                                          <p:spTgt spid="129"/>
                                        </p:tgtEl>
                                      </p:cBhvr>
                                    </p:animEffect>
                                  </p:childTnLst>
                                </p:cTn>
                              </p:par>
                              <p:par>
                                <p:cTn id="138" presetID="10" presetClass="entr" presetSubtype="0" fill="hold" nodeType="withEffect">
                                  <p:stCondLst>
                                    <p:cond delay="0"/>
                                  </p:stCondLst>
                                  <p:childTnLst>
                                    <p:set>
                                      <p:cBhvr>
                                        <p:cTn id="139" dur="1" fill="hold">
                                          <p:stCondLst>
                                            <p:cond delay="0"/>
                                          </p:stCondLst>
                                        </p:cTn>
                                        <p:tgtEl>
                                          <p:spTgt spid="130"/>
                                        </p:tgtEl>
                                        <p:attrNameLst>
                                          <p:attrName>style.visibility</p:attrName>
                                        </p:attrNameLst>
                                      </p:cBhvr>
                                      <p:to>
                                        <p:strVal val="visible"/>
                                      </p:to>
                                    </p:set>
                                    <p:animEffect transition="in" filter="fade">
                                      <p:cBhvr>
                                        <p:cTn id="140" dur="250"/>
                                        <p:tgtEl>
                                          <p:spTgt spid="130"/>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31"/>
                                        </p:tgtEl>
                                        <p:attrNameLst>
                                          <p:attrName>style.visibility</p:attrName>
                                        </p:attrNameLst>
                                      </p:cBhvr>
                                      <p:to>
                                        <p:strVal val="visible"/>
                                      </p:to>
                                    </p:set>
                                    <p:animEffect transition="in" filter="wipe(left)">
                                      <p:cBhvr>
                                        <p:cTn id="145" dur="250"/>
                                        <p:tgtEl>
                                          <p:spTgt spid="131"/>
                                        </p:tgtEl>
                                      </p:cBhvr>
                                    </p:animEffect>
                                  </p:childTnLst>
                                </p:cTn>
                              </p:par>
                            </p:childTnLst>
                          </p:cTn>
                        </p:par>
                        <p:par>
                          <p:cTn id="146" fill="hold">
                            <p:stCondLst>
                              <p:cond delay="250"/>
                            </p:stCondLst>
                            <p:childTnLst>
                              <p:par>
                                <p:cTn id="147" presetID="22" presetClass="entr" presetSubtype="2" fill="hold" grpId="0" nodeType="afterEffect">
                                  <p:stCondLst>
                                    <p:cond delay="0"/>
                                  </p:stCondLst>
                                  <p:childTnLst>
                                    <p:set>
                                      <p:cBhvr>
                                        <p:cTn id="148" dur="1" fill="hold">
                                          <p:stCondLst>
                                            <p:cond delay="0"/>
                                          </p:stCondLst>
                                        </p:cTn>
                                        <p:tgtEl>
                                          <p:spTgt spid="132"/>
                                        </p:tgtEl>
                                        <p:attrNameLst>
                                          <p:attrName>style.visibility</p:attrName>
                                        </p:attrNameLst>
                                      </p:cBhvr>
                                      <p:to>
                                        <p:strVal val="visible"/>
                                      </p:to>
                                    </p:set>
                                    <p:animEffect transition="in" filter="wipe(right)">
                                      <p:cBhvr>
                                        <p:cTn id="149" dur="250"/>
                                        <p:tgtEl>
                                          <p:spTgt spid="132"/>
                                        </p:tgtEl>
                                      </p:cBhvr>
                                    </p:animEffect>
                                  </p:childTnLst>
                                </p:cTn>
                              </p:par>
                            </p:childTnLst>
                          </p:cTn>
                        </p:par>
                        <p:par>
                          <p:cTn id="150" fill="hold">
                            <p:stCondLst>
                              <p:cond delay="500"/>
                            </p:stCondLst>
                            <p:childTnLst>
                              <p:par>
                                <p:cTn id="151" presetID="10" presetClass="entr" presetSubtype="0" fill="hold" nodeType="afterEffect">
                                  <p:stCondLst>
                                    <p:cond delay="0"/>
                                  </p:stCondLst>
                                  <p:childTnLst>
                                    <p:set>
                                      <p:cBhvr>
                                        <p:cTn id="152" dur="1" fill="hold">
                                          <p:stCondLst>
                                            <p:cond delay="0"/>
                                          </p:stCondLst>
                                        </p:cTn>
                                        <p:tgtEl>
                                          <p:spTgt spid="133"/>
                                        </p:tgtEl>
                                        <p:attrNameLst>
                                          <p:attrName>style.visibility</p:attrName>
                                        </p:attrNameLst>
                                      </p:cBhvr>
                                      <p:to>
                                        <p:strVal val="visible"/>
                                      </p:to>
                                    </p:set>
                                    <p:animEffect transition="in" filter="fade">
                                      <p:cBhvr>
                                        <p:cTn id="153" dur="25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AsOne/>
      </p:bldGraphic>
      <p:bldGraphic spid="26" grpId="0">
        <p:bldAsOne/>
      </p:bldGraphic>
      <p:bldGraphic spid="26" grpId="1">
        <p:bldAsOne/>
      </p:bldGraphic>
      <p:bldP spid="33" grpId="0" animBg="1"/>
      <p:bldGraphic spid="36" grpId="0">
        <p:bldSub>
          <a:bldChart bld="seriesEl"/>
        </p:bldSub>
      </p:bldGraphic>
      <p:bldP spid="37" grpId="0"/>
      <p:bldP spid="38" grpId="0"/>
      <p:bldP spid="47" grpId="0" animBg="1"/>
      <p:bldP spid="50" grpId="0"/>
      <p:bldP spid="76" grpId="0"/>
      <p:bldP spid="102" grpId="0" animBg="1"/>
      <p:bldP spid="111" grpId="0" animBg="1"/>
      <p:bldP spid="112" grpId="0" animBg="1"/>
      <p:bldP spid="113" grpId="0" animBg="1"/>
      <p:bldP spid="117" grpId="0" animBg="1"/>
      <p:bldP spid="118" grpId="0" animBg="1"/>
      <p:bldP spid="119" grpId="0" animBg="1"/>
      <p:bldP spid="131" grpId="0" animBg="1"/>
      <p:bldP spid="1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Placeholder 5"/>
          <p:cNvSpPr>
            <a:spLocks noGrp="1"/>
          </p:cNvSpPr>
          <p:nvPr>
            <p:ph type="body" sz="quarter" idx="10"/>
          </p:nvPr>
        </p:nvSpPr>
        <p:spPr>
          <a:xfrm>
            <a:off x="507226" y="382630"/>
            <a:ext cx="11009271" cy="642938"/>
          </a:xfrm>
        </p:spPr>
        <p:txBody>
          <a:bodyPr/>
          <a:lstStyle/>
          <a:p>
            <a:r>
              <a:rPr lang="en-US" dirty="0"/>
              <a:t>Handling </a:t>
            </a:r>
            <a:r>
              <a:rPr lang="en-US" i="1" dirty="0">
                <a:solidFill>
                  <a:srgbClr val="D43E01"/>
                </a:solidFill>
                <a:latin typeface="Lato Light" panose="020F0302020204030203" pitchFamily="34" charset="0"/>
              </a:rPr>
              <a:t>Noise</a:t>
            </a:r>
          </a:p>
        </p:txBody>
      </p:sp>
      <p:sp>
        <p:nvSpPr>
          <p:cNvPr id="58" name="Text Placeholder 6"/>
          <p:cNvSpPr>
            <a:spLocks noGrp="1"/>
          </p:cNvSpPr>
          <p:nvPr>
            <p:ph type="body" sz="quarter" idx="11"/>
          </p:nvPr>
        </p:nvSpPr>
        <p:spPr>
          <a:xfrm>
            <a:off x="538446" y="912983"/>
            <a:ext cx="10984557" cy="305229"/>
          </a:xfrm>
        </p:spPr>
        <p:txBody>
          <a:bodyPr/>
          <a:lstStyle/>
          <a:p>
            <a:r>
              <a:rPr lang="en-US" b="1" dirty="0"/>
              <a:t>Feature Data Vs. Histogram</a:t>
            </a:r>
          </a:p>
        </p:txBody>
      </p:sp>
      <p:grpSp>
        <p:nvGrpSpPr>
          <p:cNvPr id="59" name="Group 58"/>
          <p:cNvGrpSpPr/>
          <p:nvPr/>
        </p:nvGrpSpPr>
        <p:grpSpPr>
          <a:xfrm>
            <a:off x="455000" y="491056"/>
            <a:ext cx="45720" cy="675713"/>
            <a:chOff x="455000" y="491056"/>
            <a:chExt cx="45720" cy="675713"/>
          </a:xfrm>
        </p:grpSpPr>
        <p:sp>
          <p:nvSpPr>
            <p:cNvPr id="60" name="Rectangle 59"/>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Rectangle 60"/>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15" name="TextBox 1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- 12</a:t>
            </a:r>
          </a:p>
        </p:txBody>
      </p:sp>
      <p:grpSp>
        <p:nvGrpSpPr>
          <p:cNvPr id="2" name="Group 1"/>
          <p:cNvGrpSpPr/>
          <p:nvPr/>
        </p:nvGrpSpPr>
        <p:grpSpPr>
          <a:xfrm>
            <a:off x="4228513" y="2390923"/>
            <a:ext cx="3817688" cy="3199269"/>
            <a:chOff x="1182937" y="1769140"/>
            <a:chExt cx="3817688" cy="3199269"/>
          </a:xfrm>
        </p:grpSpPr>
        <p:graphicFrame>
          <p:nvGraphicFramePr>
            <p:cNvPr id="36" name="Chart 35"/>
            <p:cNvGraphicFramePr>
              <a:graphicFrameLocks/>
            </p:cNvGraphicFramePr>
            <p:nvPr>
              <p:extLst>
                <p:ext uri="{D42A27DB-BD31-4B8C-83A1-F6EECF244321}">
                  <p14:modId xmlns:p14="http://schemas.microsoft.com/office/powerpoint/2010/main" val="2987219329"/>
                </p:ext>
              </p:extLst>
            </p:nvPr>
          </p:nvGraphicFramePr>
          <p:xfrm>
            <a:off x="1259791" y="2199809"/>
            <a:ext cx="3657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47" name="Rounded Rectangle 46"/>
            <p:cNvSpPr/>
            <p:nvPr/>
          </p:nvSpPr>
          <p:spPr>
            <a:xfrm>
              <a:off x="1182937" y="1769140"/>
              <a:ext cx="3817688" cy="3199269"/>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0" name="TextBox 49"/>
            <p:cNvSpPr txBox="1"/>
            <p:nvPr/>
          </p:nvSpPr>
          <p:spPr>
            <a:xfrm>
              <a:off x="2248563" y="1814907"/>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Training Data</a:t>
              </a:r>
              <a:endParaRPr lang="ru-RU" sz="1400" b="1" dirty="0">
                <a:solidFill>
                  <a:prstClr val="white">
                    <a:lumMod val="65000"/>
                  </a:prstClr>
                </a:solidFill>
              </a:endParaRPr>
            </a:p>
          </p:txBody>
        </p:sp>
        <p:sp>
          <p:nvSpPr>
            <p:cNvPr id="76" name="TextBox 75"/>
            <p:cNvSpPr txBox="1"/>
            <p:nvPr/>
          </p:nvSpPr>
          <p:spPr>
            <a:xfrm>
              <a:off x="2246300" y="2040588"/>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grpSp>
      <p:graphicFrame>
        <p:nvGraphicFramePr>
          <p:cNvPr id="52" name="Chart 51"/>
          <p:cNvGraphicFramePr>
            <a:graphicFrameLocks/>
          </p:cNvGraphicFramePr>
          <p:nvPr>
            <p:extLst>
              <p:ext uri="{D42A27DB-BD31-4B8C-83A1-F6EECF244321}">
                <p14:modId xmlns:p14="http://schemas.microsoft.com/office/powerpoint/2010/main" val="1366653752"/>
              </p:ext>
            </p:extLst>
          </p:nvPr>
        </p:nvGraphicFramePr>
        <p:xfrm>
          <a:off x="4688897" y="2828459"/>
          <a:ext cx="3635954" cy="258551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1103859028"/>
              </p:ext>
            </p:extLst>
          </p:nvPr>
        </p:nvGraphicFramePr>
        <p:xfrm>
          <a:off x="8685555" y="2974961"/>
          <a:ext cx="3100770" cy="369570"/>
        </p:xfrm>
        <a:graphic>
          <a:graphicData uri="http://schemas.openxmlformats.org/drawingml/2006/table">
            <a:tbl>
              <a:tblPr>
                <a:tableStyleId>{073A0DAA-6AF3-43AB-8588-CEC1D06C72B9}</a:tableStyleId>
              </a:tblPr>
              <a:tblGrid>
                <a:gridCol w="344530">
                  <a:extLst>
                    <a:ext uri="{9D8B030D-6E8A-4147-A177-3AD203B41FA5}">
                      <a16:colId xmlns:a16="http://schemas.microsoft.com/office/drawing/2014/main" val="1695068152"/>
                    </a:ext>
                  </a:extLst>
                </a:gridCol>
                <a:gridCol w="344530">
                  <a:extLst>
                    <a:ext uri="{9D8B030D-6E8A-4147-A177-3AD203B41FA5}">
                      <a16:colId xmlns:a16="http://schemas.microsoft.com/office/drawing/2014/main" val="2336420741"/>
                    </a:ext>
                  </a:extLst>
                </a:gridCol>
                <a:gridCol w="344530">
                  <a:extLst>
                    <a:ext uri="{9D8B030D-6E8A-4147-A177-3AD203B41FA5}">
                      <a16:colId xmlns:a16="http://schemas.microsoft.com/office/drawing/2014/main" val="3461314546"/>
                    </a:ext>
                  </a:extLst>
                </a:gridCol>
                <a:gridCol w="344530">
                  <a:extLst>
                    <a:ext uri="{9D8B030D-6E8A-4147-A177-3AD203B41FA5}">
                      <a16:colId xmlns:a16="http://schemas.microsoft.com/office/drawing/2014/main" val="2239297547"/>
                    </a:ext>
                  </a:extLst>
                </a:gridCol>
                <a:gridCol w="344530">
                  <a:extLst>
                    <a:ext uri="{9D8B030D-6E8A-4147-A177-3AD203B41FA5}">
                      <a16:colId xmlns:a16="http://schemas.microsoft.com/office/drawing/2014/main" val="2844738517"/>
                    </a:ext>
                  </a:extLst>
                </a:gridCol>
                <a:gridCol w="344530">
                  <a:extLst>
                    <a:ext uri="{9D8B030D-6E8A-4147-A177-3AD203B41FA5}">
                      <a16:colId xmlns:a16="http://schemas.microsoft.com/office/drawing/2014/main" val="3566160196"/>
                    </a:ext>
                  </a:extLst>
                </a:gridCol>
                <a:gridCol w="344530">
                  <a:extLst>
                    <a:ext uri="{9D8B030D-6E8A-4147-A177-3AD203B41FA5}">
                      <a16:colId xmlns:a16="http://schemas.microsoft.com/office/drawing/2014/main" val="388562243"/>
                    </a:ext>
                  </a:extLst>
                </a:gridCol>
                <a:gridCol w="344530">
                  <a:extLst>
                    <a:ext uri="{9D8B030D-6E8A-4147-A177-3AD203B41FA5}">
                      <a16:colId xmlns:a16="http://schemas.microsoft.com/office/drawing/2014/main" val="4195765789"/>
                    </a:ext>
                  </a:extLst>
                </a:gridCol>
                <a:gridCol w="344530">
                  <a:extLst>
                    <a:ext uri="{9D8B030D-6E8A-4147-A177-3AD203B41FA5}">
                      <a16:colId xmlns:a16="http://schemas.microsoft.com/office/drawing/2014/main" val="2304843134"/>
                    </a:ext>
                  </a:extLst>
                </a:gridCol>
              </a:tblGrid>
              <a:tr h="179440">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123332">
                <a:tc>
                  <a:txBody>
                    <a:bodyPr/>
                    <a:lstStyle/>
                    <a:p>
                      <a:pPr algn="ctr" fontAlgn="b"/>
                      <a:r>
                        <a:rPr lang="en-US" sz="1100" b="0" i="0" u="none" strike="noStrike" dirty="0">
                          <a:solidFill>
                            <a:srgbClr val="000000"/>
                          </a:solidFill>
                          <a:effectLst/>
                          <a:latin typeface="Lato Light" panose="020F0402020204030203"/>
                        </a:rPr>
                        <a:t>0</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0.002</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0.065</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0.24</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0.367</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0.256</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0.064</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0.006</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a:t>
                      </a:r>
                    </a:p>
                  </a:txBody>
                  <a:tcPr marL="9525" marR="9525" marT="9525" marB="0" anchor="b"/>
                </a:tc>
                <a:extLst>
                  <a:ext uri="{0D108BD9-81ED-4DB2-BD59-A6C34878D82A}">
                    <a16:rowId xmlns:a16="http://schemas.microsoft.com/office/drawing/2014/main" val="2968073239"/>
                  </a:ext>
                </a:extLst>
              </a:tr>
            </a:tbl>
          </a:graphicData>
        </a:graphic>
      </p:graphicFrame>
      <p:sp>
        <p:nvSpPr>
          <p:cNvPr id="54" name="TextBox 53"/>
          <p:cNvSpPr txBox="1"/>
          <p:nvPr/>
        </p:nvSpPr>
        <p:spPr>
          <a:xfrm>
            <a:off x="9063809" y="2545101"/>
            <a:ext cx="2344261" cy="338554"/>
          </a:xfrm>
          <a:prstGeom prst="rect">
            <a:avLst/>
          </a:prstGeom>
          <a:noFill/>
        </p:spPr>
        <p:txBody>
          <a:bodyPr wrap="square" rtlCol="0">
            <a:spAutoFit/>
          </a:bodyPr>
          <a:lstStyle/>
          <a:p>
            <a:pPr algn="ctr"/>
            <a:r>
              <a:rPr lang="en-US" sz="1600" b="1" dirty="0">
                <a:solidFill>
                  <a:schemeClr val="tx1">
                    <a:lumMod val="65000"/>
                    <a:lumOff val="35000"/>
                  </a:schemeClr>
                </a:solidFill>
                <a:latin typeface="Lato Light" panose="020F0402020204030203"/>
              </a:rPr>
              <a:t>Without Adjustment</a:t>
            </a:r>
            <a:endParaRPr lang="ru-RU" sz="1600" b="1" dirty="0">
              <a:solidFill>
                <a:schemeClr val="tx1">
                  <a:lumMod val="65000"/>
                  <a:lumOff val="35000"/>
                </a:schemeClr>
              </a:solidFill>
              <a:latin typeface="Lato"/>
            </a:endParaRPr>
          </a:p>
        </p:txBody>
      </p:sp>
      <p:graphicFrame>
        <p:nvGraphicFramePr>
          <p:cNvPr id="55" name="Table 54"/>
          <p:cNvGraphicFramePr>
            <a:graphicFrameLocks noGrp="1"/>
          </p:cNvGraphicFramePr>
          <p:nvPr>
            <p:extLst>
              <p:ext uri="{D42A27DB-BD31-4B8C-83A1-F6EECF244321}">
                <p14:modId xmlns:p14="http://schemas.microsoft.com/office/powerpoint/2010/main" val="3533577543"/>
              </p:ext>
            </p:extLst>
          </p:nvPr>
        </p:nvGraphicFramePr>
        <p:xfrm>
          <a:off x="8685555" y="3527144"/>
          <a:ext cx="3100770" cy="369570"/>
        </p:xfrm>
        <a:graphic>
          <a:graphicData uri="http://schemas.openxmlformats.org/drawingml/2006/table">
            <a:tbl>
              <a:tblPr>
                <a:tableStyleId>{073A0DAA-6AF3-43AB-8588-CEC1D06C72B9}</a:tableStyleId>
              </a:tblPr>
              <a:tblGrid>
                <a:gridCol w="344530">
                  <a:extLst>
                    <a:ext uri="{9D8B030D-6E8A-4147-A177-3AD203B41FA5}">
                      <a16:colId xmlns:a16="http://schemas.microsoft.com/office/drawing/2014/main" val="1695068152"/>
                    </a:ext>
                  </a:extLst>
                </a:gridCol>
                <a:gridCol w="344530">
                  <a:extLst>
                    <a:ext uri="{9D8B030D-6E8A-4147-A177-3AD203B41FA5}">
                      <a16:colId xmlns:a16="http://schemas.microsoft.com/office/drawing/2014/main" val="2336420741"/>
                    </a:ext>
                  </a:extLst>
                </a:gridCol>
                <a:gridCol w="344530">
                  <a:extLst>
                    <a:ext uri="{9D8B030D-6E8A-4147-A177-3AD203B41FA5}">
                      <a16:colId xmlns:a16="http://schemas.microsoft.com/office/drawing/2014/main" val="3461314546"/>
                    </a:ext>
                  </a:extLst>
                </a:gridCol>
                <a:gridCol w="344530">
                  <a:extLst>
                    <a:ext uri="{9D8B030D-6E8A-4147-A177-3AD203B41FA5}">
                      <a16:colId xmlns:a16="http://schemas.microsoft.com/office/drawing/2014/main" val="2239297547"/>
                    </a:ext>
                  </a:extLst>
                </a:gridCol>
                <a:gridCol w="344530">
                  <a:extLst>
                    <a:ext uri="{9D8B030D-6E8A-4147-A177-3AD203B41FA5}">
                      <a16:colId xmlns:a16="http://schemas.microsoft.com/office/drawing/2014/main" val="2844738517"/>
                    </a:ext>
                  </a:extLst>
                </a:gridCol>
                <a:gridCol w="344530">
                  <a:extLst>
                    <a:ext uri="{9D8B030D-6E8A-4147-A177-3AD203B41FA5}">
                      <a16:colId xmlns:a16="http://schemas.microsoft.com/office/drawing/2014/main" val="3566160196"/>
                    </a:ext>
                  </a:extLst>
                </a:gridCol>
                <a:gridCol w="344530">
                  <a:extLst>
                    <a:ext uri="{9D8B030D-6E8A-4147-A177-3AD203B41FA5}">
                      <a16:colId xmlns:a16="http://schemas.microsoft.com/office/drawing/2014/main" val="388562243"/>
                    </a:ext>
                  </a:extLst>
                </a:gridCol>
                <a:gridCol w="344530">
                  <a:extLst>
                    <a:ext uri="{9D8B030D-6E8A-4147-A177-3AD203B41FA5}">
                      <a16:colId xmlns:a16="http://schemas.microsoft.com/office/drawing/2014/main" val="4195765789"/>
                    </a:ext>
                  </a:extLst>
                </a:gridCol>
                <a:gridCol w="344530">
                  <a:extLst>
                    <a:ext uri="{9D8B030D-6E8A-4147-A177-3AD203B41FA5}">
                      <a16:colId xmlns:a16="http://schemas.microsoft.com/office/drawing/2014/main" val="2304843134"/>
                    </a:ext>
                  </a:extLst>
                </a:gridCol>
              </a:tblGrid>
              <a:tr h="179440">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123332">
                <a:tc>
                  <a:txBody>
                    <a:bodyPr/>
                    <a:lstStyle/>
                    <a:p>
                      <a:pPr algn="ctr" fontAlgn="b"/>
                      <a:r>
                        <a:rPr lang="en-US" sz="1100" b="0" i="0" u="none" strike="noStrike">
                          <a:solidFill>
                            <a:srgbClr val="000000"/>
                          </a:solidFill>
                          <a:effectLst/>
                          <a:latin typeface="Lato Light" panose="020F0402020204030203"/>
                        </a:rPr>
                        <a:t>0</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0.002</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0.065</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0.24</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0.367</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0.256</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0.064</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0.006</a:t>
                      </a:r>
                    </a:p>
                  </a:txBody>
                  <a:tcPr marL="9525" marR="9525" marT="9525" marB="0" anchor="b"/>
                </a:tc>
                <a:extLst>
                  <a:ext uri="{0D108BD9-81ED-4DB2-BD59-A6C34878D82A}">
                    <a16:rowId xmlns:a16="http://schemas.microsoft.com/office/drawing/2014/main" val="2968073239"/>
                  </a:ext>
                </a:extLst>
              </a:tr>
            </a:tbl>
          </a:graphicData>
        </a:graphic>
      </p:graphicFrame>
      <p:sp>
        <p:nvSpPr>
          <p:cNvPr id="5" name="Left Brace 4"/>
          <p:cNvSpPr/>
          <p:nvPr/>
        </p:nvSpPr>
        <p:spPr>
          <a:xfrm rot="16200000">
            <a:off x="10069841" y="2874002"/>
            <a:ext cx="360704" cy="2835864"/>
          </a:xfrm>
          <a:prstGeom prst="leftBrace">
            <a:avLst>
              <a:gd name="adj1" fmla="val 0"/>
              <a:gd name="adj2" fmla="val 50000"/>
            </a:avLst>
          </a:prstGeom>
          <a:ln w="19050"/>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grpSp>
        <p:nvGrpSpPr>
          <p:cNvPr id="6" name="Group 5"/>
          <p:cNvGrpSpPr/>
          <p:nvPr/>
        </p:nvGrpSpPr>
        <p:grpSpPr>
          <a:xfrm>
            <a:off x="8723383" y="3228209"/>
            <a:ext cx="3015284" cy="408530"/>
            <a:chOff x="8723383" y="3250434"/>
            <a:chExt cx="3015284" cy="408530"/>
          </a:xfrm>
        </p:grpSpPr>
        <p:sp>
          <p:nvSpPr>
            <p:cNvPr id="62" name="TextBox 61"/>
            <p:cNvSpPr txBox="1"/>
            <p:nvPr/>
          </p:nvSpPr>
          <p:spPr>
            <a:xfrm>
              <a:off x="8723383"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4" name="TextBox 63"/>
            <p:cNvSpPr txBox="1"/>
            <p:nvPr/>
          </p:nvSpPr>
          <p:spPr>
            <a:xfrm>
              <a:off x="9066168"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5" name="TextBox 64"/>
            <p:cNvSpPr txBox="1"/>
            <p:nvPr/>
          </p:nvSpPr>
          <p:spPr>
            <a:xfrm>
              <a:off x="9404962" y="325250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6" name="TextBox 65"/>
            <p:cNvSpPr txBox="1"/>
            <p:nvPr/>
          </p:nvSpPr>
          <p:spPr>
            <a:xfrm>
              <a:off x="9743756" y="3254431"/>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7" name="TextBox 66"/>
            <p:cNvSpPr txBox="1"/>
            <p:nvPr/>
          </p:nvSpPr>
          <p:spPr>
            <a:xfrm>
              <a:off x="10096631" y="325485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8" name="TextBox 67"/>
            <p:cNvSpPr txBox="1"/>
            <p:nvPr/>
          </p:nvSpPr>
          <p:spPr>
            <a:xfrm>
              <a:off x="10439416" y="325485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9" name="TextBox 68"/>
            <p:cNvSpPr txBox="1"/>
            <p:nvPr/>
          </p:nvSpPr>
          <p:spPr>
            <a:xfrm>
              <a:off x="10778210" y="325692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70" name="TextBox 69"/>
            <p:cNvSpPr txBox="1"/>
            <p:nvPr/>
          </p:nvSpPr>
          <p:spPr>
            <a:xfrm>
              <a:off x="11117004" y="325885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72" name="TextBox 71"/>
            <p:cNvSpPr txBox="1"/>
            <p:nvPr/>
          </p:nvSpPr>
          <p:spPr>
            <a:xfrm>
              <a:off x="11472832"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grpSp>
      <p:sp>
        <p:nvSpPr>
          <p:cNvPr id="73" name="TextBox 72"/>
          <p:cNvSpPr txBox="1"/>
          <p:nvPr/>
        </p:nvSpPr>
        <p:spPr>
          <a:xfrm>
            <a:off x="10115682" y="3956697"/>
            <a:ext cx="265835" cy="338554"/>
          </a:xfrm>
          <a:prstGeom prst="rect">
            <a:avLst/>
          </a:prstGeom>
          <a:noFill/>
        </p:spPr>
        <p:txBody>
          <a:bodyPr wrap="square" rtlCol="0">
            <a:spAutoFit/>
          </a:bodyPr>
          <a:lstStyle/>
          <a:p>
            <a:pPr algn="ctr"/>
            <a:r>
              <a:rPr lang="en-US" sz="1600" b="1" dirty="0">
                <a:solidFill>
                  <a:schemeClr val="tx1">
                    <a:lumMod val="65000"/>
                    <a:lumOff val="35000"/>
                  </a:schemeClr>
                </a:solidFill>
                <a:latin typeface="Lato Light" panose="020F0402020204030203"/>
              </a:rPr>
              <a:t>+</a:t>
            </a:r>
            <a:endParaRPr lang="ru-RU" sz="1600" b="1" dirty="0">
              <a:solidFill>
                <a:schemeClr val="tx1">
                  <a:lumMod val="65000"/>
                  <a:lumOff val="35000"/>
                </a:schemeClr>
              </a:solidFill>
              <a:latin typeface="Lato"/>
            </a:endParaRPr>
          </a:p>
        </p:txBody>
      </p:sp>
      <p:grpSp>
        <p:nvGrpSpPr>
          <p:cNvPr id="7" name="Group 6"/>
          <p:cNvGrpSpPr/>
          <p:nvPr/>
        </p:nvGrpSpPr>
        <p:grpSpPr>
          <a:xfrm>
            <a:off x="9064282" y="4733730"/>
            <a:ext cx="2458721" cy="423368"/>
            <a:chOff x="8832261" y="5076501"/>
            <a:chExt cx="2458721" cy="423368"/>
          </a:xfrm>
        </p:grpSpPr>
        <p:grpSp>
          <p:nvGrpSpPr>
            <p:cNvPr id="74" name="Group 73"/>
            <p:cNvGrpSpPr/>
            <p:nvPr/>
          </p:nvGrpSpPr>
          <p:grpSpPr>
            <a:xfrm>
              <a:off x="8832261" y="5076501"/>
              <a:ext cx="2458721" cy="423368"/>
              <a:chOff x="6758468" y="3025228"/>
              <a:chExt cx="1115380" cy="423368"/>
            </a:xfrm>
          </p:grpSpPr>
          <p:sp>
            <p:nvSpPr>
              <p:cNvPr id="75" name="Rounded Rectangle 74"/>
              <p:cNvSpPr/>
              <p:nvPr/>
            </p:nvSpPr>
            <p:spPr>
              <a:xfrm>
                <a:off x="6758468" y="3025228"/>
                <a:ext cx="1115380" cy="401935"/>
              </a:xfrm>
              <a:prstGeom prst="roundRect">
                <a:avLst>
                  <a:gd name="adj" fmla="val 7324"/>
                </a:avLst>
              </a:prstGeom>
              <a:solidFill>
                <a:schemeClr val="accent3">
                  <a:lumMod val="20000"/>
                  <a:lumOff val="80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TextBox 78"/>
              <p:cNvSpPr txBox="1"/>
              <p:nvPr/>
            </p:nvSpPr>
            <p:spPr>
              <a:xfrm>
                <a:off x="7554689" y="3048486"/>
                <a:ext cx="83802" cy="400110"/>
              </a:xfrm>
              <a:prstGeom prst="rect">
                <a:avLst/>
              </a:prstGeom>
              <a:noFill/>
            </p:spPr>
            <p:txBody>
              <a:bodyPr wrap="none" rtlCol="0">
                <a:spAutoFit/>
              </a:bodyPr>
              <a:lstStyle/>
              <a:p>
                <a:pPr algn="ctr"/>
                <a:endParaRPr lang="en-US" sz="2000" b="1" dirty="0">
                  <a:solidFill>
                    <a:prstClr val="black">
                      <a:lumMod val="75000"/>
                      <a:lumOff val="25000"/>
                    </a:prstClr>
                  </a:solidFill>
                  <a:latin typeface="Lato Medium"/>
                </a:endParaRPr>
              </a:p>
            </p:txBody>
          </p:sp>
        </p:grpSp>
        <mc:AlternateContent xmlns:mc="http://schemas.openxmlformats.org/markup-compatibility/2006" xmlns:a14="http://schemas.microsoft.com/office/drawing/2010/main">
          <mc:Choice Requires="a14">
            <p:sp>
              <p:nvSpPr>
                <p:cNvPr id="81" name="TextBox 80"/>
                <p:cNvSpPr txBox="1"/>
                <p:nvPr/>
              </p:nvSpPr>
              <p:spPr>
                <a:xfrm>
                  <a:off x="9063809" y="5122649"/>
                  <a:ext cx="1911677"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US" i="1" smtClean="0">
                                <a:solidFill>
                                  <a:schemeClr val="tx1">
                                    <a:lumMod val="65000"/>
                                    <a:lumOff val="35000"/>
                                  </a:schemeClr>
                                </a:solidFill>
                                <a:latin typeface="Cambria Math" panose="02040503050406030204" pitchFamily="18" charset="0"/>
                              </a:rPr>
                            </m:ctrlPr>
                          </m:radPr>
                          <m:deg/>
                          <m:e>
                            <m:r>
                              <a:rPr lang="en-US" i="1">
                                <a:solidFill>
                                  <a:schemeClr val="tx1">
                                    <a:lumMod val="65000"/>
                                    <a:lumOff val="35000"/>
                                  </a:schemeClr>
                                </a:solidFill>
                                <a:latin typeface="Cambria Math" panose="02040503050406030204" pitchFamily="18" charset="0"/>
                              </a:rPr>
                              <m:t>0.1033</m:t>
                            </m:r>
                          </m:e>
                        </m:rad>
                        <m:r>
                          <a:rPr lang="en-US" b="0" i="1" smtClean="0">
                            <a:solidFill>
                              <a:schemeClr val="tx1">
                                <a:lumMod val="65000"/>
                                <a:lumOff val="35000"/>
                              </a:schemeClr>
                            </a:solidFill>
                            <a:latin typeface="Cambria Math" panose="02040503050406030204" pitchFamily="18" charset="0"/>
                          </a:rPr>
                          <m:t>=</m:t>
                        </m:r>
                        <m:r>
                          <m:rPr>
                            <m:nor/>
                          </m:rPr>
                          <a:rPr lang="en-US" b="1" dirty="0">
                            <a:solidFill>
                              <a:prstClr val="black">
                                <a:lumMod val="75000"/>
                                <a:lumOff val="25000"/>
                              </a:prstClr>
                            </a:solidFill>
                            <a:latin typeface="Lato Medium"/>
                          </a:rPr>
                          <m:t>0.3214</m:t>
                        </m:r>
                      </m:oMath>
                    </m:oMathPara>
                  </a14:m>
                  <a:endParaRPr lang="en-US" b="1" dirty="0">
                    <a:solidFill>
                      <a:prstClr val="black">
                        <a:lumMod val="75000"/>
                        <a:lumOff val="25000"/>
                      </a:prstClr>
                    </a:solidFill>
                    <a:latin typeface="Lato Medium"/>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9063809" y="5122649"/>
                  <a:ext cx="1911677" cy="309637"/>
                </a:xfrm>
                <a:prstGeom prst="rect">
                  <a:avLst/>
                </a:prstGeom>
                <a:blipFill>
                  <a:blip r:embed="rId5"/>
                  <a:stretch>
                    <a:fillRect r="-2548" b="-9804"/>
                  </a:stretch>
                </a:blipFill>
              </p:spPr>
              <p:txBody>
                <a:bodyPr/>
                <a:lstStyle/>
                <a:p>
                  <a:r>
                    <a:rPr lang="en-US">
                      <a:noFill/>
                    </a:rPr>
                    <a:t> </a:t>
                  </a:r>
                </a:p>
              </p:txBody>
            </p:sp>
          </mc:Fallback>
        </mc:AlternateContent>
      </p:grpSp>
      <p:sp>
        <p:nvSpPr>
          <p:cNvPr id="8" name="Freeform 7"/>
          <p:cNvSpPr/>
          <p:nvPr/>
        </p:nvSpPr>
        <p:spPr>
          <a:xfrm>
            <a:off x="6108038" y="2903688"/>
            <a:ext cx="2457908" cy="355166"/>
          </a:xfrm>
          <a:custGeom>
            <a:avLst/>
            <a:gdLst>
              <a:gd name="connsiteX0" fmla="*/ 0 w 1657978"/>
              <a:gd name="connsiteY0" fmla="*/ 271305 h 411982"/>
              <a:gd name="connsiteX1" fmla="*/ 10048 w 1657978"/>
              <a:gd name="connsiteY1" fmla="*/ 211015 h 411982"/>
              <a:gd name="connsiteX2" fmla="*/ 60290 w 1657978"/>
              <a:gd name="connsiteY2" fmla="*/ 180870 h 411982"/>
              <a:gd name="connsiteX3" fmla="*/ 90435 w 1657978"/>
              <a:gd name="connsiteY3" fmla="*/ 160774 h 411982"/>
              <a:gd name="connsiteX4" fmla="*/ 211015 w 1657978"/>
              <a:gd name="connsiteY4" fmla="*/ 100483 h 411982"/>
              <a:gd name="connsiteX5" fmla="*/ 381837 w 1657978"/>
              <a:gd name="connsiteY5" fmla="*/ 50242 h 411982"/>
              <a:gd name="connsiteX6" fmla="*/ 482321 w 1657978"/>
              <a:gd name="connsiteY6" fmla="*/ 20097 h 411982"/>
              <a:gd name="connsiteX7" fmla="*/ 572756 w 1657978"/>
              <a:gd name="connsiteY7" fmla="*/ 0 h 411982"/>
              <a:gd name="connsiteX8" fmla="*/ 803868 w 1657978"/>
              <a:gd name="connsiteY8" fmla="*/ 10048 h 411982"/>
              <a:gd name="connsiteX9" fmla="*/ 894303 w 1657978"/>
              <a:gd name="connsiteY9" fmla="*/ 40193 h 411982"/>
              <a:gd name="connsiteX10" fmla="*/ 964642 w 1657978"/>
              <a:gd name="connsiteY10" fmla="*/ 100483 h 411982"/>
              <a:gd name="connsiteX11" fmla="*/ 974690 w 1657978"/>
              <a:gd name="connsiteY11" fmla="*/ 130628 h 411982"/>
              <a:gd name="connsiteX12" fmla="*/ 994787 w 1657978"/>
              <a:gd name="connsiteY12" fmla="*/ 170822 h 411982"/>
              <a:gd name="connsiteX13" fmla="*/ 964642 w 1657978"/>
              <a:gd name="connsiteY13" fmla="*/ 311499 h 411982"/>
              <a:gd name="connsiteX14" fmla="*/ 934497 w 1657978"/>
              <a:gd name="connsiteY14" fmla="*/ 341644 h 411982"/>
              <a:gd name="connsiteX15" fmla="*/ 904352 w 1657978"/>
              <a:gd name="connsiteY15" fmla="*/ 361741 h 411982"/>
              <a:gd name="connsiteX16" fmla="*/ 864158 w 1657978"/>
              <a:gd name="connsiteY16" fmla="*/ 391886 h 411982"/>
              <a:gd name="connsiteX17" fmla="*/ 823965 w 1657978"/>
              <a:gd name="connsiteY17" fmla="*/ 401934 h 411982"/>
              <a:gd name="connsiteX18" fmla="*/ 793820 w 1657978"/>
              <a:gd name="connsiteY18" fmla="*/ 411982 h 411982"/>
              <a:gd name="connsiteX19" fmla="*/ 763675 w 1657978"/>
              <a:gd name="connsiteY19" fmla="*/ 401934 h 411982"/>
              <a:gd name="connsiteX20" fmla="*/ 793820 w 1657978"/>
              <a:gd name="connsiteY20" fmla="*/ 261257 h 411982"/>
              <a:gd name="connsiteX21" fmla="*/ 823965 w 1657978"/>
              <a:gd name="connsiteY21" fmla="*/ 221064 h 411982"/>
              <a:gd name="connsiteX22" fmla="*/ 984739 w 1657978"/>
              <a:gd name="connsiteY22" fmla="*/ 170822 h 411982"/>
              <a:gd name="connsiteX23" fmla="*/ 1055077 w 1657978"/>
              <a:gd name="connsiteY23" fmla="*/ 150725 h 411982"/>
              <a:gd name="connsiteX24" fmla="*/ 1276141 w 1657978"/>
              <a:gd name="connsiteY24" fmla="*/ 160774 h 411982"/>
              <a:gd name="connsiteX25" fmla="*/ 1326383 w 1657978"/>
              <a:gd name="connsiteY25" fmla="*/ 180870 h 411982"/>
              <a:gd name="connsiteX26" fmla="*/ 1426866 w 1657978"/>
              <a:gd name="connsiteY26" fmla="*/ 221064 h 411982"/>
              <a:gd name="connsiteX27" fmla="*/ 1467059 w 1657978"/>
              <a:gd name="connsiteY27" fmla="*/ 251209 h 411982"/>
              <a:gd name="connsiteX28" fmla="*/ 1507253 w 1657978"/>
              <a:gd name="connsiteY28" fmla="*/ 271305 h 411982"/>
              <a:gd name="connsiteX29" fmla="*/ 1537398 w 1657978"/>
              <a:gd name="connsiteY29" fmla="*/ 291402 h 411982"/>
              <a:gd name="connsiteX30" fmla="*/ 1577591 w 1657978"/>
              <a:gd name="connsiteY30" fmla="*/ 301450 h 411982"/>
              <a:gd name="connsiteX31" fmla="*/ 1607736 w 1657978"/>
              <a:gd name="connsiteY31" fmla="*/ 331595 h 411982"/>
              <a:gd name="connsiteX32" fmla="*/ 1657978 w 1657978"/>
              <a:gd name="connsiteY32" fmla="*/ 361741 h 4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57978" h="411982">
                <a:moveTo>
                  <a:pt x="0" y="271305"/>
                </a:moveTo>
                <a:cubicBezTo>
                  <a:pt x="3349" y="251208"/>
                  <a:pt x="-1253" y="227967"/>
                  <a:pt x="10048" y="211015"/>
                </a:cubicBezTo>
                <a:cubicBezTo>
                  <a:pt x="20882" y="194765"/>
                  <a:pt x="43728" y="191221"/>
                  <a:pt x="60290" y="180870"/>
                </a:cubicBezTo>
                <a:cubicBezTo>
                  <a:pt x="70531" y="174470"/>
                  <a:pt x="79779" y="166457"/>
                  <a:pt x="90435" y="160774"/>
                </a:cubicBezTo>
                <a:cubicBezTo>
                  <a:pt x="130086" y="139627"/>
                  <a:pt x="167903" y="113163"/>
                  <a:pt x="211015" y="100483"/>
                </a:cubicBezTo>
                <a:lnTo>
                  <a:pt x="381837" y="50242"/>
                </a:lnTo>
                <a:cubicBezTo>
                  <a:pt x="415366" y="40308"/>
                  <a:pt x="448184" y="27683"/>
                  <a:pt x="482321" y="20097"/>
                </a:cubicBezTo>
                <a:lnTo>
                  <a:pt x="572756" y="0"/>
                </a:lnTo>
                <a:cubicBezTo>
                  <a:pt x="649793" y="3349"/>
                  <a:pt x="726954" y="4554"/>
                  <a:pt x="803868" y="10048"/>
                </a:cubicBezTo>
                <a:cubicBezTo>
                  <a:pt x="839434" y="12588"/>
                  <a:pt x="864587" y="21621"/>
                  <a:pt x="894303" y="40193"/>
                </a:cubicBezTo>
                <a:cubicBezTo>
                  <a:pt x="928679" y="61677"/>
                  <a:pt x="937238" y="73079"/>
                  <a:pt x="964642" y="100483"/>
                </a:cubicBezTo>
                <a:cubicBezTo>
                  <a:pt x="967991" y="110531"/>
                  <a:pt x="970518" y="120893"/>
                  <a:pt x="974690" y="130628"/>
                </a:cubicBezTo>
                <a:cubicBezTo>
                  <a:pt x="980591" y="144396"/>
                  <a:pt x="993720" y="155881"/>
                  <a:pt x="994787" y="170822"/>
                </a:cubicBezTo>
                <a:cubicBezTo>
                  <a:pt x="998153" y="217949"/>
                  <a:pt x="993160" y="271574"/>
                  <a:pt x="964642" y="311499"/>
                </a:cubicBezTo>
                <a:cubicBezTo>
                  <a:pt x="956382" y="323063"/>
                  <a:pt x="945414" y="332547"/>
                  <a:pt x="934497" y="341644"/>
                </a:cubicBezTo>
                <a:cubicBezTo>
                  <a:pt x="925219" y="349375"/>
                  <a:pt x="914179" y="354722"/>
                  <a:pt x="904352" y="361741"/>
                </a:cubicBezTo>
                <a:cubicBezTo>
                  <a:pt x="890724" y="371475"/>
                  <a:pt x="879137" y="384396"/>
                  <a:pt x="864158" y="391886"/>
                </a:cubicBezTo>
                <a:cubicBezTo>
                  <a:pt x="851806" y="398062"/>
                  <a:pt x="837244" y="398140"/>
                  <a:pt x="823965" y="401934"/>
                </a:cubicBezTo>
                <a:cubicBezTo>
                  <a:pt x="813781" y="404844"/>
                  <a:pt x="803868" y="408633"/>
                  <a:pt x="793820" y="411982"/>
                </a:cubicBezTo>
                <a:cubicBezTo>
                  <a:pt x="783772" y="408633"/>
                  <a:pt x="765416" y="412382"/>
                  <a:pt x="763675" y="401934"/>
                </a:cubicBezTo>
                <a:cubicBezTo>
                  <a:pt x="750902" y="325297"/>
                  <a:pt x="761008" y="307194"/>
                  <a:pt x="793820" y="261257"/>
                </a:cubicBezTo>
                <a:cubicBezTo>
                  <a:pt x="803554" y="247629"/>
                  <a:pt x="809702" y="229841"/>
                  <a:pt x="823965" y="221064"/>
                </a:cubicBezTo>
                <a:cubicBezTo>
                  <a:pt x="904799" y="171320"/>
                  <a:pt x="910646" y="187920"/>
                  <a:pt x="984739" y="170822"/>
                </a:cubicBezTo>
                <a:cubicBezTo>
                  <a:pt x="1008499" y="165339"/>
                  <a:pt x="1031631" y="157424"/>
                  <a:pt x="1055077" y="150725"/>
                </a:cubicBezTo>
                <a:cubicBezTo>
                  <a:pt x="1128765" y="154075"/>
                  <a:pt x="1202828" y="152628"/>
                  <a:pt x="1276141" y="160774"/>
                </a:cubicBezTo>
                <a:cubicBezTo>
                  <a:pt x="1294068" y="162766"/>
                  <a:pt x="1309432" y="174706"/>
                  <a:pt x="1326383" y="180870"/>
                </a:cubicBezTo>
                <a:cubicBezTo>
                  <a:pt x="1369521" y="196556"/>
                  <a:pt x="1389903" y="197961"/>
                  <a:pt x="1426866" y="221064"/>
                </a:cubicBezTo>
                <a:cubicBezTo>
                  <a:pt x="1441067" y="229940"/>
                  <a:pt x="1452857" y="242333"/>
                  <a:pt x="1467059" y="251209"/>
                </a:cubicBezTo>
                <a:cubicBezTo>
                  <a:pt x="1479761" y="259148"/>
                  <a:pt x="1494247" y="263873"/>
                  <a:pt x="1507253" y="271305"/>
                </a:cubicBezTo>
                <a:cubicBezTo>
                  <a:pt x="1517739" y="277297"/>
                  <a:pt x="1526298" y="286645"/>
                  <a:pt x="1537398" y="291402"/>
                </a:cubicBezTo>
                <a:cubicBezTo>
                  <a:pt x="1550091" y="296842"/>
                  <a:pt x="1564193" y="298101"/>
                  <a:pt x="1577591" y="301450"/>
                </a:cubicBezTo>
                <a:cubicBezTo>
                  <a:pt x="1587639" y="311498"/>
                  <a:pt x="1596819" y="322498"/>
                  <a:pt x="1607736" y="331595"/>
                </a:cubicBezTo>
                <a:cubicBezTo>
                  <a:pt x="1625924" y="346752"/>
                  <a:pt x="1638360" y="351931"/>
                  <a:pt x="1657978" y="361741"/>
                </a:cubicBezTo>
              </a:path>
            </a:pathLst>
          </a:custGeom>
          <a:noFill/>
          <a:ln w="31750" cmpd="sng">
            <a:solidFill>
              <a:srgbClr val="5FC8AC"/>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p:cNvSpPr/>
          <p:nvPr/>
        </p:nvSpPr>
        <p:spPr>
          <a:xfrm rot="258838" flipV="1">
            <a:off x="6536835" y="3516024"/>
            <a:ext cx="2023407" cy="489029"/>
          </a:xfrm>
          <a:custGeom>
            <a:avLst/>
            <a:gdLst>
              <a:gd name="connsiteX0" fmla="*/ 0 w 1657978"/>
              <a:gd name="connsiteY0" fmla="*/ 271305 h 411982"/>
              <a:gd name="connsiteX1" fmla="*/ 10048 w 1657978"/>
              <a:gd name="connsiteY1" fmla="*/ 211015 h 411982"/>
              <a:gd name="connsiteX2" fmla="*/ 60290 w 1657978"/>
              <a:gd name="connsiteY2" fmla="*/ 180870 h 411982"/>
              <a:gd name="connsiteX3" fmla="*/ 90435 w 1657978"/>
              <a:gd name="connsiteY3" fmla="*/ 160774 h 411982"/>
              <a:gd name="connsiteX4" fmla="*/ 211015 w 1657978"/>
              <a:gd name="connsiteY4" fmla="*/ 100483 h 411982"/>
              <a:gd name="connsiteX5" fmla="*/ 381837 w 1657978"/>
              <a:gd name="connsiteY5" fmla="*/ 50242 h 411982"/>
              <a:gd name="connsiteX6" fmla="*/ 482321 w 1657978"/>
              <a:gd name="connsiteY6" fmla="*/ 20097 h 411982"/>
              <a:gd name="connsiteX7" fmla="*/ 572756 w 1657978"/>
              <a:gd name="connsiteY7" fmla="*/ 0 h 411982"/>
              <a:gd name="connsiteX8" fmla="*/ 803868 w 1657978"/>
              <a:gd name="connsiteY8" fmla="*/ 10048 h 411982"/>
              <a:gd name="connsiteX9" fmla="*/ 894303 w 1657978"/>
              <a:gd name="connsiteY9" fmla="*/ 40193 h 411982"/>
              <a:gd name="connsiteX10" fmla="*/ 964642 w 1657978"/>
              <a:gd name="connsiteY10" fmla="*/ 100483 h 411982"/>
              <a:gd name="connsiteX11" fmla="*/ 974690 w 1657978"/>
              <a:gd name="connsiteY11" fmla="*/ 130628 h 411982"/>
              <a:gd name="connsiteX12" fmla="*/ 994787 w 1657978"/>
              <a:gd name="connsiteY12" fmla="*/ 170822 h 411982"/>
              <a:gd name="connsiteX13" fmla="*/ 964642 w 1657978"/>
              <a:gd name="connsiteY13" fmla="*/ 311499 h 411982"/>
              <a:gd name="connsiteX14" fmla="*/ 934497 w 1657978"/>
              <a:gd name="connsiteY14" fmla="*/ 341644 h 411982"/>
              <a:gd name="connsiteX15" fmla="*/ 904352 w 1657978"/>
              <a:gd name="connsiteY15" fmla="*/ 361741 h 411982"/>
              <a:gd name="connsiteX16" fmla="*/ 864158 w 1657978"/>
              <a:gd name="connsiteY16" fmla="*/ 391886 h 411982"/>
              <a:gd name="connsiteX17" fmla="*/ 823965 w 1657978"/>
              <a:gd name="connsiteY17" fmla="*/ 401934 h 411982"/>
              <a:gd name="connsiteX18" fmla="*/ 793820 w 1657978"/>
              <a:gd name="connsiteY18" fmla="*/ 411982 h 411982"/>
              <a:gd name="connsiteX19" fmla="*/ 763675 w 1657978"/>
              <a:gd name="connsiteY19" fmla="*/ 401934 h 411982"/>
              <a:gd name="connsiteX20" fmla="*/ 793820 w 1657978"/>
              <a:gd name="connsiteY20" fmla="*/ 261257 h 411982"/>
              <a:gd name="connsiteX21" fmla="*/ 823965 w 1657978"/>
              <a:gd name="connsiteY21" fmla="*/ 221064 h 411982"/>
              <a:gd name="connsiteX22" fmla="*/ 984739 w 1657978"/>
              <a:gd name="connsiteY22" fmla="*/ 170822 h 411982"/>
              <a:gd name="connsiteX23" fmla="*/ 1055077 w 1657978"/>
              <a:gd name="connsiteY23" fmla="*/ 150725 h 411982"/>
              <a:gd name="connsiteX24" fmla="*/ 1276141 w 1657978"/>
              <a:gd name="connsiteY24" fmla="*/ 160774 h 411982"/>
              <a:gd name="connsiteX25" fmla="*/ 1326383 w 1657978"/>
              <a:gd name="connsiteY25" fmla="*/ 180870 h 411982"/>
              <a:gd name="connsiteX26" fmla="*/ 1426866 w 1657978"/>
              <a:gd name="connsiteY26" fmla="*/ 221064 h 411982"/>
              <a:gd name="connsiteX27" fmla="*/ 1467059 w 1657978"/>
              <a:gd name="connsiteY27" fmla="*/ 251209 h 411982"/>
              <a:gd name="connsiteX28" fmla="*/ 1507253 w 1657978"/>
              <a:gd name="connsiteY28" fmla="*/ 271305 h 411982"/>
              <a:gd name="connsiteX29" fmla="*/ 1537398 w 1657978"/>
              <a:gd name="connsiteY29" fmla="*/ 291402 h 411982"/>
              <a:gd name="connsiteX30" fmla="*/ 1577591 w 1657978"/>
              <a:gd name="connsiteY30" fmla="*/ 301450 h 411982"/>
              <a:gd name="connsiteX31" fmla="*/ 1607736 w 1657978"/>
              <a:gd name="connsiteY31" fmla="*/ 331595 h 411982"/>
              <a:gd name="connsiteX32" fmla="*/ 1657978 w 1657978"/>
              <a:gd name="connsiteY32" fmla="*/ 361741 h 4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57978" h="411982">
                <a:moveTo>
                  <a:pt x="0" y="271305"/>
                </a:moveTo>
                <a:cubicBezTo>
                  <a:pt x="3349" y="251208"/>
                  <a:pt x="-1253" y="227967"/>
                  <a:pt x="10048" y="211015"/>
                </a:cubicBezTo>
                <a:cubicBezTo>
                  <a:pt x="20882" y="194765"/>
                  <a:pt x="43728" y="191221"/>
                  <a:pt x="60290" y="180870"/>
                </a:cubicBezTo>
                <a:cubicBezTo>
                  <a:pt x="70531" y="174470"/>
                  <a:pt x="79779" y="166457"/>
                  <a:pt x="90435" y="160774"/>
                </a:cubicBezTo>
                <a:cubicBezTo>
                  <a:pt x="130086" y="139627"/>
                  <a:pt x="167903" y="113163"/>
                  <a:pt x="211015" y="100483"/>
                </a:cubicBezTo>
                <a:lnTo>
                  <a:pt x="381837" y="50242"/>
                </a:lnTo>
                <a:cubicBezTo>
                  <a:pt x="415366" y="40308"/>
                  <a:pt x="448184" y="27683"/>
                  <a:pt x="482321" y="20097"/>
                </a:cubicBezTo>
                <a:lnTo>
                  <a:pt x="572756" y="0"/>
                </a:lnTo>
                <a:cubicBezTo>
                  <a:pt x="649793" y="3349"/>
                  <a:pt x="726954" y="4554"/>
                  <a:pt x="803868" y="10048"/>
                </a:cubicBezTo>
                <a:cubicBezTo>
                  <a:pt x="839434" y="12588"/>
                  <a:pt x="864587" y="21621"/>
                  <a:pt x="894303" y="40193"/>
                </a:cubicBezTo>
                <a:cubicBezTo>
                  <a:pt x="928679" y="61677"/>
                  <a:pt x="937238" y="73079"/>
                  <a:pt x="964642" y="100483"/>
                </a:cubicBezTo>
                <a:cubicBezTo>
                  <a:pt x="967991" y="110531"/>
                  <a:pt x="970518" y="120893"/>
                  <a:pt x="974690" y="130628"/>
                </a:cubicBezTo>
                <a:cubicBezTo>
                  <a:pt x="980591" y="144396"/>
                  <a:pt x="993720" y="155881"/>
                  <a:pt x="994787" y="170822"/>
                </a:cubicBezTo>
                <a:cubicBezTo>
                  <a:pt x="998153" y="217949"/>
                  <a:pt x="993160" y="271574"/>
                  <a:pt x="964642" y="311499"/>
                </a:cubicBezTo>
                <a:cubicBezTo>
                  <a:pt x="956382" y="323063"/>
                  <a:pt x="945414" y="332547"/>
                  <a:pt x="934497" y="341644"/>
                </a:cubicBezTo>
                <a:cubicBezTo>
                  <a:pt x="925219" y="349375"/>
                  <a:pt x="914179" y="354722"/>
                  <a:pt x="904352" y="361741"/>
                </a:cubicBezTo>
                <a:cubicBezTo>
                  <a:pt x="890724" y="371475"/>
                  <a:pt x="879137" y="384396"/>
                  <a:pt x="864158" y="391886"/>
                </a:cubicBezTo>
                <a:cubicBezTo>
                  <a:pt x="851806" y="398062"/>
                  <a:pt x="837244" y="398140"/>
                  <a:pt x="823965" y="401934"/>
                </a:cubicBezTo>
                <a:cubicBezTo>
                  <a:pt x="813781" y="404844"/>
                  <a:pt x="803868" y="408633"/>
                  <a:pt x="793820" y="411982"/>
                </a:cubicBezTo>
                <a:cubicBezTo>
                  <a:pt x="783772" y="408633"/>
                  <a:pt x="765416" y="412382"/>
                  <a:pt x="763675" y="401934"/>
                </a:cubicBezTo>
                <a:cubicBezTo>
                  <a:pt x="750902" y="325297"/>
                  <a:pt x="761008" y="307194"/>
                  <a:pt x="793820" y="261257"/>
                </a:cubicBezTo>
                <a:cubicBezTo>
                  <a:pt x="803554" y="247629"/>
                  <a:pt x="809702" y="229841"/>
                  <a:pt x="823965" y="221064"/>
                </a:cubicBezTo>
                <a:cubicBezTo>
                  <a:pt x="904799" y="171320"/>
                  <a:pt x="910646" y="187920"/>
                  <a:pt x="984739" y="170822"/>
                </a:cubicBezTo>
                <a:cubicBezTo>
                  <a:pt x="1008499" y="165339"/>
                  <a:pt x="1031631" y="157424"/>
                  <a:pt x="1055077" y="150725"/>
                </a:cubicBezTo>
                <a:cubicBezTo>
                  <a:pt x="1128765" y="154075"/>
                  <a:pt x="1202828" y="152628"/>
                  <a:pt x="1276141" y="160774"/>
                </a:cubicBezTo>
                <a:cubicBezTo>
                  <a:pt x="1294068" y="162766"/>
                  <a:pt x="1309432" y="174706"/>
                  <a:pt x="1326383" y="180870"/>
                </a:cubicBezTo>
                <a:cubicBezTo>
                  <a:pt x="1369521" y="196556"/>
                  <a:pt x="1389903" y="197961"/>
                  <a:pt x="1426866" y="221064"/>
                </a:cubicBezTo>
                <a:cubicBezTo>
                  <a:pt x="1441067" y="229940"/>
                  <a:pt x="1452857" y="242333"/>
                  <a:pt x="1467059" y="251209"/>
                </a:cubicBezTo>
                <a:cubicBezTo>
                  <a:pt x="1479761" y="259148"/>
                  <a:pt x="1494247" y="263873"/>
                  <a:pt x="1507253" y="271305"/>
                </a:cubicBezTo>
                <a:cubicBezTo>
                  <a:pt x="1517739" y="277297"/>
                  <a:pt x="1526298" y="286645"/>
                  <a:pt x="1537398" y="291402"/>
                </a:cubicBezTo>
                <a:cubicBezTo>
                  <a:pt x="1550091" y="296842"/>
                  <a:pt x="1564193" y="298101"/>
                  <a:pt x="1577591" y="301450"/>
                </a:cubicBezTo>
                <a:cubicBezTo>
                  <a:pt x="1587639" y="311498"/>
                  <a:pt x="1596819" y="322498"/>
                  <a:pt x="1607736" y="331595"/>
                </a:cubicBezTo>
                <a:cubicBezTo>
                  <a:pt x="1625924" y="346752"/>
                  <a:pt x="1638360" y="351931"/>
                  <a:pt x="1657978" y="361741"/>
                </a:cubicBezTo>
              </a:path>
            </a:pathLst>
          </a:custGeom>
          <a:noFill/>
          <a:ln w="31750" cmpd="sng">
            <a:solidFill>
              <a:schemeClr val="bg1">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p:cNvSpPr txBox="1"/>
          <p:nvPr/>
        </p:nvSpPr>
        <p:spPr>
          <a:xfrm>
            <a:off x="6855094" y="4433596"/>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Testing Data</a:t>
            </a:r>
            <a:endParaRPr lang="ru-RU" sz="1400" b="1" dirty="0">
              <a:solidFill>
                <a:prstClr val="white">
                  <a:lumMod val="65000"/>
                </a:prstClr>
              </a:solidFill>
            </a:endParaRPr>
          </a:p>
        </p:txBody>
      </p:sp>
      <p:sp>
        <p:nvSpPr>
          <p:cNvPr id="84" name="TextBox 83"/>
          <p:cNvSpPr txBox="1"/>
          <p:nvPr/>
        </p:nvSpPr>
        <p:spPr>
          <a:xfrm>
            <a:off x="6852831" y="4633877"/>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spTree>
    <p:extLst>
      <p:ext uri="{BB962C8B-B14F-4D97-AF65-F5344CB8AC3E}">
        <p14:creationId xmlns:p14="http://schemas.microsoft.com/office/powerpoint/2010/main" val="2660041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250"/>
                                        <p:tgtEl>
                                          <p:spTgt spid="8"/>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250"/>
                                        <p:tgtEl>
                                          <p:spTgt spid="54"/>
                                        </p:tgtEl>
                                      </p:cBhvr>
                                    </p:animEffect>
                                  </p:childTnLst>
                                </p:cTn>
                              </p:par>
                            </p:childTnLst>
                          </p:cTn>
                        </p:par>
                        <p:par>
                          <p:cTn id="16" fill="hold">
                            <p:stCondLst>
                              <p:cond delay="750"/>
                            </p:stCondLst>
                            <p:childTnLst>
                              <p:par>
                                <p:cTn id="17" presetID="22" presetClass="entr" presetSubtype="8"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250"/>
                                        <p:tgtEl>
                                          <p:spTgt spid="5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down)">
                                      <p:cBhvr>
                                        <p:cTn id="24" dur="250"/>
                                        <p:tgtEl>
                                          <p:spTgt spid="5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animEffect transition="in" filter="fade">
                                      <p:cBhvr>
                                        <p:cTn id="27" dur="250"/>
                                        <p:tgtEl>
                                          <p:spTgt spid="8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fade">
                                      <p:cBhvr>
                                        <p:cTn id="30" dur="250"/>
                                        <p:tgtEl>
                                          <p:spTgt spid="84"/>
                                        </p:tgtEl>
                                      </p:cBhvr>
                                    </p:animEffect>
                                  </p:childTnLst>
                                </p:cTn>
                              </p:par>
                            </p:childTnLst>
                          </p:cTn>
                        </p:par>
                        <p:par>
                          <p:cTn id="31" fill="hold">
                            <p:stCondLst>
                              <p:cond delay="250"/>
                            </p:stCondLst>
                            <p:childTnLst>
                              <p:par>
                                <p:cTn id="32" presetID="22" presetClass="entr" presetSubtype="8" fill="hold" grpId="0" nodeType="afterEffect">
                                  <p:stCondLst>
                                    <p:cond delay="0"/>
                                  </p:stCondLst>
                                  <p:childTnLst>
                                    <p:set>
                                      <p:cBhvr>
                                        <p:cTn id="33" dur="1" fill="hold">
                                          <p:stCondLst>
                                            <p:cond delay="0"/>
                                          </p:stCondLst>
                                        </p:cTn>
                                        <p:tgtEl>
                                          <p:spTgt spid="82"/>
                                        </p:tgtEl>
                                        <p:attrNameLst>
                                          <p:attrName>style.visibility</p:attrName>
                                        </p:attrNameLst>
                                      </p:cBhvr>
                                      <p:to>
                                        <p:strVal val="visible"/>
                                      </p:to>
                                    </p:set>
                                    <p:animEffect transition="in" filter="wipe(left)">
                                      <p:cBhvr>
                                        <p:cTn id="34" dur="250"/>
                                        <p:tgtEl>
                                          <p:spTgt spid="82"/>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wipe(left)">
                                      <p:cBhvr>
                                        <p:cTn id="38" dur="250"/>
                                        <p:tgtEl>
                                          <p:spTgt spid="5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250"/>
                                        <p:tgtEl>
                                          <p:spTgt spid="6"/>
                                        </p:tgtEl>
                                      </p:cBhvr>
                                    </p:animEffect>
                                  </p:childTnLst>
                                </p:cTn>
                              </p:par>
                            </p:childTnLst>
                          </p:cTn>
                        </p:par>
                        <p:par>
                          <p:cTn id="44" fill="hold">
                            <p:stCondLst>
                              <p:cond delay="250"/>
                            </p:stCondLst>
                            <p:childTnLst>
                              <p:par>
                                <p:cTn id="45" presetID="10" presetClass="entr" presetSubtype="0" fill="hold" grpId="0" nodeType="after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250"/>
                                        <p:tgtEl>
                                          <p:spTgt spid="73"/>
                                        </p:tgtEl>
                                      </p:cBhvr>
                                    </p:animEffect>
                                  </p:childTnLst>
                                </p:cTn>
                              </p:par>
                            </p:childTnLst>
                          </p:cTn>
                        </p:par>
                        <p:par>
                          <p:cTn id="48" fill="hold">
                            <p:stCondLst>
                              <p:cond delay="500"/>
                            </p:stCondLst>
                            <p:childTnLst>
                              <p:par>
                                <p:cTn id="49" presetID="22" presetClass="entr" presetSubtype="1" fill="hold" grpId="0"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up)">
                                      <p:cBhvr>
                                        <p:cTn id="51" dur="250"/>
                                        <p:tgtEl>
                                          <p:spTgt spid="5"/>
                                        </p:tgtEl>
                                      </p:cBhvr>
                                    </p:animEffect>
                                  </p:childTnLst>
                                </p:cTn>
                              </p:par>
                            </p:childTnLst>
                          </p:cTn>
                        </p:par>
                        <p:par>
                          <p:cTn id="52" fill="hold">
                            <p:stCondLst>
                              <p:cond delay="750"/>
                            </p:stCondLst>
                            <p:childTnLst>
                              <p:par>
                                <p:cTn id="53" presetID="10" presetClass="entr" presetSubtype="0" fill="hold"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2" grpId="0">
        <p:bldAsOne/>
      </p:bldGraphic>
      <p:bldP spid="54" grpId="0"/>
      <p:bldP spid="5" grpId="0" animBg="1"/>
      <p:bldP spid="73" grpId="0"/>
      <p:bldP spid="8" grpId="0" animBg="1"/>
      <p:bldP spid="82" grpId="0" animBg="1"/>
      <p:bldP spid="83" grpId="0"/>
      <p:bldP spid="8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Placeholder 5"/>
          <p:cNvSpPr>
            <a:spLocks noGrp="1"/>
          </p:cNvSpPr>
          <p:nvPr>
            <p:ph type="body" sz="quarter" idx="10"/>
          </p:nvPr>
        </p:nvSpPr>
        <p:spPr>
          <a:xfrm>
            <a:off x="507226" y="382630"/>
            <a:ext cx="11009271" cy="642938"/>
          </a:xfrm>
        </p:spPr>
        <p:txBody>
          <a:bodyPr/>
          <a:lstStyle/>
          <a:p>
            <a:r>
              <a:rPr lang="en-US" dirty="0"/>
              <a:t>Handling </a:t>
            </a:r>
            <a:r>
              <a:rPr lang="en-US" i="1" dirty="0">
                <a:solidFill>
                  <a:srgbClr val="D43E01"/>
                </a:solidFill>
                <a:latin typeface="Lato Light" panose="020F0302020204030203" pitchFamily="34" charset="0"/>
              </a:rPr>
              <a:t>Noise</a:t>
            </a:r>
          </a:p>
        </p:txBody>
      </p:sp>
      <p:sp>
        <p:nvSpPr>
          <p:cNvPr id="58" name="Text Placeholder 6"/>
          <p:cNvSpPr>
            <a:spLocks noGrp="1"/>
          </p:cNvSpPr>
          <p:nvPr>
            <p:ph type="body" sz="quarter" idx="11"/>
          </p:nvPr>
        </p:nvSpPr>
        <p:spPr>
          <a:xfrm>
            <a:off x="538446" y="912983"/>
            <a:ext cx="10984557" cy="305229"/>
          </a:xfrm>
        </p:spPr>
        <p:txBody>
          <a:bodyPr/>
          <a:lstStyle/>
          <a:p>
            <a:r>
              <a:rPr lang="en-US" b="1" dirty="0"/>
              <a:t>Feature Data Vs. Histogram</a:t>
            </a:r>
          </a:p>
        </p:txBody>
      </p:sp>
      <p:grpSp>
        <p:nvGrpSpPr>
          <p:cNvPr id="59" name="Group 58"/>
          <p:cNvGrpSpPr/>
          <p:nvPr/>
        </p:nvGrpSpPr>
        <p:grpSpPr>
          <a:xfrm>
            <a:off x="455000" y="491056"/>
            <a:ext cx="45720" cy="675713"/>
            <a:chOff x="455000" y="491056"/>
            <a:chExt cx="45720" cy="675713"/>
          </a:xfrm>
        </p:grpSpPr>
        <p:sp>
          <p:nvSpPr>
            <p:cNvPr id="60" name="Rectangle 59"/>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Rectangle 60"/>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15" name="TextBox 1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- 13</a:t>
            </a:r>
          </a:p>
        </p:txBody>
      </p:sp>
      <p:graphicFrame>
        <p:nvGraphicFramePr>
          <p:cNvPr id="53" name="Table 52"/>
          <p:cNvGraphicFramePr>
            <a:graphicFrameLocks noGrp="1"/>
          </p:cNvGraphicFramePr>
          <p:nvPr/>
        </p:nvGraphicFramePr>
        <p:xfrm>
          <a:off x="8685555" y="2974961"/>
          <a:ext cx="3100770" cy="537210"/>
        </p:xfrm>
        <a:graphic>
          <a:graphicData uri="http://schemas.openxmlformats.org/drawingml/2006/table">
            <a:tbl>
              <a:tblPr>
                <a:tableStyleId>{073A0DAA-6AF3-43AB-8588-CEC1D06C72B9}</a:tableStyleId>
              </a:tblPr>
              <a:tblGrid>
                <a:gridCol w="344530">
                  <a:extLst>
                    <a:ext uri="{9D8B030D-6E8A-4147-A177-3AD203B41FA5}">
                      <a16:colId xmlns:a16="http://schemas.microsoft.com/office/drawing/2014/main" val="1695068152"/>
                    </a:ext>
                  </a:extLst>
                </a:gridCol>
                <a:gridCol w="344530">
                  <a:extLst>
                    <a:ext uri="{9D8B030D-6E8A-4147-A177-3AD203B41FA5}">
                      <a16:colId xmlns:a16="http://schemas.microsoft.com/office/drawing/2014/main" val="2336420741"/>
                    </a:ext>
                  </a:extLst>
                </a:gridCol>
                <a:gridCol w="344530">
                  <a:extLst>
                    <a:ext uri="{9D8B030D-6E8A-4147-A177-3AD203B41FA5}">
                      <a16:colId xmlns:a16="http://schemas.microsoft.com/office/drawing/2014/main" val="3461314546"/>
                    </a:ext>
                  </a:extLst>
                </a:gridCol>
                <a:gridCol w="344530">
                  <a:extLst>
                    <a:ext uri="{9D8B030D-6E8A-4147-A177-3AD203B41FA5}">
                      <a16:colId xmlns:a16="http://schemas.microsoft.com/office/drawing/2014/main" val="2239297547"/>
                    </a:ext>
                  </a:extLst>
                </a:gridCol>
                <a:gridCol w="344530">
                  <a:extLst>
                    <a:ext uri="{9D8B030D-6E8A-4147-A177-3AD203B41FA5}">
                      <a16:colId xmlns:a16="http://schemas.microsoft.com/office/drawing/2014/main" val="2844738517"/>
                    </a:ext>
                  </a:extLst>
                </a:gridCol>
                <a:gridCol w="344530">
                  <a:extLst>
                    <a:ext uri="{9D8B030D-6E8A-4147-A177-3AD203B41FA5}">
                      <a16:colId xmlns:a16="http://schemas.microsoft.com/office/drawing/2014/main" val="3566160196"/>
                    </a:ext>
                  </a:extLst>
                </a:gridCol>
                <a:gridCol w="344530">
                  <a:extLst>
                    <a:ext uri="{9D8B030D-6E8A-4147-A177-3AD203B41FA5}">
                      <a16:colId xmlns:a16="http://schemas.microsoft.com/office/drawing/2014/main" val="388562243"/>
                    </a:ext>
                  </a:extLst>
                </a:gridCol>
                <a:gridCol w="344530">
                  <a:extLst>
                    <a:ext uri="{9D8B030D-6E8A-4147-A177-3AD203B41FA5}">
                      <a16:colId xmlns:a16="http://schemas.microsoft.com/office/drawing/2014/main" val="4195765789"/>
                    </a:ext>
                  </a:extLst>
                </a:gridCol>
                <a:gridCol w="344530">
                  <a:extLst>
                    <a:ext uri="{9D8B030D-6E8A-4147-A177-3AD203B41FA5}">
                      <a16:colId xmlns:a16="http://schemas.microsoft.com/office/drawing/2014/main" val="2304843134"/>
                    </a:ext>
                  </a:extLst>
                </a:gridCol>
              </a:tblGrid>
              <a:tr h="179440">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123332">
                <a:tc>
                  <a:txBody>
                    <a:bodyPr/>
                    <a:lstStyle/>
                    <a:p>
                      <a:pPr algn="ctr" fontAlgn="b"/>
                      <a:r>
                        <a:rPr lang="en-US" sz="1100" b="0" i="0" u="none" strike="noStrike" dirty="0">
                          <a:solidFill>
                            <a:srgbClr val="000000"/>
                          </a:solidFill>
                          <a:effectLst/>
                          <a:latin typeface="Lato Light" panose="020F0402020204030203"/>
                        </a:rPr>
                        <a:t>0</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0.002</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0.065</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0.24</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0.367</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0.256</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0.064</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0.006</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a:t>
                      </a:r>
                    </a:p>
                  </a:txBody>
                  <a:tcPr marL="9525" marR="9525" marT="9525" marB="0" anchor="b"/>
                </a:tc>
                <a:extLst>
                  <a:ext uri="{0D108BD9-81ED-4DB2-BD59-A6C34878D82A}">
                    <a16:rowId xmlns:a16="http://schemas.microsoft.com/office/drawing/2014/main" val="2968073239"/>
                  </a:ext>
                </a:extLst>
              </a:tr>
            </a:tbl>
          </a:graphicData>
        </a:graphic>
      </p:graphicFrame>
      <p:sp>
        <p:nvSpPr>
          <p:cNvPr id="54" name="TextBox 53"/>
          <p:cNvSpPr txBox="1"/>
          <p:nvPr/>
        </p:nvSpPr>
        <p:spPr>
          <a:xfrm>
            <a:off x="9063809" y="2545101"/>
            <a:ext cx="2344261" cy="338554"/>
          </a:xfrm>
          <a:prstGeom prst="rect">
            <a:avLst/>
          </a:prstGeom>
          <a:noFill/>
        </p:spPr>
        <p:txBody>
          <a:bodyPr wrap="square" rtlCol="0">
            <a:spAutoFit/>
          </a:bodyPr>
          <a:lstStyle/>
          <a:p>
            <a:pPr algn="ctr"/>
            <a:r>
              <a:rPr lang="en-US" sz="1600" b="1" dirty="0">
                <a:solidFill>
                  <a:schemeClr val="tx1">
                    <a:lumMod val="65000"/>
                    <a:lumOff val="35000"/>
                  </a:schemeClr>
                </a:solidFill>
                <a:latin typeface="Lato Light" panose="020F0402020204030203"/>
              </a:rPr>
              <a:t>without Adjustment</a:t>
            </a:r>
            <a:endParaRPr lang="ru-RU" sz="1600" b="1" dirty="0">
              <a:solidFill>
                <a:schemeClr val="tx1">
                  <a:lumMod val="65000"/>
                  <a:lumOff val="35000"/>
                </a:schemeClr>
              </a:solidFill>
              <a:latin typeface="Lato"/>
            </a:endParaRPr>
          </a:p>
        </p:txBody>
      </p:sp>
      <p:graphicFrame>
        <p:nvGraphicFramePr>
          <p:cNvPr id="55" name="Table 54"/>
          <p:cNvGraphicFramePr>
            <a:graphicFrameLocks noGrp="1"/>
          </p:cNvGraphicFramePr>
          <p:nvPr/>
        </p:nvGraphicFramePr>
        <p:xfrm>
          <a:off x="8685555" y="3527144"/>
          <a:ext cx="3100770" cy="537210"/>
        </p:xfrm>
        <a:graphic>
          <a:graphicData uri="http://schemas.openxmlformats.org/drawingml/2006/table">
            <a:tbl>
              <a:tblPr>
                <a:tableStyleId>{073A0DAA-6AF3-43AB-8588-CEC1D06C72B9}</a:tableStyleId>
              </a:tblPr>
              <a:tblGrid>
                <a:gridCol w="344530">
                  <a:extLst>
                    <a:ext uri="{9D8B030D-6E8A-4147-A177-3AD203B41FA5}">
                      <a16:colId xmlns:a16="http://schemas.microsoft.com/office/drawing/2014/main" val="1695068152"/>
                    </a:ext>
                  </a:extLst>
                </a:gridCol>
                <a:gridCol w="344530">
                  <a:extLst>
                    <a:ext uri="{9D8B030D-6E8A-4147-A177-3AD203B41FA5}">
                      <a16:colId xmlns:a16="http://schemas.microsoft.com/office/drawing/2014/main" val="2336420741"/>
                    </a:ext>
                  </a:extLst>
                </a:gridCol>
                <a:gridCol w="344530">
                  <a:extLst>
                    <a:ext uri="{9D8B030D-6E8A-4147-A177-3AD203B41FA5}">
                      <a16:colId xmlns:a16="http://schemas.microsoft.com/office/drawing/2014/main" val="3461314546"/>
                    </a:ext>
                  </a:extLst>
                </a:gridCol>
                <a:gridCol w="344530">
                  <a:extLst>
                    <a:ext uri="{9D8B030D-6E8A-4147-A177-3AD203B41FA5}">
                      <a16:colId xmlns:a16="http://schemas.microsoft.com/office/drawing/2014/main" val="2239297547"/>
                    </a:ext>
                  </a:extLst>
                </a:gridCol>
                <a:gridCol w="344530">
                  <a:extLst>
                    <a:ext uri="{9D8B030D-6E8A-4147-A177-3AD203B41FA5}">
                      <a16:colId xmlns:a16="http://schemas.microsoft.com/office/drawing/2014/main" val="2844738517"/>
                    </a:ext>
                  </a:extLst>
                </a:gridCol>
                <a:gridCol w="344530">
                  <a:extLst>
                    <a:ext uri="{9D8B030D-6E8A-4147-A177-3AD203B41FA5}">
                      <a16:colId xmlns:a16="http://schemas.microsoft.com/office/drawing/2014/main" val="3566160196"/>
                    </a:ext>
                  </a:extLst>
                </a:gridCol>
                <a:gridCol w="344530">
                  <a:extLst>
                    <a:ext uri="{9D8B030D-6E8A-4147-A177-3AD203B41FA5}">
                      <a16:colId xmlns:a16="http://schemas.microsoft.com/office/drawing/2014/main" val="388562243"/>
                    </a:ext>
                  </a:extLst>
                </a:gridCol>
                <a:gridCol w="344530">
                  <a:extLst>
                    <a:ext uri="{9D8B030D-6E8A-4147-A177-3AD203B41FA5}">
                      <a16:colId xmlns:a16="http://schemas.microsoft.com/office/drawing/2014/main" val="4195765789"/>
                    </a:ext>
                  </a:extLst>
                </a:gridCol>
                <a:gridCol w="344530">
                  <a:extLst>
                    <a:ext uri="{9D8B030D-6E8A-4147-A177-3AD203B41FA5}">
                      <a16:colId xmlns:a16="http://schemas.microsoft.com/office/drawing/2014/main" val="2304843134"/>
                    </a:ext>
                  </a:extLst>
                </a:gridCol>
              </a:tblGrid>
              <a:tr h="179440">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123332">
                <a:tc>
                  <a:txBody>
                    <a:bodyPr/>
                    <a:lstStyle/>
                    <a:p>
                      <a:pPr algn="ctr" fontAlgn="b"/>
                      <a:r>
                        <a:rPr lang="en-US" sz="1100" b="0" i="0" u="none" strike="noStrike">
                          <a:solidFill>
                            <a:srgbClr val="000000"/>
                          </a:solidFill>
                          <a:effectLst/>
                          <a:latin typeface="Lato Light" panose="020F0402020204030203"/>
                        </a:rPr>
                        <a:t>0</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0.002</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0.065</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0.24</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0.367</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0.256</a:t>
                      </a:r>
                    </a:p>
                  </a:txBody>
                  <a:tcPr marL="9525" marR="9525" marT="9525" marB="0" anchor="b"/>
                </a:tc>
                <a:tc>
                  <a:txBody>
                    <a:bodyPr/>
                    <a:lstStyle/>
                    <a:p>
                      <a:pPr algn="ctr" fontAlgn="b"/>
                      <a:r>
                        <a:rPr lang="en-US" sz="1100" b="0" i="0" u="none" strike="noStrike">
                          <a:solidFill>
                            <a:srgbClr val="000000"/>
                          </a:solidFill>
                          <a:effectLst/>
                          <a:latin typeface="Lato Light" panose="020F0402020204030203"/>
                        </a:rPr>
                        <a:t>0.064</a:t>
                      </a:r>
                    </a:p>
                  </a:txBody>
                  <a:tcPr marL="9525" marR="9525" marT="9525" marB="0" anchor="b"/>
                </a:tc>
                <a:tc>
                  <a:txBody>
                    <a:bodyPr/>
                    <a:lstStyle/>
                    <a:p>
                      <a:pPr algn="ctr" fontAlgn="b"/>
                      <a:r>
                        <a:rPr lang="en-US" sz="1100" b="0" i="0" u="none" strike="noStrike" dirty="0">
                          <a:solidFill>
                            <a:srgbClr val="000000"/>
                          </a:solidFill>
                          <a:effectLst/>
                          <a:latin typeface="Lato Light" panose="020F0402020204030203"/>
                        </a:rPr>
                        <a:t>0.006</a:t>
                      </a:r>
                    </a:p>
                  </a:txBody>
                  <a:tcPr marL="9525" marR="9525" marT="9525" marB="0" anchor="b"/>
                </a:tc>
                <a:extLst>
                  <a:ext uri="{0D108BD9-81ED-4DB2-BD59-A6C34878D82A}">
                    <a16:rowId xmlns:a16="http://schemas.microsoft.com/office/drawing/2014/main" val="2968073239"/>
                  </a:ext>
                </a:extLst>
              </a:tr>
            </a:tbl>
          </a:graphicData>
        </a:graphic>
      </p:graphicFrame>
      <p:sp>
        <p:nvSpPr>
          <p:cNvPr id="5" name="Left Brace 4"/>
          <p:cNvSpPr/>
          <p:nvPr/>
        </p:nvSpPr>
        <p:spPr>
          <a:xfrm rot="16200000">
            <a:off x="10069841" y="2874002"/>
            <a:ext cx="360704" cy="2835864"/>
          </a:xfrm>
          <a:prstGeom prst="leftBrace">
            <a:avLst>
              <a:gd name="adj1" fmla="val 0"/>
              <a:gd name="adj2" fmla="val 50000"/>
            </a:avLst>
          </a:prstGeom>
          <a:ln w="19050"/>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grpSp>
        <p:nvGrpSpPr>
          <p:cNvPr id="6" name="Group 5"/>
          <p:cNvGrpSpPr/>
          <p:nvPr/>
        </p:nvGrpSpPr>
        <p:grpSpPr>
          <a:xfrm>
            <a:off x="8723383" y="3228209"/>
            <a:ext cx="3015284" cy="408530"/>
            <a:chOff x="8723383" y="3250434"/>
            <a:chExt cx="3015284" cy="408530"/>
          </a:xfrm>
        </p:grpSpPr>
        <p:sp>
          <p:nvSpPr>
            <p:cNvPr id="62" name="TextBox 61"/>
            <p:cNvSpPr txBox="1"/>
            <p:nvPr/>
          </p:nvSpPr>
          <p:spPr>
            <a:xfrm>
              <a:off x="8723383"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4" name="TextBox 63"/>
            <p:cNvSpPr txBox="1"/>
            <p:nvPr/>
          </p:nvSpPr>
          <p:spPr>
            <a:xfrm>
              <a:off x="9066168"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5" name="TextBox 64"/>
            <p:cNvSpPr txBox="1"/>
            <p:nvPr/>
          </p:nvSpPr>
          <p:spPr>
            <a:xfrm>
              <a:off x="9404962" y="325250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6" name="TextBox 65"/>
            <p:cNvSpPr txBox="1"/>
            <p:nvPr/>
          </p:nvSpPr>
          <p:spPr>
            <a:xfrm>
              <a:off x="9743756" y="3254431"/>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7" name="TextBox 66"/>
            <p:cNvSpPr txBox="1"/>
            <p:nvPr/>
          </p:nvSpPr>
          <p:spPr>
            <a:xfrm>
              <a:off x="10096631" y="325485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8" name="TextBox 67"/>
            <p:cNvSpPr txBox="1"/>
            <p:nvPr/>
          </p:nvSpPr>
          <p:spPr>
            <a:xfrm>
              <a:off x="10439416" y="325485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69" name="TextBox 68"/>
            <p:cNvSpPr txBox="1"/>
            <p:nvPr/>
          </p:nvSpPr>
          <p:spPr>
            <a:xfrm>
              <a:off x="10778210" y="325692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70" name="TextBox 69"/>
            <p:cNvSpPr txBox="1"/>
            <p:nvPr/>
          </p:nvSpPr>
          <p:spPr>
            <a:xfrm>
              <a:off x="11117004" y="325885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72" name="TextBox 71"/>
            <p:cNvSpPr txBox="1"/>
            <p:nvPr/>
          </p:nvSpPr>
          <p:spPr>
            <a:xfrm>
              <a:off x="11472832"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grpSp>
      <p:sp>
        <p:nvSpPr>
          <p:cNvPr id="73" name="TextBox 72"/>
          <p:cNvSpPr txBox="1"/>
          <p:nvPr/>
        </p:nvSpPr>
        <p:spPr>
          <a:xfrm>
            <a:off x="10115682" y="3956697"/>
            <a:ext cx="265835" cy="338554"/>
          </a:xfrm>
          <a:prstGeom prst="rect">
            <a:avLst/>
          </a:prstGeom>
          <a:noFill/>
        </p:spPr>
        <p:txBody>
          <a:bodyPr wrap="square" rtlCol="0">
            <a:spAutoFit/>
          </a:bodyPr>
          <a:lstStyle/>
          <a:p>
            <a:pPr algn="ctr"/>
            <a:r>
              <a:rPr lang="en-US" sz="1600" b="1" dirty="0">
                <a:solidFill>
                  <a:schemeClr val="tx1">
                    <a:lumMod val="65000"/>
                    <a:lumOff val="35000"/>
                  </a:schemeClr>
                </a:solidFill>
                <a:latin typeface="Lato Light" panose="020F0402020204030203"/>
              </a:rPr>
              <a:t>+</a:t>
            </a:r>
            <a:endParaRPr lang="ru-RU" sz="1600" b="1" dirty="0">
              <a:solidFill>
                <a:schemeClr val="tx1">
                  <a:lumMod val="65000"/>
                  <a:lumOff val="35000"/>
                </a:schemeClr>
              </a:solidFill>
              <a:latin typeface="Lato"/>
            </a:endParaRPr>
          </a:p>
        </p:txBody>
      </p:sp>
      <p:grpSp>
        <p:nvGrpSpPr>
          <p:cNvPr id="7" name="Group 6"/>
          <p:cNvGrpSpPr/>
          <p:nvPr/>
        </p:nvGrpSpPr>
        <p:grpSpPr>
          <a:xfrm>
            <a:off x="9064282" y="4733730"/>
            <a:ext cx="2458721" cy="423368"/>
            <a:chOff x="8832261" y="5076501"/>
            <a:chExt cx="2458721" cy="423368"/>
          </a:xfrm>
        </p:grpSpPr>
        <p:grpSp>
          <p:nvGrpSpPr>
            <p:cNvPr id="74" name="Group 73"/>
            <p:cNvGrpSpPr/>
            <p:nvPr/>
          </p:nvGrpSpPr>
          <p:grpSpPr>
            <a:xfrm>
              <a:off x="8832261" y="5076501"/>
              <a:ext cx="2458721" cy="423368"/>
              <a:chOff x="6758468" y="3025228"/>
              <a:chExt cx="1115380" cy="423368"/>
            </a:xfrm>
          </p:grpSpPr>
          <p:sp>
            <p:nvSpPr>
              <p:cNvPr id="75" name="Rounded Rectangle 74"/>
              <p:cNvSpPr/>
              <p:nvPr/>
            </p:nvSpPr>
            <p:spPr>
              <a:xfrm>
                <a:off x="6758468" y="3025228"/>
                <a:ext cx="1115380" cy="401935"/>
              </a:xfrm>
              <a:prstGeom prst="roundRect">
                <a:avLst>
                  <a:gd name="adj" fmla="val 7324"/>
                </a:avLst>
              </a:prstGeom>
              <a:solidFill>
                <a:schemeClr val="accent3">
                  <a:lumMod val="20000"/>
                  <a:lumOff val="80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TextBox 78"/>
              <p:cNvSpPr txBox="1"/>
              <p:nvPr/>
            </p:nvSpPr>
            <p:spPr>
              <a:xfrm>
                <a:off x="7554689" y="3048486"/>
                <a:ext cx="83802" cy="400110"/>
              </a:xfrm>
              <a:prstGeom prst="rect">
                <a:avLst/>
              </a:prstGeom>
              <a:noFill/>
            </p:spPr>
            <p:txBody>
              <a:bodyPr wrap="none" rtlCol="0">
                <a:spAutoFit/>
              </a:bodyPr>
              <a:lstStyle/>
              <a:p>
                <a:pPr algn="ctr"/>
                <a:endParaRPr lang="en-US" sz="2000" b="1" dirty="0">
                  <a:solidFill>
                    <a:prstClr val="black">
                      <a:lumMod val="75000"/>
                      <a:lumOff val="25000"/>
                    </a:prstClr>
                  </a:solidFill>
                  <a:latin typeface="Lato Medium"/>
                </a:endParaRPr>
              </a:p>
            </p:txBody>
          </p:sp>
        </p:grpSp>
        <mc:AlternateContent xmlns:mc="http://schemas.openxmlformats.org/markup-compatibility/2006" xmlns:a14="http://schemas.microsoft.com/office/drawing/2010/main">
          <mc:Choice Requires="a14">
            <p:sp>
              <p:nvSpPr>
                <p:cNvPr id="81" name="TextBox 80"/>
                <p:cNvSpPr txBox="1"/>
                <p:nvPr/>
              </p:nvSpPr>
              <p:spPr>
                <a:xfrm>
                  <a:off x="9063809" y="5122649"/>
                  <a:ext cx="1911677"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US" i="1" smtClean="0">
                                <a:solidFill>
                                  <a:schemeClr val="tx1">
                                    <a:lumMod val="65000"/>
                                    <a:lumOff val="35000"/>
                                  </a:schemeClr>
                                </a:solidFill>
                                <a:latin typeface="Cambria Math" panose="02040503050406030204" pitchFamily="18" charset="0"/>
                              </a:rPr>
                            </m:ctrlPr>
                          </m:radPr>
                          <m:deg/>
                          <m:e>
                            <m:r>
                              <a:rPr lang="en-US" i="1">
                                <a:solidFill>
                                  <a:schemeClr val="tx1">
                                    <a:lumMod val="65000"/>
                                    <a:lumOff val="35000"/>
                                  </a:schemeClr>
                                </a:solidFill>
                                <a:latin typeface="Cambria Math" panose="02040503050406030204" pitchFamily="18" charset="0"/>
                              </a:rPr>
                              <m:t>0.1033</m:t>
                            </m:r>
                          </m:e>
                        </m:rad>
                        <m:r>
                          <a:rPr lang="en-US" b="0" i="1" smtClean="0">
                            <a:solidFill>
                              <a:schemeClr val="tx1">
                                <a:lumMod val="65000"/>
                                <a:lumOff val="35000"/>
                              </a:schemeClr>
                            </a:solidFill>
                            <a:latin typeface="Cambria Math" panose="02040503050406030204" pitchFamily="18" charset="0"/>
                          </a:rPr>
                          <m:t>=</m:t>
                        </m:r>
                        <m:r>
                          <m:rPr>
                            <m:nor/>
                          </m:rPr>
                          <a:rPr lang="en-US" b="1" dirty="0">
                            <a:solidFill>
                              <a:prstClr val="black">
                                <a:lumMod val="75000"/>
                                <a:lumOff val="25000"/>
                              </a:prstClr>
                            </a:solidFill>
                            <a:latin typeface="Lato Medium"/>
                          </a:rPr>
                          <m:t>0.3214</m:t>
                        </m:r>
                      </m:oMath>
                    </m:oMathPara>
                  </a14:m>
                  <a:endParaRPr lang="en-US" b="1" dirty="0">
                    <a:solidFill>
                      <a:prstClr val="black">
                        <a:lumMod val="75000"/>
                        <a:lumOff val="25000"/>
                      </a:prstClr>
                    </a:solidFill>
                    <a:latin typeface="Lato Medium"/>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9063809" y="5122649"/>
                  <a:ext cx="1911677" cy="309637"/>
                </a:xfrm>
                <a:prstGeom prst="rect">
                  <a:avLst/>
                </a:prstGeom>
                <a:blipFill>
                  <a:blip r:embed="rId3"/>
                  <a:stretch>
                    <a:fillRect r="-2548" b="-9804"/>
                  </a:stretch>
                </a:blipFill>
              </p:spPr>
              <p:txBody>
                <a:bodyPr/>
                <a:lstStyle/>
                <a:p>
                  <a:r>
                    <a:rPr lang="en-US">
                      <a:noFill/>
                    </a:rPr>
                    <a:t> </a:t>
                  </a:r>
                </a:p>
              </p:txBody>
            </p:sp>
          </mc:Fallback>
        </mc:AlternateContent>
      </p:grpSp>
      <p:graphicFrame>
        <p:nvGraphicFramePr>
          <p:cNvPr id="34" name="Chart 33"/>
          <p:cNvGraphicFramePr>
            <a:graphicFrameLocks/>
          </p:cNvGraphicFramePr>
          <p:nvPr>
            <p:extLst>
              <p:ext uri="{D42A27DB-BD31-4B8C-83A1-F6EECF244321}">
                <p14:modId xmlns:p14="http://schemas.microsoft.com/office/powerpoint/2010/main" val="1335252990"/>
              </p:ext>
            </p:extLst>
          </p:nvPr>
        </p:nvGraphicFramePr>
        <p:xfrm>
          <a:off x="4301124" y="3017736"/>
          <a:ext cx="3679869" cy="2542324"/>
        </p:xfrm>
        <a:graphic>
          <a:graphicData uri="http://schemas.openxmlformats.org/drawingml/2006/chart">
            <c:chart xmlns:c="http://schemas.openxmlformats.org/drawingml/2006/chart" xmlns:r="http://schemas.openxmlformats.org/officeDocument/2006/relationships" r:id="rId4"/>
          </a:graphicData>
        </a:graphic>
      </p:graphicFrame>
      <p:sp>
        <p:nvSpPr>
          <p:cNvPr id="35" name="Rounded Rectangle 34"/>
          <p:cNvSpPr/>
          <p:nvPr/>
        </p:nvSpPr>
        <p:spPr>
          <a:xfrm>
            <a:off x="4130177" y="2402831"/>
            <a:ext cx="3946653" cy="3221208"/>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p:nvSpPr>
        <p:spPr>
          <a:xfrm>
            <a:off x="5175182" y="2450498"/>
            <a:ext cx="1931753"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Training Data</a:t>
            </a:r>
            <a:endParaRPr lang="ru-RU" sz="1400" b="1" dirty="0">
              <a:solidFill>
                <a:prstClr val="white">
                  <a:lumMod val="65000"/>
                </a:prstClr>
              </a:solidFill>
            </a:endParaRPr>
          </a:p>
        </p:txBody>
      </p:sp>
      <p:sp>
        <p:nvSpPr>
          <p:cNvPr id="38" name="TextBox 37"/>
          <p:cNvSpPr txBox="1"/>
          <p:nvPr/>
        </p:nvSpPr>
        <p:spPr>
          <a:xfrm>
            <a:off x="5175182" y="2675449"/>
            <a:ext cx="1931753" cy="273829"/>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graphicFrame>
        <p:nvGraphicFramePr>
          <p:cNvPr id="85" name="Table 84"/>
          <p:cNvGraphicFramePr>
            <a:graphicFrameLocks noGrp="1"/>
          </p:cNvGraphicFramePr>
          <p:nvPr>
            <p:extLst>
              <p:ext uri="{D42A27DB-BD31-4B8C-83A1-F6EECF244321}">
                <p14:modId xmlns:p14="http://schemas.microsoft.com/office/powerpoint/2010/main" val="4163748094"/>
              </p:ext>
            </p:extLst>
          </p:nvPr>
        </p:nvGraphicFramePr>
        <p:xfrm>
          <a:off x="420683" y="2974961"/>
          <a:ext cx="3100770" cy="476250"/>
        </p:xfrm>
        <a:graphic>
          <a:graphicData uri="http://schemas.openxmlformats.org/drawingml/2006/table">
            <a:tbl>
              <a:tblPr>
                <a:tableStyleId>{073A0DAA-6AF3-43AB-8588-CEC1D06C72B9}</a:tableStyleId>
              </a:tblPr>
              <a:tblGrid>
                <a:gridCol w="344530">
                  <a:extLst>
                    <a:ext uri="{9D8B030D-6E8A-4147-A177-3AD203B41FA5}">
                      <a16:colId xmlns:a16="http://schemas.microsoft.com/office/drawing/2014/main" val="1695068152"/>
                    </a:ext>
                  </a:extLst>
                </a:gridCol>
                <a:gridCol w="344530">
                  <a:extLst>
                    <a:ext uri="{9D8B030D-6E8A-4147-A177-3AD203B41FA5}">
                      <a16:colId xmlns:a16="http://schemas.microsoft.com/office/drawing/2014/main" val="2336420741"/>
                    </a:ext>
                  </a:extLst>
                </a:gridCol>
                <a:gridCol w="344530">
                  <a:extLst>
                    <a:ext uri="{9D8B030D-6E8A-4147-A177-3AD203B41FA5}">
                      <a16:colId xmlns:a16="http://schemas.microsoft.com/office/drawing/2014/main" val="3461314546"/>
                    </a:ext>
                  </a:extLst>
                </a:gridCol>
                <a:gridCol w="344530">
                  <a:extLst>
                    <a:ext uri="{9D8B030D-6E8A-4147-A177-3AD203B41FA5}">
                      <a16:colId xmlns:a16="http://schemas.microsoft.com/office/drawing/2014/main" val="2239297547"/>
                    </a:ext>
                  </a:extLst>
                </a:gridCol>
                <a:gridCol w="344530">
                  <a:extLst>
                    <a:ext uri="{9D8B030D-6E8A-4147-A177-3AD203B41FA5}">
                      <a16:colId xmlns:a16="http://schemas.microsoft.com/office/drawing/2014/main" val="2844738517"/>
                    </a:ext>
                  </a:extLst>
                </a:gridCol>
                <a:gridCol w="344530">
                  <a:extLst>
                    <a:ext uri="{9D8B030D-6E8A-4147-A177-3AD203B41FA5}">
                      <a16:colId xmlns:a16="http://schemas.microsoft.com/office/drawing/2014/main" val="3566160196"/>
                    </a:ext>
                  </a:extLst>
                </a:gridCol>
                <a:gridCol w="344530">
                  <a:extLst>
                    <a:ext uri="{9D8B030D-6E8A-4147-A177-3AD203B41FA5}">
                      <a16:colId xmlns:a16="http://schemas.microsoft.com/office/drawing/2014/main" val="388562243"/>
                    </a:ext>
                  </a:extLst>
                </a:gridCol>
                <a:gridCol w="344530">
                  <a:extLst>
                    <a:ext uri="{9D8B030D-6E8A-4147-A177-3AD203B41FA5}">
                      <a16:colId xmlns:a16="http://schemas.microsoft.com/office/drawing/2014/main" val="4195765789"/>
                    </a:ext>
                  </a:extLst>
                </a:gridCol>
                <a:gridCol w="344530">
                  <a:extLst>
                    <a:ext uri="{9D8B030D-6E8A-4147-A177-3AD203B41FA5}">
                      <a16:colId xmlns:a16="http://schemas.microsoft.com/office/drawing/2014/main" val="2304843134"/>
                    </a:ext>
                  </a:extLst>
                </a:gridCol>
              </a:tblGrid>
              <a:tr h="179440">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123332">
                <a:tc>
                  <a:txBody>
                    <a:bodyPr/>
                    <a:lstStyle/>
                    <a:p>
                      <a:pPr algn="ctr" fontAlgn="b"/>
                      <a:r>
                        <a:rPr lang="en-US" sz="900" b="0" i="0" u="none" strike="noStrike" dirty="0">
                          <a:solidFill>
                            <a:srgbClr val="000000"/>
                          </a:solidFill>
                          <a:effectLst/>
                          <a:latin typeface="Lato Light" panose="020F0402020204030203"/>
                        </a:rPr>
                        <a:t>0.0005</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0.0173</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0.093</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0.228</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0.3075</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0.2357</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0.0975</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0.019</a:t>
                      </a:r>
                    </a:p>
                  </a:txBody>
                  <a:tcPr marL="9525" marR="9525" marT="9525" marB="0" anchor="b"/>
                </a:tc>
                <a:tc>
                  <a:txBody>
                    <a:bodyPr/>
                    <a:lstStyle/>
                    <a:p>
                      <a:pPr algn="ctr" fontAlgn="b"/>
                      <a:r>
                        <a:rPr lang="en-US" sz="900" b="0" i="0" u="none" strike="noStrike" dirty="0">
                          <a:solidFill>
                            <a:srgbClr val="000000"/>
                          </a:solidFill>
                          <a:effectLst/>
                          <a:latin typeface="Lato Light" panose="020F0402020204030203"/>
                        </a:rPr>
                        <a:t>0.0015</a:t>
                      </a:r>
                    </a:p>
                  </a:txBody>
                  <a:tcPr marL="9525" marR="9525" marT="9525" marB="0" anchor="b"/>
                </a:tc>
                <a:extLst>
                  <a:ext uri="{0D108BD9-81ED-4DB2-BD59-A6C34878D82A}">
                    <a16:rowId xmlns:a16="http://schemas.microsoft.com/office/drawing/2014/main" val="2968073239"/>
                  </a:ext>
                </a:extLst>
              </a:tr>
            </a:tbl>
          </a:graphicData>
        </a:graphic>
      </p:graphicFrame>
      <p:sp>
        <p:nvSpPr>
          <p:cNvPr id="86" name="TextBox 85"/>
          <p:cNvSpPr txBox="1"/>
          <p:nvPr/>
        </p:nvSpPr>
        <p:spPr>
          <a:xfrm>
            <a:off x="798937" y="2545101"/>
            <a:ext cx="2344261" cy="338554"/>
          </a:xfrm>
          <a:prstGeom prst="rect">
            <a:avLst/>
          </a:prstGeom>
          <a:noFill/>
        </p:spPr>
        <p:txBody>
          <a:bodyPr wrap="square" rtlCol="0">
            <a:spAutoFit/>
          </a:bodyPr>
          <a:lstStyle/>
          <a:p>
            <a:pPr algn="ctr"/>
            <a:r>
              <a:rPr lang="en-US" sz="1600" b="1" dirty="0">
                <a:solidFill>
                  <a:schemeClr val="tx1">
                    <a:lumMod val="65000"/>
                    <a:lumOff val="35000"/>
                  </a:schemeClr>
                </a:solidFill>
                <a:latin typeface="Lato Light" panose="020F0402020204030203"/>
              </a:rPr>
              <a:t>with Adjustment</a:t>
            </a:r>
            <a:endParaRPr lang="ru-RU" sz="1600" b="1" dirty="0">
              <a:solidFill>
                <a:schemeClr val="tx1">
                  <a:lumMod val="65000"/>
                  <a:lumOff val="35000"/>
                </a:schemeClr>
              </a:solidFill>
              <a:latin typeface="Lato"/>
            </a:endParaRPr>
          </a:p>
        </p:txBody>
      </p:sp>
      <p:graphicFrame>
        <p:nvGraphicFramePr>
          <p:cNvPr id="87" name="Table 86"/>
          <p:cNvGraphicFramePr>
            <a:graphicFrameLocks noGrp="1"/>
          </p:cNvGraphicFramePr>
          <p:nvPr>
            <p:extLst>
              <p:ext uri="{D42A27DB-BD31-4B8C-83A1-F6EECF244321}">
                <p14:modId xmlns:p14="http://schemas.microsoft.com/office/powerpoint/2010/main" val="2577907255"/>
              </p:ext>
            </p:extLst>
          </p:nvPr>
        </p:nvGraphicFramePr>
        <p:xfrm>
          <a:off x="420683" y="3527144"/>
          <a:ext cx="3100770" cy="476250"/>
        </p:xfrm>
        <a:graphic>
          <a:graphicData uri="http://schemas.openxmlformats.org/drawingml/2006/table">
            <a:tbl>
              <a:tblPr>
                <a:tableStyleId>{073A0DAA-6AF3-43AB-8588-CEC1D06C72B9}</a:tableStyleId>
              </a:tblPr>
              <a:tblGrid>
                <a:gridCol w="344530">
                  <a:extLst>
                    <a:ext uri="{9D8B030D-6E8A-4147-A177-3AD203B41FA5}">
                      <a16:colId xmlns:a16="http://schemas.microsoft.com/office/drawing/2014/main" val="1695068152"/>
                    </a:ext>
                  </a:extLst>
                </a:gridCol>
                <a:gridCol w="344530">
                  <a:extLst>
                    <a:ext uri="{9D8B030D-6E8A-4147-A177-3AD203B41FA5}">
                      <a16:colId xmlns:a16="http://schemas.microsoft.com/office/drawing/2014/main" val="2336420741"/>
                    </a:ext>
                  </a:extLst>
                </a:gridCol>
                <a:gridCol w="344530">
                  <a:extLst>
                    <a:ext uri="{9D8B030D-6E8A-4147-A177-3AD203B41FA5}">
                      <a16:colId xmlns:a16="http://schemas.microsoft.com/office/drawing/2014/main" val="3461314546"/>
                    </a:ext>
                  </a:extLst>
                </a:gridCol>
                <a:gridCol w="344530">
                  <a:extLst>
                    <a:ext uri="{9D8B030D-6E8A-4147-A177-3AD203B41FA5}">
                      <a16:colId xmlns:a16="http://schemas.microsoft.com/office/drawing/2014/main" val="2239297547"/>
                    </a:ext>
                  </a:extLst>
                </a:gridCol>
                <a:gridCol w="344530">
                  <a:extLst>
                    <a:ext uri="{9D8B030D-6E8A-4147-A177-3AD203B41FA5}">
                      <a16:colId xmlns:a16="http://schemas.microsoft.com/office/drawing/2014/main" val="2844738517"/>
                    </a:ext>
                  </a:extLst>
                </a:gridCol>
                <a:gridCol w="344530">
                  <a:extLst>
                    <a:ext uri="{9D8B030D-6E8A-4147-A177-3AD203B41FA5}">
                      <a16:colId xmlns:a16="http://schemas.microsoft.com/office/drawing/2014/main" val="3566160196"/>
                    </a:ext>
                  </a:extLst>
                </a:gridCol>
                <a:gridCol w="344530">
                  <a:extLst>
                    <a:ext uri="{9D8B030D-6E8A-4147-A177-3AD203B41FA5}">
                      <a16:colId xmlns:a16="http://schemas.microsoft.com/office/drawing/2014/main" val="388562243"/>
                    </a:ext>
                  </a:extLst>
                </a:gridCol>
                <a:gridCol w="344530">
                  <a:extLst>
                    <a:ext uri="{9D8B030D-6E8A-4147-A177-3AD203B41FA5}">
                      <a16:colId xmlns:a16="http://schemas.microsoft.com/office/drawing/2014/main" val="4195765789"/>
                    </a:ext>
                  </a:extLst>
                </a:gridCol>
                <a:gridCol w="344530">
                  <a:extLst>
                    <a:ext uri="{9D8B030D-6E8A-4147-A177-3AD203B41FA5}">
                      <a16:colId xmlns:a16="http://schemas.microsoft.com/office/drawing/2014/main" val="2304843134"/>
                    </a:ext>
                  </a:extLst>
                </a:gridCol>
              </a:tblGrid>
              <a:tr h="179440">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123332">
                <a:tc>
                  <a:txBody>
                    <a:bodyPr/>
                    <a:lstStyle/>
                    <a:p>
                      <a:pPr algn="ctr" fontAlgn="b"/>
                      <a:r>
                        <a:rPr lang="en-US" sz="900" b="0" i="0" u="none" strike="noStrike">
                          <a:solidFill>
                            <a:srgbClr val="000000"/>
                          </a:solidFill>
                          <a:effectLst/>
                          <a:latin typeface="Lato Light" panose="020F0402020204030203"/>
                        </a:rPr>
                        <a:t>0</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0.0005</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0.0173</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0.0931</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0.2283</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0.308</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0.2361</a:t>
                      </a:r>
                    </a:p>
                  </a:txBody>
                  <a:tcPr marL="9525" marR="9525" marT="9525" marB="0" anchor="b"/>
                </a:tc>
                <a:tc>
                  <a:txBody>
                    <a:bodyPr/>
                    <a:lstStyle/>
                    <a:p>
                      <a:pPr algn="ctr" fontAlgn="b"/>
                      <a:r>
                        <a:rPr lang="en-US" sz="900" b="0" i="0" u="none" strike="noStrike">
                          <a:solidFill>
                            <a:srgbClr val="000000"/>
                          </a:solidFill>
                          <a:effectLst/>
                          <a:latin typeface="Lato Light" panose="020F0402020204030203"/>
                        </a:rPr>
                        <a:t>0.0976</a:t>
                      </a:r>
                    </a:p>
                  </a:txBody>
                  <a:tcPr marL="9525" marR="9525" marT="9525" marB="0" anchor="b"/>
                </a:tc>
                <a:tc>
                  <a:txBody>
                    <a:bodyPr/>
                    <a:lstStyle/>
                    <a:p>
                      <a:pPr algn="ctr" fontAlgn="b"/>
                      <a:r>
                        <a:rPr lang="en-US" sz="900" b="0" i="0" u="none" strike="noStrike" dirty="0">
                          <a:solidFill>
                            <a:srgbClr val="000000"/>
                          </a:solidFill>
                          <a:effectLst/>
                          <a:latin typeface="Lato Light" panose="020F0402020204030203"/>
                        </a:rPr>
                        <a:t>0.019</a:t>
                      </a:r>
                    </a:p>
                  </a:txBody>
                  <a:tcPr marL="9525" marR="9525" marT="9525" marB="0" anchor="b"/>
                </a:tc>
                <a:extLst>
                  <a:ext uri="{0D108BD9-81ED-4DB2-BD59-A6C34878D82A}">
                    <a16:rowId xmlns:a16="http://schemas.microsoft.com/office/drawing/2014/main" val="2968073239"/>
                  </a:ext>
                </a:extLst>
              </a:tr>
            </a:tbl>
          </a:graphicData>
        </a:graphic>
      </p:graphicFrame>
      <p:sp>
        <p:nvSpPr>
          <p:cNvPr id="88" name="Left Brace 87"/>
          <p:cNvSpPr/>
          <p:nvPr/>
        </p:nvSpPr>
        <p:spPr>
          <a:xfrm rot="16200000">
            <a:off x="1804969" y="2874002"/>
            <a:ext cx="360704" cy="2835864"/>
          </a:xfrm>
          <a:prstGeom prst="leftBrace">
            <a:avLst>
              <a:gd name="adj1" fmla="val 0"/>
              <a:gd name="adj2" fmla="val 50000"/>
            </a:avLst>
          </a:prstGeom>
          <a:ln w="19050"/>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grpSp>
        <p:nvGrpSpPr>
          <p:cNvPr id="89" name="Group 88"/>
          <p:cNvGrpSpPr/>
          <p:nvPr/>
        </p:nvGrpSpPr>
        <p:grpSpPr>
          <a:xfrm>
            <a:off x="457889" y="3184147"/>
            <a:ext cx="3015284" cy="408530"/>
            <a:chOff x="8723383" y="3250434"/>
            <a:chExt cx="3015284" cy="408530"/>
          </a:xfrm>
        </p:grpSpPr>
        <p:sp>
          <p:nvSpPr>
            <p:cNvPr id="90" name="TextBox 89"/>
            <p:cNvSpPr txBox="1"/>
            <p:nvPr/>
          </p:nvSpPr>
          <p:spPr>
            <a:xfrm>
              <a:off x="8723383"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1" name="TextBox 90"/>
            <p:cNvSpPr txBox="1"/>
            <p:nvPr/>
          </p:nvSpPr>
          <p:spPr>
            <a:xfrm>
              <a:off x="9066168"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2" name="TextBox 91"/>
            <p:cNvSpPr txBox="1"/>
            <p:nvPr/>
          </p:nvSpPr>
          <p:spPr>
            <a:xfrm>
              <a:off x="9404962" y="325250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3" name="TextBox 92"/>
            <p:cNvSpPr txBox="1"/>
            <p:nvPr/>
          </p:nvSpPr>
          <p:spPr>
            <a:xfrm>
              <a:off x="9743756" y="3254431"/>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4" name="TextBox 93"/>
            <p:cNvSpPr txBox="1"/>
            <p:nvPr/>
          </p:nvSpPr>
          <p:spPr>
            <a:xfrm>
              <a:off x="10096631" y="325485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5" name="TextBox 94"/>
            <p:cNvSpPr txBox="1"/>
            <p:nvPr/>
          </p:nvSpPr>
          <p:spPr>
            <a:xfrm>
              <a:off x="10439416" y="325485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6" name="TextBox 95"/>
            <p:cNvSpPr txBox="1"/>
            <p:nvPr/>
          </p:nvSpPr>
          <p:spPr>
            <a:xfrm>
              <a:off x="10778210" y="3256927"/>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7" name="TextBox 96"/>
            <p:cNvSpPr txBox="1"/>
            <p:nvPr/>
          </p:nvSpPr>
          <p:spPr>
            <a:xfrm>
              <a:off x="11117004" y="325885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sp>
          <p:nvSpPr>
            <p:cNvPr id="98" name="TextBox 97"/>
            <p:cNvSpPr txBox="1"/>
            <p:nvPr/>
          </p:nvSpPr>
          <p:spPr>
            <a:xfrm>
              <a:off x="11472832" y="3250434"/>
              <a:ext cx="265835" cy="400110"/>
            </a:xfrm>
            <a:prstGeom prst="rect">
              <a:avLst/>
            </a:prstGeom>
            <a:noFill/>
          </p:spPr>
          <p:txBody>
            <a:bodyPr wrap="square" rtlCol="0">
              <a:spAutoFit/>
            </a:bodyPr>
            <a:lstStyle/>
            <a:p>
              <a:pPr algn="ctr"/>
              <a:r>
                <a:rPr lang="en-US" sz="2000" b="1" dirty="0">
                  <a:solidFill>
                    <a:schemeClr val="tx1">
                      <a:lumMod val="65000"/>
                      <a:lumOff val="35000"/>
                    </a:schemeClr>
                  </a:solidFill>
                  <a:latin typeface="Lato Light" panose="020F0402020204030203"/>
                </a:rPr>
                <a:t>-</a:t>
              </a:r>
              <a:endParaRPr lang="ru-RU" sz="2000" b="1" dirty="0">
                <a:solidFill>
                  <a:schemeClr val="tx1">
                    <a:lumMod val="65000"/>
                    <a:lumOff val="35000"/>
                  </a:schemeClr>
                </a:solidFill>
                <a:latin typeface="Lato"/>
              </a:endParaRPr>
            </a:p>
          </p:txBody>
        </p:sp>
      </p:grpSp>
      <p:sp>
        <p:nvSpPr>
          <p:cNvPr id="99" name="TextBox 98"/>
          <p:cNvSpPr txBox="1"/>
          <p:nvPr/>
        </p:nvSpPr>
        <p:spPr>
          <a:xfrm>
            <a:off x="1850810" y="3956697"/>
            <a:ext cx="265835" cy="338554"/>
          </a:xfrm>
          <a:prstGeom prst="rect">
            <a:avLst/>
          </a:prstGeom>
          <a:noFill/>
        </p:spPr>
        <p:txBody>
          <a:bodyPr wrap="square" rtlCol="0">
            <a:spAutoFit/>
          </a:bodyPr>
          <a:lstStyle/>
          <a:p>
            <a:pPr algn="ctr"/>
            <a:r>
              <a:rPr lang="en-US" sz="1600" b="1" dirty="0">
                <a:solidFill>
                  <a:schemeClr val="tx1">
                    <a:lumMod val="65000"/>
                    <a:lumOff val="35000"/>
                  </a:schemeClr>
                </a:solidFill>
                <a:latin typeface="Lato Light" panose="020F0402020204030203"/>
              </a:rPr>
              <a:t>+</a:t>
            </a:r>
            <a:endParaRPr lang="ru-RU" sz="1600" b="1" dirty="0">
              <a:solidFill>
                <a:schemeClr val="tx1">
                  <a:lumMod val="65000"/>
                  <a:lumOff val="35000"/>
                </a:schemeClr>
              </a:solidFill>
              <a:latin typeface="Lato"/>
            </a:endParaRPr>
          </a:p>
        </p:txBody>
      </p:sp>
      <p:grpSp>
        <p:nvGrpSpPr>
          <p:cNvPr id="100" name="Group 99"/>
          <p:cNvGrpSpPr/>
          <p:nvPr/>
        </p:nvGrpSpPr>
        <p:grpSpPr>
          <a:xfrm>
            <a:off x="799410" y="4733730"/>
            <a:ext cx="2458721" cy="423368"/>
            <a:chOff x="8832261" y="5076501"/>
            <a:chExt cx="2458721" cy="423368"/>
          </a:xfrm>
        </p:grpSpPr>
        <p:grpSp>
          <p:nvGrpSpPr>
            <p:cNvPr id="101" name="Group 100"/>
            <p:cNvGrpSpPr/>
            <p:nvPr/>
          </p:nvGrpSpPr>
          <p:grpSpPr>
            <a:xfrm>
              <a:off x="8832261" y="5076501"/>
              <a:ext cx="2458721" cy="423368"/>
              <a:chOff x="6758468" y="3025228"/>
              <a:chExt cx="1115380" cy="423368"/>
            </a:xfrm>
          </p:grpSpPr>
          <p:sp>
            <p:nvSpPr>
              <p:cNvPr id="103" name="Rounded Rectangle 102"/>
              <p:cNvSpPr/>
              <p:nvPr/>
            </p:nvSpPr>
            <p:spPr>
              <a:xfrm>
                <a:off x="6758468" y="3025228"/>
                <a:ext cx="1115380" cy="401935"/>
              </a:xfrm>
              <a:prstGeom prst="roundRect">
                <a:avLst>
                  <a:gd name="adj" fmla="val 7324"/>
                </a:avLst>
              </a:prstGeom>
              <a:solidFill>
                <a:schemeClr val="accent3">
                  <a:lumMod val="20000"/>
                  <a:lumOff val="80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4" name="TextBox 103"/>
              <p:cNvSpPr txBox="1"/>
              <p:nvPr/>
            </p:nvSpPr>
            <p:spPr>
              <a:xfrm>
                <a:off x="7554689" y="3048486"/>
                <a:ext cx="83802" cy="400110"/>
              </a:xfrm>
              <a:prstGeom prst="rect">
                <a:avLst/>
              </a:prstGeom>
              <a:noFill/>
            </p:spPr>
            <p:txBody>
              <a:bodyPr wrap="none" rtlCol="0">
                <a:spAutoFit/>
              </a:bodyPr>
              <a:lstStyle/>
              <a:p>
                <a:pPr algn="ctr"/>
                <a:endParaRPr lang="en-US" sz="2000" b="1" dirty="0">
                  <a:solidFill>
                    <a:prstClr val="black">
                      <a:lumMod val="75000"/>
                      <a:lumOff val="25000"/>
                    </a:prstClr>
                  </a:solidFill>
                  <a:latin typeface="Lato Medium"/>
                </a:endParaRPr>
              </a:p>
            </p:txBody>
          </p:sp>
        </p:grpSp>
        <mc:AlternateContent xmlns:mc="http://schemas.openxmlformats.org/markup-compatibility/2006" xmlns:a14="http://schemas.microsoft.com/office/drawing/2010/main">
          <mc:Choice Requires="a14">
            <p:sp>
              <p:nvSpPr>
                <p:cNvPr id="102" name="TextBox 101"/>
                <p:cNvSpPr txBox="1"/>
                <p:nvPr/>
              </p:nvSpPr>
              <p:spPr>
                <a:xfrm>
                  <a:off x="9063809" y="5122649"/>
                  <a:ext cx="1911677"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US" i="1" smtClean="0">
                                <a:solidFill>
                                  <a:schemeClr val="tx1">
                                    <a:lumMod val="65000"/>
                                    <a:lumOff val="35000"/>
                                  </a:schemeClr>
                                </a:solidFill>
                                <a:latin typeface="Cambria Math" panose="02040503050406030204" pitchFamily="18" charset="0"/>
                              </a:rPr>
                            </m:ctrlPr>
                          </m:radPr>
                          <m:deg/>
                          <m:e>
                            <m:r>
                              <a:rPr lang="en-US" i="1">
                                <a:solidFill>
                                  <a:schemeClr val="tx1">
                                    <a:lumMod val="65000"/>
                                    <a:lumOff val="35000"/>
                                  </a:schemeClr>
                                </a:solidFill>
                                <a:latin typeface="Cambria Math" panose="02040503050406030204" pitchFamily="18" charset="0"/>
                              </a:rPr>
                              <m:t>0.0614</m:t>
                            </m:r>
                          </m:e>
                        </m:rad>
                        <m:r>
                          <a:rPr lang="en-US" b="0" i="1" smtClean="0">
                            <a:solidFill>
                              <a:schemeClr val="tx1">
                                <a:lumMod val="65000"/>
                                <a:lumOff val="35000"/>
                              </a:schemeClr>
                            </a:solidFill>
                            <a:latin typeface="Cambria Math" panose="02040503050406030204" pitchFamily="18" charset="0"/>
                          </a:rPr>
                          <m:t>=</m:t>
                        </m:r>
                        <m:r>
                          <m:rPr>
                            <m:nor/>
                          </m:rPr>
                          <a:rPr lang="en-US" b="1" dirty="0">
                            <a:solidFill>
                              <a:prstClr val="black">
                                <a:lumMod val="75000"/>
                                <a:lumOff val="25000"/>
                              </a:prstClr>
                            </a:solidFill>
                            <a:latin typeface="Lato Medium"/>
                          </a:rPr>
                          <m:t>0.2478</m:t>
                        </m:r>
                      </m:oMath>
                    </m:oMathPara>
                  </a14:m>
                  <a:endParaRPr lang="en-US" b="1" dirty="0">
                    <a:solidFill>
                      <a:prstClr val="black">
                        <a:lumMod val="75000"/>
                        <a:lumOff val="25000"/>
                      </a:prstClr>
                    </a:solidFill>
                    <a:latin typeface="Lato Medium"/>
                  </a:endParaRPr>
                </a:p>
              </p:txBody>
            </p:sp>
          </mc:Choice>
          <mc:Fallback xmlns="">
            <p:sp>
              <p:nvSpPr>
                <p:cNvPr id="102" name="TextBox 101"/>
                <p:cNvSpPr txBox="1">
                  <a:spLocks noRot="1" noChangeAspect="1" noMove="1" noResize="1" noEditPoints="1" noAdjustHandles="1" noChangeArrowheads="1" noChangeShapeType="1" noTextEdit="1"/>
                </p:cNvSpPr>
                <p:nvPr/>
              </p:nvSpPr>
              <p:spPr>
                <a:xfrm>
                  <a:off x="9063809" y="5122649"/>
                  <a:ext cx="1911677" cy="309637"/>
                </a:xfrm>
                <a:prstGeom prst="rect">
                  <a:avLst/>
                </a:prstGeom>
                <a:blipFill>
                  <a:blip r:embed="rId5"/>
                  <a:stretch>
                    <a:fillRect r="-2548" b="-9804"/>
                  </a:stretch>
                </a:blipFill>
              </p:spPr>
              <p:txBody>
                <a:bodyPr/>
                <a:lstStyle/>
                <a:p>
                  <a:r>
                    <a:rPr lang="en-US">
                      <a:noFill/>
                    </a:rPr>
                    <a:t> </a:t>
                  </a:r>
                </a:p>
              </p:txBody>
            </p:sp>
          </mc:Fallback>
        </mc:AlternateContent>
      </p:grpSp>
      <p:sp>
        <p:nvSpPr>
          <p:cNvPr id="105" name="Freeform 104"/>
          <p:cNvSpPr/>
          <p:nvPr/>
        </p:nvSpPr>
        <p:spPr>
          <a:xfrm rot="402837" flipH="1">
            <a:off x="3683440" y="2820693"/>
            <a:ext cx="2459364" cy="553656"/>
          </a:xfrm>
          <a:custGeom>
            <a:avLst/>
            <a:gdLst>
              <a:gd name="connsiteX0" fmla="*/ 0 w 1657978"/>
              <a:gd name="connsiteY0" fmla="*/ 271305 h 411982"/>
              <a:gd name="connsiteX1" fmla="*/ 10048 w 1657978"/>
              <a:gd name="connsiteY1" fmla="*/ 211015 h 411982"/>
              <a:gd name="connsiteX2" fmla="*/ 60290 w 1657978"/>
              <a:gd name="connsiteY2" fmla="*/ 180870 h 411982"/>
              <a:gd name="connsiteX3" fmla="*/ 90435 w 1657978"/>
              <a:gd name="connsiteY3" fmla="*/ 160774 h 411982"/>
              <a:gd name="connsiteX4" fmla="*/ 211015 w 1657978"/>
              <a:gd name="connsiteY4" fmla="*/ 100483 h 411982"/>
              <a:gd name="connsiteX5" fmla="*/ 381837 w 1657978"/>
              <a:gd name="connsiteY5" fmla="*/ 50242 h 411982"/>
              <a:gd name="connsiteX6" fmla="*/ 482321 w 1657978"/>
              <a:gd name="connsiteY6" fmla="*/ 20097 h 411982"/>
              <a:gd name="connsiteX7" fmla="*/ 572756 w 1657978"/>
              <a:gd name="connsiteY7" fmla="*/ 0 h 411982"/>
              <a:gd name="connsiteX8" fmla="*/ 803868 w 1657978"/>
              <a:gd name="connsiteY8" fmla="*/ 10048 h 411982"/>
              <a:gd name="connsiteX9" fmla="*/ 894303 w 1657978"/>
              <a:gd name="connsiteY9" fmla="*/ 40193 h 411982"/>
              <a:gd name="connsiteX10" fmla="*/ 964642 w 1657978"/>
              <a:gd name="connsiteY10" fmla="*/ 100483 h 411982"/>
              <a:gd name="connsiteX11" fmla="*/ 974690 w 1657978"/>
              <a:gd name="connsiteY11" fmla="*/ 130628 h 411982"/>
              <a:gd name="connsiteX12" fmla="*/ 994787 w 1657978"/>
              <a:gd name="connsiteY12" fmla="*/ 170822 h 411982"/>
              <a:gd name="connsiteX13" fmla="*/ 964642 w 1657978"/>
              <a:gd name="connsiteY13" fmla="*/ 311499 h 411982"/>
              <a:gd name="connsiteX14" fmla="*/ 934497 w 1657978"/>
              <a:gd name="connsiteY14" fmla="*/ 341644 h 411982"/>
              <a:gd name="connsiteX15" fmla="*/ 904352 w 1657978"/>
              <a:gd name="connsiteY15" fmla="*/ 361741 h 411982"/>
              <a:gd name="connsiteX16" fmla="*/ 864158 w 1657978"/>
              <a:gd name="connsiteY16" fmla="*/ 391886 h 411982"/>
              <a:gd name="connsiteX17" fmla="*/ 823965 w 1657978"/>
              <a:gd name="connsiteY17" fmla="*/ 401934 h 411982"/>
              <a:gd name="connsiteX18" fmla="*/ 793820 w 1657978"/>
              <a:gd name="connsiteY18" fmla="*/ 411982 h 411982"/>
              <a:gd name="connsiteX19" fmla="*/ 763675 w 1657978"/>
              <a:gd name="connsiteY19" fmla="*/ 401934 h 411982"/>
              <a:gd name="connsiteX20" fmla="*/ 793820 w 1657978"/>
              <a:gd name="connsiteY20" fmla="*/ 261257 h 411982"/>
              <a:gd name="connsiteX21" fmla="*/ 823965 w 1657978"/>
              <a:gd name="connsiteY21" fmla="*/ 221064 h 411982"/>
              <a:gd name="connsiteX22" fmla="*/ 984739 w 1657978"/>
              <a:gd name="connsiteY22" fmla="*/ 170822 h 411982"/>
              <a:gd name="connsiteX23" fmla="*/ 1055077 w 1657978"/>
              <a:gd name="connsiteY23" fmla="*/ 150725 h 411982"/>
              <a:gd name="connsiteX24" fmla="*/ 1276141 w 1657978"/>
              <a:gd name="connsiteY24" fmla="*/ 160774 h 411982"/>
              <a:gd name="connsiteX25" fmla="*/ 1326383 w 1657978"/>
              <a:gd name="connsiteY25" fmla="*/ 180870 h 411982"/>
              <a:gd name="connsiteX26" fmla="*/ 1426866 w 1657978"/>
              <a:gd name="connsiteY26" fmla="*/ 221064 h 411982"/>
              <a:gd name="connsiteX27" fmla="*/ 1467059 w 1657978"/>
              <a:gd name="connsiteY27" fmla="*/ 251209 h 411982"/>
              <a:gd name="connsiteX28" fmla="*/ 1507253 w 1657978"/>
              <a:gd name="connsiteY28" fmla="*/ 271305 h 411982"/>
              <a:gd name="connsiteX29" fmla="*/ 1537398 w 1657978"/>
              <a:gd name="connsiteY29" fmla="*/ 291402 h 411982"/>
              <a:gd name="connsiteX30" fmla="*/ 1577591 w 1657978"/>
              <a:gd name="connsiteY30" fmla="*/ 301450 h 411982"/>
              <a:gd name="connsiteX31" fmla="*/ 1607736 w 1657978"/>
              <a:gd name="connsiteY31" fmla="*/ 331595 h 411982"/>
              <a:gd name="connsiteX32" fmla="*/ 1657978 w 1657978"/>
              <a:gd name="connsiteY32" fmla="*/ 361741 h 4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57978" h="411982">
                <a:moveTo>
                  <a:pt x="0" y="271305"/>
                </a:moveTo>
                <a:cubicBezTo>
                  <a:pt x="3349" y="251208"/>
                  <a:pt x="-1253" y="227967"/>
                  <a:pt x="10048" y="211015"/>
                </a:cubicBezTo>
                <a:cubicBezTo>
                  <a:pt x="20882" y="194765"/>
                  <a:pt x="43728" y="191221"/>
                  <a:pt x="60290" y="180870"/>
                </a:cubicBezTo>
                <a:cubicBezTo>
                  <a:pt x="70531" y="174470"/>
                  <a:pt x="79779" y="166457"/>
                  <a:pt x="90435" y="160774"/>
                </a:cubicBezTo>
                <a:cubicBezTo>
                  <a:pt x="130086" y="139627"/>
                  <a:pt x="167903" y="113163"/>
                  <a:pt x="211015" y="100483"/>
                </a:cubicBezTo>
                <a:lnTo>
                  <a:pt x="381837" y="50242"/>
                </a:lnTo>
                <a:cubicBezTo>
                  <a:pt x="415366" y="40308"/>
                  <a:pt x="448184" y="27683"/>
                  <a:pt x="482321" y="20097"/>
                </a:cubicBezTo>
                <a:lnTo>
                  <a:pt x="572756" y="0"/>
                </a:lnTo>
                <a:cubicBezTo>
                  <a:pt x="649793" y="3349"/>
                  <a:pt x="726954" y="4554"/>
                  <a:pt x="803868" y="10048"/>
                </a:cubicBezTo>
                <a:cubicBezTo>
                  <a:pt x="839434" y="12588"/>
                  <a:pt x="864587" y="21621"/>
                  <a:pt x="894303" y="40193"/>
                </a:cubicBezTo>
                <a:cubicBezTo>
                  <a:pt x="928679" y="61677"/>
                  <a:pt x="937238" y="73079"/>
                  <a:pt x="964642" y="100483"/>
                </a:cubicBezTo>
                <a:cubicBezTo>
                  <a:pt x="967991" y="110531"/>
                  <a:pt x="970518" y="120893"/>
                  <a:pt x="974690" y="130628"/>
                </a:cubicBezTo>
                <a:cubicBezTo>
                  <a:pt x="980591" y="144396"/>
                  <a:pt x="993720" y="155881"/>
                  <a:pt x="994787" y="170822"/>
                </a:cubicBezTo>
                <a:cubicBezTo>
                  <a:pt x="998153" y="217949"/>
                  <a:pt x="993160" y="271574"/>
                  <a:pt x="964642" y="311499"/>
                </a:cubicBezTo>
                <a:cubicBezTo>
                  <a:pt x="956382" y="323063"/>
                  <a:pt x="945414" y="332547"/>
                  <a:pt x="934497" y="341644"/>
                </a:cubicBezTo>
                <a:cubicBezTo>
                  <a:pt x="925219" y="349375"/>
                  <a:pt x="914179" y="354722"/>
                  <a:pt x="904352" y="361741"/>
                </a:cubicBezTo>
                <a:cubicBezTo>
                  <a:pt x="890724" y="371475"/>
                  <a:pt x="879137" y="384396"/>
                  <a:pt x="864158" y="391886"/>
                </a:cubicBezTo>
                <a:cubicBezTo>
                  <a:pt x="851806" y="398062"/>
                  <a:pt x="837244" y="398140"/>
                  <a:pt x="823965" y="401934"/>
                </a:cubicBezTo>
                <a:cubicBezTo>
                  <a:pt x="813781" y="404844"/>
                  <a:pt x="803868" y="408633"/>
                  <a:pt x="793820" y="411982"/>
                </a:cubicBezTo>
                <a:cubicBezTo>
                  <a:pt x="783772" y="408633"/>
                  <a:pt x="765416" y="412382"/>
                  <a:pt x="763675" y="401934"/>
                </a:cubicBezTo>
                <a:cubicBezTo>
                  <a:pt x="750902" y="325297"/>
                  <a:pt x="761008" y="307194"/>
                  <a:pt x="793820" y="261257"/>
                </a:cubicBezTo>
                <a:cubicBezTo>
                  <a:pt x="803554" y="247629"/>
                  <a:pt x="809702" y="229841"/>
                  <a:pt x="823965" y="221064"/>
                </a:cubicBezTo>
                <a:cubicBezTo>
                  <a:pt x="904799" y="171320"/>
                  <a:pt x="910646" y="187920"/>
                  <a:pt x="984739" y="170822"/>
                </a:cubicBezTo>
                <a:cubicBezTo>
                  <a:pt x="1008499" y="165339"/>
                  <a:pt x="1031631" y="157424"/>
                  <a:pt x="1055077" y="150725"/>
                </a:cubicBezTo>
                <a:cubicBezTo>
                  <a:pt x="1128765" y="154075"/>
                  <a:pt x="1202828" y="152628"/>
                  <a:pt x="1276141" y="160774"/>
                </a:cubicBezTo>
                <a:cubicBezTo>
                  <a:pt x="1294068" y="162766"/>
                  <a:pt x="1309432" y="174706"/>
                  <a:pt x="1326383" y="180870"/>
                </a:cubicBezTo>
                <a:cubicBezTo>
                  <a:pt x="1369521" y="196556"/>
                  <a:pt x="1389903" y="197961"/>
                  <a:pt x="1426866" y="221064"/>
                </a:cubicBezTo>
                <a:cubicBezTo>
                  <a:pt x="1441067" y="229940"/>
                  <a:pt x="1452857" y="242333"/>
                  <a:pt x="1467059" y="251209"/>
                </a:cubicBezTo>
                <a:cubicBezTo>
                  <a:pt x="1479761" y="259148"/>
                  <a:pt x="1494247" y="263873"/>
                  <a:pt x="1507253" y="271305"/>
                </a:cubicBezTo>
                <a:cubicBezTo>
                  <a:pt x="1517739" y="277297"/>
                  <a:pt x="1526298" y="286645"/>
                  <a:pt x="1537398" y="291402"/>
                </a:cubicBezTo>
                <a:cubicBezTo>
                  <a:pt x="1550091" y="296842"/>
                  <a:pt x="1564193" y="298101"/>
                  <a:pt x="1577591" y="301450"/>
                </a:cubicBezTo>
                <a:cubicBezTo>
                  <a:pt x="1587639" y="311498"/>
                  <a:pt x="1596819" y="322498"/>
                  <a:pt x="1607736" y="331595"/>
                </a:cubicBezTo>
                <a:cubicBezTo>
                  <a:pt x="1625924" y="346752"/>
                  <a:pt x="1638360" y="351931"/>
                  <a:pt x="1657978" y="361741"/>
                </a:cubicBezTo>
              </a:path>
            </a:pathLst>
          </a:custGeom>
          <a:noFill/>
          <a:ln w="31750" cmpd="sng">
            <a:solidFill>
              <a:srgbClr val="FF8504"/>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p:nvSpPr>
        <p:spPr>
          <a:xfrm rot="21430407" flipH="1" flipV="1">
            <a:off x="3674466" y="3533416"/>
            <a:ext cx="2835158" cy="427917"/>
          </a:xfrm>
          <a:custGeom>
            <a:avLst/>
            <a:gdLst>
              <a:gd name="connsiteX0" fmla="*/ 0 w 1657978"/>
              <a:gd name="connsiteY0" fmla="*/ 271305 h 411982"/>
              <a:gd name="connsiteX1" fmla="*/ 10048 w 1657978"/>
              <a:gd name="connsiteY1" fmla="*/ 211015 h 411982"/>
              <a:gd name="connsiteX2" fmla="*/ 60290 w 1657978"/>
              <a:gd name="connsiteY2" fmla="*/ 180870 h 411982"/>
              <a:gd name="connsiteX3" fmla="*/ 90435 w 1657978"/>
              <a:gd name="connsiteY3" fmla="*/ 160774 h 411982"/>
              <a:gd name="connsiteX4" fmla="*/ 211015 w 1657978"/>
              <a:gd name="connsiteY4" fmla="*/ 100483 h 411982"/>
              <a:gd name="connsiteX5" fmla="*/ 381837 w 1657978"/>
              <a:gd name="connsiteY5" fmla="*/ 50242 h 411982"/>
              <a:gd name="connsiteX6" fmla="*/ 482321 w 1657978"/>
              <a:gd name="connsiteY6" fmla="*/ 20097 h 411982"/>
              <a:gd name="connsiteX7" fmla="*/ 572756 w 1657978"/>
              <a:gd name="connsiteY7" fmla="*/ 0 h 411982"/>
              <a:gd name="connsiteX8" fmla="*/ 803868 w 1657978"/>
              <a:gd name="connsiteY8" fmla="*/ 10048 h 411982"/>
              <a:gd name="connsiteX9" fmla="*/ 894303 w 1657978"/>
              <a:gd name="connsiteY9" fmla="*/ 40193 h 411982"/>
              <a:gd name="connsiteX10" fmla="*/ 964642 w 1657978"/>
              <a:gd name="connsiteY10" fmla="*/ 100483 h 411982"/>
              <a:gd name="connsiteX11" fmla="*/ 974690 w 1657978"/>
              <a:gd name="connsiteY11" fmla="*/ 130628 h 411982"/>
              <a:gd name="connsiteX12" fmla="*/ 994787 w 1657978"/>
              <a:gd name="connsiteY12" fmla="*/ 170822 h 411982"/>
              <a:gd name="connsiteX13" fmla="*/ 964642 w 1657978"/>
              <a:gd name="connsiteY13" fmla="*/ 311499 h 411982"/>
              <a:gd name="connsiteX14" fmla="*/ 934497 w 1657978"/>
              <a:gd name="connsiteY14" fmla="*/ 341644 h 411982"/>
              <a:gd name="connsiteX15" fmla="*/ 904352 w 1657978"/>
              <a:gd name="connsiteY15" fmla="*/ 361741 h 411982"/>
              <a:gd name="connsiteX16" fmla="*/ 864158 w 1657978"/>
              <a:gd name="connsiteY16" fmla="*/ 391886 h 411982"/>
              <a:gd name="connsiteX17" fmla="*/ 823965 w 1657978"/>
              <a:gd name="connsiteY17" fmla="*/ 401934 h 411982"/>
              <a:gd name="connsiteX18" fmla="*/ 793820 w 1657978"/>
              <a:gd name="connsiteY18" fmla="*/ 411982 h 411982"/>
              <a:gd name="connsiteX19" fmla="*/ 763675 w 1657978"/>
              <a:gd name="connsiteY19" fmla="*/ 401934 h 411982"/>
              <a:gd name="connsiteX20" fmla="*/ 793820 w 1657978"/>
              <a:gd name="connsiteY20" fmla="*/ 261257 h 411982"/>
              <a:gd name="connsiteX21" fmla="*/ 823965 w 1657978"/>
              <a:gd name="connsiteY21" fmla="*/ 221064 h 411982"/>
              <a:gd name="connsiteX22" fmla="*/ 984739 w 1657978"/>
              <a:gd name="connsiteY22" fmla="*/ 170822 h 411982"/>
              <a:gd name="connsiteX23" fmla="*/ 1055077 w 1657978"/>
              <a:gd name="connsiteY23" fmla="*/ 150725 h 411982"/>
              <a:gd name="connsiteX24" fmla="*/ 1276141 w 1657978"/>
              <a:gd name="connsiteY24" fmla="*/ 160774 h 411982"/>
              <a:gd name="connsiteX25" fmla="*/ 1326383 w 1657978"/>
              <a:gd name="connsiteY25" fmla="*/ 180870 h 411982"/>
              <a:gd name="connsiteX26" fmla="*/ 1426866 w 1657978"/>
              <a:gd name="connsiteY26" fmla="*/ 221064 h 411982"/>
              <a:gd name="connsiteX27" fmla="*/ 1467059 w 1657978"/>
              <a:gd name="connsiteY27" fmla="*/ 251209 h 411982"/>
              <a:gd name="connsiteX28" fmla="*/ 1507253 w 1657978"/>
              <a:gd name="connsiteY28" fmla="*/ 271305 h 411982"/>
              <a:gd name="connsiteX29" fmla="*/ 1537398 w 1657978"/>
              <a:gd name="connsiteY29" fmla="*/ 291402 h 411982"/>
              <a:gd name="connsiteX30" fmla="*/ 1577591 w 1657978"/>
              <a:gd name="connsiteY30" fmla="*/ 301450 h 411982"/>
              <a:gd name="connsiteX31" fmla="*/ 1607736 w 1657978"/>
              <a:gd name="connsiteY31" fmla="*/ 331595 h 411982"/>
              <a:gd name="connsiteX32" fmla="*/ 1657978 w 1657978"/>
              <a:gd name="connsiteY32" fmla="*/ 361741 h 41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57978" h="411982">
                <a:moveTo>
                  <a:pt x="0" y="271305"/>
                </a:moveTo>
                <a:cubicBezTo>
                  <a:pt x="3349" y="251208"/>
                  <a:pt x="-1253" y="227967"/>
                  <a:pt x="10048" y="211015"/>
                </a:cubicBezTo>
                <a:cubicBezTo>
                  <a:pt x="20882" y="194765"/>
                  <a:pt x="43728" y="191221"/>
                  <a:pt x="60290" y="180870"/>
                </a:cubicBezTo>
                <a:cubicBezTo>
                  <a:pt x="70531" y="174470"/>
                  <a:pt x="79779" y="166457"/>
                  <a:pt x="90435" y="160774"/>
                </a:cubicBezTo>
                <a:cubicBezTo>
                  <a:pt x="130086" y="139627"/>
                  <a:pt x="167903" y="113163"/>
                  <a:pt x="211015" y="100483"/>
                </a:cubicBezTo>
                <a:lnTo>
                  <a:pt x="381837" y="50242"/>
                </a:lnTo>
                <a:cubicBezTo>
                  <a:pt x="415366" y="40308"/>
                  <a:pt x="448184" y="27683"/>
                  <a:pt x="482321" y="20097"/>
                </a:cubicBezTo>
                <a:lnTo>
                  <a:pt x="572756" y="0"/>
                </a:lnTo>
                <a:cubicBezTo>
                  <a:pt x="649793" y="3349"/>
                  <a:pt x="726954" y="4554"/>
                  <a:pt x="803868" y="10048"/>
                </a:cubicBezTo>
                <a:cubicBezTo>
                  <a:pt x="839434" y="12588"/>
                  <a:pt x="864587" y="21621"/>
                  <a:pt x="894303" y="40193"/>
                </a:cubicBezTo>
                <a:cubicBezTo>
                  <a:pt x="928679" y="61677"/>
                  <a:pt x="937238" y="73079"/>
                  <a:pt x="964642" y="100483"/>
                </a:cubicBezTo>
                <a:cubicBezTo>
                  <a:pt x="967991" y="110531"/>
                  <a:pt x="970518" y="120893"/>
                  <a:pt x="974690" y="130628"/>
                </a:cubicBezTo>
                <a:cubicBezTo>
                  <a:pt x="980591" y="144396"/>
                  <a:pt x="993720" y="155881"/>
                  <a:pt x="994787" y="170822"/>
                </a:cubicBezTo>
                <a:cubicBezTo>
                  <a:pt x="998153" y="217949"/>
                  <a:pt x="993160" y="271574"/>
                  <a:pt x="964642" y="311499"/>
                </a:cubicBezTo>
                <a:cubicBezTo>
                  <a:pt x="956382" y="323063"/>
                  <a:pt x="945414" y="332547"/>
                  <a:pt x="934497" y="341644"/>
                </a:cubicBezTo>
                <a:cubicBezTo>
                  <a:pt x="925219" y="349375"/>
                  <a:pt x="914179" y="354722"/>
                  <a:pt x="904352" y="361741"/>
                </a:cubicBezTo>
                <a:cubicBezTo>
                  <a:pt x="890724" y="371475"/>
                  <a:pt x="879137" y="384396"/>
                  <a:pt x="864158" y="391886"/>
                </a:cubicBezTo>
                <a:cubicBezTo>
                  <a:pt x="851806" y="398062"/>
                  <a:pt x="837244" y="398140"/>
                  <a:pt x="823965" y="401934"/>
                </a:cubicBezTo>
                <a:cubicBezTo>
                  <a:pt x="813781" y="404844"/>
                  <a:pt x="803868" y="408633"/>
                  <a:pt x="793820" y="411982"/>
                </a:cubicBezTo>
                <a:cubicBezTo>
                  <a:pt x="783772" y="408633"/>
                  <a:pt x="765416" y="412382"/>
                  <a:pt x="763675" y="401934"/>
                </a:cubicBezTo>
                <a:cubicBezTo>
                  <a:pt x="750902" y="325297"/>
                  <a:pt x="761008" y="307194"/>
                  <a:pt x="793820" y="261257"/>
                </a:cubicBezTo>
                <a:cubicBezTo>
                  <a:pt x="803554" y="247629"/>
                  <a:pt x="809702" y="229841"/>
                  <a:pt x="823965" y="221064"/>
                </a:cubicBezTo>
                <a:cubicBezTo>
                  <a:pt x="904799" y="171320"/>
                  <a:pt x="910646" y="187920"/>
                  <a:pt x="984739" y="170822"/>
                </a:cubicBezTo>
                <a:cubicBezTo>
                  <a:pt x="1008499" y="165339"/>
                  <a:pt x="1031631" y="157424"/>
                  <a:pt x="1055077" y="150725"/>
                </a:cubicBezTo>
                <a:cubicBezTo>
                  <a:pt x="1128765" y="154075"/>
                  <a:pt x="1202828" y="152628"/>
                  <a:pt x="1276141" y="160774"/>
                </a:cubicBezTo>
                <a:cubicBezTo>
                  <a:pt x="1294068" y="162766"/>
                  <a:pt x="1309432" y="174706"/>
                  <a:pt x="1326383" y="180870"/>
                </a:cubicBezTo>
                <a:cubicBezTo>
                  <a:pt x="1369521" y="196556"/>
                  <a:pt x="1389903" y="197961"/>
                  <a:pt x="1426866" y="221064"/>
                </a:cubicBezTo>
                <a:cubicBezTo>
                  <a:pt x="1441067" y="229940"/>
                  <a:pt x="1452857" y="242333"/>
                  <a:pt x="1467059" y="251209"/>
                </a:cubicBezTo>
                <a:cubicBezTo>
                  <a:pt x="1479761" y="259148"/>
                  <a:pt x="1494247" y="263873"/>
                  <a:pt x="1507253" y="271305"/>
                </a:cubicBezTo>
                <a:cubicBezTo>
                  <a:pt x="1517739" y="277297"/>
                  <a:pt x="1526298" y="286645"/>
                  <a:pt x="1537398" y="291402"/>
                </a:cubicBezTo>
                <a:cubicBezTo>
                  <a:pt x="1550091" y="296842"/>
                  <a:pt x="1564193" y="298101"/>
                  <a:pt x="1577591" y="301450"/>
                </a:cubicBezTo>
                <a:cubicBezTo>
                  <a:pt x="1587639" y="311498"/>
                  <a:pt x="1596819" y="322498"/>
                  <a:pt x="1607736" y="331595"/>
                </a:cubicBezTo>
                <a:cubicBezTo>
                  <a:pt x="1625924" y="346752"/>
                  <a:pt x="1638360" y="351931"/>
                  <a:pt x="1657978" y="361741"/>
                </a:cubicBezTo>
              </a:path>
            </a:pathLst>
          </a:custGeom>
          <a:noFill/>
          <a:ln w="31750" cmpd="sng">
            <a:solidFill>
              <a:schemeClr val="bg1">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8" name="Chart 107"/>
          <p:cNvGraphicFramePr>
            <a:graphicFrameLocks/>
          </p:cNvGraphicFramePr>
          <p:nvPr>
            <p:extLst>
              <p:ext uri="{D42A27DB-BD31-4B8C-83A1-F6EECF244321}">
                <p14:modId xmlns:p14="http://schemas.microsoft.com/office/powerpoint/2010/main" val="3035189404"/>
              </p:ext>
            </p:extLst>
          </p:nvPr>
        </p:nvGraphicFramePr>
        <p:xfrm>
          <a:off x="4294818" y="3034270"/>
          <a:ext cx="3686175" cy="2368306"/>
        </p:xfrm>
        <a:graphic>
          <a:graphicData uri="http://schemas.openxmlformats.org/drawingml/2006/chart">
            <c:chart xmlns:c="http://schemas.openxmlformats.org/drawingml/2006/chart" xmlns:r="http://schemas.openxmlformats.org/officeDocument/2006/relationships" r:id="rId6"/>
          </a:graphicData>
        </a:graphic>
      </p:graphicFrame>
      <p:sp>
        <p:nvSpPr>
          <p:cNvPr id="109" name="TextBox 108"/>
          <p:cNvSpPr txBox="1"/>
          <p:nvPr/>
        </p:nvSpPr>
        <p:spPr>
          <a:xfrm>
            <a:off x="6591410" y="3506047"/>
            <a:ext cx="1680055" cy="307777"/>
          </a:xfrm>
          <a:prstGeom prst="rect">
            <a:avLst/>
          </a:prstGeom>
          <a:noFill/>
        </p:spPr>
        <p:txBody>
          <a:bodyPr wrap="square" rtlCol="0">
            <a:spAutoFit/>
          </a:bodyPr>
          <a:lstStyle/>
          <a:p>
            <a:pPr algn="ctr"/>
            <a:r>
              <a:rPr lang="en-US" sz="1400" b="1" dirty="0">
                <a:solidFill>
                  <a:prstClr val="white">
                    <a:lumMod val="65000"/>
                  </a:prstClr>
                </a:solidFill>
                <a:latin typeface="FontAwesome" pitchFamily="2" charset="0"/>
              </a:rPr>
              <a:t>Testing Data</a:t>
            </a:r>
            <a:endParaRPr lang="ru-RU" sz="1400" b="1" dirty="0">
              <a:solidFill>
                <a:prstClr val="white">
                  <a:lumMod val="65000"/>
                </a:prstClr>
              </a:solidFill>
            </a:endParaRPr>
          </a:p>
        </p:txBody>
      </p:sp>
      <p:sp>
        <p:nvSpPr>
          <p:cNvPr id="110" name="TextBox 109"/>
          <p:cNvSpPr txBox="1"/>
          <p:nvPr/>
        </p:nvSpPr>
        <p:spPr>
          <a:xfrm>
            <a:off x="6589147" y="3731728"/>
            <a:ext cx="1680055" cy="246221"/>
          </a:xfrm>
          <a:prstGeom prst="rect">
            <a:avLst/>
          </a:prstGeom>
          <a:noFill/>
        </p:spPr>
        <p:txBody>
          <a:bodyPr wrap="square" rtlCol="0">
            <a:spAutoFit/>
          </a:bodyPr>
          <a:lstStyle/>
          <a:p>
            <a:pPr algn="ctr"/>
            <a:r>
              <a:rPr lang="en-US" sz="1000" dirty="0">
                <a:solidFill>
                  <a:prstClr val="white">
                    <a:lumMod val="65000"/>
                  </a:prstClr>
                </a:solidFill>
                <a:latin typeface="FontAwesome" pitchFamily="2" charset="0"/>
              </a:rPr>
              <a:t>Person A</a:t>
            </a:r>
            <a:endParaRPr lang="ru-RU" sz="1000" dirty="0">
              <a:solidFill>
                <a:prstClr val="white">
                  <a:lumMod val="65000"/>
                </a:prstClr>
              </a:solidFill>
            </a:endParaRPr>
          </a:p>
        </p:txBody>
      </p:sp>
      <p:sp>
        <p:nvSpPr>
          <p:cNvPr id="4" name="Rounded Rectangle 3"/>
          <p:cNvSpPr/>
          <p:nvPr/>
        </p:nvSpPr>
        <p:spPr>
          <a:xfrm>
            <a:off x="2173922" y="4798928"/>
            <a:ext cx="768713" cy="309637"/>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998697" y="5154715"/>
            <a:ext cx="1125629" cy="261610"/>
          </a:xfrm>
          <a:prstGeom prst="rect">
            <a:avLst/>
          </a:prstGeom>
          <a:noFill/>
        </p:spPr>
        <p:txBody>
          <a:bodyPr wrap="none" rtlCol="0">
            <a:spAutoFit/>
          </a:bodyPr>
          <a:lstStyle/>
          <a:p>
            <a:r>
              <a:rPr lang="en-US" sz="1050" b="1" i="1" dirty="0"/>
              <a:t>Shorter Distance</a:t>
            </a:r>
          </a:p>
        </p:txBody>
      </p:sp>
    </p:spTree>
    <p:extLst>
      <p:ext uri="{BB962C8B-B14F-4D97-AF65-F5344CB8AC3E}">
        <p14:creationId xmlns:p14="http://schemas.microsoft.com/office/powerpoint/2010/main" val="7103472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heel(1)">
                                      <p:cBhvr>
                                        <p:cTn id="7" dur="25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25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250"/>
                                        <p:tgtEl>
                                          <p:spTgt spid="37"/>
                                        </p:tgtEl>
                                      </p:cBhvr>
                                    </p:animEffect>
                                  </p:childTnLst>
                                </p:cTn>
                              </p:par>
                            </p:childTnLst>
                          </p:cTn>
                        </p:par>
                        <p:par>
                          <p:cTn id="14" fill="hold">
                            <p:stCondLst>
                              <p:cond delay="250"/>
                            </p:stCondLst>
                            <p:childTnLst>
                              <p:par>
                                <p:cTn id="15" presetID="22" presetClass="entr" presetSubtype="4" fill="hold" grpId="0" nodeType="afterEffect">
                                  <p:stCondLst>
                                    <p:cond delay="0"/>
                                  </p:stCondLst>
                                  <p:childTnLst>
                                    <p:set>
                                      <p:cBhvr>
                                        <p:cTn id="16" dur="1" fill="hold">
                                          <p:stCondLst>
                                            <p:cond delay="0"/>
                                          </p:stCondLst>
                                        </p:cTn>
                                        <p:tgtEl>
                                          <p:spTgt spid="34">
                                            <p:graphicEl>
                                              <a:chart seriesIdx="-3" categoryIdx="-3" bldStep="gridLegend"/>
                                            </p:graphicEl>
                                          </p:spTgt>
                                        </p:tgtEl>
                                        <p:attrNameLst>
                                          <p:attrName>style.visibility</p:attrName>
                                        </p:attrNameLst>
                                      </p:cBhvr>
                                      <p:to>
                                        <p:strVal val="visible"/>
                                      </p:to>
                                    </p:set>
                                    <p:animEffect transition="in" filter="wipe(down)">
                                      <p:cBhvr>
                                        <p:cTn id="17" dur="250"/>
                                        <p:tgtEl>
                                          <p:spTgt spid="34">
                                            <p:graphicEl>
                                              <a:chart seriesIdx="-3" categoryIdx="-3" bldStep="gridLegend"/>
                                            </p:graphicEl>
                                          </p:spTgt>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34">
                                            <p:graphicEl>
                                              <a:chart seriesIdx="0" categoryIdx="0" bldStep="ptInSeries"/>
                                            </p:graphicEl>
                                          </p:spTgt>
                                        </p:tgtEl>
                                        <p:attrNameLst>
                                          <p:attrName>style.visibility</p:attrName>
                                        </p:attrNameLst>
                                      </p:cBhvr>
                                      <p:to>
                                        <p:strVal val="visible"/>
                                      </p:to>
                                    </p:set>
                                    <p:animEffect transition="in" filter="wipe(down)">
                                      <p:cBhvr>
                                        <p:cTn id="21" dur="250"/>
                                        <p:tgtEl>
                                          <p:spTgt spid="34">
                                            <p:graphicEl>
                                              <a:chart seriesIdx="0" categoryIdx="0" bldStep="ptInSeries"/>
                                            </p:graphicEl>
                                          </p:spTgt>
                                        </p:tgtEl>
                                      </p:cBhvr>
                                    </p:animEffect>
                                  </p:childTnLst>
                                </p:cTn>
                              </p:par>
                            </p:childTnLst>
                          </p:cTn>
                        </p:par>
                        <p:par>
                          <p:cTn id="22" fill="hold">
                            <p:stCondLst>
                              <p:cond delay="750"/>
                            </p:stCondLst>
                            <p:childTnLst>
                              <p:par>
                                <p:cTn id="23" presetID="22" presetClass="entr" presetSubtype="4" fill="hold" grpId="0" nodeType="afterEffect">
                                  <p:stCondLst>
                                    <p:cond delay="0"/>
                                  </p:stCondLst>
                                  <p:childTnLst>
                                    <p:set>
                                      <p:cBhvr>
                                        <p:cTn id="24" dur="1" fill="hold">
                                          <p:stCondLst>
                                            <p:cond delay="0"/>
                                          </p:stCondLst>
                                        </p:cTn>
                                        <p:tgtEl>
                                          <p:spTgt spid="34">
                                            <p:graphicEl>
                                              <a:chart seriesIdx="0" categoryIdx="1" bldStep="ptInSeries"/>
                                            </p:graphicEl>
                                          </p:spTgt>
                                        </p:tgtEl>
                                        <p:attrNameLst>
                                          <p:attrName>style.visibility</p:attrName>
                                        </p:attrNameLst>
                                      </p:cBhvr>
                                      <p:to>
                                        <p:strVal val="visible"/>
                                      </p:to>
                                    </p:set>
                                    <p:animEffect transition="in" filter="wipe(down)">
                                      <p:cBhvr>
                                        <p:cTn id="25" dur="250"/>
                                        <p:tgtEl>
                                          <p:spTgt spid="34">
                                            <p:graphicEl>
                                              <a:chart seriesIdx="0" categoryIdx="1" bldStep="ptInSeries"/>
                                            </p:graphicEl>
                                          </p:spTgt>
                                        </p:tgtEl>
                                      </p:cBhvr>
                                    </p:animEffect>
                                  </p:childTnLst>
                                </p:cTn>
                              </p:par>
                            </p:childTnLst>
                          </p:cTn>
                        </p:par>
                        <p:par>
                          <p:cTn id="26" fill="hold">
                            <p:stCondLst>
                              <p:cond delay="1000"/>
                            </p:stCondLst>
                            <p:childTnLst>
                              <p:par>
                                <p:cTn id="27" presetID="22" presetClass="entr" presetSubtype="4" fill="hold" grpId="0" nodeType="afterEffect">
                                  <p:stCondLst>
                                    <p:cond delay="0"/>
                                  </p:stCondLst>
                                  <p:childTnLst>
                                    <p:set>
                                      <p:cBhvr>
                                        <p:cTn id="28" dur="1" fill="hold">
                                          <p:stCondLst>
                                            <p:cond delay="0"/>
                                          </p:stCondLst>
                                        </p:cTn>
                                        <p:tgtEl>
                                          <p:spTgt spid="34">
                                            <p:graphicEl>
                                              <a:chart seriesIdx="0" categoryIdx="2" bldStep="ptInSeries"/>
                                            </p:graphicEl>
                                          </p:spTgt>
                                        </p:tgtEl>
                                        <p:attrNameLst>
                                          <p:attrName>style.visibility</p:attrName>
                                        </p:attrNameLst>
                                      </p:cBhvr>
                                      <p:to>
                                        <p:strVal val="visible"/>
                                      </p:to>
                                    </p:set>
                                    <p:animEffect transition="in" filter="wipe(down)">
                                      <p:cBhvr>
                                        <p:cTn id="29" dur="250"/>
                                        <p:tgtEl>
                                          <p:spTgt spid="34">
                                            <p:graphicEl>
                                              <a:chart seriesIdx="0" categoryIdx="2" bldStep="ptInSeries"/>
                                            </p:graphicEl>
                                          </p:spTgt>
                                        </p:tgtEl>
                                      </p:cBhvr>
                                    </p:animEffect>
                                  </p:childTnLst>
                                </p:cTn>
                              </p:par>
                            </p:childTnLst>
                          </p:cTn>
                        </p:par>
                        <p:par>
                          <p:cTn id="30" fill="hold">
                            <p:stCondLst>
                              <p:cond delay="1250"/>
                            </p:stCondLst>
                            <p:childTnLst>
                              <p:par>
                                <p:cTn id="31" presetID="22" presetClass="entr" presetSubtype="4" fill="hold" grpId="0" nodeType="afterEffect">
                                  <p:stCondLst>
                                    <p:cond delay="0"/>
                                  </p:stCondLst>
                                  <p:childTnLst>
                                    <p:set>
                                      <p:cBhvr>
                                        <p:cTn id="32" dur="1" fill="hold">
                                          <p:stCondLst>
                                            <p:cond delay="0"/>
                                          </p:stCondLst>
                                        </p:cTn>
                                        <p:tgtEl>
                                          <p:spTgt spid="34">
                                            <p:graphicEl>
                                              <a:chart seriesIdx="0" categoryIdx="3" bldStep="ptInSeries"/>
                                            </p:graphicEl>
                                          </p:spTgt>
                                        </p:tgtEl>
                                        <p:attrNameLst>
                                          <p:attrName>style.visibility</p:attrName>
                                        </p:attrNameLst>
                                      </p:cBhvr>
                                      <p:to>
                                        <p:strVal val="visible"/>
                                      </p:to>
                                    </p:set>
                                    <p:animEffect transition="in" filter="wipe(down)">
                                      <p:cBhvr>
                                        <p:cTn id="33" dur="250"/>
                                        <p:tgtEl>
                                          <p:spTgt spid="34">
                                            <p:graphicEl>
                                              <a:chart seriesIdx="0" categoryIdx="3" bldStep="ptInSeries"/>
                                            </p:graphicEl>
                                          </p:spTgt>
                                        </p:tgtEl>
                                      </p:cBhvr>
                                    </p:animEffect>
                                  </p:childTnLst>
                                </p:cTn>
                              </p:par>
                            </p:childTnLst>
                          </p:cTn>
                        </p:par>
                        <p:par>
                          <p:cTn id="34" fill="hold">
                            <p:stCondLst>
                              <p:cond delay="1500"/>
                            </p:stCondLst>
                            <p:childTnLst>
                              <p:par>
                                <p:cTn id="35" presetID="22" presetClass="entr" presetSubtype="4" fill="hold" grpId="0" nodeType="afterEffect">
                                  <p:stCondLst>
                                    <p:cond delay="0"/>
                                  </p:stCondLst>
                                  <p:childTnLst>
                                    <p:set>
                                      <p:cBhvr>
                                        <p:cTn id="36" dur="1" fill="hold">
                                          <p:stCondLst>
                                            <p:cond delay="0"/>
                                          </p:stCondLst>
                                        </p:cTn>
                                        <p:tgtEl>
                                          <p:spTgt spid="34">
                                            <p:graphicEl>
                                              <a:chart seriesIdx="0" categoryIdx="4" bldStep="ptInSeries"/>
                                            </p:graphicEl>
                                          </p:spTgt>
                                        </p:tgtEl>
                                        <p:attrNameLst>
                                          <p:attrName>style.visibility</p:attrName>
                                        </p:attrNameLst>
                                      </p:cBhvr>
                                      <p:to>
                                        <p:strVal val="visible"/>
                                      </p:to>
                                    </p:set>
                                    <p:animEffect transition="in" filter="wipe(down)">
                                      <p:cBhvr>
                                        <p:cTn id="37" dur="250"/>
                                        <p:tgtEl>
                                          <p:spTgt spid="34">
                                            <p:graphicEl>
                                              <a:chart seriesIdx="0" categoryIdx="4" bldStep="ptInSeries"/>
                                            </p:graphicEl>
                                          </p:spTgt>
                                        </p:tgtEl>
                                      </p:cBhvr>
                                    </p:animEffect>
                                  </p:childTnLst>
                                </p:cTn>
                              </p:par>
                            </p:childTnLst>
                          </p:cTn>
                        </p:par>
                        <p:par>
                          <p:cTn id="38" fill="hold">
                            <p:stCondLst>
                              <p:cond delay="1750"/>
                            </p:stCondLst>
                            <p:childTnLst>
                              <p:par>
                                <p:cTn id="39" presetID="22" presetClass="entr" presetSubtype="4" fill="hold" grpId="0" nodeType="afterEffect">
                                  <p:stCondLst>
                                    <p:cond delay="0"/>
                                  </p:stCondLst>
                                  <p:childTnLst>
                                    <p:set>
                                      <p:cBhvr>
                                        <p:cTn id="40" dur="1" fill="hold">
                                          <p:stCondLst>
                                            <p:cond delay="0"/>
                                          </p:stCondLst>
                                        </p:cTn>
                                        <p:tgtEl>
                                          <p:spTgt spid="34">
                                            <p:graphicEl>
                                              <a:chart seriesIdx="0" categoryIdx="5" bldStep="ptInSeries"/>
                                            </p:graphicEl>
                                          </p:spTgt>
                                        </p:tgtEl>
                                        <p:attrNameLst>
                                          <p:attrName>style.visibility</p:attrName>
                                        </p:attrNameLst>
                                      </p:cBhvr>
                                      <p:to>
                                        <p:strVal val="visible"/>
                                      </p:to>
                                    </p:set>
                                    <p:animEffect transition="in" filter="wipe(down)">
                                      <p:cBhvr>
                                        <p:cTn id="41" dur="250"/>
                                        <p:tgtEl>
                                          <p:spTgt spid="34">
                                            <p:graphicEl>
                                              <a:chart seriesIdx="0" categoryIdx="5" bldStep="ptInSeries"/>
                                            </p:graphicEl>
                                          </p:spTgt>
                                        </p:tgtEl>
                                      </p:cBhvr>
                                    </p:animEffect>
                                  </p:childTnLst>
                                </p:cTn>
                              </p:par>
                            </p:childTnLst>
                          </p:cTn>
                        </p:par>
                        <p:par>
                          <p:cTn id="42" fill="hold">
                            <p:stCondLst>
                              <p:cond delay="2000"/>
                            </p:stCondLst>
                            <p:childTnLst>
                              <p:par>
                                <p:cTn id="43" presetID="22" presetClass="entr" presetSubtype="4" fill="hold" grpId="0" nodeType="afterEffect">
                                  <p:stCondLst>
                                    <p:cond delay="0"/>
                                  </p:stCondLst>
                                  <p:childTnLst>
                                    <p:set>
                                      <p:cBhvr>
                                        <p:cTn id="44" dur="1" fill="hold">
                                          <p:stCondLst>
                                            <p:cond delay="0"/>
                                          </p:stCondLst>
                                        </p:cTn>
                                        <p:tgtEl>
                                          <p:spTgt spid="34">
                                            <p:graphicEl>
                                              <a:chart seriesIdx="0" categoryIdx="6" bldStep="ptInSeries"/>
                                            </p:graphicEl>
                                          </p:spTgt>
                                        </p:tgtEl>
                                        <p:attrNameLst>
                                          <p:attrName>style.visibility</p:attrName>
                                        </p:attrNameLst>
                                      </p:cBhvr>
                                      <p:to>
                                        <p:strVal val="visible"/>
                                      </p:to>
                                    </p:set>
                                    <p:animEffect transition="in" filter="wipe(down)">
                                      <p:cBhvr>
                                        <p:cTn id="45" dur="250"/>
                                        <p:tgtEl>
                                          <p:spTgt spid="34">
                                            <p:graphicEl>
                                              <a:chart seriesIdx="0" categoryIdx="6" bldStep="ptInSeries"/>
                                            </p:graphicEl>
                                          </p:spTgt>
                                        </p:tgtEl>
                                      </p:cBhvr>
                                    </p:animEffect>
                                  </p:childTnLst>
                                </p:cTn>
                              </p:par>
                            </p:childTnLst>
                          </p:cTn>
                        </p:par>
                        <p:par>
                          <p:cTn id="46" fill="hold">
                            <p:stCondLst>
                              <p:cond delay="2250"/>
                            </p:stCondLst>
                            <p:childTnLst>
                              <p:par>
                                <p:cTn id="47" presetID="22" presetClass="entr" presetSubtype="4" fill="hold" grpId="0" nodeType="afterEffect">
                                  <p:stCondLst>
                                    <p:cond delay="0"/>
                                  </p:stCondLst>
                                  <p:childTnLst>
                                    <p:set>
                                      <p:cBhvr>
                                        <p:cTn id="48" dur="1" fill="hold">
                                          <p:stCondLst>
                                            <p:cond delay="0"/>
                                          </p:stCondLst>
                                        </p:cTn>
                                        <p:tgtEl>
                                          <p:spTgt spid="34">
                                            <p:graphicEl>
                                              <a:chart seriesIdx="0" categoryIdx="7" bldStep="ptInSeries"/>
                                            </p:graphicEl>
                                          </p:spTgt>
                                        </p:tgtEl>
                                        <p:attrNameLst>
                                          <p:attrName>style.visibility</p:attrName>
                                        </p:attrNameLst>
                                      </p:cBhvr>
                                      <p:to>
                                        <p:strVal val="visible"/>
                                      </p:to>
                                    </p:set>
                                    <p:animEffect transition="in" filter="wipe(down)">
                                      <p:cBhvr>
                                        <p:cTn id="49" dur="250"/>
                                        <p:tgtEl>
                                          <p:spTgt spid="34">
                                            <p:graphicEl>
                                              <a:chart seriesIdx="0" categoryIdx="7" bldStep="ptInSeries"/>
                                            </p:graphicEl>
                                          </p:spTgt>
                                        </p:tgtEl>
                                      </p:cBhvr>
                                    </p:animEffect>
                                  </p:childTnLst>
                                </p:cTn>
                              </p:par>
                            </p:childTnLst>
                          </p:cTn>
                        </p:par>
                        <p:par>
                          <p:cTn id="50" fill="hold">
                            <p:stCondLst>
                              <p:cond delay="2500"/>
                            </p:stCondLst>
                            <p:childTnLst>
                              <p:par>
                                <p:cTn id="51" presetID="22" presetClass="entr" presetSubtype="4" fill="hold" grpId="0" nodeType="afterEffect">
                                  <p:stCondLst>
                                    <p:cond delay="0"/>
                                  </p:stCondLst>
                                  <p:childTnLst>
                                    <p:set>
                                      <p:cBhvr>
                                        <p:cTn id="52" dur="1" fill="hold">
                                          <p:stCondLst>
                                            <p:cond delay="0"/>
                                          </p:stCondLst>
                                        </p:cTn>
                                        <p:tgtEl>
                                          <p:spTgt spid="34">
                                            <p:graphicEl>
                                              <a:chart seriesIdx="0" categoryIdx="8" bldStep="ptInSeries"/>
                                            </p:graphicEl>
                                          </p:spTgt>
                                        </p:tgtEl>
                                        <p:attrNameLst>
                                          <p:attrName>style.visibility</p:attrName>
                                        </p:attrNameLst>
                                      </p:cBhvr>
                                      <p:to>
                                        <p:strVal val="visible"/>
                                      </p:to>
                                    </p:set>
                                    <p:animEffect transition="in" filter="wipe(down)">
                                      <p:cBhvr>
                                        <p:cTn id="53" dur="250"/>
                                        <p:tgtEl>
                                          <p:spTgt spid="34">
                                            <p:graphicEl>
                                              <a:chart seriesIdx="0" categoryIdx="8" bldStep="ptInSeries"/>
                                            </p:graphicEl>
                                          </p:spTgt>
                                        </p:tgtEl>
                                      </p:cBhvr>
                                    </p:animEffect>
                                  </p:childTnLst>
                                </p:cTn>
                              </p:par>
                            </p:childTnLst>
                          </p:cTn>
                        </p:par>
                        <p:par>
                          <p:cTn id="54" fill="hold">
                            <p:stCondLst>
                              <p:cond delay="2750"/>
                            </p:stCondLst>
                            <p:childTnLst>
                              <p:par>
                                <p:cTn id="55" presetID="22" presetClass="entr" presetSubtype="2" fill="hold" grpId="0"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right)">
                                      <p:cBhvr>
                                        <p:cTn id="57" dur="250"/>
                                        <p:tgtEl>
                                          <p:spTgt spid="105"/>
                                        </p:tgtEl>
                                      </p:cBhvr>
                                    </p:animEffect>
                                  </p:childTnLst>
                                </p:cTn>
                              </p:par>
                            </p:childTnLst>
                          </p:cTn>
                        </p:par>
                        <p:par>
                          <p:cTn id="58" fill="hold">
                            <p:stCondLst>
                              <p:cond delay="3000"/>
                            </p:stCondLst>
                            <p:childTnLst>
                              <p:par>
                                <p:cTn id="59" presetID="10" presetClass="entr" presetSubtype="0" fill="hold" grpId="0" nodeType="afterEffect">
                                  <p:stCondLst>
                                    <p:cond delay="0"/>
                                  </p:stCondLst>
                                  <p:childTnLst>
                                    <p:set>
                                      <p:cBhvr>
                                        <p:cTn id="60" dur="1" fill="hold">
                                          <p:stCondLst>
                                            <p:cond delay="0"/>
                                          </p:stCondLst>
                                        </p:cTn>
                                        <p:tgtEl>
                                          <p:spTgt spid="86"/>
                                        </p:tgtEl>
                                        <p:attrNameLst>
                                          <p:attrName>style.visibility</p:attrName>
                                        </p:attrNameLst>
                                      </p:cBhvr>
                                      <p:to>
                                        <p:strVal val="visible"/>
                                      </p:to>
                                    </p:set>
                                    <p:animEffect transition="in" filter="fade">
                                      <p:cBhvr>
                                        <p:cTn id="61" dur="250"/>
                                        <p:tgtEl>
                                          <p:spTgt spid="86"/>
                                        </p:tgtEl>
                                      </p:cBhvr>
                                    </p:animEffect>
                                  </p:childTnLst>
                                </p:cTn>
                              </p:par>
                            </p:childTnLst>
                          </p:cTn>
                        </p:par>
                        <p:par>
                          <p:cTn id="62" fill="hold">
                            <p:stCondLst>
                              <p:cond delay="3250"/>
                            </p:stCondLst>
                            <p:childTnLst>
                              <p:par>
                                <p:cTn id="63" presetID="22" presetClass="entr" presetSubtype="2" fill="hold" nodeType="afterEffect">
                                  <p:stCondLst>
                                    <p:cond delay="0"/>
                                  </p:stCondLst>
                                  <p:childTnLst>
                                    <p:set>
                                      <p:cBhvr>
                                        <p:cTn id="64" dur="1" fill="hold">
                                          <p:stCondLst>
                                            <p:cond delay="0"/>
                                          </p:stCondLst>
                                        </p:cTn>
                                        <p:tgtEl>
                                          <p:spTgt spid="85"/>
                                        </p:tgtEl>
                                        <p:attrNameLst>
                                          <p:attrName>style.visibility</p:attrName>
                                        </p:attrNameLst>
                                      </p:cBhvr>
                                      <p:to>
                                        <p:strVal val="visible"/>
                                      </p:to>
                                    </p:set>
                                    <p:animEffect transition="in" filter="wipe(right)">
                                      <p:cBhvr>
                                        <p:cTn id="65" dur="250"/>
                                        <p:tgtEl>
                                          <p:spTgt spid="8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108"/>
                                        </p:tgtEl>
                                        <p:attrNameLst>
                                          <p:attrName>style.visibility</p:attrName>
                                        </p:attrNameLst>
                                      </p:cBhvr>
                                      <p:to>
                                        <p:strVal val="visible"/>
                                      </p:to>
                                    </p:set>
                                    <p:animEffect transition="in" filter="wipe(down)">
                                      <p:cBhvr>
                                        <p:cTn id="70" dur="250"/>
                                        <p:tgtEl>
                                          <p:spTgt spid="10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09"/>
                                        </p:tgtEl>
                                        <p:attrNameLst>
                                          <p:attrName>style.visibility</p:attrName>
                                        </p:attrNameLst>
                                      </p:cBhvr>
                                      <p:to>
                                        <p:strVal val="visible"/>
                                      </p:to>
                                    </p:set>
                                    <p:animEffect transition="in" filter="fade">
                                      <p:cBhvr>
                                        <p:cTn id="73" dur="250"/>
                                        <p:tgtEl>
                                          <p:spTgt spid="10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10"/>
                                        </p:tgtEl>
                                        <p:attrNameLst>
                                          <p:attrName>style.visibility</p:attrName>
                                        </p:attrNameLst>
                                      </p:cBhvr>
                                      <p:to>
                                        <p:strVal val="visible"/>
                                      </p:to>
                                    </p:set>
                                    <p:animEffect transition="in" filter="fade">
                                      <p:cBhvr>
                                        <p:cTn id="76" dur="250"/>
                                        <p:tgtEl>
                                          <p:spTgt spid="110"/>
                                        </p:tgtEl>
                                      </p:cBhvr>
                                    </p:animEffect>
                                  </p:childTnLst>
                                </p:cTn>
                              </p:par>
                            </p:childTnLst>
                          </p:cTn>
                        </p:par>
                        <p:par>
                          <p:cTn id="77" fill="hold">
                            <p:stCondLst>
                              <p:cond delay="250"/>
                            </p:stCondLst>
                            <p:childTnLst>
                              <p:par>
                                <p:cTn id="78" presetID="22" presetClass="entr" presetSubtype="2" fill="hold" grpId="0" nodeType="afterEffect">
                                  <p:stCondLst>
                                    <p:cond delay="0"/>
                                  </p:stCondLst>
                                  <p:childTnLst>
                                    <p:set>
                                      <p:cBhvr>
                                        <p:cTn id="79" dur="1" fill="hold">
                                          <p:stCondLst>
                                            <p:cond delay="0"/>
                                          </p:stCondLst>
                                        </p:cTn>
                                        <p:tgtEl>
                                          <p:spTgt spid="106"/>
                                        </p:tgtEl>
                                        <p:attrNameLst>
                                          <p:attrName>style.visibility</p:attrName>
                                        </p:attrNameLst>
                                      </p:cBhvr>
                                      <p:to>
                                        <p:strVal val="visible"/>
                                      </p:to>
                                    </p:set>
                                    <p:animEffect transition="in" filter="wipe(right)">
                                      <p:cBhvr>
                                        <p:cTn id="80" dur="250"/>
                                        <p:tgtEl>
                                          <p:spTgt spid="106"/>
                                        </p:tgtEl>
                                      </p:cBhvr>
                                    </p:animEffect>
                                  </p:childTnLst>
                                </p:cTn>
                              </p:par>
                            </p:childTnLst>
                          </p:cTn>
                        </p:par>
                        <p:par>
                          <p:cTn id="81" fill="hold">
                            <p:stCondLst>
                              <p:cond delay="500"/>
                            </p:stCondLst>
                            <p:childTnLst>
                              <p:par>
                                <p:cTn id="82" presetID="22" presetClass="entr" presetSubtype="2" fill="hold" nodeType="afterEffect">
                                  <p:stCondLst>
                                    <p:cond delay="0"/>
                                  </p:stCondLst>
                                  <p:childTnLst>
                                    <p:set>
                                      <p:cBhvr>
                                        <p:cTn id="83" dur="1" fill="hold">
                                          <p:stCondLst>
                                            <p:cond delay="0"/>
                                          </p:stCondLst>
                                        </p:cTn>
                                        <p:tgtEl>
                                          <p:spTgt spid="87"/>
                                        </p:tgtEl>
                                        <p:attrNameLst>
                                          <p:attrName>style.visibility</p:attrName>
                                        </p:attrNameLst>
                                      </p:cBhvr>
                                      <p:to>
                                        <p:strVal val="visible"/>
                                      </p:to>
                                    </p:set>
                                    <p:animEffect transition="in" filter="wipe(right)">
                                      <p:cBhvr>
                                        <p:cTn id="84" dur="250"/>
                                        <p:tgtEl>
                                          <p:spTgt spid="8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89"/>
                                        </p:tgtEl>
                                        <p:attrNameLst>
                                          <p:attrName>style.visibility</p:attrName>
                                        </p:attrNameLst>
                                      </p:cBhvr>
                                      <p:to>
                                        <p:strVal val="visible"/>
                                      </p:to>
                                    </p:set>
                                    <p:animEffect transition="in" filter="fade">
                                      <p:cBhvr>
                                        <p:cTn id="89" dur="250"/>
                                        <p:tgtEl>
                                          <p:spTgt spid="89"/>
                                        </p:tgtEl>
                                      </p:cBhvr>
                                    </p:animEffect>
                                  </p:childTnLst>
                                </p:cTn>
                              </p:par>
                            </p:childTnLst>
                          </p:cTn>
                        </p:par>
                        <p:par>
                          <p:cTn id="90" fill="hold">
                            <p:stCondLst>
                              <p:cond delay="250"/>
                            </p:stCondLst>
                            <p:childTnLst>
                              <p:par>
                                <p:cTn id="91" presetID="10" presetClass="entr" presetSubtype="0" fill="hold" grpId="0" nodeType="afterEffect">
                                  <p:stCondLst>
                                    <p:cond delay="0"/>
                                  </p:stCondLst>
                                  <p:childTnLst>
                                    <p:set>
                                      <p:cBhvr>
                                        <p:cTn id="92" dur="1" fill="hold">
                                          <p:stCondLst>
                                            <p:cond delay="0"/>
                                          </p:stCondLst>
                                        </p:cTn>
                                        <p:tgtEl>
                                          <p:spTgt spid="99"/>
                                        </p:tgtEl>
                                        <p:attrNameLst>
                                          <p:attrName>style.visibility</p:attrName>
                                        </p:attrNameLst>
                                      </p:cBhvr>
                                      <p:to>
                                        <p:strVal val="visible"/>
                                      </p:to>
                                    </p:set>
                                    <p:animEffect transition="in" filter="fade">
                                      <p:cBhvr>
                                        <p:cTn id="93" dur="250"/>
                                        <p:tgtEl>
                                          <p:spTgt spid="99"/>
                                        </p:tgtEl>
                                      </p:cBhvr>
                                    </p:animEffect>
                                  </p:childTnLst>
                                </p:cTn>
                              </p:par>
                            </p:childTnLst>
                          </p:cTn>
                        </p:par>
                        <p:par>
                          <p:cTn id="94" fill="hold">
                            <p:stCondLst>
                              <p:cond delay="500"/>
                            </p:stCondLst>
                            <p:childTnLst>
                              <p:par>
                                <p:cTn id="95" presetID="22" presetClass="entr" presetSubtype="1" fill="hold" grpId="0" nodeType="afterEffect">
                                  <p:stCondLst>
                                    <p:cond delay="0"/>
                                  </p:stCondLst>
                                  <p:childTnLst>
                                    <p:set>
                                      <p:cBhvr>
                                        <p:cTn id="96" dur="1" fill="hold">
                                          <p:stCondLst>
                                            <p:cond delay="0"/>
                                          </p:stCondLst>
                                        </p:cTn>
                                        <p:tgtEl>
                                          <p:spTgt spid="88"/>
                                        </p:tgtEl>
                                        <p:attrNameLst>
                                          <p:attrName>style.visibility</p:attrName>
                                        </p:attrNameLst>
                                      </p:cBhvr>
                                      <p:to>
                                        <p:strVal val="visible"/>
                                      </p:to>
                                    </p:set>
                                    <p:animEffect transition="in" filter="wipe(up)">
                                      <p:cBhvr>
                                        <p:cTn id="97" dur="250"/>
                                        <p:tgtEl>
                                          <p:spTgt spid="88"/>
                                        </p:tgtEl>
                                      </p:cBhvr>
                                    </p:animEffect>
                                  </p:childTnLst>
                                </p:cTn>
                              </p:par>
                            </p:childTnLst>
                          </p:cTn>
                        </p:par>
                        <p:par>
                          <p:cTn id="98" fill="hold">
                            <p:stCondLst>
                              <p:cond delay="750"/>
                            </p:stCondLst>
                            <p:childTnLst>
                              <p:par>
                                <p:cTn id="99" presetID="10" presetClass="entr" presetSubtype="0" fill="hold" nodeType="afterEffect">
                                  <p:stCondLst>
                                    <p:cond delay="0"/>
                                  </p:stCondLst>
                                  <p:childTnLst>
                                    <p:set>
                                      <p:cBhvr>
                                        <p:cTn id="100" dur="1" fill="hold">
                                          <p:stCondLst>
                                            <p:cond delay="0"/>
                                          </p:stCondLst>
                                        </p:cTn>
                                        <p:tgtEl>
                                          <p:spTgt spid="100"/>
                                        </p:tgtEl>
                                        <p:attrNameLst>
                                          <p:attrName>style.visibility</p:attrName>
                                        </p:attrNameLst>
                                      </p:cBhvr>
                                      <p:to>
                                        <p:strVal val="visible"/>
                                      </p:to>
                                    </p:set>
                                    <p:animEffect transition="in" filter="fade">
                                      <p:cBhvr>
                                        <p:cTn id="101" dur="250"/>
                                        <p:tgtEl>
                                          <p:spTgt spid="100"/>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
                                        </p:tgtEl>
                                        <p:attrNameLst>
                                          <p:attrName>style.visibility</p:attrName>
                                        </p:attrNameLst>
                                      </p:cBhvr>
                                      <p:to>
                                        <p:strVal val="visible"/>
                                      </p:to>
                                    </p:set>
                                    <p:animEffect transition="in" filter="fade">
                                      <p:cBhvr>
                                        <p:cTn id="106" dur="250"/>
                                        <p:tgtEl>
                                          <p:spTgt spid="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
                                        </p:tgtEl>
                                        <p:attrNameLst>
                                          <p:attrName>style.visibility</p:attrName>
                                        </p:attrNameLst>
                                      </p:cBhvr>
                                      <p:to>
                                        <p:strVal val="visible"/>
                                      </p:to>
                                    </p:set>
                                    <p:animEffect transition="in" filter="fade">
                                      <p:cBhvr>
                                        <p:cTn id="109"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4" grpId="0">
        <p:bldSub>
          <a:bldChart bld="seriesEl"/>
        </p:bldSub>
      </p:bldGraphic>
      <p:bldP spid="35" grpId="0" animBg="1"/>
      <p:bldP spid="37" grpId="0"/>
      <p:bldP spid="38" grpId="0"/>
      <p:bldP spid="86" grpId="0"/>
      <p:bldP spid="88" grpId="0" animBg="1"/>
      <p:bldP spid="99" grpId="0"/>
      <p:bldP spid="105" grpId="0" animBg="1"/>
      <p:bldP spid="106" grpId="0" animBg="1"/>
      <p:bldGraphic spid="108" grpId="0">
        <p:bldAsOne/>
      </p:bldGraphic>
      <p:bldP spid="109" grpId="0"/>
      <p:bldP spid="110" grpId="0"/>
      <p:bldP spid="4"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Histogram </a:t>
            </a:r>
            <a:r>
              <a:rPr lang="en-US" i="1" dirty="0">
                <a:solidFill>
                  <a:srgbClr val="FE8301"/>
                </a:solidFill>
                <a:latin typeface="Lato Light" panose="020F0302020204030203" pitchFamily="34" charset="0"/>
              </a:rPr>
              <a:t>Adjustment</a:t>
            </a:r>
          </a:p>
        </p:txBody>
      </p:sp>
      <p:sp>
        <p:nvSpPr>
          <p:cNvPr id="3" name="Text Placeholder 2"/>
          <p:cNvSpPr>
            <a:spLocks noGrp="1"/>
          </p:cNvSpPr>
          <p:nvPr>
            <p:ph type="body" sz="quarter" idx="11"/>
          </p:nvPr>
        </p:nvSpPr>
        <p:spPr/>
        <p:txBody>
          <a:bodyPr/>
          <a:lstStyle/>
          <a:p>
            <a:r>
              <a:rPr lang="en-US" b="1" dirty="0"/>
              <a:t>Feature Data Vs. Histogram</a:t>
            </a:r>
          </a:p>
        </p:txBody>
      </p:sp>
      <p:grpSp>
        <p:nvGrpSpPr>
          <p:cNvPr id="6" name="Group 5"/>
          <p:cNvGrpSpPr/>
          <p:nvPr/>
        </p:nvGrpSpPr>
        <p:grpSpPr>
          <a:xfrm>
            <a:off x="4472194" y="3296088"/>
            <a:ext cx="3400796" cy="888030"/>
            <a:chOff x="7470864" y="4121993"/>
            <a:chExt cx="3400796" cy="888030"/>
          </a:xfrm>
        </p:grpSpPr>
        <p:sp>
          <p:nvSpPr>
            <p:cNvPr id="33" name="Teardrop 32"/>
            <p:cNvSpPr/>
            <p:nvPr/>
          </p:nvSpPr>
          <p:spPr>
            <a:xfrm rot="2700000">
              <a:off x="7470864" y="4239391"/>
              <a:ext cx="566845" cy="566845"/>
            </a:xfrm>
            <a:prstGeom prst="teardrop">
              <a:avLst/>
            </a:prstGeom>
            <a:noFill/>
            <a:ln w="28575">
              <a:solidFill>
                <a:srgbClr val="FF85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spect="1"/>
            </p:cNvSpPr>
            <p:nvPr/>
          </p:nvSpPr>
          <p:spPr>
            <a:xfrm>
              <a:off x="7520302" y="4286360"/>
              <a:ext cx="472905" cy="472905"/>
            </a:xfrm>
            <a:prstGeom prst="rect">
              <a:avLst/>
            </a:prstGeom>
            <a:noFill/>
          </p:spPr>
          <p:txBody>
            <a:bodyPr wrap="none" lIns="0" tIns="0" rIns="0" bIns="0" rtlCol="0" anchor="ctr" anchorCtr="0">
              <a:noAutofit/>
            </a:bodyPr>
            <a:lstStyle/>
            <a:p>
              <a:pPr algn="ctr" defTabSz="914294"/>
              <a:r>
                <a:rPr lang="en-US" sz="2000" dirty="0">
                  <a:solidFill>
                    <a:srgbClr val="FF8504"/>
                  </a:solidFill>
                  <a:latin typeface="FontAwesome" pitchFamily="2" charset="0"/>
                </a:rPr>
                <a:t>2</a:t>
              </a:r>
              <a:endParaRPr lang="ru-RU" sz="2000" dirty="0">
                <a:solidFill>
                  <a:srgbClr val="FF8504"/>
                </a:solidFill>
              </a:endParaRPr>
            </a:p>
          </p:txBody>
        </p:sp>
        <p:sp>
          <p:nvSpPr>
            <p:cNvPr id="41" name="TextBox 40"/>
            <p:cNvSpPr txBox="1"/>
            <p:nvPr/>
          </p:nvSpPr>
          <p:spPr>
            <a:xfrm>
              <a:off x="8183428" y="4121993"/>
              <a:ext cx="1934440" cy="338554"/>
            </a:xfrm>
            <a:prstGeom prst="rect">
              <a:avLst/>
            </a:prstGeom>
            <a:noFill/>
          </p:spPr>
          <p:txBody>
            <a:bodyPr wrap="none" rtlCol="0">
              <a:spAutoFit/>
            </a:bodyPr>
            <a:lstStyle/>
            <a:p>
              <a:r>
                <a:rPr lang="en-US" sz="1600" dirty="0">
                  <a:solidFill>
                    <a:srgbClr val="FF8504"/>
                  </a:solidFill>
                  <a:latin typeface="Lato Black" panose="020F0A02020204030203" pitchFamily="34" charset="0"/>
                </a:rPr>
                <a:t>Calculate </a:t>
              </a:r>
              <a:r>
                <a:rPr lang="en-US" sz="1600" dirty="0" err="1">
                  <a:solidFill>
                    <a:srgbClr val="FF8504"/>
                  </a:solidFill>
                  <a:latin typeface="Lato Black" panose="020F0A02020204030203" pitchFamily="34" charset="0"/>
                </a:rPr>
                <a:t>DownTemp</a:t>
              </a:r>
              <a:endParaRPr lang="en-US" sz="1600" dirty="0">
                <a:solidFill>
                  <a:srgbClr val="FF8504"/>
                </a:solidFill>
                <a:latin typeface="Lato Black" panose="020F0A02020204030203" pitchFamily="34" charset="0"/>
              </a:endParaRPr>
            </a:p>
          </p:txBody>
        </p:sp>
        <p:sp>
          <p:nvSpPr>
            <p:cNvPr id="42" name="TextBox 41"/>
            <p:cNvSpPr txBox="1"/>
            <p:nvPr/>
          </p:nvSpPr>
          <p:spPr>
            <a:xfrm>
              <a:off x="8191969" y="4363692"/>
              <a:ext cx="2679691"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tx1">
                      <a:lumMod val="75000"/>
                      <a:lumOff val="25000"/>
                    </a:schemeClr>
                  </a:solidFill>
                  <a:latin typeface="Lato" panose="020F0502020204030203" pitchFamily="34" charset="0"/>
                </a:rPr>
                <a:t>Select </a:t>
              </a:r>
              <a:r>
                <a:rPr lang="en-US" sz="1200" b="1" dirty="0">
                  <a:solidFill>
                    <a:schemeClr val="tx1">
                      <a:lumMod val="75000"/>
                      <a:lumOff val="25000"/>
                    </a:schemeClr>
                  </a:solidFill>
                  <a:latin typeface="Lato" panose="020F0502020204030203" pitchFamily="34" charset="0"/>
                </a:rPr>
                <a:t>1</a:t>
              </a:r>
              <a:r>
                <a:rPr lang="en-US" sz="1200" b="1" baseline="30000" dirty="0">
                  <a:solidFill>
                    <a:schemeClr val="tx1">
                      <a:lumMod val="75000"/>
                      <a:lumOff val="25000"/>
                    </a:schemeClr>
                  </a:solidFill>
                  <a:latin typeface="Lato" panose="020F0502020204030203" pitchFamily="34" charset="0"/>
                </a:rPr>
                <a:t>st</a:t>
              </a:r>
              <a:r>
                <a:rPr lang="en-US" sz="1200" b="1" dirty="0">
                  <a:solidFill>
                    <a:schemeClr val="tx1">
                      <a:lumMod val="75000"/>
                      <a:lumOff val="25000"/>
                    </a:schemeClr>
                  </a:solidFill>
                  <a:latin typeface="Lato" panose="020F0502020204030203" pitchFamily="34" charset="0"/>
                </a:rPr>
                <a:t> bin </a:t>
              </a:r>
              <a:r>
                <a:rPr lang="en-US" sz="1200" dirty="0">
                  <a:solidFill>
                    <a:schemeClr val="tx1">
                      <a:lumMod val="75000"/>
                      <a:lumOff val="25000"/>
                    </a:schemeClr>
                  </a:solidFill>
                  <a:latin typeface="Lato" panose="020F0502020204030203" pitchFamily="34" charset="0"/>
                </a:rPr>
                <a:t>from original hist. until the </a:t>
              </a:r>
              <a:r>
                <a:rPr lang="en-US" sz="1200" b="1" dirty="0">
                  <a:solidFill>
                    <a:schemeClr val="tx1">
                      <a:lumMod val="75000"/>
                      <a:lumOff val="25000"/>
                    </a:schemeClr>
                  </a:solidFill>
                  <a:latin typeface="Lato" panose="020F0502020204030203" pitchFamily="34" charset="0"/>
                </a:rPr>
                <a:t>upper bin - 1</a:t>
              </a:r>
            </a:p>
            <a:p>
              <a:pPr marL="171450" indent="-171450">
                <a:buFont typeface="Arial" panose="020B0604020202020204" pitchFamily="34" charset="0"/>
                <a:buChar char="•"/>
              </a:pPr>
              <a:r>
                <a:rPr lang="en-US" sz="1200" dirty="0">
                  <a:solidFill>
                    <a:schemeClr val="tx1">
                      <a:lumMod val="75000"/>
                      <a:lumOff val="25000"/>
                    </a:schemeClr>
                  </a:solidFill>
                  <a:latin typeface="Lato" panose="020F0502020204030203" pitchFamily="34" charset="0"/>
                </a:rPr>
                <a:t>Divide the frequency in each bin by </a:t>
              </a:r>
              <a:r>
                <a:rPr lang="en-US" sz="1200" b="1" dirty="0">
                  <a:solidFill>
                    <a:schemeClr val="tx1">
                      <a:lumMod val="75000"/>
                      <a:lumOff val="25000"/>
                    </a:schemeClr>
                  </a:solidFill>
                  <a:latin typeface="Lato" panose="020F0502020204030203" pitchFamily="34" charset="0"/>
                </a:rPr>
                <a:t>2</a:t>
              </a:r>
            </a:p>
          </p:txBody>
        </p:sp>
      </p:grpSp>
      <p:grpSp>
        <p:nvGrpSpPr>
          <p:cNvPr id="8" name="Group 7"/>
          <p:cNvGrpSpPr/>
          <p:nvPr/>
        </p:nvGrpSpPr>
        <p:grpSpPr>
          <a:xfrm>
            <a:off x="8167345" y="3289486"/>
            <a:ext cx="3271803" cy="1055551"/>
            <a:chOff x="7470863" y="4935182"/>
            <a:chExt cx="3271803" cy="1055551"/>
          </a:xfrm>
        </p:grpSpPr>
        <p:sp>
          <p:nvSpPr>
            <p:cNvPr id="34" name="Teardrop 33"/>
            <p:cNvSpPr/>
            <p:nvPr/>
          </p:nvSpPr>
          <p:spPr>
            <a:xfrm rot="2700000">
              <a:off x="7470863" y="5067555"/>
              <a:ext cx="566845" cy="566845"/>
            </a:xfrm>
            <a:prstGeom prst="teardrop">
              <a:avLst/>
            </a:prstGeom>
            <a:noFill/>
            <a:ln w="28575">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p:cNvSpPr txBox="1">
              <a:spLocks noChangeAspect="1"/>
            </p:cNvSpPr>
            <p:nvPr/>
          </p:nvSpPr>
          <p:spPr>
            <a:xfrm>
              <a:off x="7520301" y="5118290"/>
              <a:ext cx="467965" cy="467965"/>
            </a:xfrm>
            <a:prstGeom prst="rect">
              <a:avLst/>
            </a:prstGeom>
            <a:noFill/>
          </p:spPr>
          <p:txBody>
            <a:bodyPr wrap="none" lIns="0" tIns="0" rIns="0" bIns="0" rtlCol="0" anchor="ctr" anchorCtr="0">
              <a:noAutofit/>
            </a:bodyPr>
            <a:lstStyle/>
            <a:p>
              <a:pPr algn="ctr" defTabSz="914294"/>
              <a:r>
                <a:rPr lang="en-US" sz="2000" dirty="0">
                  <a:solidFill>
                    <a:srgbClr val="012641"/>
                  </a:solidFill>
                  <a:latin typeface="FontAwesome" pitchFamily="2" charset="0"/>
                </a:rPr>
                <a:t>3</a:t>
              </a:r>
              <a:endParaRPr lang="ru-RU" sz="2000" dirty="0">
                <a:solidFill>
                  <a:srgbClr val="012641"/>
                </a:solidFill>
              </a:endParaRPr>
            </a:p>
          </p:txBody>
        </p:sp>
        <p:sp>
          <p:nvSpPr>
            <p:cNvPr id="43" name="TextBox 42"/>
            <p:cNvSpPr txBox="1"/>
            <p:nvPr/>
          </p:nvSpPr>
          <p:spPr>
            <a:xfrm>
              <a:off x="8171961" y="4935182"/>
              <a:ext cx="1628716" cy="338554"/>
            </a:xfrm>
            <a:prstGeom prst="rect">
              <a:avLst/>
            </a:prstGeom>
            <a:noFill/>
          </p:spPr>
          <p:txBody>
            <a:bodyPr wrap="none" rtlCol="0">
              <a:spAutoFit/>
            </a:bodyPr>
            <a:lstStyle/>
            <a:p>
              <a:r>
                <a:rPr lang="en-US" sz="1600" dirty="0">
                  <a:solidFill>
                    <a:srgbClr val="012641"/>
                  </a:solidFill>
                  <a:latin typeface="Lato Black" panose="020F0A02020204030203" pitchFamily="34" charset="0"/>
                </a:rPr>
                <a:t>Merge Histogram</a:t>
              </a:r>
            </a:p>
          </p:txBody>
        </p:sp>
        <p:sp>
          <p:nvSpPr>
            <p:cNvPr id="44" name="TextBox 43"/>
            <p:cNvSpPr txBox="1"/>
            <p:nvPr/>
          </p:nvSpPr>
          <p:spPr>
            <a:xfrm>
              <a:off x="8180502" y="5159736"/>
              <a:ext cx="2562164"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tx1">
                      <a:lumMod val="75000"/>
                      <a:lumOff val="25000"/>
                    </a:schemeClr>
                  </a:solidFill>
                  <a:latin typeface="Lato" panose="020F0502020204030203" pitchFamily="34" charset="0"/>
                </a:rPr>
                <a:t>Shift </a:t>
              </a:r>
              <a:r>
                <a:rPr lang="en-US" sz="1200" dirty="0" err="1">
                  <a:solidFill>
                    <a:schemeClr val="tx1">
                      <a:lumMod val="75000"/>
                      <a:lumOff val="25000"/>
                    </a:schemeClr>
                  </a:solidFill>
                  <a:latin typeface="Lato" panose="020F0502020204030203" pitchFamily="34" charset="0"/>
                </a:rPr>
                <a:t>UpTime</a:t>
              </a:r>
              <a:r>
                <a:rPr lang="en-US" sz="1200" dirty="0">
                  <a:solidFill>
                    <a:schemeClr val="tx1">
                      <a:lumMod val="75000"/>
                      <a:lumOff val="25000"/>
                    </a:schemeClr>
                  </a:solidFill>
                  <a:latin typeface="Lato" panose="020F0502020204030203" pitchFamily="34" charset="0"/>
                </a:rPr>
                <a:t> bin to the </a:t>
              </a:r>
              <a:r>
                <a:rPr lang="en-US" sz="1200" b="1" dirty="0">
                  <a:solidFill>
                    <a:schemeClr val="tx1">
                      <a:lumMod val="75000"/>
                      <a:lumOff val="25000"/>
                    </a:schemeClr>
                  </a:solidFill>
                  <a:latin typeface="Lato" panose="020F0502020204030203" pitchFamily="34" charset="0"/>
                </a:rPr>
                <a:t>left</a:t>
              </a:r>
              <a:r>
                <a:rPr lang="en-US" sz="1200" dirty="0">
                  <a:solidFill>
                    <a:schemeClr val="tx1">
                      <a:lumMod val="75000"/>
                      <a:lumOff val="25000"/>
                    </a:schemeClr>
                  </a:solidFill>
                  <a:latin typeface="Lato" panose="020F0502020204030203" pitchFamily="34" charset="0"/>
                </a:rPr>
                <a:t> from the original hist.</a:t>
              </a:r>
            </a:p>
            <a:p>
              <a:pPr marL="171450" indent="-171450">
                <a:buFont typeface="Arial" panose="020B0604020202020204" pitchFamily="34" charset="0"/>
                <a:buChar char="•"/>
              </a:pPr>
              <a:r>
                <a:rPr lang="en-US" sz="1200" dirty="0">
                  <a:solidFill>
                    <a:schemeClr val="tx1">
                      <a:lumMod val="75000"/>
                      <a:lumOff val="25000"/>
                    </a:schemeClr>
                  </a:solidFill>
                  <a:latin typeface="Lato" panose="020F0502020204030203" pitchFamily="34" charset="0"/>
                </a:rPr>
                <a:t>Shift </a:t>
              </a:r>
              <a:r>
                <a:rPr lang="en-US" sz="1200" dirty="0" err="1">
                  <a:solidFill>
                    <a:schemeClr val="tx1">
                      <a:lumMod val="75000"/>
                      <a:lumOff val="25000"/>
                    </a:schemeClr>
                  </a:solidFill>
                  <a:latin typeface="Lato" panose="020F0502020204030203" pitchFamily="34" charset="0"/>
                </a:rPr>
                <a:t>DownTemp</a:t>
              </a:r>
              <a:r>
                <a:rPr lang="en-US" sz="1200" dirty="0">
                  <a:solidFill>
                    <a:schemeClr val="tx1">
                      <a:lumMod val="75000"/>
                      <a:lumOff val="25000"/>
                    </a:schemeClr>
                  </a:solidFill>
                  <a:latin typeface="Lato" panose="020F0502020204030203" pitchFamily="34" charset="0"/>
                </a:rPr>
                <a:t>  bins to the </a:t>
              </a:r>
              <a:r>
                <a:rPr lang="en-US" sz="1200" b="1" dirty="0">
                  <a:solidFill>
                    <a:schemeClr val="tx1">
                      <a:lumMod val="75000"/>
                      <a:lumOff val="25000"/>
                    </a:schemeClr>
                  </a:solidFill>
                  <a:latin typeface="Lato" panose="020F0502020204030203" pitchFamily="34" charset="0"/>
                </a:rPr>
                <a:t>right</a:t>
              </a:r>
              <a:r>
                <a:rPr lang="en-US" sz="1200" dirty="0">
                  <a:solidFill>
                    <a:schemeClr val="tx1">
                      <a:lumMod val="75000"/>
                      <a:lumOff val="25000"/>
                    </a:schemeClr>
                  </a:solidFill>
                  <a:latin typeface="Lato" panose="020F0502020204030203" pitchFamily="34" charset="0"/>
                </a:rPr>
                <a:t> from the original hist.</a:t>
              </a:r>
            </a:p>
          </p:txBody>
        </p:sp>
      </p:grpSp>
      <p:sp>
        <p:nvSpPr>
          <p:cNvPr id="19" name="Rectangle 18"/>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0" name="Straight Connector 19"/>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32" name="Group 31"/>
          <p:cNvGrpSpPr/>
          <p:nvPr/>
        </p:nvGrpSpPr>
        <p:grpSpPr>
          <a:xfrm>
            <a:off x="455000" y="491056"/>
            <a:ext cx="45720" cy="675713"/>
            <a:chOff x="455000" y="491056"/>
            <a:chExt cx="45720" cy="675713"/>
          </a:xfrm>
        </p:grpSpPr>
        <p:sp>
          <p:nvSpPr>
            <p:cNvPr id="37" name="Rectangle 36"/>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aphicFrame>
        <p:nvGraphicFramePr>
          <p:cNvPr id="7" name="Table 6"/>
          <p:cNvGraphicFramePr>
            <a:graphicFrameLocks noGrp="1"/>
          </p:cNvGraphicFramePr>
          <p:nvPr>
            <p:extLst>
              <p:ext uri="{D42A27DB-BD31-4B8C-83A1-F6EECF244321}">
                <p14:modId xmlns:p14="http://schemas.microsoft.com/office/powerpoint/2010/main" val="658081757"/>
              </p:ext>
            </p:extLst>
          </p:nvPr>
        </p:nvGraphicFramePr>
        <p:xfrm>
          <a:off x="1223722" y="1267267"/>
          <a:ext cx="5560562" cy="571500"/>
        </p:xfrm>
        <a:graphic>
          <a:graphicData uri="http://schemas.openxmlformats.org/drawingml/2006/table">
            <a:tbl>
              <a:tblPr>
                <a:tableStyleId>{073A0DAA-6AF3-43AB-8588-CEC1D06C72B9}</a:tableStyleId>
              </a:tblPr>
              <a:tblGrid>
                <a:gridCol w="863777">
                  <a:extLst>
                    <a:ext uri="{9D8B030D-6E8A-4147-A177-3AD203B41FA5}">
                      <a16:colId xmlns:a16="http://schemas.microsoft.com/office/drawing/2014/main" val="2010160915"/>
                    </a:ext>
                  </a:extLst>
                </a:gridCol>
                <a:gridCol w="521865">
                  <a:extLst>
                    <a:ext uri="{9D8B030D-6E8A-4147-A177-3AD203B41FA5}">
                      <a16:colId xmlns:a16="http://schemas.microsoft.com/office/drawing/2014/main" val="1695068152"/>
                    </a:ext>
                  </a:extLst>
                </a:gridCol>
                <a:gridCol w="521865">
                  <a:extLst>
                    <a:ext uri="{9D8B030D-6E8A-4147-A177-3AD203B41FA5}">
                      <a16:colId xmlns:a16="http://schemas.microsoft.com/office/drawing/2014/main" val="2336420741"/>
                    </a:ext>
                  </a:extLst>
                </a:gridCol>
                <a:gridCol w="521865">
                  <a:extLst>
                    <a:ext uri="{9D8B030D-6E8A-4147-A177-3AD203B41FA5}">
                      <a16:colId xmlns:a16="http://schemas.microsoft.com/office/drawing/2014/main" val="3461314546"/>
                    </a:ext>
                  </a:extLst>
                </a:gridCol>
                <a:gridCol w="521865">
                  <a:extLst>
                    <a:ext uri="{9D8B030D-6E8A-4147-A177-3AD203B41FA5}">
                      <a16:colId xmlns:a16="http://schemas.microsoft.com/office/drawing/2014/main" val="2239297547"/>
                    </a:ext>
                  </a:extLst>
                </a:gridCol>
                <a:gridCol w="521865">
                  <a:extLst>
                    <a:ext uri="{9D8B030D-6E8A-4147-A177-3AD203B41FA5}">
                      <a16:colId xmlns:a16="http://schemas.microsoft.com/office/drawing/2014/main" val="2844738517"/>
                    </a:ext>
                  </a:extLst>
                </a:gridCol>
                <a:gridCol w="521865">
                  <a:extLst>
                    <a:ext uri="{9D8B030D-6E8A-4147-A177-3AD203B41FA5}">
                      <a16:colId xmlns:a16="http://schemas.microsoft.com/office/drawing/2014/main" val="3566160196"/>
                    </a:ext>
                  </a:extLst>
                </a:gridCol>
                <a:gridCol w="521865">
                  <a:extLst>
                    <a:ext uri="{9D8B030D-6E8A-4147-A177-3AD203B41FA5}">
                      <a16:colId xmlns:a16="http://schemas.microsoft.com/office/drawing/2014/main" val="388562243"/>
                    </a:ext>
                  </a:extLst>
                </a:gridCol>
                <a:gridCol w="521865">
                  <a:extLst>
                    <a:ext uri="{9D8B030D-6E8A-4147-A177-3AD203B41FA5}">
                      <a16:colId xmlns:a16="http://schemas.microsoft.com/office/drawing/2014/main" val="4195765789"/>
                    </a:ext>
                  </a:extLst>
                </a:gridCol>
                <a:gridCol w="521865">
                  <a:extLst>
                    <a:ext uri="{9D8B030D-6E8A-4147-A177-3AD203B41FA5}">
                      <a16:colId xmlns:a16="http://schemas.microsoft.com/office/drawing/2014/main" val="2304843134"/>
                    </a:ext>
                  </a:extLst>
                </a:gridCol>
              </a:tblGrid>
              <a:tr h="371475">
                <a:tc>
                  <a:txBody>
                    <a:bodyPr/>
                    <a:lstStyle/>
                    <a:p>
                      <a:pPr algn="ctr" rtl="0" fontAlgn="ctr"/>
                      <a:r>
                        <a:rPr lang="en-US" sz="1100" b="1" u="none" strike="noStrike" dirty="0" err="1">
                          <a:effectLst/>
                          <a:latin typeface="Tw Cen MT" panose="020B0602020104020603" pitchFamily="34" charset="0"/>
                        </a:rPr>
                        <a:t>Num</a:t>
                      </a:r>
                      <a:r>
                        <a:rPr lang="en-US" sz="1100" b="1" u="none" strike="noStrike" dirty="0">
                          <a:effectLst/>
                          <a:latin typeface="Tw Cen MT" panose="020B0602020104020603" pitchFamily="34" charset="0"/>
                        </a:rPr>
                        <a:t> of Bin</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1</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2</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3</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4</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5</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6</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7</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8</a:t>
                      </a:r>
                      <a:endParaRPr lang="en-US" sz="12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1" u="none" strike="noStrike" dirty="0">
                          <a:effectLst/>
                          <a:latin typeface="Tw Cen MT" panose="020B0602020104020603" pitchFamily="34" charset="0"/>
                        </a:rPr>
                        <a:t>9</a:t>
                      </a:r>
                      <a:endParaRPr lang="en-US" sz="12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200025">
                <a:tc>
                  <a:txBody>
                    <a:bodyPr/>
                    <a:lstStyle/>
                    <a:p>
                      <a:pPr algn="ctr" rtl="0" fontAlgn="ctr"/>
                      <a:r>
                        <a:rPr lang="en-US" sz="1100" b="1" u="none" strike="noStrike" dirty="0">
                          <a:effectLst/>
                          <a:latin typeface="Tw Cen MT" panose="020B0602020104020603" pitchFamily="34" charset="0"/>
                        </a:rPr>
                        <a:t>Count</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0</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2</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65</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240</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367</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256</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64</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6</a:t>
                      </a:r>
                      <a:endParaRPr lang="en-US" sz="12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u="none" strike="noStrike" dirty="0">
                          <a:effectLst/>
                          <a:latin typeface="Tw Cen MT" panose="020B0602020104020603" pitchFamily="34" charset="0"/>
                        </a:rPr>
                        <a:t>0</a:t>
                      </a:r>
                      <a:endParaRPr lang="en-US" sz="12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968073239"/>
                  </a:ext>
                </a:extLst>
              </a:tr>
            </a:tbl>
          </a:graphicData>
        </a:graphic>
      </p:graphicFrame>
      <p:graphicFrame>
        <p:nvGraphicFramePr>
          <p:cNvPr id="51" name="Chart 50"/>
          <p:cNvGraphicFramePr>
            <a:graphicFrameLocks/>
          </p:cNvGraphicFramePr>
          <p:nvPr>
            <p:extLst>
              <p:ext uri="{D42A27DB-BD31-4B8C-83A1-F6EECF244321}">
                <p14:modId xmlns:p14="http://schemas.microsoft.com/office/powerpoint/2010/main" val="4199821213"/>
              </p:ext>
            </p:extLst>
          </p:nvPr>
        </p:nvGraphicFramePr>
        <p:xfrm>
          <a:off x="7609033" y="325269"/>
          <a:ext cx="3349061" cy="2165284"/>
        </p:xfrm>
        <a:graphic>
          <a:graphicData uri="http://schemas.openxmlformats.org/drawingml/2006/chart">
            <c:chart xmlns:c="http://schemas.openxmlformats.org/drawingml/2006/chart" xmlns:r="http://schemas.openxmlformats.org/officeDocument/2006/relationships" r:id="rId2"/>
          </a:graphicData>
        </a:graphic>
      </p:graphicFrame>
      <p:grpSp>
        <p:nvGrpSpPr>
          <p:cNvPr id="64" name="Group 63"/>
          <p:cNvGrpSpPr/>
          <p:nvPr/>
        </p:nvGrpSpPr>
        <p:grpSpPr>
          <a:xfrm>
            <a:off x="8076751" y="2441942"/>
            <a:ext cx="2312883" cy="409104"/>
            <a:chOff x="7724598" y="3147332"/>
            <a:chExt cx="2312883" cy="409104"/>
          </a:xfrm>
        </p:grpSpPr>
        <p:grpSp>
          <p:nvGrpSpPr>
            <p:cNvPr id="52" name="Group 51"/>
            <p:cNvGrpSpPr/>
            <p:nvPr/>
          </p:nvGrpSpPr>
          <p:grpSpPr>
            <a:xfrm rot="16200000">
              <a:off x="8647968" y="2223962"/>
              <a:ext cx="406750" cy="2253490"/>
              <a:chOff x="5588066" y="3487797"/>
              <a:chExt cx="728598" cy="4337684"/>
            </a:xfrm>
          </p:grpSpPr>
          <p:cxnSp>
            <p:nvCxnSpPr>
              <p:cNvPr id="53" name="Straight Connector 52"/>
              <p:cNvCxnSpPr/>
              <p:nvPr/>
            </p:nvCxnSpPr>
            <p:spPr>
              <a:xfrm rot="5400000">
                <a:off x="5900793" y="3287840"/>
                <a:ext cx="1525" cy="626979"/>
              </a:xfrm>
              <a:prstGeom prst="line">
                <a:avLst/>
              </a:prstGeom>
              <a:ln w="28575">
                <a:solidFill>
                  <a:srgbClr val="FF8504"/>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rot="16200000">
                <a:off x="6095898" y="3495632"/>
                <a:ext cx="228602" cy="212931"/>
              </a:xfrm>
              <a:prstGeom prst="ellipse">
                <a:avLst/>
              </a:prstGeom>
              <a:solidFill>
                <a:srgbClr val="FF850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55" name="Straight Connector 54"/>
              <p:cNvCxnSpPr/>
              <p:nvPr/>
            </p:nvCxnSpPr>
            <p:spPr>
              <a:xfrm rot="5400000" flipV="1">
                <a:off x="3492886" y="5710880"/>
                <a:ext cx="4224915" cy="4287"/>
              </a:xfrm>
              <a:prstGeom prst="line">
                <a:avLst/>
              </a:prstGeom>
              <a:ln w="28575">
                <a:solidFill>
                  <a:srgbClr val="FF8504"/>
                </a:solidFill>
              </a:ln>
            </p:spPr>
            <p:style>
              <a:lnRef idx="1">
                <a:schemeClr val="accent1"/>
              </a:lnRef>
              <a:fillRef idx="0">
                <a:schemeClr val="accent1"/>
              </a:fillRef>
              <a:effectRef idx="0">
                <a:schemeClr val="accent1"/>
              </a:effectRef>
              <a:fontRef idx="minor">
                <a:schemeClr val="tx1"/>
              </a:fontRef>
            </p:style>
          </p:cxnSp>
        </p:grpSp>
        <p:cxnSp>
          <p:nvCxnSpPr>
            <p:cNvPr id="63" name="Straight Connector 62"/>
            <p:cNvCxnSpPr/>
            <p:nvPr/>
          </p:nvCxnSpPr>
          <p:spPr>
            <a:xfrm>
              <a:off x="9977308" y="3206419"/>
              <a:ext cx="792" cy="350017"/>
            </a:xfrm>
            <a:prstGeom prst="line">
              <a:avLst/>
            </a:prstGeom>
            <a:ln w="28575">
              <a:solidFill>
                <a:srgbClr val="FF8504"/>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rot="10800000">
              <a:off x="9918719" y="3150603"/>
              <a:ext cx="118762" cy="118872"/>
            </a:xfrm>
            <a:prstGeom prst="ellipse">
              <a:avLst/>
            </a:prstGeom>
            <a:solidFill>
              <a:srgbClr val="FF850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65" name="Group 64"/>
          <p:cNvGrpSpPr/>
          <p:nvPr/>
        </p:nvGrpSpPr>
        <p:grpSpPr>
          <a:xfrm>
            <a:off x="8411728" y="2411198"/>
            <a:ext cx="2292465" cy="546963"/>
            <a:chOff x="8361994" y="3016462"/>
            <a:chExt cx="2292465" cy="546963"/>
          </a:xfrm>
        </p:grpSpPr>
        <p:grpSp>
          <p:nvGrpSpPr>
            <p:cNvPr id="66" name="Group 65"/>
            <p:cNvGrpSpPr/>
            <p:nvPr/>
          </p:nvGrpSpPr>
          <p:grpSpPr>
            <a:xfrm rot="16200000">
              <a:off x="9209740" y="2168716"/>
              <a:ext cx="537593" cy="2233085"/>
              <a:chOff x="5588087" y="4714698"/>
              <a:chExt cx="962972" cy="4298383"/>
            </a:xfrm>
          </p:grpSpPr>
          <p:cxnSp>
            <p:nvCxnSpPr>
              <p:cNvPr id="69" name="Straight Connector 68"/>
              <p:cNvCxnSpPr>
                <a:stCxn id="70" idx="0"/>
              </p:cNvCxnSpPr>
              <p:nvPr/>
            </p:nvCxnSpPr>
            <p:spPr>
              <a:xfrm rot="5400000">
                <a:off x="5962345" y="4454740"/>
                <a:ext cx="1526" cy="750041"/>
              </a:xfrm>
              <a:prstGeom prst="line">
                <a:avLst/>
              </a:prstGeom>
              <a:ln w="28575">
                <a:solidFill>
                  <a:srgbClr val="5FC8AC"/>
                </a:solidFill>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rot="16200000">
                <a:off x="6330293" y="4722533"/>
                <a:ext cx="228601" cy="212931"/>
              </a:xfrm>
              <a:prstGeom prst="ellipse">
                <a:avLst/>
              </a:prstGeom>
              <a:solidFill>
                <a:srgbClr val="5FC8AC"/>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1" name="Straight Connector 70"/>
              <p:cNvCxnSpPr/>
              <p:nvPr/>
            </p:nvCxnSpPr>
            <p:spPr>
              <a:xfrm rot="5400000">
                <a:off x="3497730" y="6903324"/>
                <a:ext cx="4206995" cy="12519"/>
              </a:xfrm>
              <a:prstGeom prst="line">
                <a:avLst/>
              </a:prstGeom>
              <a:ln w="28575">
                <a:solidFill>
                  <a:srgbClr val="5FC8AC"/>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a:stCxn id="68" idx="0"/>
            </p:cNvCxnSpPr>
            <p:nvPr/>
          </p:nvCxnSpPr>
          <p:spPr>
            <a:xfrm>
              <a:off x="10595078" y="3139634"/>
              <a:ext cx="2006" cy="423791"/>
            </a:xfrm>
            <a:prstGeom prst="line">
              <a:avLst/>
            </a:prstGeom>
            <a:ln w="28575">
              <a:solidFill>
                <a:srgbClr val="5FC8AC"/>
              </a:solidFill>
            </a:ln>
          </p:spPr>
          <p:style>
            <a:lnRef idx="1">
              <a:schemeClr val="accent1"/>
            </a:lnRef>
            <a:fillRef idx="0">
              <a:schemeClr val="accent1"/>
            </a:fillRef>
            <a:effectRef idx="0">
              <a:schemeClr val="accent1"/>
            </a:effectRef>
            <a:fontRef idx="minor">
              <a:schemeClr val="tx1"/>
            </a:fontRef>
          </p:style>
        </p:cxnSp>
        <p:sp>
          <p:nvSpPr>
            <p:cNvPr id="68" name="Oval 67"/>
            <p:cNvSpPr/>
            <p:nvPr/>
          </p:nvSpPr>
          <p:spPr>
            <a:xfrm rot="10800000">
              <a:off x="10535697" y="3020762"/>
              <a:ext cx="118762" cy="118872"/>
            </a:xfrm>
            <a:prstGeom prst="ellipse">
              <a:avLst/>
            </a:prstGeom>
            <a:solidFill>
              <a:srgbClr val="5FC8AC"/>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TextBox 77"/>
          <p:cNvSpPr txBox="1"/>
          <p:nvPr/>
        </p:nvSpPr>
        <p:spPr>
          <a:xfrm>
            <a:off x="9179973" y="2885696"/>
            <a:ext cx="744072" cy="261610"/>
          </a:xfrm>
          <a:prstGeom prst="rect">
            <a:avLst/>
          </a:prstGeom>
          <a:noFill/>
        </p:spPr>
        <p:txBody>
          <a:bodyPr wrap="square" rtlCol="0">
            <a:spAutoFit/>
          </a:bodyPr>
          <a:lstStyle/>
          <a:p>
            <a:pPr algn="ctr"/>
            <a:r>
              <a:rPr lang="en-US" sz="1050" i="1" dirty="0" err="1">
                <a:solidFill>
                  <a:schemeClr val="tx1">
                    <a:lumMod val="50000"/>
                    <a:lumOff val="50000"/>
                  </a:schemeClr>
                </a:solidFill>
                <a:latin typeface="Lato" panose="020F0502020204030203" pitchFamily="34" charset="0"/>
              </a:rPr>
              <a:t>UpTemp</a:t>
            </a:r>
            <a:endParaRPr lang="en-US" sz="1050" i="1" dirty="0">
              <a:solidFill>
                <a:schemeClr val="tx1">
                  <a:lumMod val="50000"/>
                  <a:lumOff val="50000"/>
                </a:schemeClr>
              </a:solidFill>
              <a:latin typeface="Lato" panose="020F0502020204030203" pitchFamily="34" charset="0"/>
            </a:endParaRPr>
          </a:p>
        </p:txBody>
      </p:sp>
      <p:sp>
        <p:nvSpPr>
          <p:cNvPr id="79" name="TextBox 78"/>
          <p:cNvSpPr txBox="1"/>
          <p:nvPr/>
        </p:nvSpPr>
        <p:spPr>
          <a:xfrm>
            <a:off x="8818433" y="2618569"/>
            <a:ext cx="828710" cy="253916"/>
          </a:xfrm>
          <a:prstGeom prst="rect">
            <a:avLst/>
          </a:prstGeom>
          <a:noFill/>
        </p:spPr>
        <p:txBody>
          <a:bodyPr wrap="square" rtlCol="0">
            <a:spAutoFit/>
          </a:bodyPr>
          <a:lstStyle/>
          <a:p>
            <a:pPr algn="ctr"/>
            <a:r>
              <a:rPr lang="en-US" sz="1050" i="1" dirty="0" err="1">
                <a:solidFill>
                  <a:schemeClr val="tx1">
                    <a:lumMod val="50000"/>
                    <a:lumOff val="50000"/>
                  </a:schemeClr>
                </a:solidFill>
                <a:latin typeface="Lato" panose="020F0502020204030203" pitchFamily="34" charset="0"/>
              </a:rPr>
              <a:t>DownTemp</a:t>
            </a:r>
            <a:endParaRPr lang="en-US" sz="1050" i="1" dirty="0">
              <a:solidFill>
                <a:schemeClr val="tx1">
                  <a:lumMod val="50000"/>
                  <a:lumOff val="50000"/>
                </a:schemeClr>
              </a:solidFill>
              <a:latin typeface="Lato" panose="020F0502020204030203" pitchFamily="34" charset="0"/>
            </a:endParaRPr>
          </a:p>
        </p:txBody>
      </p:sp>
      <p:grpSp>
        <p:nvGrpSpPr>
          <p:cNvPr id="4" name="Group 3"/>
          <p:cNvGrpSpPr/>
          <p:nvPr/>
        </p:nvGrpSpPr>
        <p:grpSpPr>
          <a:xfrm>
            <a:off x="753999" y="3248463"/>
            <a:ext cx="3363397" cy="897555"/>
            <a:chOff x="7470864" y="3274546"/>
            <a:chExt cx="3363397" cy="897555"/>
          </a:xfrm>
        </p:grpSpPr>
        <p:sp>
          <p:nvSpPr>
            <p:cNvPr id="31" name="Teardrop 30"/>
            <p:cNvSpPr/>
            <p:nvPr/>
          </p:nvSpPr>
          <p:spPr>
            <a:xfrm rot="2700000">
              <a:off x="7470864" y="3411227"/>
              <a:ext cx="566845" cy="566845"/>
            </a:xfrm>
            <a:prstGeom prst="teardrop">
              <a:avLst/>
            </a:prstGeom>
            <a:noFill/>
            <a:ln w="28575">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a:spLocks noChangeAspect="1"/>
            </p:cNvSpPr>
            <p:nvPr/>
          </p:nvSpPr>
          <p:spPr>
            <a:xfrm>
              <a:off x="7520302" y="3466934"/>
              <a:ext cx="467965" cy="467965"/>
            </a:xfrm>
            <a:prstGeom prst="rect">
              <a:avLst/>
            </a:prstGeom>
            <a:noFill/>
          </p:spPr>
          <p:txBody>
            <a:bodyPr wrap="none" lIns="0" tIns="0" rIns="0" bIns="0" rtlCol="0" anchor="ctr" anchorCtr="0">
              <a:noAutofit/>
            </a:bodyPr>
            <a:lstStyle/>
            <a:p>
              <a:pPr algn="ctr" defTabSz="914294"/>
              <a:r>
                <a:rPr lang="en-US" sz="2000" dirty="0">
                  <a:solidFill>
                    <a:srgbClr val="3DBF9C"/>
                  </a:solidFill>
                  <a:latin typeface="FontAwesome" pitchFamily="2" charset="0"/>
                </a:rPr>
                <a:t>1</a:t>
              </a:r>
              <a:endParaRPr lang="ru-RU" sz="2000" dirty="0">
                <a:solidFill>
                  <a:srgbClr val="3DBF9C"/>
                </a:solidFill>
              </a:endParaRPr>
            </a:p>
          </p:txBody>
        </p:sp>
        <p:sp>
          <p:nvSpPr>
            <p:cNvPr id="39" name="TextBox 38"/>
            <p:cNvSpPr txBox="1"/>
            <p:nvPr/>
          </p:nvSpPr>
          <p:spPr>
            <a:xfrm>
              <a:off x="8171961" y="3274546"/>
              <a:ext cx="1668277" cy="338554"/>
            </a:xfrm>
            <a:prstGeom prst="rect">
              <a:avLst/>
            </a:prstGeom>
            <a:noFill/>
          </p:spPr>
          <p:txBody>
            <a:bodyPr wrap="none" rtlCol="0">
              <a:spAutoFit/>
            </a:bodyPr>
            <a:lstStyle/>
            <a:p>
              <a:r>
                <a:rPr lang="en-US" sz="1600" dirty="0">
                  <a:solidFill>
                    <a:srgbClr val="3DBF9C"/>
                  </a:solidFill>
                  <a:latin typeface="Lato Black" panose="020F0A02020204030203" pitchFamily="34" charset="0"/>
                </a:rPr>
                <a:t>Calculate </a:t>
              </a:r>
              <a:r>
                <a:rPr lang="en-US" sz="1600" dirty="0" err="1">
                  <a:solidFill>
                    <a:srgbClr val="3DBF9C"/>
                  </a:solidFill>
                  <a:latin typeface="Lato Black" panose="020F0A02020204030203" pitchFamily="34" charset="0"/>
                </a:rPr>
                <a:t>Uptemp</a:t>
              </a:r>
              <a:endParaRPr lang="en-US" sz="1600" dirty="0">
                <a:solidFill>
                  <a:srgbClr val="3DBF9C"/>
                </a:solidFill>
                <a:latin typeface="Lato Black" panose="020F0A02020204030203" pitchFamily="34" charset="0"/>
              </a:endParaRPr>
            </a:p>
          </p:txBody>
        </p:sp>
        <p:sp>
          <p:nvSpPr>
            <p:cNvPr id="40" name="TextBox 39"/>
            <p:cNvSpPr txBox="1"/>
            <p:nvPr/>
          </p:nvSpPr>
          <p:spPr>
            <a:xfrm>
              <a:off x="8180503" y="3525770"/>
              <a:ext cx="2653758"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tx1">
                      <a:lumMod val="75000"/>
                      <a:lumOff val="25000"/>
                    </a:schemeClr>
                  </a:solidFill>
                  <a:latin typeface="Lato" panose="020F0502020204030203" pitchFamily="34" charset="0"/>
                </a:rPr>
                <a:t>Select </a:t>
              </a:r>
              <a:r>
                <a:rPr lang="en-US" sz="1200" b="1" dirty="0">
                  <a:solidFill>
                    <a:schemeClr val="tx1">
                      <a:lumMod val="75000"/>
                      <a:lumOff val="25000"/>
                    </a:schemeClr>
                  </a:solidFill>
                  <a:latin typeface="Lato" panose="020F0502020204030203" pitchFamily="34" charset="0"/>
                </a:rPr>
                <a:t>2</a:t>
              </a:r>
              <a:r>
                <a:rPr lang="en-US" sz="1200" b="1" baseline="30000" dirty="0">
                  <a:solidFill>
                    <a:schemeClr val="tx1">
                      <a:lumMod val="75000"/>
                      <a:lumOff val="25000"/>
                    </a:schemeClr>
                  </a:solidFill>
                  <a:latin typeface="Lato" panose="020F0502020204030203" pitchFamily="34" charset="0"/>
                </a:rPr>
                <a:t>nd</a:t>
              </a:r>
              <a:r>
                <a:rPr lang="en-US" sz="1200" b="1" dirty="0">
                  <a:solidFill>
                    <a:schemeClr val="tx1">
                      <a:lumMod val="75000"/>
                      <a:lumOff val="25000"/>
                    </a:schemeClr>
                  </a:solidFill>
                  <a:latin typeface="Lato" panose="020F0502020204030203" pitchFamily="34" charset="0"/>
                </a:rPr>
                <a:t> bin</a:t>
              </a:r>
              <a:r>
                <a:rPr lang="en-US" sz="1200" dirty="0">
                  <a:solidFill>
                    <a:schemeClr val="tx1">
                      <a:lumMod val="75000"/>
                      <a:lumOff val="25000"/>
                    </a:schemeClr>
                  </a:solidFill>
                  <a:latin typeface="Lato" panose="020F0502020204030203" pitchFamily="34" charset="0"/>
                </a:rPr>
                <a:t> from original hist. until the </a:t>
              </a:r>
              <a:r>
                <a:rPr lang="en-US" sz="1200" b="1" dirty="0">
                  <a:solidFill>
                    <a:schemeClr val="tx1">
                      <a:lumMod val="75000"/>
                      <a:lumOff val="25000"/>
                    </a:schemeClr>
                  </a:solidFill>
                  <a:latin typeface="Lato" panose="020F0502020204030203" pitchFamily="34" charset="0"/>
                </a:rPr>
                <a:t>upper bin</a:t>
              </a:r>
            </a:p>
            <a:p>
              <a:pPr marL="171450" indent="-171450">
                <a:buFont typeface="Arial" panose="020B0604020202020204" pitchFamily="34" charset="0"/>
                <a:buChar char="•"/>
              </a:pPr>
              <a:r>
                <a:rPr lang="en-US" sz="1200" dirty="0">
                  <a:solidFill>
                    <a:schemeClr val="tx1">
                      <a:lumMod val="75000"/>
                      <a:lumOff val="25000"/>
                    </a:schemeClr>
                  </a:solidFill>
                  <a:latin typeface="Lato" panose="020F0502020204030203" pitchFamily="34" charset="0"/>
                </a:rPr>
                <a:t>Divide the frequency in each bin by </a:t>
              </a:r>
              <a:r>
                <a:rPr lang="en-US" sz="1200" b="1" dirty="0">
                  <a:solidFill>
                    <a:schemeClr val="tx1">
                      <a:lumMod val="75000"/>
                      <a:lumOff val="25000"/>
                    </a:schemeClr>
                  </a:solidFill>
                  <a:latin typeface="Lato" panose="020F0502020204030203" pitchFamily="34" charset="0"/>
                </a:rPr>
                <a:t>2</a:t>
              </a:r>
            </a:p>
          </p:txBody>
        </p:sp>
      </p:grpSp>
      <p:sp>
        <p:nvSpPr>
          <p:cNvPr id="83" name="Rounded Rectangle 82"/>
          <p:cNvSpPr/>
          <p:nvPr/>
        </p:nvSpPr>
        <p:spPr>
          <a:xfrm>
            <a:off x="589090" y="3268456"/>
            <a:ext cx="3616488" cy="3010969"/>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ounded Rectangle 85"/>
          <p:cNvSpPr/>
          <p:nvPr/>
        </p:nvSpPr>
        <p:spPr>
          <a:xfrm>
            <a:off x="4294353" y="3268456"/>
            <a:ext cx="3616488" cy="3010969"/>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7" name="Rounded Rectangle 86"/>
          <p:cNvSpPr/>
          <p:nvPr/>
        </p:nvSpPr>
        <p:spPr>
          <a:xfrm>
            <a:off x="7999616" y="3296088"/>
            <a:ext cx="3616488" cy="3010969"/>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aphicFrame>
        <p:nvGraphicFramePr>
          <p:cNvPr id="88" name="Table 87"/>
          <p:cNvGraphicFramePr>
            <a:graphicFrameLocks noGrp="1"/>
          </p:cNvGraphicFramePr>
          <p:nvPr>
            <p:extLst>
              <p:ext uri="{D42A27DB-BD31-4B8C-83A1-F6EECF244321}">
                <p14:modId xmlns:p14="http://schemas.microsoft.com/office/powerpoint/2010/main" val="1460778007"/>
              </p:ext>
            </p:extLst>
          </p:nvPr>
        </p:nvGraphicFramePr>
        <p:xfrm>
          <a:off x="1787150" y="2137137"/>
          <a:ext cx="5038698" cy="192405"/>
        </p:xfrm>
        <a:graphic>
          <a:graphicData uri="http://schemas.openxmlformats.org/drawingml/2006/table">
            <a:tbl>
              <a:tblPr>
                <a:tableStyleId>{073A0DAA-6AF3-43AB-8588-CEC1D06C72B9}</a:tableStyleId>
              </a:tblPr>
              <a:tblGrid>
                <a:gridCol w="863778">
                  <a:extLst>
                    <a:ext uri="{9D8B030D-6E8A-4147-A177-3AD203B41FA5}">
                      <a16:colId xmlns:a16="http://schemas.microsoft.com/office/drawing/2014/main" val="2010160915"/>
                    </a:ext>
                  </a:extLst>
                </a:gridCol>
                <a:gridCol w="521865">
                  <a:extLst>
                    <a:ext uri="{9D8B030D-6E8A-4147-A177-3AD203B41FA5}">
                      <a16:colId xmlns:a16="http://schemas.microsoft.com/office/drawing/2014/main" val="2336420741"/>
                    </a:ext>
                  </a:extLst>
                </a:gridCol>
                <a:gridCol w="521865">
                  <a:extLst>
                    <a:ext uri="{9D8B030D-6E8A-4147-A177-3AD203B41FA5}">
                      <a16:colId xmlns:a16="http://schemas.microsoft.com/office/drawing/2014/main" val="3461314546"/>
                    </a:ext>
                  </a:extLst>
                </a:gridCol>
                <a:gridCol w="521865">
                  <a:extLst>
                    <a:ext uri="{9D8B030D-6E8A-4147-A177-3AD203B41FA5}">
                      <a16:colId xmlns:a16="http://schemas.microsoft.com/office/drawing/2014/main" val="2239297547"/>
                    </a:ext>
                  </a:extLst>
                </a:gridCol>
                <a:gridCol w="521865">
                  <a:extLst>
                    <a:ext uri="{9D8B030D-6E8A-4147-A177-3AD203B41FA5}">
                      <a16:colId xmlns:a16="http://schemas.microsoft.com/office/drawing/2014/main" val="2844738517"/>
                    </a:ext>
                  </a:extLst>
                </a:gridCol>
                <a:gridCol w="521865">
                  <a:extLst>
                    <a:ext uri="{9D8B030D-6E8A-4147-A177-3AD203B41FA5}">
                      <a16:colId xmlns:a16="http://schemas.microsoft.com/office/drawing/2014/main" val="3566160196"/>
                    </a:ext>
                  </a:extLst>
                </a:gridCol>
                <a:gridCol w="521865">
                  <a:extLst>
                    <a:ext uri="{9D8B030D-6E8A-4147-A177-3AD203B41FA5}">
                      <a16:colId xmlns:a16="http://schemas.microsoft.com/office/drawing/2014/main" val="388562243"/>
                    </a:ext>
                  </a:extLst>
                </a:gridCol>
                <a:gridCol w="521865">
                  <a:extLst>
                    <a:ext uri="{9D8B030D-6E8A-4147-A177-3AD203B41FA5}">
                      <a16:colId xmlns:a16="http://schemas.microsoft.com/office/drawing/2014/main" val="4195765789"/>
                    </a:ext>
                  </a:extLst>
                </a:gridCol>
                <a:gridCol w="521865">
                  <a:extLst>
                    <a:ext uri="{9D8B030D-6E8A-4147-A177-3AD203B41FA5}">
                      <a16:colId xmlns:a16="http://schemas.microsoft.com/office/drawing/2014/main" val="2304843134"/>
                    </a:ext>
                  </a:extLst>
                </a:gridCol>
              </a:tblGrid>
              <a:tr h="150491">
                <a:tc>
                  <a:txBody>
                    <a:bodyPr/>
                    <a:lstStyle/>
                    <a:p>
                      <a:pPr algn="ctr" rtl="0" fontAlgn="ctr"/>
                      <a:r>
                        <a:rPr lang="en-US" sz="1100" b="1" u="none" strike="noStrike" dirty="0">
                          <a:effectLst/>
                          <a:latin typeface="Tw Cen MT" panose="020B0602020104020603" pitchFamily="34" charset="0"/>
                        </a:rPr>
                        <a:t>Count</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0" i="0" u="none" strike="noStrike" dirty="0">
                          <a:solidFill>
                            <a:srgbClr val="000000"/>
                          </a:solidFill>
                          <a:effectLst/>
                          <a:latin typeface="Tw Cen MT" panose="020B0602020104020603" pitchFamily="34" charset="0"/>
                        </a:rPr>
                        <a:t>1</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32.5</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120</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183.5</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128</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32</a:t>
                      </a:r>
                    </a:p>
                  </a:txBody>
                  <a:tcPr marL="9525" marR="9525" marT="9525" marB="0" anchor="ctr"/>
                </a:tc>
                <a:tc>
                  <a:txBody>
                    <a:bodyPr/>
                    <a:lstStyle/>
                    <a:p>
                      <a:pPr algn="ctr" rtl="0" fontAlgn="ctr"/>
                      <a:r>
                        <a:rPr lang="en-US" sz="1200" b="0" i="0" u="none" strike="noStrike" dirty="0">
                          <a:solidFill>
                            <a:srgbClr val="000000"/>
                          </a:solidFill>
                          <a:effectLst/>
                          <a:latin typeface="Tw Cen MT" panose="020B0602020104020603" pitchFamily="34" charset="0"/>
                        </a:rPr>
                        <a:t>3</a:t>
                      </a:r>
                    </a:p>
                  </a:txBody>
                  <a:tcPr marL="9525" marR="9525" marT="9525" marB="0" anchor="ctr"/>
                </a:tc>
                <a:tc>
                  <a:txBody>
                    <a:bodyPr/>
                    <a:lstStyle/>
                    <a:p>
                      <a:pPr algn="ctr" rtl="0" fontAlgn="ctr"/>
                      <a:r>
                        <a:rPr lang="en-US" sz="1200" b="0" i="0" u="none" strike="noStrike" dirty="0">
                          <a:solidFill>
                            <a:srgbClr val="000000"/>
                          </a:solidFill>
                          <a:effectLst/>
                          <a:latin typeface="Tw Cen MT" panose="020B0602020104020603" pitchFamily="34" charset="0"/>
                        </a:rPr>
                        <a:t>0</a:t>
                      </a:r>
                    </a:p>
                  </a:txBody>
                  <a:tcPr marL="9525" marR="9525" marT="9525" marB="0" anchor="ctr"/>
                </a:tc>
                <a:extLst>
                  <a:ext uri="{0D108BD9-81ED-4DB2-BD59-A6C34878D82A}">
                    <a16:rowId xmlns:a16="http://schemas.microsoft.com/office/drawing/2014/main" val="2968073239"/>
                  </a:ext>
                </a:extLst>
              </a:tr>
            </a:tbl>
          </a:graphicData>
        </a:graphic>
      </p:graphicFrame>
      <p:graphicFrame>
        <p:nvGraphicFramePr>
          <p:cNvPr id="89" name="Chart 88"/>
          <p:cNvGraphicFramePr>
            <a:graphicFrameLocks/>
          </p:cNvGraphicFramePr>
          <p:nvPr>
            <p:extLst>
              <p:ext uri="{D42A27DB-BD31-4B8C-83A1-F6EECF244321}">
                <p14:modId xmlns:p14="http://schemas.microsoft.com/office/powerpoint/2010/main" val="3732119869"/>
              </p:ext>
            </p:extLst>
          </p:nvPr>
        </p:nvGraphicFramePr>
        <p:xfrm>
          <a:off x="1262136" y="4359558"/>
          <a:ext cx="2270395" cy="16296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0" name="Chart 89"/>
          <p:cNvGraphicFramePr>
            <a:graphicFrameLocks/>
          </p:cNvGraphicFramePr>
          <p:nvPr>
            <p:extLst>
              <p:ext uri="{D42A27DB-BD31-4B8C-83A1-F6EECF244321}">
                <p14:modId xmlns:p14="http://schemas.microsoft.com/office/powerpoint/2010/main" val="2772755937"/>
              </p:ext>
            </p:extLst>
          </p:nvPr>
        </p:nvGraphicFramePr>
        <p:xfrm>
          <a:off x="4968741" y="4354308"/>
          <a:ext cx="2267712" cy="16276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1" name="Table 90"/>
          <p:cNvGraphicFramePr>
            <a:graphicFrameLocks noGrp="1"/>
          </p:cNvGraphicFramePr>
          <p:nvPr>
            <p:extLst>
              <p:ext uri="{D42A27DB-BD31-4B8C-83A1-F6EECF244321}">
                <p14:modId xmlns:p14="http://schemas.microsoft.com/office/powerpoint/2010/main" val="2058306537"/>
              </p:ext>
            </p:extLst>
          </p:nvPr>
        </p:nvGraphicFramePr>
        <p:xfrm>
          <a:off x="1239706" y="2780817"/>
          <a:ext cx="5053256" cy="192405"/>
        </p:xfrm>
        <a:graphic>
          <a:graphicData uri="http://schemas.openxmlformats.org/drawingml/2006/table">
            <a:tbl>
              <a:tblPr>
                <a:tableStyleId>{073A0DAA-6AF3-43AB-8588-CEC1D06C72B9}</a:tableStyleId>
              </a:tblPr>
              <a:tblGrid>
                <a:gridCol w="866272">
                  <a:extLst>
                    <a:ext uri="{9D8B030D-6E8A-4147-A177-3AD203B41FA5}">
                      <a16:colId xmlns:a16="http://schemas.microsoft.com/office/drawing/2014/main" val="2010160915"/>
                    </a:ext>
                  </a:extLst>
                </a:gridCol>
                <a:gridCol w="523373">
                  <a:extLst>
                    <a:ext uri="{9D8B030D-6E8A-4147-A177-3AD203B41FA5}">
                      <a16:colId xmlns:a16="http://schemas.microsoft.com/office/drawing/2014/main" val="2336420741"/>
                    </a:ext>
                  </a:extLst>
                </a:gridCol>
                <a:gridCol w="523373">
                  <a:extLst>
                    <a:ext uri="{9D8B030D-6E8A-4147-A177-3AD203B41FA5}">
                      <a16:colId xmlns:a16="http://schemas.microsoft.com/office/drawing/2014/main" val="3461314546"/>
                    </a:ext>
                  </a:extLst>
                </a:gridCol>
                <a:gridCol w="523373">
                  <a:extLst>
                    <a:ext uri="{9D8B030D-6E8A-4147-A177-3AD203B41FA5}">
                      <a16:colId xmlns:a16="http://schemas.microsoft.com/office/drawing/2014/main" val="2239297547"/>
                    </a:ext>
                  </a:extLst>
                </a:gridCol>
                <a:gridCol w="523373">
                  <a:extLst>
                    <a:ext uri="{9D8B030D-6E8A-4147-A177-3AD203B41FA5}">
                      <a16:colId xmlns:a16="http://schemas.microsoft.com/office/drawing/2014/main" val="2844738517"/>
                    </a:ext>
                  </a:extLst>
                </a:gridCol>
                <a:gridCol w="523373">
                  <a:extLst>
                    <a:ext uri="{9D8B030D-6E8A-4147-A177-3AD203B41FA5}">
                      <a16:colId xmlns:a16="http://schemas.microsoft.com/office/drawing/2014/main" val="3566160196"/>
                    </a:ext>
                  </a:extLst>
                </a:gridCol>
                <a:gridCol w="523373">
                  <a:extLst>
                    <a:ext uri="{9D8B030D-6E8A-4147-A177-3AD203B41FA5}">
                      <a16:colId xmlns:a16="http://schemas.microsoft.com/office/drawing/2014/main" val="388562243"/>
                    </a:ext>
                  </a:extLst>
                </a:gridCol>
                <a:gridCol w="523373">
                  <a:extLst>
                    <a:ext uri="{9D8B030D-6E8A-4147-A177-3AD203B41FA5}">
                      <a16:colId xmlns:a16="http://schemas.microsoft.com/office/drawing/2014/main" val="4195765789"/>
                    </a:ext>
                  </a:extLst>
                </a:gridCol>
                <a:gridCol w="523373">
                  <a:extLst>
                    <a:ext uri="{9D8B030D-6E8A-4147-A177-3AD203B41FA5}">
                      <a16:colId xmlns:a16="http://schemas.microsoft.com/office/drawing/2014/main" val="2304843134"/>
                    </a:ext>
                  </a:extLst>
                </a:gridCol>
              </a:tblGrid>
              <a:tr h="150491">
                <a:tc>
                  <a:txBody>
                    <a:bodyPr/>
                    <a:lstStyle/>
                    <a:p>
                      <a:pPr algn="ctr" rtl="0" fontAlgn="ctr"/>
                      <a:r>
                        <a:rPr lang="en-US" sz="1100" b="1" u="none" strike="noStrike" dirty="0">
                          <a:effectLst/>
                          <a:latin typeface="Tw Cen MT" panose="020B0602020104020603" pitchFamily="34" charset="0"/>
                        </a:rPr>
                        <a:t>Count</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200" b="0" i="0" u="none" strike="noStrike" dirty="0">
                          <a:solidFill>
                            <a:srgbClr val="000000"/>
                          </a:solidFill>
                          <a:effectLst/>
                          <a:latin typeface="Tw Cen MT" panose="020B0602020104020603" pitchFamily="34" charset="0"/>
                        </a:rPr>
                        <a:t>0</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32.5</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120</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183.5</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128</a:t>
                      </a:r>
                    </a:p>
                  </a:txBody>
                  <a:tcPr marL="9525" marR="9525" marT="9525" marB="0" anchor="ctr"/>
                </a:tc>
                <a:tc>
                  <a:txBody>
                    <a:bodyPr/>
                    <a:lstStyle/>
                    <a:p>
                      <a:pPr algn="ctr" rtl="0" fontAlgn="ctr"/>
                      <a:r>
                        <a:rPr lang="en-US" sz="1200" b="0" i="0" u="none" strike="noStrike">
                          <a:solidFill>
                            <a:srgbClr val="000000"/>
                          </a:solidFill>
                          <a:effectLst/>
                          <a:latin typeface="Tw Cen MT" panose="020B0602020104020603" pitchFamily="34" charset="0"/>
                        </a:rPr>
                        <a:t>32</a:t>
                      </a:r>
                    </a:p>
                  </a:txBody>
                  <a:tcPr marL="9525" marR="9525" marT="9525" marB="0" anchor="ctr"/>
                </a:tc>
                <a:tc>
                  <a:txBody>
                    <a:bodyPr/>
                    <a:lstStyle/>
                    <a:p>
                      <a:pPr algn="ctr" rtl="0" fontAlgn="ctr"/>
                      <a:r>
                        <a:rPr lang="en-US" sz="1200" b="0" i="0" u="none" strike="noStrike" dirty="0">
                          <a:solidFill>
                            <a:srgbClr val="000000"/>
                          </a:solidFill>
                          <a:effectLst/>
                          <a:latin typeface="Tw Cen MT" panose="020B0602020104020603" pitchFamily="34" charset="0"/>
                        </a:rPr>
                        <a:t>3</a:t>
                      </a:r>
                    </a:p>
                  </a:txBody>
                  <a:tcPr marL="9525" marR="9525" marT="9525" marB="0" anchor="ctr"/>
                </a:tc>
                <a:extLst>
                  <a:ext uri="{0D108BD9-81ED-4DB2-BD59-A6C34878D82A}">
                    <a16:rowId xmlns:a16="http://schemas.microsoft.com/office/drawing/2014/main" val="2968073239"/>
                  </a:ext>
                </a:extLst>
              </a:tr>
            </a:tbl>
          </a:graphicData>
        </a:graphic>
      </p:graphicFrame>
      <p:graphicFrame>
        <p:nvGraphicFramePr>
          <p:cNvPr id="92" name="Table 91"/>
          <p:cNvGraphicFramePr>
            <a:graphicFrameLocks noGrp="1"/>
          </p:cNvGraphicFramePr>
          <p:nvPr>
            <p:extLst>
              <p:ext uri="{D42A27DB-BD31-4B8C-83A1-F6EECF244321}">
                <p14:modId xmlns:p14="http://schemas.microsoft.com/office/powerpoint/2010/main" val="472161906"/>
              </p:ext>
            </p:extLst>
          </p:nvPr>
        </p:nvGraphicFramePr>
        <p:xfrm>
          <a:off x="8243696" y="4364088"/>
          <a:ext cx="3128328" cy="323850"/>
        </p:xfrm>
        <a:graphic>
          <a:graphicData uri="http://schemas.openxmlformats.org/drawingml/2006/table">
            <a:tbl>
              <a:tblPr>
                <a:tableStyleId>{073A0DAA-6AF3-43AB-8588-CEC1D06C72B9}</a:tableStyleId>
              </a:tblPr>
              <a:tblGrid>
                <a:gridCol w="347592">
                  <a:extLst>
                    <a:ext uri="{9D8B030D-6E8A-4147-A177-3AD203B41FA5}">
                      <a16:colId xmlns:a16="http://schemas.microsoft.com/office/drawing/2014/main" val="1983892251"/>
                    </a:ext>
                  </a:extLst>
                </a:gridCol>
                <a:gridCol w="347592">
                  <a:extLst>
                    <a:ext uri="{9D8B030D-6E8A-4147-A177-3AD203B41FA5}">
                      <a16:colId xmlns:a16="http://schemas.microsoft.com/office/drawing/2014/main" val="4237644287"/>
                    </a:ext>
                  </a:extLst>
                </a:gridCol>
                <a:gridCol w="347592">
                  <a:extLst>
                    <a:ext uri="{9D8B030D-6E8A-4147-A177-3AD203B41FA5}">
                      <a16:colId xmlns:a16="http://schemas.microsoft.com/office/drawing/2014/main" val="745822834"/>
                    </a:ext>
                  </a:extLst>
                </a:gridCol>
                <a:gridCol w="347592">
                  <a:extLst>
                    <a:ext uri="{9D8B030D-6E8A-4147-A177-3AD203B41FA5}">
                      <a16:colId xmlns:a16="http://schemas.microsoft.com/office/drawing/2014/main" val="1285581377"/>
                    </a:ext>
                  </a:extLst>
                </a:gridCol>
                <a:gridCol w="347592">
                  <a:extLst>
                    <a:ext uri="{9D8B030D-6E8A-4147-A177-3AD203B41FA5}">
                      <a16:colId xmlns:a16="http://schemas.microsoft.com/office/drawing/2014/main" val="2786616938"/>
                    </a:ext>
                  </a:extLst>
                </a:gridCol>
                <a:gridCol w="347592">
                  <a:extLst>
                    <a:ext uri="{9D8B030D-6E8A-4147-A177-3AD203B41FA5}">
                      <a16:colId xmlns:a16="http://schemas.microsoft.com/office/drawing/2014/main" val="1230911484"/>
                    </a:ext>
                  </a:extLst>
                </a:gridCol>
                <a:gridCol w="347592">
                  <a:extLst>
                    <a:ext uri="{9D8B030D-6E8A-4147-A177-3AD203B41FA5}">
                      <a16:colId xmlns:a16="http://schemas.microsoft.com/office/drawing/2014/main" val="2076407405"/>
                    </a:ext>
                  </a:extLst>
                </a:gridCol>
                <a:gridCol w="347592">
                  <a:extLst>
                    <a:ext uri="{9D8B030D-6E8A-4147-A177-3AD203B41FA5}">
                      <a16:colId xmlns:a16="http://schemas.microsoft.com/office/drawing/2014/main" val="1276545029"/>
                    </a:ext>
                  </a:extLst>
                </a:gridCol>
                <a:gridCol w="347592">
                  <a:extLst>
                    <a:ext uri="{9D8B030D-6E8A-4147-A177-3AD203B41FA5}">
                      <a16:colId xmlns:a16="http://schemas.microsoft.com/office/drawing/2014/main" val="677363014"/>
                    </a:ext>
                  </a:extLst>
                </a:gridCol>
              </a:tblGrid>
              <a:tr h="150267">
                <a:tc>
                  <a:txBody>
                    <a:bodyPr/>
                    <a:lstStyle/>
                    <a:p>
                      <a:pPr algn="ctr" rtl="0" fontAlgn="ctr"/>
                      <a:r>
                        <a:rPr lang="en-US" sz="1000" b="1" u="none" strike="noStrike" dirty="0">
                          <a:effectLst/>
                          <a:latin typeface="Tw Cen MT" panose="020B0602020104020603" pitchFamily="34" charset="0"/>
                        </a:rPr>
                        <a:t>1</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2</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3</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4</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5</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6</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7</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8</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9</a:t>
                      </a:r>
                      <a:endParaRPr lang="en-US" sz="10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3326917372"/>
                  </a:ext>
                </a:extLst>
              </a:tr>
              <a:tr h="130773">
                <a:tc>
                  <a:txBody>
                    <a:bodyPr/>
                    <a:lstStyle/>
                    <a:p>
                      <a:pPr algn="ctr" rtl="0" fontAlgn="ctr"/>
                      <a:r>
                        <a:rPr lang="en-US" sz="1000" u="none" strike="noStrike" dirty="0">
                          <a:effectLst/>
                          <a:latin typeface="Tw Cen MT" panose="020B0602020104020603" pitchFamily="34" charset="0"/>
                        </a:rPr>
                        <a:t>0</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2</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65</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240</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367</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256</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64</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6</a:t>
                      </a:r>
                      <a:endParaRPr lang="en-US" sz="10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u="none" strike="noStrike" dirty="0">
                          <a:effectLst/>
                          <a:latin typeface="Tw Cen MT" panose="020B0602020104020603" pitchFamily="34" charset="0"/>
                        </a:rPr>
                        <a:t>0</a:t>
                      </a:r>
                      <a:endParaRPr lang="en-US" sz="10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3586728531"/>
                  </a:ext>
                </a:extLst>
              </a:tr>
            </a:tbl>
          </a:graphicData>
        </a:graphic>
      </p:graphicFrame>
      <p:graphicFrame>
        <p:nvGraphicFramePr>
          <p:cNvPr id="93" name="Table 92"/>
          <p:cNvGraphicFramePr>
            <a:graphicFrameLocks noGrp="1"/>
          </p:cNvGraphicFramePr>
          <p:nvPr>
            <p:extLst>
              <p:ext uri="{D42A27DB-BD31-4B8C-83A1-F6EECF244321}">
                <p14:modId xmlns:p14="http://schemas.microsoft.com/office/powerpoint/2010/main" val="292955492"/>
              </p:ext>
            </p:extLst>
          </p:nvPr>
        </p:nvGraphicFramePr>
        <p:xfrm>
          <a:off x="8237799" y="4824919"/>
          <a:ext cx="2786792" cy="323850"/>
        </p:xfrm>
        <a:graphic>
          <a:graphicData uri="http://schemas.openxmlformats.org/drawingml/2006/table">
            <a:tbl>
              <a:tblPr>
                <a:tableStyleId>{073A0DAA-6AF3-43AB-8588-CEC1D06C72B9}</a:tableStyleId>
              </a:tblPr>
              <a:tblGrid>
                <a:gridCol w="348349">
                  <a:extLst>
                    <a:ext uri="{9D8B030D-6E8A-4147-A177-3AD203B41FA5}">
                      <a16:colId xmlns:a16="http://schemas.microsoft.com/office/drawing/2014/main" val="2575273171"/>
                    </a:ext>
                  </a:extLst>
                </a:gridCol>
                <a:gridCol w="348349">
                  <a:extLst>
                    <a:ext uri="{9D8B030D-6E8A-4147-A177-3AD203B41FA5}">
                      <a16:colId xmlns:a16="http://schemas.microsoft.com/office/drawing/2014/main" val="1162623155"/>
                    </a:ext>
                  </a:extLst>
                </a:gridCol>
                <a:gridCol w="348349">
                  <a:extLst>
                    <a:ext uri="{9D8B030D-6E8A-4147-A177-3AD203B41FA5}">
                      <a16:colId xmlns:a16="http://schemas.microsoft.com/office/drawing/2014/main" val="820654708"/>
                    </a:ext>
                  </a:extLst>
                </a:gridCol>
                <a:gridCol w="348349">
                  <a:extLst>
                    <a:ext uri="{9D8B030D-6E8A-4147-A177-3AD203B41FA5}">
                      <a16:colId xmlns:a16="http://schemas.microsoft.com/office/drawing/2014/main" val="3311832525"/>
                    </a:ext>
                  </a:extLst>
                </a:gridCol>
                <a:gridCol w="348349">
                  <a:extLst>
                    <a:ext uri="{9D8B030D-6E8A-4147-A177-3AD203B41FA5}">
                      <a16:colId xmlns:a16="http://schemas.microsoft.com/office/drawing/2014/main" val="4097699464"/>
                    </a:ext>
                  </a:extLst>
                </a:gridCol>
                <a:gridCol w="348349">
                  <a:extLst>
                    <a:ext uri="{9D8B030D-6E8A-4147-A177-3AD203B41FA5}">
                      <a16:colId xmlns:a16="http://schemas.microsoft.com/office/drawing/2014/main" val="2044924465"/>
                    </a:ext>
                  </a:extLst>
                </a:gridCol>
                <a:gridCol w="348349">
                  <a:extLst>
                    <a:ext uri="{9D8B030D-6E8A-4147-A177-3AD203B41FA5}">
                      <a16:colId xmlns:a16="http://schemas.microsoft.com/office/drawing/2014/main" val="363942096"/>
                    </a:ext>
                  </a:extLst>
                </a:gridCol>
                <a:gridCol w="348349">
                  <a:extLst>
                    <a:ext uri="{9D8B030D-6E8A-4147-A177-3AD203B41FA5}">
                      <a16:colId xmlns:a16="http://schemas.microsoft.com/office/drawing/2014/main" val="2331565615"/>
                    </a:ext>
                  </a:extLst>
                </a:gridCol>
              </a:tblGrid>
              <a:tr h="157596">
                <a:tc>
                  <a:txBody>
                    <a:bodyPr/>
                    <a:lstStyle/>
                    <a:p>
                      <a:pPr algn="ctr" rtl="0" fontAlgn="ctr"/>
                      <a:r>
                        <a:rPr lang="en-US" sz="1000" b="1" u="none" strike="noStrike" dirty="0">
                          <a:effectLst/>
                          <a:latin typeface="Tw Cen MT" panose="020B0602020104020603" pitchFamily="34" charset="0"/>
                        </a:rPr>
                        <a:t>1</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2</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3</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4</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5</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6</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7</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8</a:t>
                      </a:r>
                      <a:endParaRPr lang="en-US" sz="10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955926922"/>
                  </a:ext>
                </a:extLst>
              </a:tr>
              <a:tr h="131700">
                <a:tc>
                  <a:txBody>
                    <a:bodyPr/>
                    <a:lstStyle/>
                    <a:p>
                      <a:pPr algn="ctr" rtl="0" fontAlgn="ctr"/>
                      <a:r>
                        <a:rPr lang="en-US" sz="1000" b="0" i="0" u="none" strike="noStrike" dirty="0">
                          <a:solidFill>
                            <a:srgbClr val="000000"/>
                          </a:solidFill>
                          <a:effectLst/>
                          <a:latin typeface="Tw Cen MT" panose="020B0602020104020603" pitchFamily="34" charset="0"/>
                        </a:rPr>
                        <a:t>1</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32.5</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120</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183.5</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128</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32</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a:t>
                      </a:r>
                    </a:p>
                  </a:txBody>
                  <a:tcPr marL="9525" marR="9525" marT="9525" marB="0" anchor="ctr"/>
                </a:tc>
                <a:extLst>
                  <a:ext uri="{0D108BD9-81ED-4DB2-BD59-A6C34878D82A}">
                    <a16:rowId xmlns:a16="http://schemas.microsoft.com/office/drawing/2014/main" val="2236354299"/>
                  </a:ext>
                </a:extLst>
              </a:tr>
            </a:tbl>
          </a:graphicData>
        </a:graphic>
      </p:graphicFrame>
      <p:graphicFrame>
        <p:nvGraphicFramePr>
          <p:cNvPr id="94" name="Table 93"/>
          <p:cNvGraphicFramePr>
            <a:graphicFrameLocks noGrp="1"/>
          </p:cNvGraphicFramePr>
          <p:nvPr>
            <p:extLst>
              <p:ext uri="{D42A27DB-BD31-4B8C-83A1-F6EECF244321}">
                <p14:modId xmlns:p14="http://schemas.microsoft.com/office/powerpoint/2010/main" val="13332627"/>
              </p:ext>
            </p:extLst>
          </p:nvPr>
        </p:nvGraphicFramePr>
        <p:xfrm>
          <a:off x="8585229" y="5316746"/>
          <a:ext cx="2792160" cy="348811"/>
        </p:xfrm>
        <a:graphic>
          <a:graphicData uri="http://schemas.openxmlformats.org/drawingml/2006/table">
            <a:tbl>
              <a:tblPr>
                <a:tableStyleId>{073A0DAA-6AF3-43AB-8588-CEC1D06C72B9}</a:tableStyleId>
              </a:tblPr>
              <a:tblGrid>
                <a:gridCol w="349020">
                  <a:extLst>
                    <a:ext uri="{9D8B030D-6E8A-4147-A177-3AD203B41FA5}">
                      <a16:colId xmlns:a16="http://schemas.microsoft.com/office/drawing/2014/main" val="3034521284"/>
                    </a:ext>
                  </a:extLst>
                </a:gridCol>
                <a:gridCol w="349020">
                  <a:extLst>
                    <a:ext uri="{9D8B030D-6E8A-4147-A177-3AD203B41FA5}">
                      <a16:colId xmlns:a16="http://schemas.microsoft.com/office/drawing/2014/main" val="3335876204"/>
                    </a:ext>
                  </a:extLst>
                </a:gridCol>
                <a:gridCol w="349020">
                  <a:extLst>
                    <a:ext uri="{9D8B030D-6E8A-4147-A177-3AD203B41FA5}">
                      <a16:colId xmlns:a16="http://schemas.microsoft.com/office/drawing/2014/main" val="1369647398"/>
                    </a:ext>
                  </a:extLst>
                </a:gridCol>
                <a:gridCol w="349020">
                  <a:extLst>
                    <a:ext uri="{9D8B030D-6E8A-4147-A177-3AD203B41FA5}">
                      <a16:colId xmlns:a16="http://schemas.microsoft.com/office/drawing/2014/main" val="2862739084"/>
                    </a:ext>
                  </a:extLst>
                </a:gridCol>
                <a:gridCol w="349020">
                  <a:extLst>
                    <a:ext uri="{9D8B030D-6E8A-4147-A177-3AD203B41FA5}">
                      <a16:colId xmlns:a16="http://schemas.microsoft.com/office/drawing/2014/main" val="278785192"/>
                    </a:ext>
                  </a:extLst>
                </a:gridCol>
                <a:gridCol w="349020">
                  <a:extLst>
                    <a:ext uri="{9D8B030D-6E8A-4147-A177-3AD203B41FA5}">
                      <a16:colId xmlns:a16="http://schemas.microsoft.com/office/drawing/2014/main" val="3716979558"/>
                    </a:ext>
                  </a:extLst>
                </a:gridCol>
                <a:gridCol w="349020">
                  <a:extLst>
                    <a:ext uri="{9D8B030D-6E8A-4147-A177-3AD203B41FA5}">
                      <a16:colId xmlns:a16="http://schemas.microsoft.com/office/drawing/2014/main" val="4058877005"/>
                    </a:ext>
                  </a:extLst>
                </a:gridCol>
                <a:gridCol w="349020">
                  <a:extLst>
                    <a:ext uri="{9D8B030D-6E8A-4147-A177-3AD203B41FA5}">
                      <a16:colId xmlns:a16="http://schemas.microsoft.com/office/drawing/2014/main" val="2312509406"/>
                    </a:ext>
                  </a:extLst>
                </a:gridCol>
              </a:tblGrid>
              <a:tr h="185558">
                <a:tc>
                  <a:txBody>
                    <a:bodyPr/>
                    <a:lstStyle/>
                    <a:p>
                      <a:pPr algn="ctr" rtl="0" fontAlgn="ctr"/>
                      <a:r>
                        <a:rPr lang="en-US" sz="1000" b="1" u="none" strike="noStrike" dirty="0">
                          <a:effectLst/>
                          <a:latin typeface="Tw Cen MT" panose="020B0602020104020603" pitchFamily="34" charset="0"/>
                        </a:rPr>
                        <a:t>1</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2</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3</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4</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5</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6</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7</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8</a:t>
                      </a:r>
                      <a:endParaRPr lang="en-US" sz="10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774936006"/>
                  </a:ext>
                </a:extLst>
              </a:tr>
              <a:tr h="163253">
                <a:tc>
                  <a:txBody>
                    <a:bodyPr/>
                    <a:lstStyle/>
                    <a:p>
                      <a:pPr algn="ctr" rtl="0" fontAlgn="ctr"/>
                      <a:r>
                        <a:rPr lang="en-US" sz="1000" b="0" i="0" u="none" strike="noStrike">
                          <a:solidFill>
                            <a:srgbClr val="000000"/>
                          </a:solidFill>
                          <a:effectLst/>
                          <a:latin typeface="Tw Cen MT" panose="020B0602020104020603" pitchFamily="34" charset="0"/>
                        </a:rPr>
                        <a:t>0</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1</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32.5</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120</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183.5</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128</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32</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a:t>
                      </a:r>
                    </a:p>
                  </a:txBody>
                  <a:tcPr marL="9525" marR="9525" marT="9525" marB="0" anchor="ctr"/>
                </a:tc>
                <a:extLst>
                  <a:ext uri="{0D108BD9-81ED-4DB2-BD59-A6C34878D82A}">
                    <a16:rowId xmlns:a16="http://schemas.microsoft.com/office/drawing/2014/main" val="1587576048"/>
                  </a:ext>
                </a:extLst>
              </a:tr>
            </a:tbl>
          </a:graphicData>
        </a:graphic>
      </p:graphicFrame>
      <p:graphicFrame>
        <p:nvGraphicFramePr>
          <p:cNvPr id="95" name="Table 94"/>
          <p:cNvGraphicFramePr>
            <a:graphicFrameLocks noGrp="1"/>
          </p:cNvGraphicFramePr>
          <p:nvPr>
            <p:extLst>
              <p:ext uri="{D42A27DB-BD31-4B8C-83A1-F6EECF244321}">
                <p14:modId xmlns:p14="http://schemas.microsoft.com/office/powerpoint/2010/main" val="1560479225"/>
              </p:ext>
            </p:extLst>
          </p:nvPr>
        </p:nvGraphicFramePr>
        <p:xfrm>
          <a:off x="8243693" y="5811824"/>
          <a:ext cx="3140055" cy="361382"/>
        </p:xfrm>
        <a:graphic>
          <a:graphicData uri="http://schemas.openxmlformats.org/drawingml/2006/table">
            <a:tbl>
              <a:tblPr>
                <a:tableStyleId>{073A0DAA-6AF3-43AB-8588-CEC1D06C72B9}</a:tableStyleId>
              </a:tblPr>
              <a:tblGrid>
                <a:gridCol w="348895">
                  <a:extLst>
                    <a:ext uri="{9D8B030D-6E8A-4147-A177-3AD203B41FA5}">
                      <a16:colId xmlns:a16="http://schemas.microsoft.com/office/drawing/2014/main" val="81173760"/>
                    </a:ext>
                  </a:extLst>
                </a:gridCol>
                <a:gridCol w="348895">
                  <a:extLst>
                    <a:ext uri="{9D8B030D-6E8A-4147-A177-3AD203B41FA5}">
                      <a16:colId xmlns:a16="http://schemas.microsoft.com/office/drawing/2014/main" val="3975788157"/>
                    </a:ext>
                  </a:extLst>
                </a:gridCol>
                <a:gridCol w="348895">
                  <a:extLst>
                    <a:ext uri="{9D8B030D-6E8A-4147-A177-3AD203B41FA5}">
                      <a16:colId xmlns:a16="http://schemas.microsoft.com/office/drawing/2014/main" val="3213628059"/>
                    </a:ext>
                  </a:extLst>
                </a:gridCol>
                <a:gridCol w="348895">
                  <a:extLst>
                    <a:ext uri="{9D8B030D-6E8A-4147-A177-3AD203B41FA5}">
                      <a16:colId xmlns:a16="http://schemas.microsoft.com/office/drawing/2014/main" val="1954314805"/>
                    </a:ext>
                  </a:extLst>
                </a:gridCol>
                <a:gridCol w="348895">
                  <a:extLst>
                    <a:ext uri="{9D8B030D-6E8A-4147-A177-3AD203B41FA5}">
                      <a16:colId xmlns:a16="http://schemas.microsoft.com/office/drawing/2014/main" val="2810310177"/>
                    </a:ext>
                  </a:extLst>
                </a:gridCol>
                <a:gridCol w="348895">
                  <a:extLst>
                    <a:ext uri="{9D8B030D-6E8A-4147-A177-3AD203B41FA5}">
                      <a16:colId xmlns:a16="http://schemas.microsoft.com/office/drawing/2014/main" val="3940813787"/>
                    </a:ext>
                  </a:extLst>
                </a:gridCol>
                <a:gridCol w="348895">
                  <a:extLst>
                    <a:ext uri="{9D8B030D-6E8A-4147-A177-3AD203B41FA5}">
                      <a16:colId xmlns:a16="http://schemas.microsoft.com/office/drawing/2014/main" val="3836844534"/>
                    </a:ext>
                  </a:extLst>
                </a:gridCol>
                <a:gridCol w="348895">
                  <a:extLst>
                    <a:ext uri="{9D8B030D-6E8A-4147-A177-3AD203B41FA5}">
                      <a16:colId xmlns:a16="http://schemas.microsoft.com/office/drawing/2014/main" val="1341483332"/>
                    </a:ext>
                  </a:extLst>
                </a:gridCol>
                <a:gridCol w="348895">
                  <a:extLst>
                    <a:ext uri="{9D8B030D-6E8A-4147-A177-3AD203B41FA5}">
                      <a16:colId xmlns:a16="http://schemas.microsoft.com/office/drawing/2014/main" val="3948290062"/>
                    </a:ext>
                  </a:extLst>
                </a:gridCol>
              </a:tblGrid>
              <a:tr h="188254">
                <a:tc>
                  <a:txBody>
                    <a:bodyPr/>
                    <a:lstStyle/>
                    <a:p>
                      <a:pPr algn="ctr" rtl="0" fontAlgn="ctr"/>
                      <a:r>
                        <a:rPr lang="en-US" sz="1000" b="1" u="none" strike="noStrike" dirty="0">
                          <a:effectLst/>
                          <a:latin typeface="Tw Cen MT" panose="020B0602020104020603" pitchFamily="34" charset="0"/>
                        </a:rPr>
                        <a:t>1</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2</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3</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4</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5</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6</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7</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8</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9</a:t>
                      </a:r>
                      <a:endParaRPr lang="en-US" sz="10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271338744"/>
                  </a:ext>
                </a:extLst>
              </a:tr>
              <a:tr h="173128">
                <a:tc>
                  <a:txBody>
                    <a:bodyPr/>
                    <a:lstStyle/>
                    <a:p>
                      <a:pPr algn="ctr" rtl="0" fontAlgn="ctr"/>
                      <a:r>
                        <a:rPr lang="en-US" sz="1000" b="0" i="0" u="none" strike="noStrike">
                          <a:solidFill>
                            <a:srgbClr val="000000"/>
                          </a:solidFill>
                          <a:effectLst/>
                          <a:latin typeface="Tw Cen MT" panose="020B0602020104020603" pitchFamily="34" charset="0"/>
                        </a:rPr>
                        <a:t>1</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34.5</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186</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456</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615</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471.5</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195</a:t>
                      </a:r>
                    </a:p>
                  </a:txBody>
                  <a:tcPr marL="9525" marR="9525" marT="9525" marB="0" anchor="ctr"/>
                </a:tc>
                <a:tc>
                  <a:txBody>
                    <a:bodyPr/>
                    <a:lstStyle/>
                    <a:p>
                      <a:pPr algn="ctr" rtl="0" fontAlgn="ctr"/>
                      <a:r>
                        <a:rPr lang="en-US" sz="1000" b="0" i="0" u="none" strike="noStrike">
                          <a:solidFill>
                            <a:srgbClr val="000000"/>
                          </a:solidFill>
                          <a:effectLst/>
                          <a:latin typeface="Tw Cen MT" panose="020B0602020104020603" pitchFamily="34" charset="0"/>
                        </a:rPr>
                        <a:t>38</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a:t>
                      </a:r>
                    </a:p>
                  </a:txBody>
                  <a:tcPr marL="9525" marR="9525" marT="9525" marB="0" anchor="ctr"/>
                </a:tc>
                <a:extLst>
                  <a:ext uri="{0D108BD9-81ED-4DB2-BD59-A6C34878D82A}">
                    <a16:rowId xmlns:a16="http://schemas.microsoft.com/office/drawing/2014/main" val="1227935073"/>
                  </a:ext>
                </a:extLst>
              </a:tr>
            </a:tbl>
          </a:graphicData>
        </a:graphic>
      </p:graphicFrame>
      <p:sp>
        <p:nvSpPr>
          <p:cNvPr id="96" name="TextBox 95"/>
          <p:cNvSpPr txBox="1"/>
          <p:nvPr/>
        </p:nvSpPr>
        <p:spPr>
          <a:xfrm>
            <a:off x="276358" y="2770270"/>
            <a:ext cx="881882" cy="253916"/>
          </a:xfrm>
          <a:prstGeom prst="rect">
            <a:avLst/>
          </a:prstGeom>
          <a:noFill/>
        </p:spPr>
        <p:txBody>
          <a:bodyPr wrap="square" rtlCol="0">
            <a:spAutoFit/>
          </a:bodyPr>
          <a:lstStyle/>
          <a:p>
            <a:pPr algn="ctr"/>
            <a:r>
              <a:rPr lang="en-US" sz="1050" b="1" i="1" dirty="0" err="1">
                <a:solidFill>
                  <a:schemeClr val="tx1">
                    <a:lumMod val="50000"/>
                    <a:lumOff val="50000"/>
                  </a:schemeClr>
                </a:solidFill>
                <a:latin typeface="Lato" panose="020F0502020204030203" pitchFamily="34" charset="0"/>
              </a:rPr>
              <a:t>DownTemp</a:t>
            </a:r>
            <a:endParaRPr lang="en-US" sz="1050" b="1" i="1" dirty="0">
              <a:solidFill>
                <a:schemeClr val="tx1">
                  <a:lumMod val="50000"/>
                  <a:lumOff val="50000"/>
                </a:schemeClr>
              </a:solidFill>
              <a:latin typeface="Lato" panose="020F0502020204030203" pitchFamily="34" charset="0"/>
            </a:endParaRPr>
          </a:p>
        </p:txBody>
      </p:sp>
      <p:sp>
        <p:nvSpPr>
          <p:cNvPr id="97" name="TextBox 96"/>
          <p:cNvSpPr txBox="1"/>
          <p:nvPr/>
        </p:nvSpPr>
        <p:spPr>
          <a:xfrm>
            <a:off x="276358" y="2093394"/>
            <a:ext cx="828710" cy="253916"/>
          </a:xfrm>
          <a:prstGeom prst="rect">
            <a:avLst/>
          </a:prstGeom>
          <a:noFill/>
        </p:spPr>
        <p:txBody>
          <a:bodyPr wrap="square" rtlCol="0">
            <a:spAutoFit/>
          </a:bodyPr>
          <a:lstStyle/>
          <a:p>
            <a:pPr algn="ctr"/>
            <a:r>
              <a:rPr lang="en-US" sz="1050" b="1" i="1" dirty="0" err="1">
                <a:solidFill>
                  <a:schemeClr val="tx1">
                    <a:lumMod val="50000"/>
                    <a:lumOff val="50000"/>
                  </a:schemeClr>
                </a:solidFill>
                <a:latin typeface="Lato" panose="020F0502020204030203" pitchFamily="34" charset="0"/>
              </a:rPr>
              <a:t>UpTemp</a:t>
            </a:r>
            <a:endParaRPr lang="en-US" sz="1050" b="1" i="1" dirty="0">
              <a:solidFill>
                <a:schemeClr val="tx1">
                  <a:lumMod val="50000"/>
                  <a:lumOff val="50000"/>
                </a:schemeClr>
              </a:solidFill>
              <a:latin typeface="Lato" panose="020F0502020204030203" pitchFamily="34" charset="0"/>
            </a:endParaRPr>
          </a:p>
        </p:txBody>
      </p:sp>
      <p:sp>
        <p:nvSpPr>
          <p:cNvPr id="98" name="TextBox 97"/>
          <p:cNvSpPr txBox="1"/>
          <p:nvPr/>
        </p:nvSpPr>
        <p:spPr>
          <a:xfrm>
            <a:off x="9491313" y="4622298"/>
            <a:ext cx="382975" cy="261610"/>
          </a:xfrm>
          <a:prstGeom prst="rect">
            <a:avLst/>
          </a:prstGeom>
          <a:noFill/>
        </p:spPr>
        <p:txBody>
          <a:bodyPr wrap="square" rtlCol="0">
            <a:spAutoFit/>
          </a:bodyPr>
          <a:lstStyle/>
          <a:p>
            <a:pPr algn="ctr"/>
            <a:r>
              <a:rPr lang="en-US" sz="1050" b="1" dirty="0">
                <a:solidFill>
                  <a:schemeClr val="tx1">
                    <a:lumMod val="75000"/>
                    <a:lumOff val="25000"/>
                  </a:schemeClr>
                </a:solidFill>
                <a:latin typeface="Courier New" panose="02070309020205020404" pitchFamily="49" charset="0"/>
                <a:cs typeface="Courier New" panose="02070309020205020404" pitchFamily="49" charset="0"/>
              </a:rPr>
              <a:t>+</a:t>
            </a:r>
          </a:p>
        </p:txBody>
      </p:sp>
      <p:sp>
        <p:nvSpPr>
          <p:cNvPr id="99" name="TextBox 98"/>
          <p:cNvSpPr txBox="1"/>
          <p:nvPr/>
        </p:nvSpPr>
        <p:spPr>
          <a:xfrm>
            <a:off x="9491313" y="5109732"/>
            <a:ext cx="382975" cy="261610"/>
          </a:xfrm>
          <a:prstGeom prst="rect">
            <a:avLst/>
          </a:prstGeom>
          <a:noFill/>
        </p:spPr>
        <p:txBody>
          <a:bodyPr wrap="square" rtlCol="0">
            <a:spAutoFit/>
          </a:bodyPr>
          <a:lstStyle/>
          <a:p>
            <a:pPr algn="ctr"/>
            <a:r>
              <a:rPr lang="en-US" sz="1050" b="1" dirty="0">
                <a:solidFill>
                  <a:schemeClr val="tx1">
                    <a:lumMod val="75000"/>
                    <a:lumOff val="25000"/>
                  </a:schemeClr>
                </a:solidFill>
                <a:latin typeface="Courier New" panose="02070309020205020404" pitchFamily="49" charset="0"/>
                <a:cs typeface="Courier New" panose="02070309020205020404" pitchFamily="49" charset="0"/>
              </a:rPr>
              <a:t>+</a:t>
            </a:r>
          </a:p>
        </p:txBody>
      </p:sp>
      <p:sp>
        <p:nvSpPr>
          <p:cNvPr id="100" name="TextBox 99"/>
          <p:cNvSpPr txBox="1"/>
          <p:nvPr/>
        </p:nvSpPr>
        <p:spPr>
          <a:xfrm>
            <a:off x="9491312" y="5607903"/>
            <a:ext cx="382975" cy="261610"/>
          </a:xfrm>
          <a:prstGeom prst="rect">
            <a:avLst/>
          </a:prstGeom>
          <a:noFill/>
        </p:spPr>
        <p:txBody>
          <a:bodyPr wrap="square" rtlCol="0">
            <a:spAutoFit/>
          </a:bodyPr>
          <a:lstStyle/>
          <a:p>
            <a:pPr algn="ctr"/>
            <a:r>
              <a:rPr lang="en-US" sz="1050" b="1" dirty="0">
                <a:solidFill>
                  <a:schemeClr val="tx1">
                    <a:lumMod val="75000"/>
                    <a:lumOff val="25000"/>
                  </a:schemeClr>
                </a:solidFill>
                <a:latin typeface="Courier New" panose="02070309020205020404" pitchFamily="49" charset="0"/>
                <a:cs typeface="Courier New" panose="02070309020205020404" pitchFamily="49" charset="0"/>
              </a:rPr>
              <a:t>=</a:t>
            </a:r>
          </a:p>
        </p:txBody>
      </p:sp>
      <p:sp>
        <p:nvSpPr>
          <p:cNvPr id="72" name="TextBox 71"/>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- 14</a:t>
            </a:r>
          </a:p>
        </p:txBody>
      </p:sp>
    </p:spTree>
    <p:extLst>
      <p:ext uri="{BB962C8B-B14F-4D97-AF65-F5344CB8AC3E}">
        <p14:creationId xmlns:p14="http://schemas.microsoft.com/office/powerpoint/2010/main" val="3163565031"/>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1">
                                            <p:graphicEl>
                                              <a:chart seriesIdx="-3" categoryIdx="-3" bldStep="gridLegend"/>
                                            </p:graphicEl>
                                          </p:spTgt>
                                        </p:tgtEl>
                                        <p:attrNameLst>
                                          <p:attrName>style.visibility</p:attrName>
                                        </p:attrNameLst>
                                      </p:cBhvr>
                                      <p:to>
                                        <p:strVal val="visible"/>
                                      </p:to>
                                    </p:set>
                                    <p:animEffect transition="in" filter="wipe(down)">
                                      <p:cBhvr>
                                        <p:cTn id="12" dur="500"/>
                                        <p:tgtEl>
                                          <p:spTgt spid="51">
                                            <p:graphicEl>
                                              <a:chart seriesIdx="-3" categoryIdx="-3" bldStep="gridLegend"/>
                                            </p:graphicEl>
                                          </p:spTgt>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1">
                                            <p:graphicEl>
                                              <a:chart seriesIdx="0" categoryIdx="0" bldStep="ptInSeries"/>
                                            </p:graphicEl>
                                          </p:spTgt>
                                        </p:tgtEl>
                                        <p:attrNameLst>
                                          <p:attrName>style.visibility</p:attrName>
                                        </p:attrNameLst>
                                      </p:cBhvr>
                                      <p:to>
                                        <p:strVal val="visible"/>
                                      </p:to>
                                    </p:set>
                                    <p:animEffect transition="in" filter="wipe(down)">
                                      <p:cBhvr>
                                        <p:cTn id="16" dur="250"/>
                                        <p:tgtEl>
                                          <p:spTgt spid="51">
                                            <p:graphicEl>
                                              <a:chart seriesIdx="0" categoryIdx="0" bldStep="ptInSeries"/>
                                            </p:graphicEl>
                                          </p:spTgt>
                                        </p:tgtEl>
                                      </p:cBhvr>
                                    </p:animEffect>
                                  </p:childTnLst>
                                </p:cTn>
                              </p:par>
                            </p:childTnLst>
                          </p:cTn>
                        </p:par>
                        <p:par>
                          <p:cTn id="17" fill="hold">
                            <p:stCondLst>
                              <p:cond delay="750"/>
                            </p:stCondLst>
                            <p:childTnLst>
                              <p:par>
                                <p:cTn id="18" presetID="22" presetClass="entr" presetSubtype="4" fill="hold" grpId="0" nodeType="afterEffect">
                                  <p:stCondLst>
                                    <p:cond delay="0"/>
                                  </p:stCondLst>
                                  <p:childTnLst>
                                    <p:set>
                                      <p:cBhvr>
                                        <p:cTn id="19" dur="1" fill="hold">
                                          <p:stCondLst>
                                            <p:cond delay="0"/>
                                          </p:stCondLst>
                                        </p:cTn>
                                        <p:tgtEl>
                                          <p:spTgt spid="51">
                                            <p:graphicEl>
                                              <a:chart seriesIdx="0" categoryIdx="1" bldStep="ptInSeries"/>
                                            </p:graphicEl>
                                          </p:spTgt>
                                        </p:tgtEl>
                                        <p:attrNameLst>
                                          <p:attrName>style.visibility</p:attrName>
                                        </p:attrNameLst>
                                      </p:cBhvr>
                                      <p:to>
                                        <p:strVal val="visible"/>
                                      </p:to>
                                    </p:set>
                                    <p:animEffect transition="in" filter="wipe(down)">
                                      <p:cBhvr>
                                        <p:cTn id="20" dur="250"/>
                                        <p:tgtEl>
                                          <p:spTgt spid="51">
                                            <p:graphicEl>
                                              <a:chart seriesIdx="0" categoryIdx="1" bldStep="ptInSeries"/>
                                            </p:graphicEl>
                                          </p:spTgt>
                                        </p:tgtEl>
                                      </p:cBhvr>
                                    </p:animEffect>
                                  </p:childTnLst>
                                </p:cTn>
                              </p:par>
                            </p:childTnLst>
                          </p:cTn>
                        </p:par>
                        <p:par>
                          <p:cTn id="21" fill="hold">
                            <p:stCondLst>
                              <p:cond delay="1000"/>
                            </p:stCondLst>
                            <p:childTnLst>
                              <p:par>
                                <p:cTn id="22" presetID="22" presetClass="entr" presetSubtype="4" fill="hold" grpId="0" nodeType="afterEffect">
                                  <p:stCondLst>
                                    <p:cond delay="0"/>
                                  </p:stCondLst>
                                  <p:childTnLst>
                                    <p:set>
                                      <p:cBhvr>
                                        <p:cTn id="23" dur="1" fill="hold">
                                          <p:stCondLst>
                                            <p:cond delay="0"/>
                                          </p:stCondLst>
                                        </p:cTn>
                                        <p:tgtEl>
                                          <p:spTgt spid="51">
                                            <p:graphicEl>
                                              <a:chart seriesIdx="0" categoryIdx="2" bldStep="ptInSeries"/>
                                            </p:graphicEl>
                                          </p:spTgt>
                                        </p:tgtEl>
                                        <p:attrNameLst>
                                          <p:attrName>style.visibility</p:attrName>
                                        </p:attrNameLst>
                                      </p:cBhvr>
                                      <p:to>
                                        <p:strVal val="visible"/>
                                      </p:to>
                                    </p:set>
                                    <p:animEffect transition="in" filter="wipe(down)">
                                      <p:cBhvr>
                                        <p:cTn id="24" dur="250"/>
                                        <p:tgtEl>
                                          <p:spTgt spid="51">
                                            <p:graphicEl>
                                              <a:chart seriesIdx="0" categoryIdx="2" bldStep="ptInSeries"/>
                                            </p:graphicEl>
                                          </p:spTgt>
                                        </p:tgtEl>
                                      </p:cBhvr>
                                    </p:animEffect>
                                  </p:childTnLst>
                                </p:cTn>
                              </p:par>
                            </p:childTnLst>
                          </p:cTn>
                        </p:par>
                        <p:par>
                          <p:cTn id="25" fill="hold">
                            <p:stCondLst>
                              <p:cond delay="1250"/>
                            </p:stCondLst>
                            <p:childTnLst>
                              <p:par>
                                <p:cTn id="26" presetID="22" presetClass="entr" presetSubtype="4" fill="hold" grpId="0" nodeType="afterEffect">
                                  <p:stCondLst>
                                    <p:cond delay="0"/>
                                  </p:stCondLst>
                                  <p:childTnLst>
                                    <p:set>
                                      <p:cBhvr>
                                        <p:cTn id="27" dur="1" fill="hold">
                                          <p:stCondLst>
                                            <p:cond delay="0"/>
                                          </p:stCondLst>
                                        </p:cTn>
                                        <p:tgtEl>
                                          <p:spTgt spid="51">
                                            <p:graphicEl>
                                              <a:chart seriesIdx="0" categoryIdx="3" bldStep="ptInSeries"/>
                                            </p:graphicEl>
                                          </p:spTgt>
                                        </p:tgtEl>
                                        <p:attrNameLst>
                                          <p:attrName>style.visibility</p:attrName>
                                        </p:attrNameLst>
                                      </p:cBhvr>
                                      <p:to>
                                        <p:strVal val="visible"/>
                                      </p:to>
                                    </p:set>
                                    <p:animEffect transition="in" filter="wipe(down)">
                                      <p:cBhvr>
                                        <p:cTn id="28" dur="250"/>
                                        <p:tgtEl>
                                          <p:spTgt spid="51">
                                            <p:graphicEl>
                                              <a:chart seriesIdx="0" categoryIdx="3" bldStep="ptInSeries"/>
                                            </p:graphicEl>
                                          </p:spTgt>
                                        </p:tgtEl>
                                      </p:cBhvr>
                                    </p:animEffect>
                                  </p:childTnLst>
                                </p:cTn>
                              </p:par>
                            </p:childTnLst>
                          </p:cTn>
                        </p:par>
                        <p:par>
                          <p:cTn id="29" fill="hold">
                            <p:stCondLst>
                              <p:cond delay="1500"/>
                            </p:stCondLst>
                            <p:childTnLst>
                              <p:par>
                                <p:cTn id="30" presetID="22" presetClass="entr" presetSubtype="4" fill="hold" grpId="0" nodeType="afterEffect">
                                  <p:stCondLst>
                                    <p:cond delay="0"/>
                                  </p:stCondLst>
                                  <p:childTnLst>
                                    <p:set>
                                      <p:cBhvr>
                                        <p:cTn id="31" dur="1" fill="hold">
                                          <p:stCondLst>
                                            <p:cond delay="0"/>
                                          </p:stCondLst>
                                        </p:cTn>
                                        <p:tgtEl>
                                          <p:spTgt spid="51">
                                            <p:graphicEl>
                                              <a:chart seriesIdx="0" categoryIdx="4" bldStep="ptInSeries"/>
                                            </p:graphicEl>
                                          </p:spTgt>
                                        </p:tgtEl>
                                        <p:attrNameLst>
                                          <p:attrName>style.visibility</p:attrName>
                                        </p:attrNameLst>
                                      </p:cBhvr>
                                      <p:to>
                                        <p:strVal val="visible"/>
                                      </p:to>
                                    </p:set>
                                    <p:animEffect transition="in" filter="wipe(down)">
                                      <p:cBhvr>
                                        <p:cTn id="32" dur="250"/>
                                        <p:tgtEl>
                                          <p:spTgt spid="51">
                                            <p:graphicEl>
                                              <a:chart seriesIdx="0" categoryIdx="4" bldStep="ptInSeries"/>
                                            </p:graphicEl>
                                          </p:spTgt>
                                        </p:tgtEl>
                                      </p:cBhvr>
                                    </p:animEffect>
                                  </p:childTnLst>
                                </p:cTn>
                              </p:par>
                            </p:childTnLst>
                          </p:cTn>
                        </p:par>
                        <p:par>
                          <p:cTn id="33" fill="hold">
                            <p:stCondLst>
                              <p:cond delay="1750"/>
                            </p:stCondLst>
                            <p:childTnLst>
                              <p:par>
                                <p:cTn id="34" presetID="22" presetClass="entr" presetSubtype="4" fill="hold" grpId="0" nodeType="afterEffect">
                                  <p:stCondLst>
                                    <p:cond delay="0"/>
                                  </p:stCondLst>
                                  <p:childTnLst>
                                    <p:set>
                                      <p:cBhvr>
                                        <p:cTn id="35" dur="1" fill="hold">
                                          <p:stCondLst>
                                            <p:cond delay="0"/>
                                          </p:stCondLst>
                                        </p:cTn>
                                        <p:tgtEl>
                                          <p:spTgt spid="51">
                                            <p:graphicEl>
                                              <a:chart seriesIdx="0" categoryIdx="5" bldStep="ptInSeries"/>
                                            </p:graphicEl>
                                          </p:spTgt>
                                        </p:tgtEl>
                                        <p:attrNameLst>
                                          <p:attrName>style.visibility</p:attrName>
                                        </p:attrNameLst>
                                      </p:cBhvr>
                                      <p:to>
                                        <p:strVal val="visible"/>
                                      </p:to>
                                    </p:set>
                                    <p:animEffect transition="in" filter="wipe(down)">
                                      <p:cBhvr>
                                        <p:cTn id="36" dur="250"/>
                                        <p:tgtEl>
                                          <p:spTgt spid="51">
                                            <p:graphicEl>
                                              <a:chart seriesIdx="0" categoryIdx="5" bldStep="ptInSeries"/>
                                            </p:graphicEl>
                                          </p:spTgt>
                                        </p:tgtEl>
                                      </p:cBhvr>
                                    </p:animEffect>
                                  </p:childTnLst>
                                </p:cTn>
                              </p:par>
                            </p:childTnLst>
                          </p:cTn>
                        </p:par>
                        <p:par>
                          <p:cTn id="37" fill="hold">
                            <p:stCondLst>
                              <p:cond delay="2000"/>
                            </p:stCondLst>
                            <p:childTnLst>
                              <p:par>
                                <p:cTn id="38" presetID="22" presetClass="entr" presetSubtype="4" fill="hold" grpId="0" nodeType="afterEffect">
                                  <p:stCondLst>
                                    <p:cond delay="0"/>
                                  </p:stCondLst>
                                  <p:childTnLst>
                                    <p:set>
                                      <p:cBhvr>
                                        <p:cTn id="39" dur="1" fill="hold">
                                          <p:stCondLst>
                                            <p:cond delay="0"/>
                                          </p:stCondLst>
                                        </p:cTn>
                                        <p:tgtEl>
                                          <p:spTgt spid="51">
                                            <p:graphicEl>
                                              <a:chart seriesIdx="0" categoryIdx="6" bldStep="ptInSeries"/>
                                            </p:graphicEl>
                                          </p:spTgt>
                                        </p:tgtEl>
                                        <p:attrNameLst>
                                          <p:attrName>style.visibility</p:attrName>
                                        </p:attrNameLst>
                                      </p:cBhvr>
                                      <p:to>
                                        <p:strVal val="visible"/>
                                      </p:to>
                                    </p:set>
                                    <p:animEffect transition="in" filter="wipe(down)">
                                      <p:cBhvr>
                                        <p:cTn id="40" dur="250"/>
                                        <p:tgtEl>
                                          <p:spTgt spid="51">
                                            <p:graphicEl>
                                              <a:chart seriesIdx="0" categoryIdx="6" bldStep="ptInSeries"/>
                                            </p:graphicEl>
                                          </p:spTgt>
                                        </p:tgtEl>
                                      </p:cBhvr>
                                    </p:animEffect>
                                  </p:childTnLst>
                                </p:cTn>
                              </p:par>
                            </p:childTnLst>
                          </p:cTn>
                        </p:par>
                        <p:par>
                          <p:cTn id="41" fill="hold">
                            <p:stCondLst>
                              <p:cond delay="2250"/>
                            </p:stCondLst>
                            <p:childTnLst>
                              <p:par>
                                <p:cTn id="42" presetID="22" presetClass="entr" presetSubtype="4" fill="hold" grpId="0" nodeType="afterEffect">
                                  <p:stCondLst>
                                    <p:cond delay="0"/>
                                  </p:stCondLst>
                                  <p:childTnLst>
                                    <p:set>
                                      <p:cBhvr>
                                        <p:cTn id="43" dur="1" fill="hold">
                                          <p:stCondLst>
                                            <p:cond delay="0"/>
                                          </p:stCondLst>
                                        </p:cTn>
                                        <p:tgtEl>
                                          <p:spTgt spid="51">
                                            <p:graphicEl>
                                              <a:chart seriesIdx="0" categoryIdx="7" bldStep="ptInSeries"/>
                                            </p:graphicEl>
                                          </p:spTgt>
                                        </p:tgtEl>
                                        <p:attrNameLst>
                                          <p:attrName>style.visibility</p:attrName>
                                        </p:attrNameLst>
                                      </p:cBhvr>
                                      <p:to>
                                        <p:strVal val="visible"/>
                                      </p:to>
                                    </p:set>
                                    <p:animEffect transition="in" filter="wipe(down)">
                                      <p:cBhvr>
                                        <p:cTn id="44" dur="250"/>
                                        <p:tgtEl>
                                          <p:spTgt spid="51">
                                            <p:graphicEl>
                                              <a:chart seriesIdx="0" categoryIdx="7" bldStep="ptInSeries"/>
                                            </p:graphicEl>
                                          </p:spTgt>
                                        </p:tgtEl>
                                      </p:cBhvr>
                                    </p:animEffect>
                                  </p:childTnLst>
                                </p:cTn>
                              </p:par>
                            </p:childTnLst>
                          </p:cTn>
                        </p:par>
                        <p:par>
                          <p:cTn id="45" fill="hold">
                            <p:stCondLst>
                              <p:cond delay="2500"/>
                            </p:stCondLst>
                            <p:childTnLst>
                              <p:par>
                                <p:cTn id="46" presetID="22" presetClass="entr" presetSubtype="4" fill="hold" grpId="0" nodeType="afterEffect">
                                  <p:stCondLst>
                                    <p:cond delay="0"/>
                                  </p:stCondLst>
                                  <p:childTnLst>
                                    <p:set>
                                      <p:cBhvr>
                                        <p:cTn id="47" dur="1" fill="hold">
                                          <p:stCondLst>
                                            <p:cond delay="0"/>
                                          </p:stCondLst>
                                        </p:cTn>
                                        <p:tgtEl>
                                          <p:spTgt spid="51">
                                            <p:graphicEl>
                                              <a:chart seriesIdx="0" categoryIdx="8" bldStep="ptInSeries"/>
                                            </p:graphicEl>
                                          </p:spTgt>
                                        </p:tgtEl>
                                        <p:attrNameLst>
                                          <p:attrName>style.visibility</p:attrName>
                                        </p:attrNameLst>
                                      </p:cBhvr>
                                      <p:to>
                                        <p:strVal val="visible"/>
                                      </p:to>
                                    </p:set>
                                    <p:animEffect transition="in" filter="wipe(down)">
                                      <p:cBhvr>
                                        <p:cTn id="48" dur="250"/>
                                        <p:tgtEl>
                                          <p:spTgt spid="51">
                                            <p:graphicEl>
                                              <a:chart seriesIdx="0" categoryIdx="8" bldStep="ptInSeries"/>
                                            </p:graphicEl>
                                          </p:spTgt>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83"/>
                                        </p:tgtEl>
                                        <p:attrNameLst>
                                          <p:attrName>style.visibility</p:attrName>
                                        </p:attrNameLst>
                                      </p:cBhvr>
                                      <p:to>
                                        <p:strVal val="visible"/>
                                      </p:to>
                                    </p:set>
                                    <p:animEffect transition="in" filter="wheel(1)">
                                      <p:cBhvr>
                                        <p:cTn id="53" dur="500"/>
                                        <p:tgtEl>
                                          <p:spTgt spid="83"/>
                                        </p:tgtEl>
                                      </p:cBhvr>
                                    </p:animEffect>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500"/>
                                        <p:tgtEl>
                                          <p:spTgt spid="4"/>
                                        </p:tgtEl>
                                      </p:cBhvr>
                                    </p:animEffec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left)">
                                      <p:cBhvr>
                                        <p:cTn id="61" dur="250"/>
                                        <p:tgtEl>
                                          <p:spTgt spid="6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8"/>
                                        </p:tgtEl>
                                        <p:attrNameLst>
                                          <p:attrName>style.visibility</p:attrName>
                                        </p:attrNameLst>
                                      </p:cBhvr>
                                      <p:to>
                                        <p:strVal val="visible"/>
                                      </p:to>
                                    </p:set>
                                    <p:animEffect transition="in" filter="fade">
                                      <p:cBhvr>
                                        <p:cTn id="64" dur="250"/>
                                        <p:tgtEl>
                                          <p:spTgt spid="7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97"/>
                                        </p:tgtEl>
                                        <p:attrNameLst>
                                          <p:attrName>style.visibility</p:attrName>
                                        </p:attrNameLst>
                                      </p:cBhvr>
                                      <p:to>
                                        <p:strVal val="visible"/>
                                      </p:to>
                                    </p:set>
                                    <p:animEffect transition="in" filter="fade">
                                      <p:cBhvr>
                                        <p:cTn id="69" dur="250"/>
                                        <p:tgtEl>
                                          <p:spTgt spid="97"/>
                                        </p:tgtEl>
                                      </p:cBhvr>
                                    </p:animEffect>
                                  </p:childTnLst>
                                </p:cTn>
                              </p:par>
                            </p:childTnLst>
                          </p:cTn>
                        </p:par>
                        <p:par>
                          <p:cTn id="70" fill="hold">
                            <p:stCondLst>
                              <p:cond delay="250"/>
                            </p:stCondLst>
                            <p:childTnLst>
                              <p:par>
                                <p:cTn id="71" presetID="22" presetClass="entr" presetSubtype="8" fill="hold" nodeType="afterEffect">
                                  <p:stCondLst>
                                    <p:cond delay="0"/>
                                  </p:stCondLst>
                                  <p:childTnLst>
                                    <p:set>
                                      <p:cBhvr>
                                        <p:cTn id="72" dur="1" fill="hold">
                                          <p:stCondLst>
                                            <p:cond delay="0"/>
                                          </p:stCondLst>
                                        </p:cTn>
                                        <p:tgtEl>
                                          <p:spTgt spid="88"/>
                                        </p:tgtEl>
                                        <p:attrNameLst>
                                          <p:attrName>style.visibility</p:attrName>
                                        </p:attrNameLst>
                                      </p:cBhvr>
                                      <p:to>
                                        <p:strVal val="visible"/>
                                      </p:to>
                                    </p:set>
                                    <p:animEffect transition="in" filter="wipe(left)">
                                      <p:cBhvr>
                                        <p:cTn id="73" dur="25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89">
                                            <p:graphicEl>
                                              <a:chart seriesIdx="-3" categoryIdx="-3" bldStep="gridLegend"/>
                                            </p:graphicEl>
                                          </p:spTgt>
                                        </p:tgtEl>
                                        <p:attrNameLst>
                                          <p:attrName>style.visibility</p:attrName>
                                        </p:attrNameLst>
                                      </p:cBhvr>
                                      <p:to>
                                        <p:strVal val="visible"/>
                                      </p:to>
                                    </p:set>
                                    <p:animEffect transition="in" filter="wipe(down)">
                                      <p:cBhvr>
                                        <p:cTn id="78" dur="250"/>
                                        <p:tgtEl>
                                          <p:spTgt spid="89">
                                            <p:graphicEl>
                                              <a:chart seriesIdx="-3" categoryIdx="-3" bldStep="gridLegend"/>
                                            </p:graphicEl>
                                          </p:spTgt>
                                        </p:tgtEl>
                                      </p:cBhvr>
                                    </p:animEffect>
                                  </p:childTnLst>
                                </p:cTn>
                              </p:par>
                            </p:childTnLst>
                          </p:cTn>
                        </p:par>
                        <p:par>
                          <p:cTn id="79" fill="hold">
                            <p:stCondLst>
                              <p:cond delay="250"/>
                            </p:stCondLst>
                            <p:childTnLst>
                              <p:par>
                                <p:cTn id="80" presetID="22" presetClass="entr" presetSubtype="4" fill="hold" grpId="0" nodeType="afterEffect">
                                  <p:stCondLst>
                                    <p:cond delay="0"/>
                                  </p:stCondLst>
                                  <p:childTnLst>
                                    <p:set>
                                      <p:cBhvr>
                                        <p:cTn id="81" dur="1" fill="hold">
                                          <p:stCondLst>
                                            <p:cond delay="0"/>
                                          </p:stCondLst>
                                        </p:cTn>
                                        <p:tgtEl>
                                          <p:spTgt spid="89">
                                            <p:graphicEl>
                                              <a:chart seriesIdx="0" categoryIdx="0" bldStep="ptInSeries"/>
                                            </p:graphicEl>
                                          </p:spTgt>
                                        </p:tgtEl>
                                        <p:attrNameLst>
                                          <p:attrName>style.visibility</p:attrName>
                                        </p:attrNameLst>
                                      </p:cBhvr>
                                      <p:to>
                                        <p:strVal val="visible"/>
                                      </p:to>
                                    </p:set>
                                    <p:animEffect transition="in" filter="wipe(down)">
                                      <p:cBhvr>
                                        <p:cTn id="82" dur="250"/>
                                        <p:tgtEl>
                                          <p:spTgt spid="89">
                                            <p:graphicEl>
                                              <a:chart seriesIdx="0" categoryIdx="0" bldStep="ptInSeries"/>
                                            </p:graphicEl>
                                          </p:spTgt>
                                        </p:tgtEl>
                                      </p:cBhvr>
                                    </p:animEffect>
                                  </p:childTnLst>
                                </p:cTn>
                              </p:par>
                            </p:childTnLst>
                          </p:cTn>
                        </p:par>
                        <p:par>
                          <p:cTn id="83" fill="hold">
                            <p:stCondLst>
                              <p:cond delay="500"/>
                            </p:stCondLst>
                            <p:childTnLst>
                              <p:par>
                                <p:cTn id="84" presetID="22" presetClass="entr" presetSubtype="4" fill="hold" grpId="0" nodeType="afterEffect">
                                  <p:stCondLst>
                                    <p:cond delay="0"/>
                                  </p:stCondLst>
                                  <p:childTnLst>
                                    <p:set>
                                      <p:cBhvr>
                                        <p:cTn id="85" dur="1" fill="hold">
                                          <p:stCondLst>
                                            <p:cond delay="0"/>
                                          </p:stCondLst>
                                        </p:cTn>
                                        <p:tgtEl>
                                          <p:spTgt spid="89">
                                            <p:graphicEl>
                                              <a:chart seriesIdx="0" categoryIdx="1" bldStep="ptInSeries"/>
                                            </p:graphicEl>
                                          </p:spTgt>
                                        </p:tgtEl>
                                        <p:attrNameLst>
                                          <p:attrName>style.visibility</p:attrName>
                                        </p:attrNameLst>
                                      </p:cBhvr>
                                      <p:to>
                                        <p:strVal val="visible"/>
                                      </p:to>
                                    </p:set>
                                    <p:animEffect transition="in" filter="wipe(down)">
                                      <p:cBhvr>
                                        <p:cTn id="86" dur="250"/>
                                        <p:tgtEl>
                                          <p:spTgt spid="89">
                                            <p:graphicEl>
                                              <a:chart seriesIdx="0" categoryIdx="1" bldStep="ptInSeries"/>
                                            </p:graphicEl>
                                          </p:spTgt>
                                        </p:tgtEl>
                                      </p:cBhvr>
                                    </p:animEffect>
                                  </p:childTnLst>
                                </p:cTn>
                              </p:par>
                            </p:childTnLst>
                          </p:cTn>
                        </p:par>
                        <p:par>
                          <p:cTn id="87" fill="hold">
                            <p:stCondLst>
                              <p:cond delay="750"/>
                            </p:stCondLst>
                            <p:childTnLst>
                              <p:par>
                                <p:cTn id="88" presetID="22" presetClass="entr" presetSubtype="4" fill="hold" grpId="0" nodeType="afterEffect">
                                  <p:stCondLst>
                                    <p:cond delay="0"/>
                                  </p:stCondLst>
                                  <p:childTnLst>
                                    <p:set>
                                      <p:cBhvr>
                                        <p:cTn id="89" dur="1" fill="hold">
                                          <p:stCondLst>
                                            <p:cond delay="0"/>
                                          </p:stCondLst>
                                        </p:cTn>
                                        <p:tgtEl>
                                          <p:spTgt spid="89">
                                            <p:graphicEl>
                                              <a:chart seriesIdx="0" categoryIdx="2" bldStep="ptInSeries"/>
                                            </p:graphicEl>
                                          </p:spTgt>
                                        </p:tgtEl>
                                        <p:attrNameLst>
                                          <p:attrName>style.visibility</p:attrName>
                                        </p:attrNameLst>
                                      </p:cBhvr>
                                      <p:to>
                                        <p:strVal val="visible"/>
                                      </p:to>
                                    </p:set>
                                    <p:animEffect transition="in" filter="wipe(down)">
                                      <p:cBhvr>
                                        <p:cTn id="90" dur="250"/>
                                        <p:tgtEl>
                                          <p:spTgt spid="89">
                                            <p:graphicEl>
                                              <a:chart seriesIdx="0" categoryIdx="2" bldStep="ptInSeries"/>
                                            </p:graphicEl>
                                          </p:spTgt>
                                        </p:tgtEl>
                                      </p:cBhvr>
                                    </p:animEffect>
                                  </p:childTnLst>
                                </p:cTn>
                              </p:par>
                            </p:childTnLst>
                          </p:cTn>
                        </p:par>
                        <p:par>
                          <p:cTn id="91" fill="hold">
                            <p:stCondLst>
                              <p:cond delay="1000"/>
                            </p:stCondLst>
                            <p:childTnLst>
                              <p:par>
                                <p:cTn id="92" presetID="22" presetClass="entr" presetSubtype="4" fill="hold" grpId="0" nodeType="afterEffect">
                                  <p:stCondLst>
                                    <p:cond delay="0"/>
                                  </p:stCondLst>
                                  <p:childTnLst>
                                    <p:set>
                                      <p:cBhvr>
                                        <p:cTn id="93" dur="1" fill="hold">
                                          <p:stCondLst>
                                            <p:cond delay="0"/>
                                          </p:stCondLst>
                                        </p:cTn>
                                        <p:tgtEl>
                                          <p:spTgt spid="89">
                                            <p:graphicEl>
                                              <a:chart seriesIdx="0" categoryIdx="3" bldStep="ptInSeries"/>
                                            </p:graphicEl>
                                          </p:spTgt>
                                        </p:tgtEl>
                                        <p:attrNameLst>
                                          <p:attrName>style.visibility</p:attrName>
                                        </p:attrNameLst>
                                      </p:cBhvr>
                                      <p:to>
                                        <p:strVal val="visible"/>
                                      </p:to>
                                    </p:set>
                                    <p:animEffect transition="in" filter="wipe(down)">
                                      <p:cBhvr>
                                        <p:cTn id="94" dur="250"/>
                                        <p:tgtEl>
                                          <p:spTgt spid="89">
                                            <p:graphicEl>
                                              <a:chart seriesIdx="0" categoryIdx="3" bldStep="ptInSeries"/>
                                            </p:graphicEl>
                                          </p:spTgt>
                                        </p:tgtEl>
                                      </p:cBhvr>
                                    </p:animEffect>
                                  </p:childTnLst>
                                </p:cTn>
                              </p:par>
                            </p:childTnLst>
                          </p:cTn>
                        </p:par>
                        <p:par>
                          <p:cTn id="95" fill="hold">
                            <p:stCondLst>
                              <p:cond delay="1250"/>
                            </p:stCondLst>
                            <p:childTnLst>
                              <p:par>
                                <p:cTn id="96" presetID="22" presetClass="entr" presetSubtype="4" fill="hold" grpId="0" nodeType="afterEffect">
                                  <p:stCondLst>
                                    <p:cond delay="0"/>
                                  </p:stCondLst>
                                  <p:childTnLst>
                                    <p:set>
                                      <p:cBhvr>
                                        <p:cTn id="97" dur="1" fill="hold">
                                          <p:stCondLst>
                                            <p:cond delay="0"/>
                                          </p:stCondLst>
                                        </p:cTn>
                                        <p:tgtEl>
                                          <p:spTgt spid="89">
                                            <p:graphicEl>
                                              <a:chart seriesIdx="0" categoryIdx="4" bldStep="ptInSeries"/>
                                            </p:graphicEl>
                                          </p:spTgt>
                                        </p:tgtEl>
                                        <p:attrNameLst>
                                          <p:attrName>style.visibility</p:attrName>
                                        </p:attrNameLst>
                                      </p:cBhvr>
                                      <p:to>
                                        <p:strVal val="visible"/>
                                      </p:to>
                                    </p:set>
                                    <p:animEffect transition="in" filter="wipe(down)">
                                      <p:cBhvr>
                                        <p:cTn id="98" dur="250"/>
                                        <p:tgtEl>
                                          <p:spTgt spid="89">
                                            <p:graphicEl>
                                              <a:chart seriesIdx="0" categoryIdx="4" bldStep="ptInSeries"/>
                                            </p:graphicEl>
                                          </p:spTgt>
                                        </p:tgtEl>
                                      </p:cBhvr>
                                    </p:animEffect>
                                  </p:childTnLst>
                                </p:cTn>
                              </p:par>
                            </p:childTnLst>
                          </p:cTn>
                        </p:par>
                        <p:par>
                          <p:cTn id="99" fill="hold">
                            <p:stCondLst>
                              <p:cond delay="1500"/>
                            </p:stCondLst>
                            <p:childTnLst>
                              <p:par>
                                <p:cTn id="100" presetID="22" presetClass="entr" presetSubtype="4" fill="hold" grpId="0" nodeType="afterEffect">
                                  <p:stCondLst>
                                    <p:cond delay="0"/>
                                  </p:stCondLst>
                                  <p:childTnLst>
                                    <p:set>
                                      <p:cBhvr>
                                        <p:cTn id="101" dur="1" fill="hold">
                                          <p:stCondLst>
                                            <p:cond delay="0"/>
                                          </p:stCondLst>
                                        </p:cTn>
                                        <p:tgtEl>
                                          <p:spTgt spid="89">
                                            <p:graphicEl>
                                              <a:chart seriesIdx="0" categoryIdx="5" bldStep="ptInSeries"/>
                                            </p:graphicEl>
                                          </p:spTgt>
                                        </p:tgtEl>
                                        <p:attrNameLst>
                                          <p:attrName>style.visibility</p:attrName>
                                        </p:attrNameLst>
                                      </p:cBhvr>
                                      <p:to>
                                        <p:strVal val="visible"/>
                                      </p:to>
                                    </p:set>
                                    <p:animEffect transition="in" filter="wipe(down)">
                                      <p:cBhvr>
                                        <p:cTn id="102" dur="250"/>
                                        <p:tgtEl>
                                          <p:spTgt spid="89">
                                            <p:graphicEl>
                                              <a:chart seriesIdx="0" categoryIdx="5" bldStep="ptInSeries"/>
                                            </p:graphicEl>
                                          </p:spTgt>
                                        </p:tgtEl>
                                      </p:cBhvr>
                                    </p:animEffect>
                                  </p:childTnLst>
                                </p:cTn>
                              </p:par>
                            </p:childTnLst>
                          </p:cTn>
                        </p:par>
                        <p:par>
                          <p:cTn id="103" fill="hold">
                            <p:stCondLst>
                              <p:cond delay="1750"/>
                            </p:stCondLst>
                            <p:childTnLst>
                              <p:par>
                                <p:cTn id="104" presetID="22" presetClass="entr" presetSubtype="4" fill="hold" grpId="0" nodeType="afterEffect">
                                  <p:stCondLst>
                                    <p:cond delay="0"/>
                                  </p:stCondLst>
                                  <p:childTnLst>
                                    <p:set>
                                      <p:cBhvr>
                                        <p:cTn id="105" dur="1" fill="hold">
                                          <p:stCondLst>
                                            <p:cond delay="0"/>
                                          </p:stCondLst>
                                        </p:cTn>
                                        <p:tgtEl>
                                          <p:spTgt spid="89">
                                            <p:graphicEl>
                                              <a:chart seriesIdx="0" categoryIdx="6" bldStep="ptInSeries"/>
                                            </p:graphicEl>
                                          </p:spTgt>
                                        </p:tgtEl>
                                        <p:attrNameLst>
                                          <p:attrName>style.visibility</p:attrName>
                                        </p:attrNameLst>
                                      </p:cBhvr>
                                      <p:to>
                                        <p:strVal val="visible"/>
                                      </p:to>
                                    </p:set>
                                    <p:animEffect transition="in" filter="wipe(down)">
                                      <p:cBhvr>
                                        <p:cTn id="106" dur="250"/>
                                        <p:tgtEl>
                                          <p:spTgt spid="89">
                                            <p:graphicEl>
                                              <a:chart seriesIdx="0" categoryIdx="6" bldStep="ptInSeries"/>
                                            </p:graphicEl>
                                          </p:spTgt>
                                        </p:tgtEl>
                                      </p:cBhvr>
                                    </p:animEffect>
                                  </p:childTnLst>
                                </p:cTn>
                              </p:par>
                            </p:childTnLst>
                          </p:cTn>
                        </p:par>
                        <p:par>
                          <p:cTn id="107" fill="hold">
                            <p:stCondLst>
                              <p:cond delay="2000"/>
                            </p:stCondLst>
                            <p:childTnLst>
                              <p:par>
                                <p:cTn id="108" presetID="22" presetClass="entr" presetSubtype="4" fill="hold" grpId="0" nodeType="afterEffect">
                                  <p:stCondLst>
                                    <p:cond delay="0"/>
                                  </p:stCondLst>
                                  <p:childTnLst>
                                    <p:set>
                                      <p:cBhvr>
                                        <p:cTn id="109" dur="1" fill="hold">
                                          <p:stCondLst>
                                            <p:cond delay="0"/>
                                          </p:stCondLst>
                                        </p:cTn>
                                        <p:tgtEl>
                                          <p:spTgt spid="89">
                                            <p:graphicEl>
                                              <a:chart seriesIdx="0" categoryIdx="7" bldStep="ptInSeries"/>
                                            </p:graphicEl>
                                          </p:spTgt>
                                        </p:tgtEl>
                                        <p:attrNameLst>
                                          <p:attrName>style.visibility</p:attrName>
                                        </p:attrNameLst>
                                      </p:cBhvr>
                                      <p:to>
                                        <p:strVal val="visible"/>
                                      </p:to>
                                    </p:set>
                                    <p:animEffect transition="in" filter="wipe(down)">
                                      <p:cBhvr>
                                        <p:cTn id="110" dur="250"/>
                                        <p:tgtEl>
                                          <p:spTgt spid="89">
                                            <p:graphicEl>
                                              <a:chart seriesIdx="0" categoryIdx="7" bldStep="ptInSeries"/>
                                            </p:graphicEl>
                                          </p:spTgt>
                                        </p:tgtEl>
                                      </p:cBhvr>
                                    </p:animEffect>
                                  </p:childTnLst>
                                </p:cTn>
                              </p:par>
                            </p:childTnLst>
                          </p:cTn>
                        </p:par>
                      </p:childTnLst>
                    </p:cTn>
                  </p:par>
                  <p:par>
                    <p:cTn id="111" fill="hold">
                      <p:stCondLst>
                        <p:cond delay="indefinite"/>
                      </p:stCondLst>
                      <p:childTnLst>
                        <p:par>
                          <p:cTn id="112" fill="hold">
                            <p:stCondLst>
                              <p:cond delay="0"/>
                            </p:stCondLst>
                            <p:childTnLst>
                              <p:par>
                                <p:cTn id="113" presetID="21" presetClass="entr" presetSubtype="1" fill="hold" grpId="0" nodeType="clickEffect">
                                  <p:stCondLst>
                                    <p:cond delay="0"/>
                                  </p:stCondLst>
                                  <p:childTnLst>
                                    <p:set>
                                      <p:cBhvr>
                                        <p:cTn id="114" dur="1" fill="hold">
                                          <p:stCondLst>
                                            <p:cond delay="0"/>
                                          </p:stCondLst>
                                        </p:cTn>
                                        <p:tgtEl>
                                          <p:spTgt spid="86"/>
                                        </p:tgtEl>
                                        <p:attrNameLst>
                                          <p:attrName>style.visibility</p:attrName>
                                        </p:attrNameLst>
                                      </p:cBhvr>
                                      <p:to>
                                        <p:strVal val="visible"/>
                                      </p:to>
                                    </p:set>
                                    <p:animEffect transition="in" filter="wheel(1)">
                                      <p:cBhvr>
                                        <p:cTn id="115" dur="500"/>
                                        <p:tgtEl>
                                          <p:spTgt spid="86"/>
                                        </p:tgtEl>
                                      </p:cBhvr>
                                    </p:animEffect>
                                  </p:childTnLst>
                                </p:cTn>
                              </p:par>
                            </p:childTnLst>
                          </p:cTn>
                        </p:par>
                        <p:par>
                          <p:cTn id="116" fill="hold">
                            <p:stCondLst>
                              <p:cond delay="500"/>
                            </p:stCondLst>
                            <p:childTnLst>
                              <p:par>
                                <p:cTn id="117" presetID="10" presetClass="entr" presetSubtype="0" fill="hold" nodeType="afterEffect">
                                  <p:stCondLst>
                                    <p:cond delay="0"/>
                                  </p:stCondLst>
                                  <p:childTnLst>
                                    <p:set>
                                      <p:cBhvr>
                                        <p:cTn id="118" dur="1" fill="hold">
                                          <p:stCondLst>
                                            <p:cond delay="0"/>
                                          </p:stCondLst>
                                        </p:cTn>
                                        <p:tgtEl>
                                          <p:spTgt spid="6"/>
                                        </p:tgtEl>
                                        <p:attrNameLst>
                                          <p:attrName>style.visibility</p:attrName>
                                        </p:attrNameLst>
                                      </p:cBhvr>
                                      <p:to>
                                        <p:strVal val="visible"/>
                                      </p:to>
                                    </p:set>
                                    <p:animEffect transition="in" filter="fade">
                                      <p:cBhvr>
                                        <p:cTn id="119" dur="500"/>
                                        <p:tgtEl>
                                          <p:spTgt spid="6"/>
                                        </p:tgtEl>
                                      </p:cBhvr>
                                    </p:animEffect>
                                  </p:childTnLst>
                                </p:cTn>
                              </p:par>
                            </p:childTnLst>
                          </p:cTn>
                        </p:par>
                        <p:par>
                          <p:cTn id="120" fill="hold">
                            <p:stCondLst>
                              <p:cond delay="1000"/>
                            </p:stCondLst>
                            <p:childTnLst>
                              <p:par>
                                <p:cTn id="121" presetID="22" presetClass="entr" presetSubtype="8" fill="hold" nodeType="afterEffect">
                                  <p:stCondLst>
                                    <p:cond delay="0"/>
                                  </p:stCondLst>
                                  <p:childTnLst>
                                    <p:set>
                                      <p:cBhvr>
                                        <p:cTn id="122" dur="1" fill="hold">
                                          <p:stCondLst>
                                            <p:cond delay="0"/>
                                          </p:stCondLst>
                                        </p:cTn>
                                        <p:tgtEl>
                                          <p:spTgt spid="64"/>
                                        </p:tgtEl>
                                        <p:attrNameLst>
                                          <p:attrName>style.visibility</p:attrName>
                                        </p:attrNameLst>
                                      </p:cBhvr>
                                      <p:to>
                                        <p:strVal val="visible"/>
                                      </p:to>
                                    </p:set>
                                    <p:animEffect transition="in" filter="wipe(left)">
                                      <p:cBhvr>
                                        <p:cTn id="123" dur="250"/>
                                        <p:tgtEl>
                                          <p:spTgt spid="6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79"/>
                                        </p:tgtEl>
                                        <p:attrNameLst>
                                          <p:attrName>style.visibility</p:attrName>
                                        </p:attrNameLst>
                                      </p:cBhvr>
                                      <p:to>
                                        <p:strVal val="visible"/>
                                      </p:to>
                                    </p:set>
                                    <p:animEffect transition="in" filter="fade">
                                      <p:cBhvr>
                                        <p:cTn id="126" dur="250"/>
                                        <p:tgtEl>
                                          <p:spTgt spid="79"/>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96"/>
                                        </p:tgtEl>
                                        <p:attrNameLst>
                                          <p:attrName>style.visibility</p:attrName>
                                        </p:attrNameLst>
                                      </p:cBhvr>
                                      <p:to>
                                        <p:strVal val="visible"/>
                                      </p:to>
                                    </p:set>
                                    <p:animEffect transition="in" filter="fade">
                                      <p:cBhvr>
                                        <p:cTn id="131" dur="250"/>
                                        <p:tgtEl>
                                          <p:spTgt spid="96"/>
                                        </p:tgtEl>
                                      </p:cBhvr>
                                    </p:animEffect>
                                  </p:childTnLst>
                                </p:cTn>
                              </p:par>
                            </p:childTnLst>
                          </p:cTn>
                        </p:par>
                        <p:par>
                          <p:cTn id="132" fill="hold">
                            <p:stCondLst>
                              <p:cond delay="250"/>
                            </p:stCondLst>
                            <p:childTnLst>
                              <p:par>
                                <p:cTn id="133" presetID="22" presetClass="entr" presetSubtype="8" fill="hold" nodeType="afterEffect">
                                  <p:stCondLst>
                                    <p:cond delay="0"/>
                                  </p:stCondLst>
                                  <p:childTnLst>
                                    <p:set>
                                      <p:cBhvr>
                                        <p:cTn id="134" dur="1" fill="hold">
                                          <p:stCondLst>
                                            <p:cond delay="0"/>
                                          </p:stCondLst>
                                        </p:cTn>
                                        <p:tgtEl>
                                          <p:spTgt spid="91"/>
                                        </p:tgtEl>
                                        <p:attrNameLst>
                                          <p:attrName>style.visibility</p:attrName>
                                        </p:attrNameLst>
                                      </p:cBhvr>
                                      <p:to>
                                        <p:strVal val="visible"/>
                                      </p:to>
                                    </p:set>
                                    <p:animEffect transition="in" filter="wipe(left)">
                                      <p:cBhvr>
                                        <p:cTn id="135" dur="250"/>
                                        <p:tgtEl>
                                          <p:spTgt spid="91"/>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90">
                                            <p:graphicEl>
                                              <a:chart seriesIdx="-3" categoryIdx="-3" bldStep="gridLegend"/>
                                            </p:graphicEl>
                                          </p:spTgt>
                                        </p:tgtEl>
                                        <p:attrNameLst>
                                          <p:attrName>style.visibility</p:attrName>
                                        </p:attrNameLst>
                                      </p:cBhvr>
                                      <p:to>
                                        <p:strVal val="visible"/>
                                      </p:to>
                                    </p:set>
                                    <p:animEffect transition="in" filter="wipe(down)">
                                      <p:cBhvr>
                                        <p:cTn id="140" dur="250"/>
                                        <p:tgtEl>
                                          <p:spTgt spid="90">
                                            <p:graphicEl>
                                              <a:chart seriesIdx="-3" categoryIdx="-3" bldStep="gridLegend"/>
                                            </p:graphicEl>
                                          </p:spTgt>
                                        </p:tgtEl>
                                      </p:cBhvr>
                                    </p:animEffect>
                                  </p:childTnLst>
                                </p:cTn>
                              </p:par>
                            </p:childTnLst>
                          </p:cTn>
                        </p:par>
                        <p:par>
                          <p:cTn id="141" fill="hold">
                            <p:stCondLst>
                              <p:cond delay="250"/>
                            </p:stCondLst>
                            <p:childTnLst>
                              <p:par>
                                <p:cTn id="142" presetID="22" presetClass="entr" presetSubtype="4" fill="hold" grpId="0" nodeType="afterEffect">
                                  <p:stCondLst>
                                    <p:cond delay="0"/>
                                  </p:stCondLst>
                                  <p:childTnLst>
                                    <p:set>
                                      <p:cBhvr>
                                        <p:cTn id="143" dur="1" fill="hold">
                                          <p:stCondLst>
                                            <p:cond delay="0"/>
                                          </p:stCondLst>
                                        </p:cTn>
                                        <p:tgtEl>
                                          <p:spTgt spid="90">
                                            <p:graphicEl>
                                              <a:chart seriesIdx="0" categoryIdx="0" bldStep="ptInSeries"/>
                                            </p:graphicEl>
                                          </p:spTgt>
                                        </p:tgtEl>
                                        <p:attrNameLst>
                                          <p:attrName>style.visibility</p:attrName>
                                        </p:attrNameLst>
                                      </p:cBhvr>
                                      <p:to>
                                        <p:strVal val="visible"/>
                                      </p:to>
                                    </p:set>
                                    <p:animEffect transition="in" filter="wipe(down)">
                                      <p:cBhvr>
                                        <p:cTn id="144" dur="250"/>
                                        <p:tgtEl>
                                          <p:spTgt spid="90">
                                            <p:graphicEl>
                                              <a:chart seriesIdx="0" categoryIdx="0" bldStep="ptInSeries"/>
                                            </p:graphicEl>
                                          </p:spTgt>
                                        </p:tgtEl>
                                      </p:cBhvr>
                                    </p:animEffect>
                                  </p:childTnLst>
                                </p:cTn>
                              </p:par>
                            </p:childTnLst>
                          </p:cTn>
                        </p:par>
                        <p:par>
                          <p:cTn id="145" fill="hold">
                            <p:stCondLst>
                              <p:cond delay="500"/>
                            </p:stCondLst>
                            <p:childTnLst>
                              <p:par>
                                <p:cTn id="146" presetID="22" presetClass="entr" presetSubtype="4" fill="hold" grpId="0" nodeType="afterEffect">
                                  <p:stCondLst>
                                    <p:cond delay="0"/>
                                  </p:stCondLst>
                                  <p:childTnLst>
                                    <p:set>
                                      <p:cBhvr>
                                        <p:cTn id="147" dur="1" fill="hold">
                                          <p:stCondLst>
                                            <p:cond delay="0"/>
                                          </p:stCondLst>
                                        </p:cTn>
                                        <p:tgtEl>
                                          <p:spTgt spid="90">
                                            <p:graphicEl>
                                              <a:chart seriesIdx="0" categoryIdx="1" bldStep="ptInSeries"/>
                                            </p:graphicEl>
                                          </p:spTgt>
                                        </p:tgtEl>
                                        <p:attrNameLst>
                                          <p:attrName>style.visibility</p:attrName>
                                        </p:attrNameLst>
                                      </p:cBhvr>
                                      <p:to>
                                        <p:strVal val="visible"/>
                                      </p:to>
                                    </p:set>
                                    <p:animEffect transition="in" filter="wipe(down)">
                                      <p:cBhvr>
                                        <p:cTn id="148" dur="250"/>
                                        <p:tgtEl>
                                          <p:spTgt spid="90">
                                            <p:graphicEl>
                                              <a:chart seriesIdx="0" categoryIdx="1" bldStep="ptInSeries"/>
                                            </p:graphicEl>
                                          </p:spTgt>
                                        </p:tgtEl>
                                      </p:cBhvr>
                                    </p:animEffect>
                                  </p:childTnLst>
                                </p:cTn>
                              </p:par>
                            </p:childTnLst>
                          </p:cTn>
                        </p:par>
                        <p:par>
                          <p:cTn id="149" fill="hold">
                            <p:stCondLst>
                              <p:cond delay="750"/>
                            </p:stCondLst>
                            <p:childTnLst>
                              <p:par>
                                <p:cTn id="150" presetID="22" presetClass="entr" presetSubtype="4" fill="hold" grpId="0" nodeType="afterEffect">
                                  <p:stCondLst>
                                    <p:cond delay="0"/>
                                  </p:stCondLst>
                                  <p:childTnLst>
                                    <p:set>
                                      <p:cBhvr>
                                        <p:cTn id="151" dur="1" fill="hold">
                                          <p:stCondLst>
                                            <p:cond delay="0"/>
                                          </p:stCondLst>
                                        </p:cTn>
                                        <p:tgtEl>
                                          <p:spTgt spid="90">
                                            <p:graphicEl>
                                              <a:chart seriesIdx="0" categoryIdx="2" bldStep="ptInSeries"/>
                                            </p:graphicEl>
                                          </p:spTgt>
                                        </p:tgtEl>
                                        <p:attrNameLst>
                                          <p:attrName>style.visibility</p:attrName>
                                        </p:attrNameLst>
                                      </p:cBhvr>
                                      <p:to>
                                        <p:strVal val="visible"/>
                                      </p:to>
                                    </p:set>
                                    <p:animEffect transition="in" filter="wipe(down)">
                                      <p:cBhvr>
                                        <p:cTn id="152" dur="250"/>
                                        <p:tgtEl>
                                          <p:spTgt spid="90">
                                            <p:graphicEl>
                                              <a:chart seriesIdx="0" categoryIdx="2" bldStep="ptInSeries"/>
                                            </p:graphicEl>
                                          </p:spTgt>
                                        </p:tgtEl>
                                      </p:cBhvr>
                                    </p:animEffect>
                                  </p:childTnLst>
                                </p:cTn>
                              </p:par>
                            </p:childTnLst>
                          </p:cTn>
                        </p:par>
                        <p:par>
                          <p:cTn id="153" fill="hold">
                            <p:stCondLst>
                              <p:cond delay="1000"/>
                            </p:stCondLst>
                            <p:childTnLst>
                              <p:par>
                                <p:cTn id="154" presetID="22" presetClass="entr" presetSubtype="4" fill="hold" grpId="0" nodeType="afterEffect">
                                  <p:stCondLst>
                                    <p:cond delay="0"/>
                                  </p:stCondLst>
                                  <p:childTnLst>
                                    <p:set>
                                      <p:cBhvr>
                                        <p:cTn id="155" dur="1" fill="hold">
                                          <p:stCondLst>
                                            <p:cond delay="0"/>
                                          </p:stCondLst>
                                        </p:cTn>
                                        <p:tgtEl>
                                          <p:spTgt spid="90">
                                            <p:graphicEl>
                                              <a:chart seriesIdx="0" categoryIdx="3" bldStep="ptInSeries"/>
                                            </p:graphicEl>
                                          </p:spTgt>
                                        </p:tgtEl>
                                        <p:attrNameLst>
                                          <p:attrName>style.visibility</p:attrName>
                                        </p:attrNameLst>
                                      </p:cBhvr>
                                      <p:to>
                                        <p:strVal val="visible"/>
                                      </p:to>
                                    </p:set>
                                    <p:animEffect transition="in" filter="wipe(down)">
                                      <p:cBhvr>
                                        <p:cTn id="156" dur="250"/>
                                        <p:tgtEl>
                                          <p:spTgt spid="90">
                                            <p:graphicEl>
                                              <a:chart seriesIdx="0" categoryIdx="3" bldStep="ptInSeries"/>
                                            </p:graphicEl>
                                          </p:spTgt>
                                        </p:tgtEl>
                                      </p:cBhvr>
                                    </p:animEffect>
                                  </p:childTnLst>
                                </p:cTn>
                              </p:par>
                            </p:childTnLst>
                          </p:cTn>
                        </p:par>
                        <p:par>
                          <p:cTn id="157" fill="hold">
                            <p:stCondLst>
                              <p:cond delay="1250"/>
                            </p:stCondLst>
                            <p:childTnLst>
                              <p:par>
                                <p:cTn id="158" presetID="22" presetClass="entr" presetSubtype="4" fill="hold" grpId="0" nodeType="afterEffect">
                                  <p:stCondLst>
                                    <p:cond delay="0"/>
                                  </p:stCondLst>
                                  <p:childTnLst>
                                    <p:set>
                                      <p:cBhvr>
                                        <p:cTn id="159" dur="1" fill="hold">
                                          <p:stCondLst>
                                            <p:cond delay="0"/>
                                          </p:stCondLst>
                                        </p:cTn>
                                        <p:tgtEl>
                                          <p:spTgt spid="90">
                                            <p:graphicEl>
                                              <a:chart seriesIdx="0" categoryIdx="4" bldStep="ptInSeries"/>
                                            </p:graphicEl>
                                          </p:spTgt>
                                        </p:tgtEl>
                                        <p:attrNameLst>
                                          <p:attrName>style.visibility</p:attrName>
                                        </p:attrNameLst>
                                      </p:cBhvr>
                                      <p:to>
                                        <p:strVal val="visible"/>
                                      </p:to>
                                    </p:set>
                                    <p:animEffect transition="in" filter="wipe(down)">
                                      <p:cBhvr>
                                        <p:cTn id="160" dur="250"/>
                                        <p:tgtEl>
                                          <p:spTgt spid="90">
                                            <p:graphicEl>
                                              <a:chart seriesIdx="0" categoryIdx="4" bldStep="ptInSeries"/>
                                            </p:graphicEl>
                                          </p:spTgt>
                                        </p:tgtEl>
                                      </p:cBhvr>
                                    </p:animEffect>
                                  </p:childTnLst>
                                </p:cTn>
                              </p:par>
                            </p:childTnLst>
                          </p:cTn>
                        </p:par>
                        <p:par>
                          <p:cTn id="161" fill="hold">
                            <p:stCondLst>
                              <p:cond delay="1500"/>
                            </p:stCondLst>
                            <p:childTnLst>
                              <p:par>
                                <p:cTn id="162" presetID="22" presetClass="entr" presetSubtype="4" fill="hold" grpId="0" nodeType="afterEffect">
                                  <p:stCondLst>
                                    <p:cond delay="0"/>
                                  </p:stCondLst>
                                  <p:childTnLst>
                                    <p:set>
                                      <p:cBhvr>
                                        <p:cTn id="163" dur="1" fill="hold">
                                          <p:stCondLst>
                                            <p:cond delay="0"/>
                                          </p:stCondLst>
                                        </p:cTn>
                                        <p:tgtEl>
                                          <p:spTgt spid="90">
                                            <p:graphicEl>
                                              <a:chart seriesIdx="0" categoryIdx="5" bldStep="ptInSeries"/>
                                            </p:graphicEl>
                                          </p:spTgt>
                                        </p:tgtEl>
                                        <p:attrNameLst>
                                          <p:attrName>style.visibility</p:attrName>
                                        </p:attrNameLst>
                                      </p:cBhvr>
                                      <p:to>
                                        <p:strVal val="visible"/>
                                      </p:to>
                                    </p:set>
                                    <p:animEffect transition="in" filter="wipe(down)">
                                      <p:cBhvr>
                                        <p:cTn id="164" dur="250"/>
                                        <p:tgtEl>
                                          <p:spTgt spid="90">
                                            <p:graphicEl>
                                              <a:chart seriesIdx="0" categoryIdx="5" bldStep="ptInSeries"/>
                                            </p:graphicEl>
                                          </p:spTgt>
                                        </p:tgtEl>
                                      </p:cBhvr>
                                    </p:animEffect>
                                  </p:childTnLst>
                                </p:cTn>
                              </p:par>
                            </p:childTnLst>
                          </p:cTn>
                        </p:par>
                        <p:par>
                          <p:cTn id="165" fill="hold">
                            <p:stCondLst>
                              <p:cond delay="1750"/>
                            </p:stCondLst>
                            <p:childTnLst>
                              <p:par>
                                <p:cTn id="166" presetID="22" presetClass="entr" presetSubtype="4" fill="hold" grpId="0" nodeType="afterEffect">
                                  <p:stCondLst>
                                    <p:cond delay="0"/>
                                  </p:stCondLst>
                                  <p:childTnLst>
                                    <p:set>
                                      <p:cBhvr>
                                        <p:cTn id="167" dur="1" fill="hold">
                                          <p:stCondLst>
                                            <p:cond delay="0"/>
                                          </p:stCondLst>
                                        </p:cTn>
                                        <p:tgtEl>
                                          <p:spTgt spid="90">
                                            <p:graphicEl>
                                              <a:chart seriesIdx="0" categoryIdx="6" bldStep="ptInSeries"/>
                                            </p:graphicEl>
                                          </p:spTgt>
                                        </p:tgtEl>
                                        <p:attrNameLst>
                                          <p:attrName>style.visibility</p:attrName>
                                        </p:attrNameLst>
                                      </p:cBhvr>
                                      <p:to>
                                        <p:strVal val="visible"/>
                                      </p:to>
                                    </p:set>
                                    <p:animEffect transition="in" filter="wipe(down)">
                                      <p:cBhvr>
                                        <p:cTn id="168" dur="250"/>
                                        <p:tgtEl>
                                          <p:spTgt spid="90">
                                            <p:graphicEl>
                                              <a:chart seriesIdx="0" categoryIdx="6" bldStep="ptInSeries"/>
                                            </p:graphicEl>
                                          </p:spTgt>
                                        </p:tgtEl>
                                      </p:cBhvr>
                                    </p:animEffect>
                                  </p:childTnLst>
                                </p:cTn>
                              </p:par>
                            </p:childTnLst>
                          </p:cTn>
                        </p:par>
                        <p:par>
                          <p:cTn id="169" fill="hold">
                            <p:stCondLst>
                              <p:cond delay="2000"/>
                            </p:stCondLst>
                            <p:childTnLst>
                              <p:par>
                                <p:cTn id="170" presetID="22" presetClass="entr" presetSubtype="4" fill="hold" grpId="0" nodeType="afterEffect">
                                  <p:stCondLst>
                                    <p:cond delay="0"/>
                                  </p:stCondLst>
                                  <p:childTnLst>
                                    <p:set>
                                      <p:cBhvr>
                                        <p:cTn id="171" dur="1" fill="hold">
                                          <p:stCondLst>
                                            <p:cond delay="0"/>
                                          </p:stCondLst>
                                        </p:cTn>
                                        <p:tgtEl>
                                          <p:spTgt spid="90">
                                            <p:graphicEl>
                                              <a:chart seriesIdx="0" categoryIdx="7" bldStep="ptInSeries"/>
                                            </p:graphicEl>
                                          </p:spTgt>
                                        </p:tgtEl>
                                        <p:attrNameLst>
                                          <p:attrName>style.visibility</p:attrName>
                                        </p:attrNameLst>
                                      </p:cBhvr>
                                      <p:to>
                                        <p:strVal val="visible"/>
                                      </p:to>
                                    </p:set>
                                    <p:animEffect transition="in" filter="wipe(down)">
                                      <p:cBhvr>
                                        <p:cTn id="172" dur="250"/>
                                        <p:tgtEl>
                                          <p:spTgt spid="90">
                                            <p:graphicEl>
                                              <a:chart seriesIdx="0" categoryIdx="7" bldStep="ptInSeries"/>
                                            </p:graphicEl>
                                          </p:spTgt>
                                        </p:tgtEl>
                                      </p:cBhvr>
                                    </p:animEffect>
                                  </p:childTnLst>
                                </p:cTn>
                              </p:par>
                            </p:childTnLst>
                          </p:cTn>
                        </p:par>
                      </p:childTnLst>
                    </p:cTn>
                  </p:par>
                  <p:par>
                    <p:cTn id="173" fill="hold">
                      <p:stCondLst>
                        <p:cond delay="indefinite"/>
                      </p:stCondLst>
                      <p:childTnLst>
                        <p:par>
                          <p:cTn id="174" fill="hold">
                            <p:stCondLst>
                              <p:cond delay="0"/>
                            </p:stCondLst>
                            <p:childTnLst>
                              <p:par>
                                <p:cTn id="175" presetID="21" presetClass="entr" presetSubtype="1" fill="hold" grpId="0" nodeType="clickEffect">
                                  <p:stCondLst>
                                    <p:cond delay="0"/>
                                  </p:stCondLst>
                                  <p:childTnLst>
                                    <p:set>
                                      <p:cBhvr>
                                        <p:cTn id="176" dur="1" fill="hold">
                                          <p:stCondLst>
                                            <p:cond delay="0"/>
                                          </p:stCondLst>
                                        </p:cTn>
                                        <p:tgtEl>
                                          <p:spTgt spid="87"/>
                                        </p:tgtEl>
                                        <p:attrNameLst>
                                          <p:attrName>style.visibility</p:attrName>
                                        </p:attrNameLst>
                                      </p:cBhvr>
                                      <p:to>
                                        <p:strVal val="visible"/>
                                      </p:to>
                                    </p:set>
                                    <p:animEffect transition="in" filter="wheel(1)">
                                      <p:cBhvr>
                                        <p:cTn id="177" dur="500"/>
                                        <p:tgtEl>
                                          <p:spTgt spid="87"/>
                                        </p:tgtEl>
                                      </p:cBhvr>
                                    </p:animEffect>
                                  </p:childTnLst>
                                </p:cTn>
                              </p:par>
                            </p:childTnLst>
                          </p:cTn>
                        </p:par>
                        <p:par>
                          <p:cTn id="178" fill="hold">
                            <p:stCondLst>
                              <p:cond delay="500"/>
                            </p:stCondLst>
                            <p:childTnLst>
                              <p:par>
                                <p:cTn id="179" presetID="10" presetClass="entr" presetSubtype="0" fill="hold" nodeType="afterEffect">
                                  <p:stCondLst>
                                    <p:cond delay="0"/>
                                  </p:stCondLst>
                                  <p:childTnLst>
                                    <p:set>
                                      <p:cBhvr>
                                        <p:cTn id="180" dur="1" fill="hold">
                                          <p:stCondLst>
                                            <p:cond delay="0"/>
                                          </p:stCondLst>
                                        </p:cTn>
                                        <p:tgtEl>
                                          <p:spTgt spid="8"/>
                                        </p:tgtEl>
                                        <p:attrNameLst>
                                          <p:attrName>style.visibility</p:attrName>
                                        </p:attrNameLst>
                                      </p:cBhvr>
                                      <p:to>
                                        <p:strVal val="visible"/>
                                      </p:to>
                                    </p:set>
                                    <p:animEffect transition="in" filter="fade">
                                      <p:cBhvr>
                                        <p:cTn id="181" dur="500"/>
                                        <p:tgtEl>
                                          <p:spTgt spid="8"/>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92"/>
                                        </p:tgtEl>
                                        <p:attrNameLst>
                                          <p:attrName>style.visibility</p:attrName>
                                        </p:attrNameLst>
                                      </p:cBhvr>
                                      <p:to>
                                        <p:strVal val="visible"/>
                                      </p:to>
                                    </p:set>
                                    <p:animEffect transition="in" filter="fade">
                                      <p:cBhvr>
                                        <p:cTn id="186" dur="500"/>
                                        <p:tgtEl>
                                          <p:spTgt spid="92"/>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98"/>
                                        </p:tgtEl>
                                        <p:attrNameLst>
                                          <p:attrName>style.visibility</p:attrName>
                                        </p:attrNameLst>
                                      </p:cBhvr>
                                      <p:to>
                                        <p:strVal val="visible"/>
                                      </p:to>
                                    </p:set>
                                    <p:animEffect transition="in" filter="fade">
                                      <p:cBhvr>
                                        <p:cTn id="191" dur="250"/>
                                        <p:tgtEl>
                                          <p:spTgt spid="98"/>
                                        </p:tgtEl>
                                      </p:cBhvr>
                                    </p:animEffect>
                                  </p:childTnLst>
                                </p:cTn>
                              </p:par>
                            </p:childTnLst>
                          </p:cTn>
                        </p:par>
                        <p:par>
                          <p:cTn id="192" fill="hold">
                            <p:stCondLst>
                              <p:cond delay="250"/>
                            </p:stCondLst>
                            <p:childTnLst>
                              <p:par>
                                <p:cTn id="193" presetID="10" presetClass="entr" presetSubtype="0" fill="hold" nodeType="afterEffect">
                                  <p:stCondLst>
                                    <p:cond delay="0"/>
                                  </p:stCondLst>
                                  <p:childTnLst>
                                    <p:set>
                                      <p:cBhvr>
                                        <p:cTn id="194" dur="1" fill="hold">
                                          <p:stCondLst>
                                            <p:cond delay="0"/>
                                          </p:stCondLst>
                                        </p:cTn>
                                        <p:tgtEl>
                                          <p:spTgt spid="93"/>
                                        </p:tgtEl>
                                        <p:attrNameLst>
                                          <p:attrName>style.visibility</p:attrName>
                                        </p:attrNameLst>
                                      </p:cBhvr>
                                      <p:to>
                                        <p:strVal val="visible"/>
                                      </p:to>
                                    </p:set>
                                    <p:animEffect transition="in" filter="fade">
                                      <p:cBhvr>
                                        <p:cTn id="195" dur="250"/>
                                        <p:tgtEl>
                                          <p:spTgt spid="93"/>
                                        </p:tgtEl>
                                      </p:cBhvr>
                                    </p:animEffect>
                                  </p:childTnLst>
                                </p:cTn>
                              </p:par>
                              <p:par>
                                <p:cTn id="196" presetID="63" presetClass="path" presetSubtype="0" accel="50000" decel="50000" fill="hold" nodeType="withEffect">
                                  <p:stCondLst>
                                    <p:cond delay="0"/>
                                  </p:stCondLst>
                                  <p:childTnLst>
                                    <p:animMotion origin="layout" path="M -3.95833E-6 -3.33333E-6 L 0.02735 0.00046 " pathEditMode="relative" rAng="0" ptsTypes="AA">
                                      <p:cBhvr>
                                        <p:cTn id="197" dur="10" fill="hold"/>
                                        <p:tgtEl>
                                          <p:spTgt spid="93"/>
                                        </p:tgtEl>
                                        <p:attrNameLst>
                                          <p:attrName>ppt_x</p:attrName>
                                          <p:attrName>ppt_y</p:attrName>
                                        </p:attrNameLst>
                                      </p:cBhvr>
                                      <p:rCtr x="1367" y="46"/>
                                    </p:animMotion>
                                  </p:childTnLst>
                                </p:cTn>
                              </p:par>
                            </p:childTnLst>
                          </p:cTn>
                        </p:par>
                      </p:childTnLst>
                    </p:cTn>
                  </p:par>
                  <p:par>
                    <p:cTn id="198" fill="hold">
                      <p:stCondLst>
                        <p:cond delay="indefinite"/>
                      </p:stCondLst>
                      <p:childTnLst>
                        <p:par>
                          <p:cTn id="199" fill="hold">
                            <p:stCondLst>
                              <p:cond delay="0"/>
                            </p:stCondLst>
                            <p:childTnLst>
                              <p:par>
                                <p:cTn id="200" presetID="35" presetClass="path" presetSubtype="0" accel="50000" decel="50000" fill="hold" nodeType="clickEffect">
                                  <p:stCondLst>
                                    <p:cond delay="0"/>
                                  </p:stCondLst>
                                  <p:childTnLst>
                                    <p:animMotion origin="layout" path="M 0.02734 0.00047 L 1.45833E-6 -3.7037E-6 " pathEditMode="relative" rAng="0" ptsTypes="AA">
                                      <p:cBhvr>
                                        <p:cTn id="201" dur="500" fill="hold"/>
                                        <p:tgtEl>
                                          <p:spTgt spid="93"/>
                                        </p:tgtEl>
                                        <p:attrNameLst>
                                          <p:attrName>ppt_x</p:attrName>
                                          <p:attrName>ppt_y</p:attrName>
                                        </p:attrNameLst>
                                      </p:cBhvr>
                                      <p:rCtr x="-1367" y="-23"/>
                                    </p:animMotion>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grpId="0" nodeType="clickEffect">
                                  <p:stCondLst>
                                    <p:cond delay="0"/>
                                  </p:stCondLst>
                                  <p:childTnLst>
                                    <p:set>
                                      <p:cBhvr>
                                        <p:cTn id="205" dur="1" fill="hold">
                                          <p:stCondLst>
                                            <p:cond delay="0"/>
                                          </p:stCondLst>
                                        </p:cTn>
                                        <p:tgtEl>
                                          <p:spTgt spid="99"/>
                                        </p:tgtEl>
                                        <p:attrNameLst>
                                          <p:attrName>style.visibility</p:attrName>
                                        </p:attrNameLst>
                                      </p:cBhvr>
                                      <p:to>
                                        <p:strVal val="visible"/>
                                      </p:to>
                                    </p:set>
                                    <p:animEffect transition="in" filter="fade">
                                      <p:cBhvr>
                                        <p:cTn id="206" dur="250"/>
                                        <p:tgtEl>
                                          <p:spTgt spid="99"/>
                                        </p:tgtEl>
                                      </p:cBhvr>
                                    </p:animEffect>
                                  </p:childTnLst>
                                </p:cTn>
                              </p:par>
                            </p:childTnLst>
                          </p:cTn>
                        </p:par>
                        <p:par>
                          <p:cTn id="207" fill="hold">
                            <p:stCondLst>
                              <p:cond delay="250"/>
                            </p:stCondLst>
                            <p:childTnLst>
                              <p:par>
                                <p:cTn id="208" presetID="10" presetClass="entr" presetSubtype="0" fill="hold" nodeType="afterEffect">
                                  <p:stCondLst>
                                    <p:cond delay="0"/>
                                  </p:stCondLst>
                                  <p:childTnLst>
                                    <p:set>
                                      <p:cBhvr>
                                        <p:cTn id="209" dur="1" fill="hold">
                                          <p:stCondLst>
                                            <p:cond delay="0"/>
                                          </p:stCondLst>
                                        </p:cTn>
                                        <p:tgtEl>
                                          <p:spTgt spid="94"/>
                                        </p:tgtEl>
                                        <p:attrNameLst>
                                          <p:attrName>style.visibility</p:attrName>
                                        </p:attrNameLst>
                                      </p:cBhvr>
                                      <p:to>
                                        <p:strVal val="visible"/>
                                      </p:to>
                                    </p:set>
                                    <p:animEffect transition="in" filter="fade">
                                      <p:cBhvr>
                                        <p:cTn id="210" dur="250"/>
                                        <p:tgtEl>
                                          <p:spTgt spid="94"/>
                                        </p:tgtEl>
                                      </p:cBhvr>
                                    </p:animEffect>
                                  </p:childTnLst>
                                </p:cTn>
                              </p:par>
                              <p:par>
                                <p:cTn id="211" presetID="35" presetClass="path" presetSubtype="0" accel="50000" decel="50000" fill="hold" nodeType="withEffect">
                                  <p:stCondLst>
                                    <p:cond delay="0"/>
                                  </p:stCondLst>
                                  <p:childTnLst>
                                    <p:animMotion origin="layout" path="M 2.08333E-7 -4.44444E-6 L -0.02734 0.00024 " pathEditMode="relative" rAng="0" ptsTypes="AA">
                                      <p:cBhvr>
                                        <p:cTn id="212" dur="10" fill="hold"/>
                                        <p:tgtEl>
                                          <p:spTgt spid="94"/>
                                        </p:tgtEl>
                                        <p:attrNameLst>
                                          <p:attrName>ppt_x</p:attrName>
                                          <p:attrName>ppt_y</p:attrName>
                                        </p:attrNameLst>
                                      </p:cBhvr>
                                      <p:rCtr x="-1367" y="0"/>
                                    </p:animMotion>
                                  </p:childTnLst>
                                </p:cTn>
                              </p:par>
                            </p:childTnLst>
                          </p:cTn>
                        </p:par>
                      </p:childTnLst>
                    </p:cTn>
                  </p:par>
                  <p:par>
                    <p:cTn id="213" fill="hold">
                      <p:stCondLst>
                        <p:cond delay="indefinite"/>
                      </p:stCondLst>
                      <p:childTnLst>
                        <p:par>
                          <p:cTn id="214" fill="hold">
                            <p:stCondLst>
                              <p:cond delay="0"/>
                            </p:stCondLst>
                            <p:childTnLst>
                              <p:par>
                                <p:cTn id="215" presetID="63" presetClass="path" presetSubtype="0" accel="50000" decel="50000" fill="hold" nodeType="clickEffect">
                                  <p:stCondLst>
                                    <p:cond delay="0"/>
                                  </p:stCondLst>
                                  <p:childTnLst>
                                    <p:animMotion origin="layout" path="M 2.08333E-7 -4.44444E-6 L 4.16667E-7 4.07407E-6 " pathEditMode="relative" rAng="0" ptsTypes="AA">
                                      <p:cBhvr>
                                        <p:cTn id="216" dur="500" fill="hold"/>
                                        <p:tgtEl>
                                          <p:spTgt spid="94"/>
                                        </p:tgtEl>
                                        <p:attrNameLst>
                                          <p:attrName>ppt_x</p:attrName>
                                          <p:attrName>ppt_y</p:attrName>
                                        </p:attrNameLst>
                                      </p:cBhvr>
                                      <p:rCtr x="-13" y="0"/>
                                    </p:animMotion>
                                  </p:childTnLst>
                                </p:cTn>
                              </p:par>
                            </p:childTnLst>
                          </p:cTn>
                        </p:par>
                      </p:childTnLst>
                    </p:cTn>
                  </p:par>
                  <p:par>
                    <p:cTn id="217" fill="hold">
                      <p:stCondLst>
                        <p:cond delay="indefinite"/>
                      </p:stCondLst>
                      <p:childTnLst>
                        <p:par>
                          <p:cTn id="218" fill="hold">
                            <p:stCondLst>
                              <p:cond delay="0"/>
                            </p:stCondLst>
                            <p:childTnLst>
                              <p:par>
                                <p:cTn id="219" presetID="10" presetClass="entr" presetSubtype="0" fill="hold" grpId="0" nodeType="clickEffect">
                                  <p:stCondLst>
                                    <p:cond delay="0"/>
                                  </p:stCondLst>
                                  <p:childTnLst>
                                    <p:set>
                                      <p:cBhvr>
                                        <p:cTn id="220" dur="1" fill="hold">
                                          <p:stCondLst>
                                            <p:cond delay="0"/>
                                          </p:stCondLst>
                                        </p:cTn>
                                        <p:tgtEl>
                                          <p:spTgt spid="100"/>
                                        </p:tgtEl>
                                        <p:attrNameLst>
                                          <p:attrName>style.visibility</p:attrName>
                                        </p:attrNameLst>
                                      </p:cBhvr>
                                      <p:to>
                                        <p:strVal val="visible"/>
                                      </p:to>
                                    </p:set>
                                    <p:animEffect transition="in" filter="fade">
                                      <p:cBhvr>
                                        <p:cTn id="221" dur="250"/>
                                        <p:tgtEl>
                                          <p:spTgt spid="100"/>
                                        </p:tgtEl>
                                      </p:cBhvr>
                                    </p:animEffect>
                                  </p:childTnLst>
                                </p:cTn>
                              </p:par>
                            </p:childTnLst>
                          </p:cTn>
                        </p:par>
                        <p:par>
                          <p:cTn id="222" fill="hold">
                            <p:stCondLst>
                              <p:cond delay="250"/>
                            </p:stCondLst>
                            <p:childTnLst>
                              <p:par>
                                <p:cTn id="223" presetID="10" presetClass="entr" presetSubtype="0" fill="hold" nodeType="afterEffect">
                                  <p:stCondLst>
                                    <p:cond delay="0"/>
                                  </p:stCondLst>
                                  <p:childTnLst>
                                    <p:set>
                                      <p:cBhvr>
                                        <p:cTn id="224" dur="1" fill="hold">
                                          <p:stCondLst>
                                            <p:cond delay="0"/>
                                          </p:stCondLst>
                                        </p:cTn>
                                        <p:tgtEl>
                                          <p:spTgt spid="95"/>
                                        </p:tgtEl>
                                        <p:attrNameLst>
                                          <p:attrName>style.visibility</p:attrName>
                                        </p:attrNameLst>
                                      </p:cBhvr>
                                      <p:to>
                                        <p:strVal val="visible"/>
                                      </p:to>
                                    </p:set>
                                    <p:animEffect transition="in" filter="fade">
                                      <p:cBhvr>
                                        <p:cTn id="225" dur="25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1" grpId="0">
        <p:bldSub>
          <a:bldChart bld="seriesEl"/>
        </p:bldSub>
      </p:bldGraphic>
      <p:bldP spid="78" grpId="0"/>
      <p:bldP spid="79" grpId="0"/>
      <p:bldP spid="83" grpId="0" animBg="1"/>
      <p:bldP spid="86" grpId="0" animBg="1"/>
      <p:bldP spid="87" grpId="0" animBg="1"/>
      <p:bldGraphic spid="89" grpId="0">
        <p:bldSub>
          <a:bldChart bld="seriesEl"/>
        </p:bldSub>
      </p:bldGraphic>
      <p:bldGraphic spid="90" grpId="0" uiExpand="1">
        <p:bldSub>
          <a:bldChart bld="seriesEl"/>
        </p:bldSub>
      </p:bldGraphic>
      <p:bldP spid="96" grpId="0"/>
      <p:bldP spid="97" grpId="0"/>
      <p:bldP spid="98" grpId="0"/>
      <p:bldP spid="99" grpId="0"/>
      <p:bldP spid="10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Histogram </a:t>
            </a:r>
            <a:r>
              <a:rPr lang="en-US" i="1" dirty="0">
                <a:solidFill>
                  <a:srgbClr val="FE8301"/>
                </a:solidFill>
                <a:latin typeface="Lato Light" panose="020F0302020204030203" pitchFamily="34" charset="0"/>
              </a:rPr>
              <a:t>Normalization</a:t>
            </a:r>
          </a:p>
        </p:txBody>
      </p:sp>
      <p:sp>
        <p:nvSpPr>
          <p:cNvPr id="3" name="Text Placeholder 2"/>
          <p:cNvSpPr>
            <a:spLocks noGrp="1"/>
          </p:cNvSpPr>
          <p:nvPr>
            <p:ph type="body" sz="quarter" idx="11"/>
          </p:nvPr>
        </p:nvSpPr>
        <p:spPr/>
        <p:txBody>
          <a:bodyPr/>
          <a:lstStyle/>
          <a:p>
            <a:r>
              <a:rPr lang="en-US" b="1" dirty="0"/>
              <a:t>Feature Data Vs. Histogram</a:t>
            </a:r>
          </a:p>
        </p:txBody>
      </p:sp>
      <p:sp>
        <p:nvSpPr>
          <p:cNvPr id="19" name="Rectangle 18"/>
          <p:cNvSpPr/>
          <p:nvPr/>
        </p:nvSpPr>
        <p:spPr>
          <a:xfrm>
            <a:off x="11025186" y="6444625"/>
            <a:ext cx="219075" cy="45719"/>
          </a:xfrm>
          <a:prstGeom prst="rect">
            <a:avLst/>
          </a:prstGeom>
          <a:solidFill>
            <a:srgbClr val="FF8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0" name="Straight Connector 19"/>
          <p:cNvCxnSpPr/>
          <p:nvPr/>
        </p:nvCxnSpPr>
        <p:spPr>
          <a:xfrm flipH="1">
            <a:off x="9657158" y="6467209"/>
            <a:ext cx="1147763" cy="266"/>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11243071" y="6444625"/>
            <a:ext cx="219075"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1460956" y="6444624"/>
            <a:ext cx="219075" cy="45719"/>
          </a:xfrm>
          <a:prstGeom prst="rect">
            <a:avLst/>
          </a:prstGeom>
          <a:solidFill>
            <a:srgbClr val="018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p:nvSpPr>
        <p:spPr>
          <a:xfrm>
            <a:off x="11678841" y="6444349"/>
            <a:ext cx="219075" cy="45719"/>
          </a:xfrm>
          <a:prstGeom prst="rect">
            <a:avLst/>
          </a:prstGeom>
          <a:solidFill>
            <a:srgbClr val="D73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p:nvSpPr>
        <p:spPr>
          <a:xfrm>
            <a:off x="10805516" y="6444349"/>
            <a:ext cx="219075" cy="45719"/>
          </a:xfrm>
          <a:prstGeom prst="rect">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32" name="Group 31"/>
          <p:cNvGrpSpPr/>
          <p:nvPr/>
        </p:nvGrpSpPr>
        <p:grpSpPr>
          <a:xfrm>
            <a:off x="455000" y="491056"/>
            <a:ext cx="45720" cy="675713"/>
            <a:chOff x="455000" y="491056"/>
            <a:chExt cx="45720" cy="675713"/>
          </a:xfrm>
        </p:grpSpPr>
        <p:sp>
          <p:nvSpPr>
            <p:cNvPr id="37" name="Rectangle 36"/>
            <p:cNvSpPr/>
            <p:nvPr userDrawn="1"/>
          </p:nvSpPr>
          <p:spPr>
            <a:xfrm>
              <a:off x="455001" y="491056"/>
              <a:ext cx="45719" cy="675713"/>
            </a:xfrm>
            <a:prstGeom prst="rect">
              <a:avLst/>
            </a:prstGeom>
            <a:solidFill>
              <a:srgbClr val="FE8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 name="Rectangle 44"/>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76"/>
          <p:cNvGrpSpPr/>
          <p:nvPr/>
        </p:nvGrpSpPr>
        <p:grpSpPr>
          <a:xfrm>
            <a:off x="469877" y="1716053"/>
            <a:ext cx="3231022" cy="718218"/>
            <a:chOff x="7470863" y="5064072"/>
            <a:chExt cx="3231022" cy="718218"/>
          </a:xfrm>
        </p:grpSpPr>
        <p:sp>
          <p:nvSpPr>
            <p:cNvPr id="80" name="Teardrop 79"/>
            <p:cNvSpPr/>
            <p:nvPr/>
          </p:nvSpPr>
          <p:spPr>
            <a:xfrm rot="2700000">
              <a:off x="7470863" y="5067555"/>
              <a:ext cx="566845" cy="566845"/>
            </a:xfrm>
            <a:prstGeom prst="teardrop">
              <a:avLst/>
            </a:prstGeom>
            <a:noFill/>
            <a:ln w="28575">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extBox 80"/>
            <p:cNvSpPr txBox="1">
              <a:spLocks noChangeAspect="1"/>
            </p:cNvSpPr>
            <p:nvPr/>
          </p:nvSpPr>
          <p:spPr>
            <a:xfrm>
              <a:off x="7520301" y="5118290"/>
              <a:ext cx="467965" cy="467965"/>
            </a:xfrm>
            <a:prstGeom prst="rect">
              <a:avLst/>
            </a:prstGeom>
            <a:noFill/>
          </p:spPr>
          <p:txBody>
            <a:bodyPr wrap="none" lIns="0" tIns="0" rIns="0" bIns="0" rtlCol="0" anchor="ctr" anchorCtr="0">
              <a:noAutofit/>
            </a:bodyPr>
            <a:lstStyle/>
            <a:p>
              <a:pPr algn="ctr" defTabSz="914294"/>
              <a:r>
                <a:rPr lang="en-US" sz="2000" dirty="0">
                  <a:solidFill>
                    <a:srgbClr val="012641"/>
                  </a:solidFill>
                  <a:latin typeface="FontAwesome" pitchFamily="2" charset="0"/>
                </a:rPr>
                <a:t>1</a:t>
              </a:r>
              <a:endParaRPr lang="ru-RU" sz="2000" dirty="0">
                <a:solidFill>
                  <a:srgbClr val="012641"/>
                </a:solidFill>
              </a:endParaRPr>
            </a:p>
          </p:txBody>
        </p:sp>
        <p:sp>
          <p:nvSpPr>
            <p:cNvPr id="82" name="TextBox 81"/>
            <p:cNvSpPr txBox="1"/>
            <p:nvPr/>
          </p:nvSpPr>
          <p:spPr>
            <a:xfrm>
              <a:off x="8155102" y="5064072"/>
              <a:ext cx="2379947" cy="338554"/>
            </a:xfrm>
            <a:prstGeom prst="rect">
              <a:avLst/>
            </a:prstGeom>
            <a:noFill/>
          </p:spPr>
          <p:txBody>
            <a:bodyPr wrap="none" rtlCol="0">
              <a:spAutoFit/>
            </a:bodyPr>
            <a:lstStyle/>
            <a:p>
              <a:r>
                <a:rPr lang="en-US" sz="1600" dirty="0">
                  <a:solidFill>
                    <a:srgbClr val="012641"/>
                  </a:solidFill>
                  <a:latin typeface="Lato Black" panose="020F0A02020204030203" pitchFamily="34" charset="0"/>
                </a:rPr>
                <a:t>Calculate probability value</a:t>
              </a:r>
            </a:p>
          </p:txBody>
        </p:sp>
        <p:sp>
          <p:nvSpPr>
            <p:cNvPr id="84" name="TextBox 83"/>
            <p:cNvSpPr txBox="1"/>
            <p:nvPr/>
          </p:nvSpPr>
          <p:spPr>
            <a:xfrm>
              <a:off x="8205438" y="5320625"/>
              <a:ext cx="2496447" cy="461665"/>
            </a:xfrm>
            <a:prstGeom prst="rect">
              <a:avLst/>
            </a:prstGeom>
            <a:noFill/>
          </p:spPr>
          <p:txBody>
            <a:bodyPr wrap="square" rtlCol="0">
              <a:spAutoFit/>
            </a:bodyPr>
            <a:lstStyle/>
            <a:p>
              <a:pPr marL="171450" indent="-171450">
                <a:buFont typeface="Arial" panose="020B0604020202020204" pitchFamily="34" charset="0"/>
                <a:buChar char="•"/>
              </a:pPr>
              <a:r>
                <a:rPr lang="en-US" sz="1200" b="1" dirty="0">
                  <a:solidFill>
                    <a:schemeClr val="tx1">
                      <a:lumMod val="75000"/>
                      <a:lumOff val="25000"/>
                    </a:schemeClr>
                  </a:solidFill>
                  <a:latin typeface="Lato" panose="020F0502020204030203" pitchFamily="34" charset="0"/>
                </a:rPr>
                <a:t>Divide</a:t>
              </a:r>
              <a:r>
                <a:rPr lang="en-US" sz="1200" dirty="0">
                  <a:solidFill>
                    <a:schemeClr val="tx1">
                      <a:lumMod val="75000"/>
                      <a:lumOff val="25000"/>
                    </a:schemeClr>
                  </a:solidFill>
                  <a:latin typeface="Lato" panose="020F0502020204030203" pitchFamily="34" charset="0"/>
                </a:rPr>
                <a:t> each bin by </a:t>
              </a:r>
              <a:r>
                <a:rPr lang="en-US" sz="1200" b="1" dirty="0">
                  <a:solidFill>
                    <a:schemeClr val="tx1">
                      <a:lumMod val="75000"/>
                      <a:lumOff val="25000"/>
                    </a:schemeClr>
                  </a:solidFill>
                  <a:latin typeface="Lato" panose="020F0502020204030203" pitchFamily="34" charset="0"/>
                </a:rPr>
                <a:t>how many data </a:t>
              </a:r>
              <a:r>
                <a:rPr lang="en-US" sz="1200" dirty="0">
                  <a:solidFill>
                    <a:schemeClr val="tx1">
                      <a:lumMod val="75000"/>
                      <a:lumOff val="25000"/>
                    </a:schemeClr>
                  </a:solidFill>
                  <a:latin typeface="Lato" panose="020F0502020204030203" pitchFamily="34" charset="0"/>
                </a:rPr>
                <a:t>in </a:t>
              </a:r>
              <a:r>
                <a:rPr lang="en-US" sz="1200" b="1" dirty="0">
                  <a:solidFill>
                    <a:schemeClr val="tx1">
                      <a:lumMod val="75000"/>
                      <a:lumOff val="25000"/>
                    </a:schemeClr>
                  </a:solidFill>
                  <a:latin typeface="Lato" panose="020F0502020204030203" pitchFamily="34" charset="0"/>
                </a:rPr>
                <a:t>temporary</a:t>
              </a:r>
              <a:r>
                <a:rPr lang="en-US" sz="1200" dirty="0">
                  <a:solidFill>
                    <a:schemeClr val="tx1">
                      <a:lumMod val="75000"/>
                      <a:lumOff val="25000"/>
                    </a:schemeClr>
                  </a:solidFill>
                  <a:latin typeface="Lato" panose="020F0502020204030203" pitchFamily="34" charset="0"/>
                </a:rPr>
                <a:t> histogram</a:t>
              </a:r>
            </a:p>
          </p:txBody>
        </p:sp>
      </p:grpSp>
      <p:sp>
        <p:nvSpPr>
          <p:cNvPr id="85" name="Rounded Rectangle 84"/>
          <p:cNvSpPr/>
          <p:nvPr/>
        </p:nvSpPr>
        <p:spPr>
          <a:xfrm>
            <a:off x="302148" y="1593765"/>
            <a:ext cx="3576814" cy="4660731"/>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aphicFrame>
        <p:nvGraphicFramePr>
          <p:cNvPr id="99" name="Table 98"/>
          <p:cNvGraphicFramePr>
            <a:graphicFrameLocks noGrp="1"/>
          </p:cNvGraphicFramePr>
          <p:nvPr>
            <p:extLst>
              <p:ext uri="{D42A27DB-BD31-4B8C-83A1-F6EECF244321}">
                <p14:modId xmlns:p14="http://schemas.microsoft.com/office/powerpoint/2010/main" val="3512308931"/>
              </p:ext>
            </p:extLst>
          </p:nvPr>
        </p:nvGraphicFramePr>
        <p:xfrm>
          <a:off x="519315" y="2736362"/>
          <a:ext cx="3140055" cy="365673"/>
        </p:xfrm>
        <a:graphic>
          <a:graphicData uri="http://schemas.openxmlformats.org/drawingml/2006/table">
            <a:tbl>
              <a:tblPr>
                <a:tableStyleId>{073A0DAA-6AF3-43AB-8588-CEC1D06C72B9}</a:tableStyleId>
              </a:tblPr>
              <a:tblGrid>
                <a:gridCol w="348895">
                  <a:extLst>
                    <a:ext uri="{9D8B030D-6E8A-4147-A177-3AD203B41FA5}">
                      <a16:colId xmlns:a16="http://schemas.microsoft.com/office/drawing/2014/main" val="81173760"/>
                    </a:ext>
                  </a:extLst>
                </a:gridCol>
                <a:gridCol w="348895">
                  <a:extLst>
                    <a:ext uri="{9D8B030D-6E8A-4147-A177-3AD203B41FA5}">
                      <a16:colId xmlns:a16="http://schemas.microsoft.com/office/drawing/2014/main" val="3975788157"/>
                    </a:ext>
                  </a:extLst>
                </a:gridCol>
                <a:gridCol w="348895">
                  <a:extLst>
                    <a:ext uri="{9D8B030D-6E8A-4147-A177-3AD203B41FA5}">
                      <a16:colId xmlns:a16="http://schemas.microsoft.com/office/drawing/2014/main" val="3213628059"/>
                    </a:ext>
                  </a:extLst>
                </a:gridCol>
                <a:gridCol w="348895">
                  <a:extLst>
                    <a:ext uri="{9D8B030D-6E8A-4147-A177-3AD203B41FA5}">
                      <a16:colId xmlns:a16="http://schemas.microsoft.com/office/drawing/2014/main" val="1954314805"/>
                    </a:ext>
                  </a:extLst>
                </a:gridCol>
                <a:gridCol w="348895">
                  <a:extLst>
                    <a:ext uri="{9D8B030D-6E8A-4147-A177-3AD203B41FA5}">
                      <a16:colId xmlns:a16="http://schemas.microsoft.com/office/drawing/2014/main" val="2810310177"/>
                    </a:ext>
                  </a:extLst>
                </a:gridCol>
                <a:gridCol w="348895">
                  <a:extLst>
                    <a:ext uri="{9D8B030D-6E8A-4147-A177-3AD203B41FA5}">
                      <a16:colId xmlns:a16="http://schemas.microsoft.com/office/drawing/2014/main" val="3940813787"/>
                    </a:ext>
                  </a:extLst>
                </a:gridCol>
                <a:gridCol w="348895">
                  <a:extLst>
                    <a:ext uri="{9D8B030D-6E8A-4147-A177-3AD203B41FA5}">
                      <a16:colId xmlns:a16="http://schemas.microsoft.com/office/drawing/2014/main" val="3836844534"/>
                    </a:ext>
                  </a:extLst>
                </a:gridCol>
                <a:gridCol w="348895">
                  <a:extLst>
                    <a:ext uri="{9D8B030D-6E8A-4147-A177-3AD203B41FA5}">
                      <a16:colId xmlns:a16="http://schemas.microsoft.com/office/drawing/2014/main" val="1341483332"/>
                    </a:ext>
                  </a:extLst>
                </a:gridCol>
                <a:gridCol w="348895">
                  <a:extLst>
                    <a:ext uri="{9D8B030D-6E8A-4147-A177-3AD203B41FA5}">
                      <a16:colId xmlns:a16="http://schemas.microsoft.com/office/drawing/2014/main" val="3948290062"/>
                    </a:ext>
                  </a:extLst>
                </a:gridCol>
              </a:tblGrid>
              <a:tr h="192545">
                <a:tc>
                  <a:txBody>
                    <a:bodyPr/>
                    <a:lstStyle/>
                    <a:p>
                      <a:pPr algn="ctr" rtl="0" fontAlgn="ctr"/>
                      <a:r>
                        <a:rPr lang="en-US" sz="1000" b="1" u="none" strike="noStrike" dirty="0">
                          <a:effectLst/>
                          <a:latin typeface="Tw Cen MT" panose="020B0602020104020603" pitchFamily="34" charset="0"/>
                        </a:rPr>
                        <a:t>1</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2</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3</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4</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5</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6</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7</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8</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9</a:t>
                      </a:r>
                      <a:endParaRPr lang="en-US" sz="10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271338744"/>
                  </a:ext>
                </a:extLst>
              </a:tr>
              <a:tr h="173128">
                <a:tc>
                  <a:txBody>
                    <a:bodyPr/>
                    <a:lstStyle/>
                    <a:p>
                      <a:pPr algn="ctr" rtl="0" fontAlgn="ctr"/>
                      <a:r>
                        <a:rPr lang="en-US" sz="1000" b="0" i="0" u="none" strike="noStrike" dirty="0">
                          <a:solidFill>
                            <a:srgbClr val="000000"/>
                          </a:solidFill>
                          <a:effectLst/>
                          <a:latin typeface="Tw Cen MT" panose="020B0602020104020603" pitchFamily="34" charset="0"/>
                        </a:rPr>
                        <a:t>1</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34.5</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186</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456</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615</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471.5</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195</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38</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3</a:t>
                      </a:r>
                    </a:p>
                  </a:txBody>
                  <a:tcPr marL="9525" marR="9525" marT="9525" marB="0" anchor="ctr"/>
                </a:tc>
                <a:extLst>
                  <a:ext uri="{0D108BD9-81ED-4DB2-BD59-A6C34878D82A}">
                    <a16:rowId xmlns:a16="http://schemas.microsoft.com/office/drawing/2014/main" val="1227935073"/>
                  </a:ext>
                </a:extLst>
              </a:tr>
            </a:tbl>
          </a:graphicData>
        </a:graphic>
      </p:graphicFrame>
      <p:graphicFrame>
        <p:nvGraphicFramePr>
          <p:cNvPr id="100" name="Table 99"/>
          <p:cNvGraphicFramePr>
            <a:graphicFrameLocks noGrp="1"/>
          </p:cNvGraphicFramePr>
          <p:nvPr>
            <p:extLst>
              <p:ext uri="{D42A27DB-BD31-4B8C-83A1-F6EECF244321}">
                <p14:modId xmlns:p14="http://schemas.microsoft.com/office/powerpoint/2010/main" val="2655668854"/>
              </p:ext>
            </p:extLst>
          </p:nvPr>
        </p:nvGraphicFramePr>
        <p:xfrm>
          <a:off x="519314" y="3699790"/>
          <a:ext cx="3140055" cy="361382"/>
        </p:xfrm>
        <a:graphic>
          <a:graphicData uri="http://schemas.openxmlformats.org/drawingml/2006/table">
            <a:tbl>
              <a:tblPr>
                <a:tableStyleId>{073A0DAA-6AF3-43AB-8588-CEC1D06C72B9}</a:tableStyleId>
              </a:tblPr>
              <a:tblGrid>
                <a:gridCol w="348895">
                  <a:extLst>
                    <a:ext uri="{9D8B030D-6E8A-4147-A177-3AD203B41FA5}">
                      <a16:colId xmlns:a16="http://schemas.microsoft.com/office/drawing/2014/main" val="81173760"/>
                    </a:ext>
                  </a:extLst>
                </a:gridCol>
                <a:gridCol w="348895">
                  <a:extLst>
                    <a:ext uri="{9D8B030D-6E8A-4147-A177-3AD203B41FA5}">
                      <a16:colId xmlns:a16="http://schemas.microsoft.com/office/drawing/2014/main" val="3975788157"/>
                    </a:ext>
                  </a:extLst>
                </a:gridCol>
                <a:gridCol w="348895">
                  <a:extLst>
                    <a:ext uri="{9D8B030D-6E8A-4147-A177-3AD203B41FA5}">
                      <a16:colId xmlns:a16="http://schemas.microsoft.com/office/drawing/2014/main" val="3213628059"/>
                    </a:ext>
                  </a:extLst>
                </a:gridCol>
                <a:gridCol w="348895">
                  <a:extLst>
                    <a:ext uri="{9D8B030D-6E8A-4147-A177-3AD203B41FA5}">
                      <a16:colId xmlns:a16="http://schemas.microsoft.com/office/drawing/2014/main" val="1954314805"/>
                    </a:ext>
                  </a:extLst>
                </a:gridCol>
                <a:gridCol w="348895">
                  <a:extLst>
                    <a:ext uri="{9D8B030D-6E8A-4147-A177-3AD203B41FA5}">
                      <a16:colId xmlns:a16="http://schemas.microsoft.com/office/drawing/2014/main" val="2810310177"/>
                    </a:ext>
                  </a:extLst>
                </a:gridCol>
                <a:gridCol w="348895">
                  <a:extLst>
                    <a:ext uri="{9D8B030D-6E8A-4147-A177-3AD203B41FA5}">
                      <a16:colId xmlns:a16="http://schemas.microsoft.com/office/drawing/2014/main" val="3940813787"/>
                    </a:ext>
                  </a:extLst>
                </a:gridCol>
                <a:gridCol w="348895">
                  <a:extLst>
                    <a:ext uri="{9D8B030D-6E8A-4147-A177-3AD203B41FA5}">
                      <a16:colId xmlns:a16="http://schemas.microsoft.com/office/drawing/2014/main" val="3836844534"/>
                    </a:ext>
                  </a:extLst>
                </a:gridCol>
                <a:gridCol w="348895">
                  <a:extLst>
                    <a:ext uri="{9D8B030D-6E8A-4147-A177-3AD203B41FA5}">
                      <a16:colId xmlns:a16="http://schemas.microsoft.com/office/drawing/2014/main" val="1341483332"/>
                    </a:ext>
                  </a:extLst>
                </a:gridCol>
                <a:gridCol w="348895">
                  <a:extLst>
                    <a:ext uri="{9D8B030D-6E8A-4147-A177-3AD203B41FA5}">
                      <a16:colId xmlns:a16="http://schemas.microsoft.com/office/drawing/2014/main" val="3948290062"/>
                    </a:ext>
                  </a:extLst>
                </a:gridCol>
              </a:tblGrid>
              <a:tr h="188254">
                <a:tc>
                  <a:txBody>
                    <a:bodyPr/>
                    <a:lstStyle/>
                    <a:p>
                      <a:pPr algn="ctr" rtl="0" fontAlgn="ctr"/>
                      <a:r>
                        <a:rPr lang="en-US" sz="1000" b="1" u="none" strike="noStrike" dirty="0">
                          <a:effectLst/>
                          <a:latin typeface="Tw Cen MT" panose="020B0602020104020603" pitchFamily="34" charset="0"/>
                        </a:rPr>
                        <a:t>1</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2</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3</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4</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5</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6</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7</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8</a:t>
                      </a:r>
                      <a:endParaRPr lang="en-US" sz="10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1" u="none" strike="noStrike" dirty="0">
                          <a:effectLst/>
                          <a:latin typeface="Tw Cen MT" panose="020B0602020104020603" pitchFamily="34" charset="0"/>
                        </a:rPr>
                        <a:t>9</a:t>
                      </a:r>
                      <a:endParaRPr lang="en-US" sz="10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271338744"/>
                  </a:ext>
                </a:extLst>
              </a:tr>
              <a:tr h="173128">
                <a:tc>
                  <a:txBody>
                    <a:bodyPr/>
                    <a:lstStyle/>
                    <a:p>
                      <a:pPr algn="ctr" rtl="0" fontAlgn="ctr"/>
                      <a:r>
                        <a:rPr lang="en-US" sz="900" b="0" i="0" u="none" strike="noStrike" dirty="0">
                          <a:solidFill>
                            <a:srgbClr val="000000"/>
                          </a:solidFill>
                          <a:effectLst/>
                          <a:latin typeface="Tw Cen MT" panose="020B0602020104020603" pitchFamily="34" charset="0"/>
                        </a:rPr>
                        <a:t>5E-04</a:t>
                      </a:r>
                    </a:p>
                  </a:txBody>
                  <a:tcPr marL="9525" marR="9525" marT="9525" marB="0" anchor="ctr"/>
                </a:tc>
                <a:tc>
                  <a:txBody>
                    <a:bodyPr/>
                    <a:lstStyle/>
                    <a:p>
                      <a:pPr algn="ctr" rtl="0" fontAlgn="ctr"/>
                      <a:r>
                        <a:rPr lang="en-US" sz="900" b="0" i="0" u="none" strike="noStrike">
                          <a:solidFill>
                            <a:srgbClr val="000000"/>
                          </a:solidFill>
                          <a:effectLst/>
                          <a:latin typeface="Tw Cen MT" panose="020B0602020104020603" pitchFamily="34" charset="0"/>
                        </a:rPr>
                        <a:t>0.017</a:t>
                      </a:r>
                    </a:p>
                  </a:txBody>
                  <a:tcPr marL="9525" marR="9525" marT="9525" marB="0" anchor="ctr"/>
                </a:tc>
                <a:tc>
                  <a:txBody>
                    <a:bodyPr/>
                    <a:lstStyle/>
                    <a:p>
                      <a:pPr algn="ctr" rtl="0" fontAlgn="ctr"/>
                      <a:r>
                        <a:rPr lang="en-US" sz="900" b="0" i="0" u="none" strike="noStrike">
                          <a:solidFill>
                            <a:srgbClr val="000000"/>
                          </a:solidFill>
                          <a:effectLst/>
                          <a:latin typeface="Tw Cen MT" panose="020B0602020104020603" pitchFamily="34" charset="0"/>
                        </a:rPr>
                        <a:t>0.093</a:t>
                      </a:r>
                    </a:p>
                  </a:txBody>
                  <a:tcPr marL="9525" marR="9525" marT="9525" marB="0" anchor="ctr"/>
                </a:tc>
                <a:tc>
                  <a:txBody>
                    <a:bodyPr/>
                    <a:lstStyle/>
                    <a:p>
                      <a:pPr algn="ctr" rtl="0" fontAlgn="ctr"/>
                      <a:r>
                        <a:rPr lang="en-US" sz="900" b="0" i="0" u="none" strike="noStrike" dirty="0">
                          <a:solidFill>
                            <a:srgbClr val="000000"/>
                          </a:solidFill>
                          <a:effectLst/>
                          <a:latin typeface="Tw Cen MT" panose="020B0602020104020603" pitchFamily="34" charset="0"/>
                        </a:rPr>
                        <a:t>0.228</a:t>
                      </a:r>
                    </a:p>
                  </a:txBody>
                  <a:tcPr marL="9525" marR="9525" marT="9525" marB="0" anchor="ctr"/>
                </a:tc>
                <a:tc>
                  <a:txBody>
                    <a:bodyPr/>
                    <a:lstStyle/>
                    <a:p>
                      <a:pPr algn="ctr" rtl="0" fontAlgn="ctr"/>
                      <a:r>
                        <a:rPr lang="en-US" sz="900" b="0" i="0" u="none" strike="noStrike">
                          <a:solidFill>
                            <a:srgbClr val="000000"/>
                          </a:solidFill>
                          <a:effectLst/>
                          <a:latin typeface="Tw Cen MT" panose="020B0602020104020603" pitchFamily="34" charset="0"/>
                        </a:rPr>
                        <a:t>0.308</a:t>
                      </a:r>
                    </a:p>
                  </a:txBody>
                  <a:tcPr marL="9525" marR="9525" marT="9525" marB="0" anchor="ctr"/>
                </a:tc>
                <a:tc>
                  <a:txBody>
                    <a:bodyPr/>
                    <a:lstStyle/>
                    <a:p>
                      <a:pPr algn="ctr" rtl="0" fontAlgn="ctr"/>
                      <a:r>
                        <a:rPr lang="en-US" sz="900" b="0" i="0" u="none" strike="noStrike">
                          <a:solidFill>
                            <a:srgbClr val="000000"/>
                          </a:solidFill>
                          <a:effectLst/>
                          <a:latin typeface="Tw Cen MT" panose="020B0602020104020603" pitchFamily="34" charset="0"/>
                        </a:rPr>
                        <a:t>0.236</a:t>
                      </a:r>
                    </a:p>
                  </a:txBody>
                  <a:tcPr marL="9525" marR="9525" marT="9525" marB="0" anchor="ctr"/>
                </a:tc>
                <a:tc>
                  <a:txBody>
                    <a:bodyPr/>
                    <a:lstStyle/>
                    <a:p>
                      <a:pPr algn="ctr" rtl="0" fontAlgn="ctr"/>
                      <a:r>
                        <a:rPr lang="en-US" sz="900" b="0" i="0" u="none" strike="noStrike" dirty="0">
                          <a:solidFill>
                            <a:srgbClr val="000000"/>
                          </a:solidFill>
                          <a:effectLst/>
                          <a:latin typeface="Tw Cen MT" panose="020B0602020104020603" pitchFamily="34" charset="0"/>
                        </a:rPr>
                        <a:t>0.098</a:t>
                      </a:r>
                    </a:p>
                  </a:txBody>
                  <a:tcPr marL="9525" marR="9525" marT="9525" marB="0" anchor="ctr"/>
                </a:tc>
                <a:tc>
                  <a:txBody>
                    <a:bodyPr/>
                    <a:lstStyle/>
                    <a:p>
                      <a:pPr algn="ctr" rtl="0" fontAlgn="ctr"/>
                      <a:r>
                        <a:rPr lang="en-US" sz="900" b="0" i="0" u="none" strike="noStrike" dirty="0">
                          <a:solidFill>
                            <a:srgbClr val="000000"/>
                          </a:solidFill>
                          <a:effectLst/>
                          <a:latin typeface="Tw Cen MT" panose="020B0602020104020603" pitchFamily="34" charset="0"/>
                        </a:rPr>
                        <a:t>0.019</a:t>
                      </a:r>
                    </a:p>
                  </a:txBody>
                  <a:tcPr marL="9525" marR="9525" marT="9525" marB="0" anchor="ctr"/>
                </a:tc>
                <a:tc>
                  <a:txBody>
                    <a:bodyPr/>
                    <a:lstStyle/>
                    <a:p>
                      <a:pPr algn="ctr" rtl="0" fontAlgn="ctr"/>
                      <a:r>
                        <a:rPr lang="en-US" sz="900" b="0" i="0" u="none" strike="noStrike" dirty="0">
                          <a:solidFill>
                            <a:srgbClr val="000000"/>
                          </a:solidFill>
                          <a:effectLst/>
                          <a:latin typeface="Tw Cen MT" panose="020B0602020104020603" pitchFamily="34" charset="0"/>
                        </a:rPr>
                        <a:t>0.002</a:t>
                      </a:r>
                    </a:p>
                  </a:txBody>
                  <a:tcPr marL="9525" marR="9525" marT="9525" marB="0" anchor="ctr"/>
                </a:tc>
                <a:extLst>
                  <a:ext uri="{0D108BD9-81ED-4DB2-BD59-A6C34878D82A}">
                    <a16:rowId xmlns:a16="http://schemas.microsoft.com/office/drawing/2014/main" val="1227935073"/>
                  </a:ext>
                </a:extLst>
              </a:tr>
            </a:tbl>
          </a:graphicData>
        </a:graphic>
      </p:graphicFrame>
      <p:graphicFrame>
        <p:nvGraphicFramePr>
          <p:cNvPr id="101" name="Table 100"/>
          <p:cNvGraphicFramePr>
            <a:graphicFrameLocks noGrp="1"/>
          </p:cNvGraphicFramePr>
          <p:nvPr>
            <p:extLst>
              <p:ext uri="{D42A27DB-BD31-4B8C-83A1-F6EECF244321}">
                <p14:modId xmlns:p14="http://schemas.microsoft.com/office/powerpoint/2010/main" val="1181647234"/>
              </p:ext>
            </p:extLst>
          </p:nvPr>
        </p:nvGraphicFramePr>
        <p:xfrm>
          <a:off x="4213254" y="2166340"/>
          <a:ext cx="3749502" cy="571500"/>
        </p:xfrm>
        <a:graphic>
          <a:graphicData uri="http://schemas.openxmlformats.org/drawingml/2006/table">
            <a:tbl>
              <a:tblPr>
                <a:tableStyleId>{073A0DAA-6AF3-43AB-8588-CEC1D06C72B9}</a:tableStyleId>
              </a:tblPr>
              <a:tblGrid>
                <a:gridCol w="582447">
                  <a:extLst>
                    <a:ext uri="{9D8B030D-6E8A-4147-A177-3AD203B41FA5}">
                      <a16:colId xmlns:a16="http://schemas.microsoft.com/office/drawing/2014/main" val="2010160915"/>
                    </a:ext>
                  </a:extLst>
                </a:gridCol>
                <a:gridCol w="351895">
                  <a:extLst>
                    <a:ext uri="{9D8B030D-6E8A-4147-A177-3AD203B41FA5}">
                      <a16:colId xmlns:a16="http://schemas.microsoft.com/office/drawing/2014/main" val="1695068152"/>
                    </a:ext>
                  </a:extLst>
                </a:gridCol>
                <a:gridCol w="351895">
                  <a:extLst>
                    <a:ext uri="{9D8B030D-6E8A-4147-A177-3AD203B41FA5}">
                      <a16:colId xmlns:a16="http://schemas.microsoft.com/office/drawing/2014/main" val="2336420741"/>
                    </a:ext>
                  </a:extLst>
                </a:gridCol>
                <a:gridCol w="351895">
                  <a:extLst>
                    <a:ext uri="{9D8B030D-6E8A-4147-A177-3AD203B41FA5}">
                      <a16:colId xmlns:a16="http://schemas.microsoft.com/office/drawing/2014/main" val="3461314546"/>
                    </a:ext>
                  </a:extLst>
                </a:gridCol>
                <a:gridCol w="351895">
                  <a:extLst>
                    <a:ext uri="{9D8B030D-6E8A-4147-A177-3AD203B41FA5}">
                      <a16:colId xmlns:a16="http://schemas.microsoft.com/office/drawing/2014/main" val="2239297547"/>
                    </a:ext>
                  </a:extLst>
                </a:gridCol>
                <a:gridCol w="351895">
                  <a:extLst>
                    <a:ext uri="{9D8B030D-6E8A-4147-A177-3AD203B41FA5}">
                      <a16:colId xmlns:a16="http://schemas.microsoft.com/office/drawing/2014/main" val="2844738517"/>
                    </a:ext>
                  </a:extLst>
                </a:gridCol>
                <a:gridCol w="351895">
                  <a:extLst>
                    <a:ext uri="{9D8B030D-6E8A-4147-A177-3AD203B41FA5}">
                      <a16:colId xmlns:a16="http://schemas.microsoft.com/office/drawing/2014/main" val="3566160196"/>
                    </a:ext>
                  </a:extLst>
                </a:gridCol>
                <a:gridCol w="351895">
                  <a:extLst>
                    <a:ext uri="{9D8B030D-6E8A-4147-A177-3AD203B41FA5}">
                      <a16:colId xmlns:a16="http://schemas.microsoft.com/office/drawing/2014/main" val="388562243"/>
                    </a:ext>
                  </a:extLst>
                </a:gridCol>
                <a:gridCol w="351895">
                  <a:extLst>
                    <a:ext uri="{9D8B030D-6E8A-4147-A177-3AD203B41FA5}">
                      <a16:colId xmlns:a16="http://schemas.microsoft.com/office/drawing/2014/main" val="4195765789"/>
                    </a:ext>
                  </a:extLst>
                </a:gridCol>
                <a:gridCol w="351895">
                  <a:extLst>
                    <a:ext uri="{9D8B030D-6E8A-4147-A177-3AD203B41FA5}">
                      <a16:colId xmlns:a16="http://schemas.microsoft.com/office/drawing/2014/main" val="2304843134"/>
                    </a:ext>
                  </a:extLst>
                </a:gridCol>
              </a:tblGrid>
              <a:tr h="371475">
                <a:tc>
                  <a:txBody>
                    <a:bodyPr/>
                    <a:lstStyle/>
                    <a:p>
                      <a:pPr algn="ctr" rtl="0" fontAlgn="ctr"/>
                      <a:r>
                        <a:rPr lang="en-US" sz="1050" b="1" u="none" strike="noStrike" dirty="0" err="1">
                          <a:effectLst/>
                          <a:latin typeface="Tw Cen MT" panose="020B0602020104020603" pitchFamily="34" charset="0"/>
                        </a:rPr>
                        <a:t>Num</a:t>
                      </a:r>
                      <a:r>
                        <a:rPr lang="en-US" sz="1050" b="1" u="none" strike="noStrike" dirty="0">
                          <a:effectLst/>
                          <a:latin typeface="Tw Cen MT" panose="020B0602020104020603" pitchFamily="34" charset="0"/>
                        </a:rPr>
                        <a:t> of Bin</a:t>
                      </a:r>
                      <a:endParaRPr lang="en-US" sz="105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1</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2</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3</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4</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5</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6</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7</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8</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9</a:t>
                      </a:r>
                      <a:endParaRPr lang="en-US" sz="11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200025">
                <a:tc>
                  <a:txBody>
                    <a:bodyPr/>
                    <a:lstStyle/>
                    <a:p>
                      <a:pPr algn="ctr" rtl="0" fontAlgn="ctr"/>
                      <a:r>
                        <a:rPr lang="en-US" sz="1050" b="1" u="none" strike="noStrike" dirty="0">
                          <a:effectLst/>
                          <a:latin typeface="Tw Cen MT" panose="020B0602020104020603" pitchFamily="34" charset="0"/>
                        </a:rPr>
                        <a:t>Count</a:t>
                      </a:r>
                      <a:endParaRPr lang="en-US" sz="105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0</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2</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65</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240</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367</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256</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64</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6</a:t>
                      </a:r>
                      <a:endParaRPr lang="en-US" sz="1100" b="0"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u="none" strike="noStrike" dirty="0">
                          <a:effectLst/>
                          <a:latin typeface="Tw Cen MT" panose="020B0602020104020603" pitchFamily="34" charset="0"/>
                        </a:rPr>
                        <a:t>0</a:t>
                      </a:r>
                      <a:endParaRPr lang="en-US" sz="1100" b="0"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2968073239"/>
                  </a:ext>
                </a:extLst>
              </a:tr>
            </a:tbl>
          </a:graphicData>
        </a:graphic>
      </p:graphicFrame>
      <p:graphicFrame>
        <p:nvGraphicFramePr>
          <p:cNvPr id="102" name="Table 101"/>
          <p:cNvGraphicFramePr>
            <a:graphicFrameLocks noGrp="1"/>
          </p:cNvGraphicFramePr>
          <p:nvPr>
            <p:extLst>
              <p:ext uri="{D42A27DB-BD31-4B8C-83A1-F6EECF244321}">
                <p14:modId xmlns:p14="http://schemas.microsoft.com/office/powerpoint/2010/main" val="642542737"/>
              </p:ext>
            </p:extLst>
          </p:nvPr>
        </p:nvGraphicFramePr>
        <p:xfrm>
          <a:off x="8034392" y="2171819"/>
          <a:ext cx="3749502" cy="571500"/>
        </p:xfrm>
        <a:graphic>
          <a:graphicData uri="http://schemas.openxmlformats.org/drawingml/2006/table">
            <a:tbl>
              <a:tblPr>
                <a:tableStyleId>{073A0DAA-6AF3-43AB-8588-CEC1D06C72B9}</a:tableStyleId>
              </a:tblPr>
              <a:tblGrid>
                <a:gridCol w="582447">
                  <a:extLst>
                    <a:ext uri="{9D8B030D-6E8A-4147-A177-3AD203B41FA5}">
                      <a16:colId xmlns:a16="http://schemas.microsoft.com/office/drawing/2014/main" val="2010160915"/>
                    </a:ext>
                  </a:extLst>
                </a:gridCol>
                <a:gridCol w="351895">
                  <a:extLst>
                    <a:ext uri="{9D8B030D-6E8A-4147-A177-3AD203B41FA5}">
                      <a16:colId xmlns:a16="http://schemas.microsoft.com/office/drawing/2014/main" val="1695068152"/>
                    </a:ext>
                  </a:extLst>
                </a:gridCol>
                <a:gridCol w="351895">
                  <a:extLst>
                    <a:ext uri="{9D8B030D-6E8A-4147-A177-3AD203B41FA5}">
                      <a16:colId xmlns:a16="http://schemas.microsoft.com/office/drawing/2014/main" val="2336420741"/>
                    </a:ext>
                  </a:extLst>
                </a:gridCol>
                <a:gridCol w="351895">
                  <a:extLst>
                    <a:ext uri="{9D8B030D-6E8A-4147-A177-3AD203B41FA5}">
                      <a16:colId xmlns:a16="http://schemas.microsoft.com/office/drawing/2014/main" val="3461314546"/>
                    </a:ext>
                  </a:extLst>
                </a:gridCol>
                <a:gridCol w="351895">
                  <a:extLst>
                    <a:ext uri="{9D8B030D-6E8A-4147-A177-3AD203B41FA5}">
                      <a16:colId xmlns:a16="http://schemas.microsoft.com/office/drawing/2014/main" val="2239297547"/>
                    </a:ext>
                  </a:extLst>
                </a:gridCol>
                <a:gridCol w="351895">
                  <a:extLst>
                    <a:ext uri="{9D8B030D-6E8A-4147-A177-3AD203B41FA5}">
                      <a16:colId xmlns:a16="http://schemas.microsoft.com/office/drawing/2014/main" val="2844738517"/>
                    </a:ext>
                  </a:extLst>
                </a:gridCol>
                <a:gridCol w="351895">
                  <a:extLst>
                    <a:ext uri="{9D8B030D-6E8A-4147-A177-3AD203B41FA5}">
                      <a16:colId xmlns:a16="http://schemas.microsoft.com/office/drawing/2014/main" val="3566160196"/>
                    </a:ext>
                  </a:extLst>
                </a:gridCol>
                <a:gridCol w="351895">
                  <a:extLst>
                    <a:ext uri="{9D8B030D-6E8A-4147-A177-3AD203B41FA5}">
                      <a16:colId xmlns:a16="http://schemas.microsoft.com/office/drawing/2014/main" val="388562243"/>
                    </a:ext>
                  </a:extLst>
                </a:gridCol>
                <a:gridCol w="351895">
                  <a:extLst>
                    <a:ext uri="{9D8B030D-6E8A-4147-A177-3AD203B41FA5}">
                      <a16:colId xmlns:a16="http://schemas.microsoft.com/office/drawing/2014/main" val="4195765789"/>
                    </a:ext>
                  </a:extLst>
                </a:gridCol>
                <a:gridCol w="351895">
                  <a:extLst>
                    <a:ext uri="{9D8B030D-6E8A-4147-A177-3AD203B41FA5}">
                      <a16:colId xmlns:a16="http://schemas.microsoft.com/office/drawing/2014/main" val="2304843134"/>
                    </a:ext>
                  </a:extLst>
                </a:gridCol>
              </a:tblGrid>
              <a:tr h="371475">
                <a:tc>
                  <a:txBody>
                    <a:bodyPr/>
                    <a:lstStyle/>
                    <a:p>
                      <a:pPr algn="ctr" rtl="0" fontAlgn="ctr"/>
                      <a:r>
                        <a:rPr lang="en-US" sz="1050" b="1" u="none" strike="noStrike" dirty="0" err="1">
                          <a:effectLst/>
                          <a:latin typeface="Tw Cen MT" panose="020B0602020104020603" pitchFamily="34" charset="0"/>
                        </a:rPr>
                        <a:t>Num</a:t>
                      </a:r>
                      <a:r>
                        <a:rPr lang="en-US" sz="1050" b="1" u="none" strike="noStrike" dirty="0">
                          <a:effectLst/>
                          <a:latin typeface="Tw Cen MT" panose="020B0602020104020603" pitchFamily="34" charset="0"/>
                        </a:rPr>
                        <a:t> of Bin</a:t>
                      </a:r>
                      <a:endParaRPr lang="en-US" sz="105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1</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2</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3</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4</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5</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6</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7</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8</a:t>
                      </a:r>
                      <a:endParaRPr lang="en-US" sz="110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100" b="1" u="none" strike="noStrike" dirty="0">
                          <a:effectLst/>
                          <a:latin typeface="Tw Cen MT" panose="020B0602020104020603" pitchFamily="34" charset="0"/>
                        </a:rPr>
                        <a:t>9</a:t>
                      </a:r>
                      <a:endParaRPr lang="en-US" sz="1100" b="1" i="0" u="none" strike="noStrike" dirty="0">
                        <a:solidFill>
                          <a:srgbClr val="000000"/>
                        </a:solidFill>
                        <a:effectLst/>
                        <a:latin typeface="Tw Cen MT" panose="020B0602020104020603" pitchFamily="34" charset="0"/>
                      </a:endParaRPr>
                    </a:p>
                  </a:txBody>
                  <a:tcPr marL="9525" marR="9525" marT="9525" marB="0" anchor="ctr"/>
                </a:tc>
                <a:extLst>
                  <a:ext uri="{0D108BD9-81ED-4DB2-BD59-A6C34878D82A}">
                    <a16:rowId xmlns:a16="http://schemas.microsoft.com/office/drawing/2014/main" val="1394426647"/>
                  </a:ext>
                </a:extLst>
              </a:tr>
              <a:tr h="200025">
                <a:tc>
                  <a:txBody>
                    <a:bodyPr/>
                    <a:lstStyle/>
                    <a:p>
                      <a:pPr algn="ctr" rtl="0" fontAlgn="ctr"/>
                      <a:r>
                        <a:rPr lang="en-US" sz="1050" b="1" u="none" strike="noStrike" dirty="0">
                          <a:effectLst/>
                          <a:latin typeface="Tw Cen MT" panose="020B0602020104020603" pitchFamily="34" charset="0"/>
                        </a:rPr>
                        <a:t>Count</a:t>
                      </a:r>
                      <a:endParaRPr lang="en-US" sz="1050" b="1" i="0" u="none" strike="noStrike" dirty="0">
                        <a:solidFill>
                          <a:srgbClr val="000000"/>
                        </a:solidFill>
                        <a:effectLst/>
                        <a:latin typeface="Tw Cen MT" panose="020B0602020104020603" pitchFamily="34" charset="0"/>
                      </a:endParaRP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5E-04</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0.017</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0.093</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0.228</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0.308</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0.236</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0.098</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0.019</a:t>
                      </a:r>
                    </a:p>
                  </a:txBody>
                  <a:tcPr marL="9525" marR="9525" marT="9525" marB="0" anchor="ctr"/>
                </a:tc>
                <a:tc>
                  <a:txBody>
                    <a:bodyPr/>
                    <a:lstStyle/>
                    <a:p>
                      <a:pPr algn="ctr" rtl="0" fontAlgn="ctr"/>
                      <a:r>
                        <a:rPr lang="en-US" sz="1000" b="0" i="0" u="none" strike="noStrike" dirty="0">
                          <a:solidFill>
                            <a:srgbClr val="000000"/>
                          </a:solidFill>
                          <a:effectLst/>
                          <a:latin typeface="Tw Cen MT" panose="020B0602020104020603" pitchFamily="34" charset="0"/>
                        </a:rPr>
                        <a:t>0.002</a:t>
                      </a:r>
                    </a:p>
                  </a:txBody>
                  <a:tcPr marL="9525" marR="9525" marT="9525" marB="0" anchor="ctr"/>
                </a:tc>
                <a:extLst>
                  <a:ext uri="{0D108BD9-81ED-4DB2-BD59-A6C34878D82A}">
                    <a16:rowId xmlns:a16="http://schemas.microsoft.com/office/drawing/2014/main" val="2968073239"/>
                  </a:ext>
                </a:extLst>
              </a:tr>
            </a:tbl>
          </a:graphicData>
        </a:graphic>
      </p:graphicFrame>
      <p:sp>
        <p:nvSpPr>
          <p:cNvPr id="103" name="TextBox 102"/>
          <p:cNvSpPr txBox="1"/>
          <p:nvPr/>
        </p:nvSpPr>
        <p:spPr>
          <a:xfrm>
            <a:off x="5220876" y="1741435"/>
            <a:ext cx="1734257" cy="338554"/>
          </a:xfrm>
          <a:prstGeom prst="rect">
            <a:avLst/>
          </a:prstGeom>
          <a:noFill/>
        </p:spPr>
        <p:txBody>
          <a:bodyPr wrap="none" rtlCol="0">
            <a:spAutoFit/>
          </a:bodyPr>
          <a:lstStyle/>
          <a:p>
            <a:r>
              <a:rPr lang="en-US" sz="1600" dirty="0">
                <a:solidFill>
                  <a:srgbClr val="5FC8AC"/>
                </a:solidFill>
                <a:latin typeface="Lato Black" panose="020F0A02020204030203" pitchFamily="34" charset="0"/>
              </a:rPr>
              <a:t>Original Histogram</a:t>
            </a:r>
          </a:p>
        </p:txBody>
      </p:sp>
      <p:sp>
        <p:nvSpPr>
          <p:cNvPr id="104" name="TextBox 103"/>
          <p:cNvSpPr txBox="1"/>
          <p:nvPr/>
        </p:nvSpPr>
        <p:spPr>
          <a:xfrm>
            <a:off x="9175576" y="1771824"/>
            <a:ext cx="1467133" cy="338554"/>
          </a:xfrm>
          <a:prstGeom prst="rect">
            <a:avLst/>
          </a:prstGeom>
          <a:noFill/>
        </p:spPr>
        <p:txBody>
          <a:bodyPr wrap="none" rtlCol="0">
            <a:spAutoFit/>
          </a:bodyPr>
          <a:lstStyle/>
          <a:p>
            <a:r>
              <a:rPr lang="en-US" sz="1600" dirty="0">
                <a:solidFill>
                  <a:srgbClr val="FF8504"/>
                </a:solidFill>
                <a:latin typeface="Lato Black" panose="020F0A02020204030203" pitchFamily="34" charset="0"/>
              </a:rPr>
              <a:t>New Histogram</a:t>
            </a:r>
          </a:p>
        </p:txBody>
      </p:sp>
      <p:graphicFrame>
        <p:nvGraphicFramePr>
          <p:cNvPr id="105" name="Chart 104"/>
          <p:cNvGraphicFramePr>
            <a:graphicFrameLocks/>
          </p:cNvGraphicFramePr>
          <p:nvPr>
            <p:extLst>
              <p:ext uri="{D42A27DB-BD31-4B8C-83A1-F6EECF244321}">
                <p14:modId xmlns:p14="http://schemas.microsoft.com/office/powerpoint/2010/main" val="309634469"/>
              </p:ext>
            </p:extLst>
          </p:nvPr>
        </p:nvGraphicFramePr>
        <p:xfrm>
          <a:off x="4259205" y="3189973"/>
          <a:ext cx="36576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6" name="Chart 105"/>
          <p:cNvGraphicFramePr>
            <a:graphicFrameLocks/>
          </p:cNvGraphicFramePr>
          <p:nvPr>
            <p:extLst>
              <p:ext uri="{D42A27DB-BD31-4B8C-83A1-F6EECF244321}">
                <p14:modId xmlns:p14="http://schemas.microsoft.com/office/powerpoint/2010/main" val="3887418026"/>
              </p:ext>
            </p:extLst>
          </p:nvPr>
        </p:nvGraphicFramePr>
        <p:xfrm>
          <a:off x="8080344" y="3189973"/>
          <a:ext cx="36576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7" name="Chart 106"/>
          <p:cNvGraphicFramePr>
            <a:graphicFrameLocks/>
          </p:cNvGraphicFramePr>
          <p:nvPr>
            <p:extLst>
              <p:ext uri="{D42A27DB-BD31-4B8C-83A1-F6EECF244321}">
                <p14:modId xmlns:p14="http://schemas.microsoft.com/office/powerpoint/2010/main" val="570868018"/>
              </p:ext>
            </p:extLst>
          </p:nvPr>
        </p:nvGraphicFramePr>
        <p:xfrm>
          <a:off x="717741" y="4214176"/>
          <a:ext cx="2743200" cy="1828800"/>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Straight Arrow Connector 8"/>
          <p:cNvCxnSpPr/>
          <p:nvPr/>
        </p:nvCxnSpPr>
        <p:spPr>
          <a:xfrm>
            <a:off x="2089341" y="3204316"/>
            <a:ext cx="0" cy="387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2089341" y="3252032"/>
            <a:ext cx="2496447" cy="261610"/>
          </a:xfrm>
          <a:prstGeom prst="rect">
            <a:avLst/>
          </a:prstGeom>
          <a:noFill/>
        </p:spPr>
        <p:txBody>
          <a:bodyPr wrap="square" rtlCol="0">
            <a:spAutoFit/>
          </a:bodyPr>
          <a:lstStyle/>
          <a:p>
            <a:r>
              <a:rPr lang="en-US" sz="1050" b="1" dirty="0">
                <a:solidFill>
                  <a:schemeClr val="tx1">
                    <a:lumMod val="75000"/>
                    <a:lumOff val="25000"/>
                  </a:schemeClr>
                </a:solidFill>
                <a:latin typeface="Courier New" panose="02070309020205020404" pitchFamily="49" charset="0"/>
                <a:cs typeface="Courier New" panose="02070309020205020404" pitchFamily="49" charset="0"/>
              </a:rPr>
              <a:t>temp. / 2000</a:t>
            </a:r>
          </a:p>
        </p:txBody>
      </p:sp>
      <p:sp>
        <p:nvSpPr>
          <p:cNvPr id="31" name="Rounded Rectangle 30"/>
          <p:cNvSpPr/>
          <p:nvPr/>
        </p:nvSpPr>
        <p:spPr>
          <a:xfrm>
            <a:off x="4096128" y="1605228"/>
            <a:ext cx="7790406" cy="4660731"/>
          </a:xfrm>
          <a:prstGeom prst="roundRect">
            <a:avLst>
              <a:gd name="adj" fmla="val 7324"/>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 name="TextBox 32"/>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- 15</a:t>
            </a:r>
          </a:p>
        </p:txBody>
      </p:sp>
    </p:spTree>
    <p:extLst>
      <p:ext uri="{BB962C8B-B14F-4D97-AF65-F5344CB8AC3E}">
        <p14:creationId xmlns:p14="http://schemas.microsoft.com/office/powerpoint/2010/main" val="3082709891"/>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wheel(1)">
                                      <p:cBhvr>
                                        <p:cTn id="7" dur="500"/>
                                        <p:tgtEl>
                                          <p:spTgt spid="8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fade">
                                      <p:cBhvr>
                                        <p:cTn id="11" dur="500"/>
                                        <p:tgtEl>
                                          <p:spTgt spid="7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fade">
                                      <p:cBhvr>
                                        <p:cTn id="15" dur="250"/>
                                        <p:tgtEl>
                                          <p:spTgt spid="9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2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fade">
                                      <p:cBhvr>
                                        <p:cTn id="23" dur="250"/>
                                        <p:tgtEl>
                                          <p:spTgt spid="108"/>
                                        </p:tgtEl>
                                      </p:cBhvr>
                                    </p:animEffect>
                                  </p:childTnLst>
                                </p:cTn>
                              </p:par>
                            </p:childTnLst>
                          </p:cTn>
                        </p:par>
                        <p:par>
                          <p:cTn id="24" fill="hold">
                            <p:stCondLst>
                              <p:cond delay="250"/>
                            </p:stCondLst>
                            <p:childTnLst>
                              <p:par>
                                <p:cTn id="25" presetID="10" presetClass="entr" presetSubtype="0" fill="hold" nodeType="afterEffect">
                                  <p:stCondLst>
                                    <p:cond delay="0"/>
                                  </p:stCondLst>
                                  <p:childTnLst>
                                    <p:set>
                                      <p:cBhvr>
                                        <p:cTn id="26" dur="1" fill="hold">
                                          <p:stCondLst>
                                            <p:cond delay="0"/>
                                          </p:stCondLst>
                                        </p:cTn>
                                        <p:tgtEl>
                                          <p:spTgt spid="100"/>
                                        </p:tgtEl>
                                        <p:attrNameLst>
                                          <p:attrName>style.visibility</p:attrName>
                                        </p:attrNameLst>
                                      </p:cBhvr>
                                      <p:to>
                                        <p:strVal val="visible"/>
                                      </p:to>
                                    </p:set>
                                    <p:animEffect transition="in" filter="fade">
                                      <p:cBhvr>
                                        <p:cTn id="27" dur="250"/>
                                        <p:tgtEl>
                                          <p:spTgt spid="10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7">
                                            <p:graphicEl>
                                              <a:chart seriesIdx="-3" categoryIdx="-3" bldStep="gridLegend"/>
                                            </p:graphicEl>
                                          </p:spTgt>
                                        </p:tgtEl>
                                        <p:attrNameLst>
                                          <p:attrName>style.visibility</p:attrName>
                                        </p:attrNameLst>
                                      </p:cBhvr>
                                      <p:to>
                                        <p:strVal val="visible"/>
                                      </p:to>
                                    </p:set>
                                    <p:animEffect transition="in" filter="wipe(down)">
                                      <p:cBhvr>
                                        <p:cTn id="32" dur="250"/>
                                        <p:tgtEl>
                                          <p:spTgt spid="107">
                                            <p:graphicEl>
                                              <a:chart seriesIdx="-3" categoryIdx="-3" bldStep="gridLegend"/>
                                            </p:graphicEl>
                                          </p:spTgt>
                                        </p:tgtEl>
                                      </p:cBhvr>
                                    </p:animEffect>
                                  </p:childTnLst>
                                </p:cTn>
                              </p:par>
                            </p:childTnLst>
                          </p:cTn>
                        </p:par>
                        <p:par>
                          <p:cTn id="33" fill="hold">
                            <p:stCondLst>
                              <p:cond delay="250"/>
                            </p:stCondLst>
                            <p:childTnLst>
                              <p:par>
                                <p:cTn id="34" presetID="22" presetClass="entr" presetSubtype="4" fill="hold" grpId="0" nodeType="afterEffect">
                                  <p:stCondLst>
                                    <p:cond delay="0"/>
                                  </p:stCondLst>
                                  <p:childTnLst>
                                    <p:set>
                                      <p:cBhvr>
                                        <p:cTn id="35" dur="1" fill="hold">
                                          <p:stCondLst>
                                            <p:cond delay="0"/>
                                          </p:stCondLst>
                                        </p:cTn>
                                        <p:tgtEl>
                                          <p:spTgt spid="107">
                                            <p:graphicEl>
                                              <a:chart seriesIdx="0" categoryIdx="0" bldStep="ptInSeries"/>
                                            </p:graphicEl>
                                          </p:spTgt>
                                        </p:tgtEl>
                                        <p:attrNameLst>
                                          <p:attrName>style.visibility</p:attrName>
                                        </p:attrNameLst>
                                      </p:cBhvr>
                                      <p:to>
                                        <p:strVal val="visible"/>
                                      </p:to>
                                    </p:set>
                                    <p:animEffect transition="in" filter="wipe(down)">
                                      <p:cBhvr>
                                        <p:cTn id="36" dur="250"/>
                                        <p:tgtEl>
                                          <p:spTgt spid="107">
                                            <p:graphicEl>
                                              <a:chart seriesIdx="0" categoryIdx="0" bldStep="ptInSeries"/>
                                            </p:graphicEl>
                                          </p:spTgt>
                                        </p:tgtEl>
                                      </p:cBhvr>
                                    </p:animEffect>
                                  </p:childTnLst>
                                </p:cTn>
                              </p:par>
                            </p:childTnLst>
                          </p:cTn>
                        </p:par>
                        <p:par>
                          <p:cTn id="37" fill="hold">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107">
                                            <p:graphicEl>
                                              <a:chart seriesIdx="0" categoryIdx="1" bldStep="ptInSeries"/>
                                            </p:graphicEl>
                                          </p:spTgt>
                                        </p:tgtEl>
                                        <p:attrNameLst>
                                          <p:attrName>style.visibility</p:attrName>
                                        </p:attrNameLst>
                                      </p:cBhvr>
                                      <p:to>
                                        <p:strVal val="visible"/>
                                      </p:to>
                                    </p:set>
                                    <p:animEffect transition="in" filter="wipe(down)">
                                      <p:cBhvr>
                                        <p:cTn id="40" dur="250"/>
                                        <p:tgtEl>
                                          <p:spTgt spid="107">
                                            <p:graphicEl>
                                              <a:chart seriesIdx="0" categoryIdx="1" bldStep="ptInSeries"/>
                                            </p:graphicEl>
                                          </p:spTgt>
                                        </p:tgtEl>
                                      </p:cBhvr>
                                    </p:animEffect>
                                  </p:childTnLst>
                                </p:cTn>
                              </p:par>
                            </p:childTnLst>
                          </p:cTn>
                        </p:par>
                        <p:par>
                          <p:cTn id="41" fill="hold">
                            <p:stCondLst>
                              <p:cond delay="750"/>
                            </p:stCondLst>
                            <p:childTnLst>
                              <p:par>
                                <p:cTn id="42" presetID="22" presetClass="entr" presetSubtype="4" fill="hold" grpId="0" nodeType="afterEffect">
                                  <p:stCondLst>
                                    <p:cond delay="0"/>
                                  </p:stCondLst>
                                  <p:childTnLst>
                                    <p:set>
                                      <p:cBhvr>
                                        <p:cTn id="43" dur="1" fill="hold">
                                          <p:stCondLst>
                                            <p:cond delay="0"/>
                                          </p:stCondLst>
                                        </p:cTn>
                                        <p:tgtEl>
                                          <p:spTgt spid="107">
                                            <p:graphicEl>
                                              <a:chart seriesIdx="0" categoryIdx="2" bldStep="ptInSeries"/>
                                            </p:graphicEl>
                                          </p:spTgt>
                                        </p:tgtEl>
                                        <p:attrNameLst>
                                          <p:attrName>style.visibility</p:attrName>
                                        </p:attrNameLst>
                                      </p:cBhvr>
                                      <p:to>
                                        <p:strVal val="visible"/>
                                      </p:to>
                                    </p:set>
                                    <p:animEffect transition="in" filter="wipe(down)">
                                      <p:cBhvr>
                                        <p:cTn id="44" dur="250"/>
                                        <p:tgtEl>
                                          <p:spTgt spid="107">
                                            <p:graphicEl>
                                              <a:chart seriesIdx="0" categoryIdx="2" bldStep="ptInSeries"/>
                                            </p:graphicEl>
                                          </p:spTgt>
                                        </p:tgtEl>
                                      </p:cBhvr>
                                    </p:animEffect>
                                  </p:childTnLst>
                                </p:cTn>
                              </p:par>
                            </p:childTnLst>
                          </p:cTn>
                        </p:par>
                        <p:par>
                          <p:cTn id="45" fill="hold">
                            <p:stCondLst>
                              <p:cond delay="1000"/>
                            </p:stCondLst>
                            <p:childTnLst>
                              <p:par>
                                <p:cTn id="46" presetID="22" presetClass="entr" presetSubtype="4" fill="hold" grpId="0" nodeType="afterEffect">
                                  <p:stCondLst>
                                    <p:cond delay="0"/>
                                  </p:stCondLst>
                                  <p:childTnLst>
                                    <p:set>
                                      <p:cBhvr>
                                        <p:cTn id="47" dur="1" fill="hold">
                                          <p:stCondLst>
                                            <p:cond delay="0"/>
                                          </p:stCondLst>
                                        </p:cTn>
                                        <p:tgtEl>
                                          <p:spTgt spid="107">
                                            <p:graphicEl>
                                              <a:chart seriesIdx="0" categoryIdx="3" bldStep="ptInSeries"/>
                                            </p:graphicEl>
                                          </p:spTgt>
                                        </p:tgtEl>
                                        <p:attrNameLst>
                                          <p:attrName>style.visibility</p:attrName>
                                        </p:attrNameLst>
                                      </p:cBhvr>
                                      <p:to>
                                        <p:strVal val="visible"/>
                                      </p:to>
                                    </p:set>
                                    <p:animEffect transition="in" filter="wipe(down)">
                                      <p:cBhvr>
                                        <p:cTn id="48" dur="250"/>
                                        <p:tgtEl>
                                          <p:spTgt spid="107">
                                            <p:graphicEl>
                                              <a:chart seriesIdx="0" categoryIdx="3" bldStep="ptInSeries"/>
                                            </p:graphicEl>
                                          </p:spTgt>
                                        </p:tgtEl>
                                      </p:cBhvr>
                                    </p:animEffect>
                                  </p:childTnLst>
                                </p:cTn>
                              </p:par>
                            </p:childTnLst>
                          </p:cTn>
                        </p:par>
                        <p:par>
                          <p:cTn id="49" fill="hold">
                            <p:stCondLst>
                              <p:cond delay="1250"/>
                            </p:stCondLst>
                            <p:childTnLst>
                              <p:par>
                                <p:cTn id="50" presetID="22" presetClass="entr" presetSubtype="4" fill="hold" grpId="0" nodeType="afterEffect">
                                  <p:stCondLst>
                                    <p:cond delay="0"/>
                                  </p:stCondLst>
                                  <p:childTnLst>
                                    <p:set>
                                      <p:cBhvr>
                                        <p:cTn id="51" dur="1" fill="hold">
                                          <p:stCondLst>
                                            <p:cond delay="0"/>
                                          </p:stCondLst>
                                        </p:cTn>
                                        <p:tgtEl>
                                          <p:spTgt spid="107">
                                            <p:graphicEl>
                                              <a:chart seriesIdx="0" categoryIdx="4" bldStep="ptInSeries"/>
                                            </p:graphicEl>
                                          </p:spTgt>
                                        </p:tgtEl>
                                        <p:attrNameLst>
                                          <p:attrName>style.visibility</p:attrName>
                                        </p:attrNameLst>
                                      </p:cBhvr>
                                      <p:to>
                                        <p:strVal val="visible"/>
                                      </p:to>
                                    </p:set>
                                    <p:animEffect transition="in" filter="wipe(down)">
                                      <p:cBhvr>
                                        <p:cTn id="52" dur="250"/>
                                        <p:tgtEl>
                                          <p:spTgt spid="107">
                                            <p:graphicEl>
                                              <a:chart seriesIdx="0" categoryIdx="4" bldStep="ptInSeries"/>
                                            </p:graphicEl>
                                          </p:spTgt>
                                        </p:tgtEl>
                                      </p:cBhvr>
                                    </p:animEffect>
                                  </p:childTnLst>
                                </p:cTn>
                              </p:par>
                            </p:childTnLst>
                          </p:cTn>
                        </p:par>
                        <p:par>
                          <p:cTn id="53" fill="hold">
                            <p:stCondLst>
                              <p:cond delay="1500"/>
                            </p:stCondLst>
                            <p:childTnLst>
                              <p:par>
                                <p:cTn id="54" presetID="22" presetClass="entr" presetSubtype="4" fill="hold" grpId="0" nodeType="afterEffect">
                                  <p:stCondLst>
                                    <p:cond delay="0"/>
                                  </p:stCondLst>
                                  <p:childTnLst>
                                    <p:set>
                                      <p:cBhvr>
                                        <p:cTn id="55" dur="1" fill="hold">
                                          <p:stCondLst>
                                            <p:cond delay="0"/>
                                          </p:stCondLst>
                                        </p:cTn>
                                        <p:tgtEl>
                                          <p:spTgt spid="107">
                                            <p:graphicEl>
                                              <a:chart seriesIdx="0" categoryIdx="5" bldStep="ptInSeries"/>
                                            </p:graphicEl>
                                          </p:spTgt>
                                        </p:tgtEl>
                                        <p:attrNameLst>
                                          <p:attrName>style.visibility</p:attrName>
                                        </p:attrNameLst>
                                      </p:cBhvr>
                                      <p:to>
                                        <p:strVal val="visible"/>
                                      </p:to>
                                    </p:set>
                                    <p:animEffect transition="in" filter="wipe(down)">
                                      <p:cBhvr>
                                        <p:cTn id="56" dur="250"/>
                                        <p:tgtEl>
                                          <p:spTgt spid="107">
                                            <p:graphicEl>
                                              <a:chart seriesIdx="0" categoryIdx="5" bldStep="ptInSeries"/>
                                            </p:graphicEl>
                                          </p:spTgt>
                                        </p:tgtEl>
                                      </p:cBhvr>
                                    </p:animEffect>
                                  </p:childTnLst>
                                </p:cTn>
                              </p:par>
                            </p:childTnLst>
                          </p:cTn>
                        </p:par>
                        <p:par>
                          <p:cTn id="57" fill="hold">
                            <p:stCondLst>
                              <p:cond delay="1750"/>
                            </p:stCondLst>
                            <p:childTnLst>
                              <p:par>
                                <p:cTn id="58" presetID="22" presetClass="entr" presetSubtype="4" fill="hold" grpId="0" nodeType="afterEffect">
                                  <p:stCondLst>
                                    <p:cond delay="0"/>
                                  </p:stCondLst>
                                  <p:childTnLst>
                                    <p:set>
                                      <p:cBhvr>
                                        <p:cTn id="59" dur="1" fill="hold">
                                          <p:stCondLst>
                                            <p:cond delay="0"/>
                                          </p:stCondLst>
                                        </p:cTn>
                                        <p:tgtEl>
                                          <p:spTgt spid="107">
                                            <p:graphicEl>
                                              <a:chart seriesIdx="0" categoryIdx="6" bldStep="ptInSeries"/>
                                            </p:graphicEl>
                                          </p:spTgt>
                                        </p:tgtEl>
                                        <p:attrNameLst>
                                          <p:attrName>style.visibility</p:attrName>
                                        </p:attrNameLst>
                                      </p:cBhvr>
                                      <p:to>
                                        <p:strVal val="visible"/>
                                      </p:to>
                                    </p:set>
                                    <p:animEffect transition="in" filter="wipe(down)">
                                      <p:cBhvr>
                                        <p:cTn id="60" dur="250"/>
                                        <p:tgtEl>
                                          <p:spTgt spid="107">
                                            <p:graphicEl>
                                              <a:chart seriesIdx="0" categoryIdx="6" bldStep="ptInSeries"/>
                                            </p:graphicEl>
                                          </p:spTgt>
                                        </p:tgtEl>
                                      </p:cBhvr>
                                    </p:animEffect>
                                  </p:childTnLst>
                                </p:cTn>
                              </p:par>
                            </p:childTnLst>
                          </p:cTn>
                        </p:par>
                        <p:par>
                          <p:cTn id="61" fill="hold">
                            <p:stCondLst>
                              <p:cond delay="2000"/>
                            </p:stCondLst>
                            <p:childTnLst>
                              <p:par>
                                <p:cTn id="62" presetID="22" presetClass="entr" presetSubtype="4" fill="hold" grpId="0" nodeType="afterEffect">
                                  <p:stCondLst>
                                    <p:cond delay="0"/>
                                  </p:stCondLst>
                                  <p:childTnLst>
                                    <p:set>
                                      <p:cBhvr>
                                        <p:cTn id="63" dur="1" fill="hold">
                                          <p:stCondLst>
                                            <p:cond delay="0"/>
                                          </p:stCondLst>
                                        </p:cTn>
                                        <p:tgtEl>
                                          <p:spTgt spid="107">
                                            <p:graphicEl>
                                              <a:chart seriesIdx="0" categoryIdx="7" bldStep="ptInSeries"/>
                                            </p:graphicEl>
                                          </p:spTgt>
                                        </p:tgtEl>
                                        <p:attrNameLst>
                                          <p:attrName>style.visibility</p:attrName>
                                        </p:attrNameLst>
                                      </p:cBhvr>
                                      <p:to>
                                        <p:strVal val="visible"/>
                                      </p:to>
                                    </p:set>
                                    <p:animEffect transition="in" filter="wipe(down)">
                                      <p:cBhvr>
                                        <p:cTn id="64" dur="250"/>
                                        <p:tgtEl>
                                          <p:spTgt spid="107">
                                            <p:graphicEl>
                                              <a:chart seriesIdx="0" categoryIdx="7" bldStep="ptInSeries"/>
                                            </p:graphicEl>
                                          </p:spTgt>
                                        </p:tgtEl>
                                      </p:cBhvr>
                                    </p:animEffect>
                                  </p:childTnLst>
                                </p:cTn>
                              </p:par>
                            </p:childTnLst>
                          </p:cTn>
                        </p:par>
                        <p:par>
                          <p:cTn id="65" fill="hold">
                            <p:stCondLst>
                              <p:cond delay="2250"/>
                            </p:stCondLst>
                            <p:childTnLst>
                              <p:par>
                                <p:cTn id="66" presetID="22" presetClass="entr" presetSubtype="4" fill="hold" grpId="0" nodeType="afterEffect">
                                  <p:stCondLst>
                                    <p:cond delay="0"/>
                                  </p:stCondLst>
                                  <p:childTnLst>
                                    <p:set>
                                      <p:cBhvr>
                                        <p:cTn id="67" dur="1" fill="hold">
                                          <p:stCondLst>
                                            <p:cond delay="0"/>
                                          </p:stCondLst>
                                        </p:cTn>
                                        <p:tgtEl>
                                          <p:spTgt spid="107">
                                            <p:graphicEl>
                                              <a:chart seriesIdx="0" categoryIdx="8" bldStep="ptInSeries"/>
                                            </p:graphicEl>
                                          </p:spTgt>
                                        </p:tgtEl>
                                        <p:attrNameLst>
                                          <p:attrName>style.visibility</p:attrName>
                                        </p:attrNameLst>
                                      </p:cBhvr>
                                      <p:to>
                                        <p:strVal val="visible"/>
                                      </p:to>
                                    </p:set>
                                    <p:animEffect transition="in" filter="wipe(down)">
                                      <p:cBhvr>
                                        <p:cTn id="68" dur="250"/>
                                        <p:tgtEl>
                                          <p:spTgt spid="107">
                                            <p:graphicEl>
                                              <a:chart seriesIdx="0" categoryIdx="8" bldStep="ptInSeries"/>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1" presetClass="entr" presetSubtype="1"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heel(1)">
                                      <p:cBhvr>
                                        <p:cTn id="73" dur="500"/>
                                        <p:tgtEl>
                                          <p:spTgt spid="31"/>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103"/>
                                        </p:tgtEl>
                                        <p:attrNameLst>
                                          <p:attrName>style.visibility</p:attrName>
                                        </p:attrNameLst>
                                      </p:cBhvr>
                                      <p:to>
                                        <p:strVal val="visible"/>
                                      </p:to>
                                    </p:set>
                                    <p:animEffect transition="in" filter="fade">
                                      <p:cBhvr>
                                        <p:cTn id="77" dur="250"/>
                                        <p:tgtEl>
                                          <p:spTgt spid="103"/>
                                        </p:tgtEl>
                                      </p:cBhvr>
                                    </p:animEffect>
                                  </p:childTnLst>
                                </p:cTn>
                              </p:par>
                            </p:childTnLst>
                          </p:cTn>
                        </p:par>
                        <p:par>
                          <p:cTn id="78" fill="hold">
                            <p:stCondLst>
                              <p:cond delay="750"/>
                            </p:stCondLst>
                            <p:childTnLst>
                              <p:par>
                                <p:cTn id="79" presetID="10" presetClass="entr" presetSubtype="0" fill="hold" nodeType="afterEffect">
                                  <p:stCondLst>
                                    <p:cond delay="0"/>
                                  </p:stCondLst>
                                  <p:childTnLst>
                                    <p:set>
                                      <p:cBhvr>
                                        <p:cTn id="80" dur="1" fill="hold">
                                          <p:stCondLst>
                                            <p:cond delay="0"/>
                                          </p:stCondLst>
                                        </p:cTn>
                                        <p:tgtEl>
                                          <p:spTgt spid="101"/>
                                        </p:tgtEl>
                                        <p:attrNameLst>
                                          <p:attrName>style.visibility</p:attrName>
                                        </p:attrNameLst>
                                      </p:cBhvr>
                                      <p:to>
                                        <p:strVal val="visible"/>
                                      </p:to>
                                    </p:set>
                                    <p:animEffect transition="in" filter="fade">
                                      <p:cBhvr>
                                        <p:cTn id="81" dur="250"/>
                                        <p:tgtEl>
                                          <p:spTgt spid="101"/>
                                        </p:tgtEl>
                                      </p:cBhvr>
                                    </p:animEffect>
                                  </p:childTnLst>
                                </p:cTn>
                              </p:par>
                            </p:childTnLst>
                          </p:cTn>
                        </p:par>
                        <p:par>
                          <p:cTn id="82" fill="hold">
                            <p:stCondLst>
                              <p:cond delay="1000"/>
                            </p:stCondLst>
                            <p:childTnLst>
                              <p:par>
                                <p:cTn id="83" presetID="22" presetClass="entr" presetSubtype="4" fill="hold" grpId="0" nodeType="afterEffect">
                                  <p:stCondLst>
                                    <p:cond delay="0"/>
                                  </p:stCondLst>
                                  <p:childTnLst>
                                    <p:set>
                                      <p:cBhvr>
                                        <p:cTn id="84" dur="1" fill="hold">
                                          <p:stCondLst>
                                            <p:cond delay="0"/>
                                          </p:stCondLst>
                                        </p:cTn>
                                        <p:tgtEl>
                                          <p:spTgt spid="105">
                                            <p:graphicEl>
                                              <a:chart seriesIdx="-3" categoryIdx="-3" bldStep="gridLegend"/>
                                            </p:graphicEl>
                                          </p:spTgt>
                                        </p:tgtEl>
                                        <p:attrNameLst>
                                          <p:attrName>style.visibility</p:attrName>
                                        </p:attrNameLst>
                                      </p:cBhvr>
                                      <p:to>
                                        <p:strVal val="visible"/>
                                      </p:to>
                                    </p:set>
                                    <p:animEffect transition="in" filter="wipe(down)">
                                      <p:cBhvr>
                                        <p:cTn id="85" dur="250"/>
                                        <p:tgtEl>
                                          <p:spTgt spid="105">
                                            <p:graphicEl>
                                              <a:chart seriesIdx="-3" categoryIdx="-3" bldStep="gridLegend"/>
                                            </p:graphicEl>
                                          </p:spTgt>
                                        </p:tgtEl>
                                      </p:cBhvr>
                                    </p:animEffect>
                                  </p:childTnLst>
                                </p:cTn>
                              </p:par>
                            </p:childTnLst>
                          </p:cTn>
                        </p:par>
                        <p:par>
                          <p:cTn id="86" fill="hold">
                            <p:stCondLst>
                              <p:cond delay="1250"/>
                            </p:stCondLst>
                            <p:childTnLst>
                              <p:par>
                                <p:cTn id="87" presetID="22" presetClass="entr" presetSubtype="4" fill="hold" grpId="0" nodeType="afterEffect">
                                  <p:stCondLst>
                                    <p:cond delay="0"/>
                                  </p:stCondLst>
                                  <p:childTnLst>
                                    <p:set>
                                      <p:cBhvr>
                                        <p:cTn id="88" dur="1" fill="hold">
                                          <p:stCondLst>
                                            <p:cond delay="0"/>
                                          </p:stCondLst>
                                        </p:cTn>
                                        <p:tgtEl>
                                          <p:spTgt spid="105">
                                            <p:graphicEl>
                                              <a:chart seriesIdx="0" categoryIdx="0" bldStep="ptInSeries"/>
                                            </p:graphicEl>
                                          </p:spTgt>
                                        </p:tgtEl>
                                        <p:attrNameLst>
                                          <p:attrName>style.visibility</p:attrName>
                                        </p:attrNameLst>
                                      </p:cBhvr>
                                      <p:to>
                                        <p:strVal val="visible"/>
                                      </p:to>
                                    </p:set>
                                    <p:animEffect transition="in" filter="wipe(down)">
                                      <p:cBhvr>
                                        <p:cTn id="89" dur="250"/>
                                        <p:tgtEl>
                                          <p:spTgt spid="105">
                                            <p:graphicEl>
                                              <a:chart seriesIdx="0" categoryIdx="0" bldStep="ptInSeries"/>
                                            </p:graphicEl>
                                          </p:spTgt>
                                        </p:tgtEl>
                                      </p:cBhvr>
                                    </p:animEffect>
                                  </p:childTnLst>
                                </p:cTn>
                              </p:par>
                            </p:childTnLst>
                          </p:cTn>
                        </p:par>
                        <p:par>
                          <p:cTn id="90" fill="hold">
                            <p:stCondLst>
                              <p:cond delay="1500"/>
                            </p:stCondLst>
                            <p:childTnLst>
                              <p:par>
                                <p:cTn id="91" presetID="22" presetClass="entr" presetSubtype="4" fill="hold" grpId="0" nodeType="afterEffect">
                                  <p:stCondLst>
                                    <p:cond delay="0"/>
                                  </p:stCondLst>
                                  <p:childTnLst>
                                    <p:set>
                                      <p:cBhvr>
                                        <p:cTn id="92" dur="1" fill="hold">
                                          <p:stCondLst>
                                            <p:cond delay="0"/>
                                          </p:stCondLst>
                                        </p:cTn>
                                        <p:tgtEl>
                                          <p:spTgt spid="105">
                                            <p:graphicEl>
                                              <a:chart seriesIdx="0" categoryIdx="1" bldStep="ptInSeries"/>
                                            </p:graphicEl>
                                          </p:spTgt>
                                        </p:tgtEl>
                                        <p:attrNameLst>
                                          <p:attrName>style.visibility</p:attrName>
                                        </p:attrNameLst>
                                      </p:cBhvr>
                                      <p:to>
                                        <p:strVal val="visible"/>
                                      </p:to>
                                    </p:set>
                                    <p:animEffect transition="in" filter="wipe(down)">
                                      <p:cBhvr>
                                        <p:cTn id="93" dur="250"/>
                                        <p:tgtEl>
                                          <p:spTgt spid="105">
                                            <p:graphicEl>
                                              <a:chart seriesIdx="0" categoryIdx="1" bldStep="ptInSeries"/>
                                            </p:graphicEl>
                                          </p:spTgt>
                                        </p:tgtEl>
                                      </p:cBhvr>
                                    </p:animEffect>
                                  </p:childTnLst>
                                </p:cTn>
                              </p:par>
                            </p:childTnLst>
                          </p:cTn>
                        </p:par>
                        <p:par>
                          <p:cTn id="94" fill="hold">
                            <p:stCondLst>
                              <p:cond delay="1750"/>
                            </p:stCondLst>
                            <p:childTnLst>
                              <p:par>
                                <p:cTn id="95" presetID="22" presetClass="entr" presetSubtype="4" fill="hold" grpId="0" nodeType="afterEffect">
                                  <p:stCondLst>
                                    <p:cond delay="0"/>
                                  </p:stCondLst>
                                  <p:childTnLst>
                                    <p:set>
                                      <p:cBhvr>
                                        <p:cTn id="96" dur="1" fill="hold">
                                          <p:stCondLst>
                                            <p:cond delay="0"/>
                                          </p:stCondLst>
                                        </p:cTn>
                                        <p:tgtEl>
                                          <p:spTgt spid="105">
                                            <p:graphicEl>
                                              <a:chart seriesIdx="0" categoryIdx="2" bldStep="ptInSeries"/>
                                            </p:graphicEl>
                                          </p:spTgt>
                                        </p:tgtEl>
                                        <p:attrNameLst>
                                          <p:attrName>style.visibility</p:attrName>
                                        </p:attrNameLst>
                                      </p:cBhvr>
                                      <p:to>
                                        <p:strVal val="visible"/>
                                      </p:to>
                                    </p:set>
                                    <p:animEffect transition="in" filter="wipe(down)">
                                      <p:cBhvr>
                                        <p:cTn id="97" dur="250"/>
                                        <p:tgtEl>
                                          <p:spTgt spid="105">
                                            <p:graphicEl>
                                              <a:chart seriesIdx="0" categoryIdx="2" bldStep="ptInSeries"/>
                                            </p:graphicEl>
                                          </p:spTgt>
                                        </p:tgtEl>
                                      </p:cBhvr>
                                    </p:animEffect>
                                  </p:childTnLst>
                                </p:cTn>
                              </p:par>
                            </p:childTnLst>
                          </p:cTn>
                        </p:par>
                        <p:par>
                          <p:cTn id="98" fill="hold">
                            <p:stCondLst>
                              <p:cond delay="2000"/>
                            </p:stCondLst>
                            <p:childTnLst>
                              <p:par>
                                <p:cTn id="99" presetID="22" presetClass="entr" presetSubtype="4" fill="hold" grpId="0" nodeType="afterEffect">
                                  <p:stCondLst>
                                    <p:cond delay="0"/>
                                  </p:stCondLst>
                                  <p:childTnLst>
                                    <p:set>
                                      <p:cBhvr>
                                        <p:cTn id="100" dur="1" fill="hold">
                                          <p:stCondLst>
                                            <p:cond delay="0"/>
                                          </p:stCondLst>
                                        </p:cTn>
                                        <p:tgtEl>
                                          <p:spTgt spid="105">
                                            <p:graphicEl>
                                              <a:chart seriesIdx="0" categoryIdx="3" bldStep="ptInSeries"/>
                                            </p:graphicEl>
                                          </p:spTgt>
                                        </p:tgtEl>
                                        <p:attrNameLst>
                                          <p:attrName>style.visibility</p:attrName>
                                        </p:attrNameLst>
                                      </p:cBhvr>
                                      <p:to>
                                        <p:strVal val="visible"/>
                                      </p:to>
                                    </p:set>
                                    <p:animEffect transition="in" filter="wipe(down)">
                                      <p:cBhvr>
                                        <p:cTn id="101" dur="250"/>
                                        <p:tgtEl>
                                          <p:spTgt spid="105">
                                            <p:graphicEl>
                                              <a:chart seriesIdx="0" categoryIdx="3" bldStep="ptInSeries"/>
                                            </p:graphicEl>
                                          </p:spTgt>
                                        </p:tgtEl>
                                      </p:cBhvr>
                                    </p:animEffect>
                                  </p:childTnLst>
                                </p:cTn>
                              </p:par>
                            </p:childTnLst>
                          </p:cTn>
                        </p:par>
                        <p:par>
                          <p:cTn id="102" fill="hold">
                            <p:stCondLst>
                              <p:cond delay="2250"/>
                            </p:stCondLst>
                            <p:childTnLst>
                              <p:par>
                                <p:cTn id="103" presetID="22" presetClass="entr" presetSubtype="4" fill="hold" grpId="0" nodeType="afterEffect">
                                  <p:stCondLst>
                                    <p:cond delay="0"/>
                                  </p:stCondLst>
                                  <p:childTnLst>
                                    <p:set>
                                      <p:cBhvr>
                                        <p:cTn id="104" dur="1" fill="hold">
                                          <p:stCondLst>
                                            <p:cond delay="0"/>
                                          </p:stCondLst>
                                        </p:cTn>
                                        <p:tgtEl>
                                          <p:spTgt spid="105">
                                            <p:graphicEl>
                                              <a:chart seriesIdx="0" categoryIdx="4" bldStep="ptInSeries"/>
                                            </p:graphicEl>
                                          </p:spTgt>
                                        </p:tgtEl>
                                        <p:attrNameLst>
                                          <p:attrName>style.visibility</p:attrName>
                                        </p:attrNameLst>
                                      </p:cBhvr>
                                      <p:to>
                                        <p:strVal val="visible"/>
                                      </p:to>
                                    </p:set>
                                    <p:animEffect transition="in" filter="wipe(down)">
                                      <p:cBhvr>
                                        <p:cTn id="105" dur="250"/>
                                        <p:tgtEl>
                                          <p:spTgt spid="105">
                                            <p:graphicEl>
                                              <a:chart seriesIdx="0" categoryIdx="4" bldStep="ptInSeries"/>
                                            </p:graphicEl>
                                          </p:spTgt>
                                        </p:tgtEl>
                                      </p:cBhvr>
                                    </p:animEffect>
                                  </p:childTnLst>
                                </p:cTn>
                              </p:par>
                            </p:childTnLst>
                          </p:cTn>
                        </p:par>
                        <p:par>
                          <p:cTn id="106" fill="hold">
                            <p:stCondLst>
                              <p:cond delay="2500"/>
                            </p:stCondLst>
                            <p:childTnLst>
                              <p:par>
                                <p:cTn id="107" presetID="22" presetClass="entr" presetSubtype="4" fill="hold" grpId="0" nodeType="afterEffect">
                                  <p:stCondLst>
                                    <p:cond delay="0"/>
                                  </p:stCondLst>
                                  <p:childTnLst>
                                    <p:set>
                                      <p:cBhvr>
                                        <p:cTn id="108" dur="1" fill="hold">
                                          <p:stCondLst>
                                            <p:cond delay="0"/>
                                          </p:stCondLst>
                                        </p:cTn>
                                        <p:tgtEl>
                                          <p:spTgt spid="105">
                                            <p:graphicEl>
                                              <a:chart seriesIdx="0" categoryIdx="5" bldStep="ptInSeries"/>
                                            </p:graphicEl>
                                          </p:spTgt>
                                        </p:tgtEl>
                                        <p:attrNameLst>
                                          <p:attrName>style.visibility</p:attrName>
                                        </p:attrNameLst>
                                      </p:cBhvr>
                                      <p:to>
                                        <p:strVal val="visible"/>
                                      </p:to>
                                    </p:set>
                                    <p:animEffect transition="in" filter="wipe(down)">
                                      <p:cBhvr>
                                        <p:cTn id="109" dur="250"/>
                                        <p:tgtEl>
                                          <p:spTgt spid="105">
                                            <p:graphicEl>
                                              <a:chart seriesIdx="0" categoryIdx="5" bldStep="ptInSeries"/>
                                            </p:graphicEl>
                                          </p:spTgt>
                                        </p:tgtEl>
                                      </p:cBhvr>
                                    </p:animEffect>
                                  </p:childTnLst>
                                </p:cTn>
                              </p:par>
                            </p:childTnLst>
                          </p:cTn>
                        </p:par>
                        <p:par>
                          <p:cTn id="110" fill="hold">
                            <p:stCondLst>
                              <p:cond delay="2750"/>
                            </p:stCondLst>
                            <p:childTnLst>
                              <p:par>
                                <p:cTn id="111" presetID="22" presetClass="entr" presetSubtype="4" fill="hold" grpId="0" nodeType="afterEffect">
                                  <p:stCondLst>
                                    <p:cond delay="0"/>
                                  </p:stCondLst>
                                  <p:childTnLst>
                                    <p:set>
                                      <p:cBhvr>
                                        <p:cTn id="112" dur="1" fill="hold">
                                          <p:stCondLst>
                                            <p:cond delay="0"/>
                                          </p:stCondLst>
                                        </p:cTn>
                                        <p:tgtEl>
                                          <p:spTgt spid="105">
                                            <p:graphicEl>
                                              <a:chart seriesIdx="0" categoryIdx="6" bldStep="ptInSeries"/>
                                            </p:graphicEl>
                                          </p:spTgt>
                                        </p:tgtEl>
                                        <p:attrNameLst>
                                          <p:attrName>style.visibility</p:attrName>
                                        </p:attrNameLst>
                                      </p:cBhvr>
                                      <p:to>
                                        <p:strVal val="visible"/>
                                      </p:to>
                                    </p:set>
                                    <p:animEffect transition="in" filter="wipe(down)">
                                      <p:cBhvr>
                                        <p:cTn id="113" dur="250"/>
                                        <p:tgtEl>
                                          <p:spTgt spid="105">
                                            <p:graphicEl>
                                              <a:chart seriesIdx="0" categoryIdx="6" bldStep="ptInSeries"/>
                                            </p:graphicEl>
                                          </p:spTgt>
                                        </p:tgtEl>
                                      </p:cBhvr>
                                    </p:animEffect>
                                  </p:childTnLst>
                                </p:cTn>
                              </p:par>
                            </p:childTnLst>
                          </p:cTn>
                        </p:par>
                        <p:par>
                          <p:cTn id="114" fill="hold">
                            <p:stCondLst>
                              <p:cond delay="3000"/>
                            </p:stCondLst>
                            <p:childTnLst>
                              <p:par>
                                <p:cTn id="115" presetID="22" presetClass="entr" presetSubtype="4" fill="hold" grpId="0" nodeType="afterEffect">
                                  <p:stCondLst>
                                    <p:cond delay="0"/>
                                  </p:stCondLst>
                                  <p:childTnLst>
                                    <p:set>
                                      <p:cBhvr>
                                        <p:cTn id="116" dur="1" fill="hold">
                                          <p:stCondLst>
                                            <p:cond delay="0"/>
                                          </p:stCondLst>
                                        </p:cTn>
                                        <p:tgtEl>
                                          <p:spTgt spid="105">
                                            <p:graphicEl>
                                              <a:chart seriesIdx="0" categoryIdx="7" bldStep="ptInSeries"/>
                                            </p:graphicEl>
                                          </p:spTgt>
                                        </p:tgtEl>
                                        <p:attrNameLst>
                                          <p:attrName>style.visibility</p:attrName>
                                        </p:attrNameLst>
                                      </p:cBhvr>
                                      <p:to>
                                        <p:strVal val="visible"/>
                                      </p:to>
                                    </p:set>
                                    <p:animEffect transition="in" filter="wipe(down)">
                                      <p:cBhvr>
                                        <p:cTn id="117" dur="250"/>
                                        <p:tgtEl>
                                          <p:spTgt spid="105">
                                            <p:graphicEl>
                                              <a:chart seriesIdx="0" categoryIdx="7" bldStep="ptInSeries"/>
                                            </p:graphicEl>
                                          </p:spTgt>
                                        </p:tgtEl>
                                      </p:cBhvr>
                                    </p:animEffect>
                                  </p:childTnLst>
                                </p:cTn>
                              </p:par>
                            </p:childTnLst>
                          </p:cTn>
                        </p:par>
                        <p:par>
                          <p:cTn id="118" fill="hold">
                            <p:stCondLst>
                              <p:cond delay="3250"/>
                            </p:stCondLst>
                            <p:childTnLst>
                              <p:par>
                                <p:cTn id="119" presetID="22" presetClass="entr" presetSubtype="4" fill="hold" grpId="0" nodeType="afterEffect">
                                  <p:stCondLst>
                                    <p:cond delay="0"/>
                                  </p:stCondLst>
                                  <p:childTnLst>
                                    <p:set>
                                      <p:cBhvr>
                                        <p:cTn id="120" dur="1" fill="hold">
                                          <p:stCondLst>
                                            <p:cond delay="0"/>
                                          </p:stCondLst>
                                        </p:cTn>
                                        <p:tgtEl>
                                          <p:spTgt spid="105">
                                            <p:graphicEl>
                                              <a:chart seriesIdx="0" categoryIdx="8" bldStep="ptInSeries"/>
                                            </p:graphicEl>
                                          </p:spTgt>
                                        </p:tgtEl>
                                        <p:attrNameLst>
                                          <p:attrName>style.visibility</p:attrName>
                                        </p:attrNameLst>
                                      </p:cBhvr>
                                      <p:to>
                                        <p:strVal val="visible"/>
                                      </p:to>
                                    </p:set>
                                    <p:animEffect transition="in" filter="wipe(down)">
                                      <p:cBhvr>
                                        <p:cTn id="121" dur="250"/>
                                        <p:tgtEl>
                                          <p:spTgt spid="105">
                                            <p:graphicEl>
                                              <a:chart seriesIdx="0" categoryIdx="8" bldStep="ptInSeries"/>
                                            </p:graphicEl>
                                          </p:spTgt>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104"/>
                                        </p:tgtEl>
                                        <p:attrNameLst>
                                          <p:attrName>style.visibility</p:attrName>
                                        </p:attrNameLst>
                                      </p:cBhvr>
                                      <p:to>
                                        <p:strVal val="visible"/>
                                      </p:to>
                                    </p:set>
                                    <p:animEffect transition="in" filter="fade">
                                      <p:cBhvr>
                                        <p:cTn id="126" dur="250"/>
                                        <p:tgtEl>
                                          <p:spTgt spid="104"/>
                                        </p:tgtEl>
                                      </p:cBhvr>
                                    </p:animEffect>
                                  </p:childTnLst>
                                </p:cTn>
                              </p:par>
                            </p:childTnLst>
                          </p:cTn>
                        </p:par>
                        <p:par>
                          <p:cTn id="127" fill="hold">
                            <p:stCondLst>
                              <p:cond delay="250"/>
                            </p:stCondLst>
                            <p:childTnLst>
                              <p:par>
                                <p:cTn id="128" presetID="10" presetClass="entr" presetSubtype="0" fill="hold" nodeType="afterEffect">
                                  <p:stCondLst>
                                    <p:cond delay="0"/>
                                  </p:stCondLst>
                                  <p:childTnLst>
                                    <p:set>
                                      <p:cBhvr>
                                        <p:cTn id="129" dur="1" fill="hold">
                                          <p:stCondLst>
                                            <p:cond delay="0"/>
                                          </p:stCondLst>
                                        </p:cTn>
                                        <p:tgtEl>
                                          <p:spTgt spid="102"/>
                                        </p:tgtEl>
                                        <p:attrNameLst>
                                          <p:attrName>style.visibility</p:attrName>
                                        </p:attrNameLst>
                                      </p:cBhvr>
                                      <p:to>
                                        <p:strVal val="visible"/>
                                      </p:to>
                                    </p:set>
                                    <p:animEffect transition="in" filter="fade">
                                      <p:cBhvr>
                                        <p:cTn id="130" dur="250"/>
                                        <p:tgtEl>
                                          <p:spTgt spid="102"/>
                                        </p:tgtEl>
                                      </p:cBhvr>
                                    </p:animEffect>
                                  </p:childTnLst>
                                </p:cTn>
                              </p:par>
                            </p:childTnLst>
                          </p:cTn>
                        </p:par>
                        <p:par>
                          <p:cTn id="131" fill="hold">
                            <p:stCondLst>
                              <p:cond delay="500"/>
                            </p:stCondLst>
                            <p:childTnLst>
                              <p:par>
                                <p:cTn id="132" presetID="22" presetClass="entr" presetSubtype="4" fill="hold" grpId="0" nodeType="afterEffect">
                                  <p:stCondLst>
                                    <p:cond delay="0"/>
                                  </p:stCondLst>
                                  <p:childTnLst>
                                    <p:set>
                                      <p:cBhvr>
                                        <p:cTn id="133" dur="1" fill="hold">
                                          <p:stCondLst>
                                            <p:cond delay="0"/>
                                          </p:stCondLst>
                                        </p:cTn>
                                        <p:tgtEl>
                                          <p:spTgt spid="106">
                                            <p:graphicEl>
                                              <a:chart seriesIdx="-3" categoryIdx="-3" bldStep="gridLegend"/>
                                            </p:graphicEl>
                                          </p:spTgt>
                                        </p:tgtEl>
                                        <p:attrNameLst>
                                          <p:attrName>style.visibility</p:attrName>
                                        </p:attrNameLst>
                                      </p:cBhvr>
                                      <p:to>
                                        <p:strVal val="visible"/>
                                      </p:to>
                                    </p:set>
                                    <p:animEffect transition="in" filter="wipe(down)">
                                      <p:cBhvr>
                                        <p:cTn id="134" dur="250"/>
                                        <p:tgtEl>
                                          <p:spTgt spid="106">
                                            <p:graphicEl>
                                              <a:chart seriesIdx="-3" categoryIdx="-3" bldStep="gridLegend"/>
                                            </p:graphicEl>
                                          </p:spTgt>
                                        </p:tgtEl>
                                      </p:cBhvr>
                                    </p:animEffect>
                                  </p:childTnLst>
                                </p:cTn>
                              </p:par>
                            </p:childTnLst>
                          </p:cTn>
                        </p:par>
                        <p:par>
                          <p:cTn id="135" fill="hold">
                            <p:stCondLst>
                              <p:cond delay="750"/>
                            </p:stCondLst>
                            <p:childTnLst>
                              <p:par>
                                <p:cTn id="136" presetID="22" presetClass="entr" presetSubtype="4" fill="hold" grpId="0" nodeType="afterEffect">
                                  <p:stCondLst>
                                    <p:cond delay="0"/>
                                  </p:stCondLst>
                                  <p:childTnLst>
                                    <p:set>
                                      <p:cBhvr>
                                        <p:cTn id="137" dur="1" fill="hold">
                                          <p:stCondLst>
                                            <p:cond delay="0"/>
                                          </p:stCondLst>
                                        </p:cTn>
                                        <p:tgtEl>
                                          <p:spTgt spid="106">
                                            <p:graphicEl>
                                              <a:chart seriesIdx="0" categoryIdx="0" bldStep="ptInSeries"/>
                                            </p:graphicEl>
                                          </p:spTgt>
                                        </p:tgtEl>
                                        <p:attrNameLst>
                                          <p:attrName>style.visibility</p:attrName>
                                        </p:attrNameLst>
                                      </p:cBhvr>
                                      <p:to>
                                        <p:strVal val="visible"/>
                                      </p:to>
                                    </p:set>
                                    <p:animEffect transition="in" filter="wipe(down)">
                                      <p:cBhvr>
                                        <p:cTn id="138" dur="250"/>
                                        <p:tgtEl>
                                          <p:spTgt spid="106">
                                            <p:graphicEl>
                                              <a:chart seriesIdx="0" categoryIdx="0" bldStep="ptInSeries"/>
                                            </p:graphicEl>
                                          </p:spTgt>
                                        </p:tgtEl>
                                      </p:cBhvr>
                                    </p:animEffect>
                                  </p:childTnLst>
                                </p:cTn>
                              </p:par>
                            </p:childTnLst>
                          </p:cTn>
                        </p:par>
                        <p:par>
                          <p:cTn id="139" fill="hold">
                            <p:stCondLst>
                              <p:cond delay="1000"/>
                            </p:stCondLst>
                            <p:childTnLst>
                              <p:par>
                                <p:cTn id="140" presetID="22" presetClass="entr" presetSubtype="4" fill="hold" grpId="0" nodeType="afterEffect">
                                  <p:stCondLst>
                                    <p:cond delay="0"/>
                                  </p:stCondLst>
                                  <p:childTnLst>
                                    <p:set>
                                      <p:cBhvr>
                                        <p:cTn id="141" dur="1" fill="hold">
                                          <p:stCondLst>
                                            <p:cond delay="0"/>
                                          </p:stCondLst>
                                        </p:cTn>
                                        <p:tgtEl>
                                          <p:spTgt spid="106">
                                            <p:graphicEl>
                                              <a:chart seriesIdx="0" categoryIdx="1" bldStep="ptInSeries"/>
                                            </p:graphicEl>
                                          </p:spTgt>
                                        </p:tgtEl>
                                        <p:attrNameLst>
                                          <p:attrName>style.visibility</p:attrName>
                                        </p:attrNameLst>
                                      </p:cBhvr>
                                      <p:to>
                                        <p:strVal val="visible"/>
                                      </p:to>
                                    </p:set>
                                    <p:animEffect transition="in" filter="wipe(down)">
                                      <p:cBhvr>
                                        <p:cTn id="142" dur="250"/>
                                        <p:tgtEl>
                                          <p:spTgt spid="106">
                                            <p:graphicEl>
                                              <a:chart seriesIdx="0" categoryIdx="1" bldStep="ptInSeries"/>
                                            </p:graphicEl>
                                          </p:spTgt>
                                        </p:tgtEl>
                                      </p:cBhvr>
                                    </p:animEffect>
                                  </p:childTnLst>
                                </p:cTn>
                              </p:par>
                            </p:childTnLst>
                          </p:cTn>
                        </p:par>
                        <p:par>
                          <p:cTn id="143" fill="hold">
                            <p:stCondLst>
                              <p:cond delay="1250"/>
                            </p:stCondLst>
                            <p:childTnLst>
                              <p:par>
                                <p:cTn id="144" presetID="22" presetClass="entr" presetSubtype="4" fill="hold" grpId="0" nodeType="afterEffect">
                                  <p:stCondLst>
                                    <p:cond delay="0"/>
                                  </p:stCondLst>
                                  <p:childTnLst>
                                    <p:set>
                                      <p:cBhvr>
                                        <p:cTn id="145" dur="1" fill="hold">
                                          <p:stCondLst>
                                            <p:cond delay="0"/>
                                          </p:stCondLst>
                                        </p:cTn>
                                        <p:tgtEl>
                                          <p:spTgt spid="106">
                                            <p:graphicEl>
                                              <a:chart seriesIdx="0" categoryIdx="2" bldStep="ptInSeries"/>
                                            </p:graphicEl>
                                          </p:spTgt>
                                        </p:tgtEl>
                                        <p:attrNameLst>
                                          <p:attrName>style.visibility</p:attrName>
                                        </p:attrNameLst>
                                      </p:cBhvr>
                                      <p:to>
                                        <p:strVal val="visible"/>
                                      </p:to>
                                    </p:set>
                                    <p:animEffect transition="in" filter="wipe(down)">
                                      <p:cBhvr>
                                        <p:cTn id="146" dur="250"/>
                                        <p:tgtEl>
                                          <p:spTgt spid="106">
                                            <p:graphicEl>
                                              <a:chart seriesIdx="0" categoryIdx="2" bldStep="ptInSeries"/>
                                            </p:graphicEl>
                                          </p:spTgt>
                                        </p:tgtEl>
                                      </p:cBhvr>
                                    </p:animEffect>
                                  </p:childTnLst>
                                </p:cTn>
                              </p:par>
                            </p:childTnLst>
                          </p:cTn>
                        </p:par>
                        <p:par>
                          <p:cTn id="147" fill="hold">
                            <p:stCondLst>
                              <p:cond delay="1500"/>
                            </p:stCondLst>
                            <p:childTnLst>
                              <p:par>
                                <p:cTn id="148" presetID="22" presetClass="entr" presetSubtype="4" fill="hold" grpId="0" nodeType="afterEffect">
                                  <p:stCondLst>
                                    <p:cond delay="0"/>
                                  </p:stCondLst>
                                  <p:childTnLst>
                                    <p:set>
                                      <p:cBhvr>
                                        <p:cTn id="149" dur="1" fill="hold">
                                          <p:stCondLst>
                                            <p:cond delay="0"/>
                                          </p:stCondLst>
                                        </p:cTn>
                                        <p:tgtEl>
                                          <p:spTgt spid="106">
                                            <p:graphicEl>
                                              <a:chart seriesIdx="0" categoryIdx="3" bldStep="ptInSeries"/>
                                            </p:graphicEl>
                                          </p:spTgt>
                                        </p:tgtEl>
                                        <p:attrNameLst>
                                          <p:attrName>style.visibility</p:attrName>
                                        </p:attrNameLst>
                                      </p:cBhvr>
                                      <p:to>
                                        <p:strVal val="visible"/>
                                      </p:to>
                                    </p:set>
                                    <p:animEffect transition="in" filter="wipe(down)">
                                      <p:cBhvr>
                                        <p:cTn id="150" dur="250"/>
                                        <p:tgtEl>
                                          <p:spTgt spid="106">
                                            <p:graphicEl>
                                              <a:chart seriesIdx="0" categoryIdx="3" bldStep="ptInSeries"/>
                                            </p:graphicEl>
                                          </p:spTgt>
                                        </p:tgtEl>
                                      </p:cBhvr>
                                    </p:animEffect>
                                  </p:childTnLst>
                                </p:cTn>
                              </p:par>
                            </p:childTnLst>
                          </p:cTn>
                        </p:par>
                        <p:par>
                          <p:cTn id="151" fill="hold">
                            <p:stCondLst>
                              <p:cond delay="1750"/>
                            </p:stCondLst>
                            <p:childTnLst>
                              <p:par>
                                <p:cTn id="152" presetID="22" presetClass="entr" presetSubtype="4" fill="hold" grpId="0" nodeType="afterEffect">
                                  <p:stCondLst>
                                    <p:cond delay="0"/>
                                  </p:stCondLst>
                                  <p:childTnLst>
                                    <p:set>
                                      <p:cBhvr>
                                        <p:cTn id="153" dur="1" fill="hold">
                                          <p:stCondLst>
                                            <p:cond delay="0"/>
                                          </p:stCondLst>
                                        </p:cTn>
                                        <p:tgtEl>
                                          <p:spTgt spid="106">
                                            <p:graphicEl>
                                              <a:chart seriesIdx="0" categoryIdx="4" bldStep="ptInSeries"/>
                                            </p:graphicEl>
                                          </p:spTgt>
                                        </p:tgtEl>
                                        <p:attrNameLst>
                                          <p:attrName>style.visibility</p:attrName>
                                        </p:attrNameLst>
                                      </p:cBhvr>
                                      <p:to>
                                        <p:strVal val="visible"/>
                                      </p:to>
                                    </p:set>
                                    <p:animEffect transition="in" filter="wipe(down)">
                                      <p:cBhvr>
                                        <p:cTn id="154" dur="250"/>
                                        <p:tgtEl>
                                          <p:spTgt spid="106">
                                            <p:graphicEl>
                                              <a:chart seriesIdx="0" categoryIdx="4" bldStep="ptInSeries"/>
                                            </p:graphicEl>
                                          </p:spTgt>
                                        </p:tgtEl>
                                      </p:cBhvr>
                                    </p:animEffect>
                                  </p:childTnLst>
                                </p:cTn>
                              </p:par>
                            </p:childTnLst>
                          </p:cTn>
                        </p:par>
                        <p:par>
                          <p:cTn id="155" fill="hold">
                            <p:stCondLst>
                              <p:cond delay="2000"/>
                            </p:stCondLst>
                            <p:childTnLst>
                              <p:par>
                                <p:cTn id="156" presetID="22" presetClass="entr" presetSubtype="4" fill="hold" grpId="0" nodeType="afterEffect">
                                  <p:stCondLst>
                                    <p:cond delay="0"/>
                                  </p:stCondLst>
                                  <p:childTnLst>
                                    <p:set>
                                      <p:cBhvr>
                                        <p:cTn id="157" dur="1" fill="hold">
                                          <p:stCondLst>
                                            <p:cond delay="0"/>
                                          </p:stCondLst>
                                        </p:cTn>
                                        <p:tgtEl>
                                          <p:spTgt spid="106">
                                            <p:graphicEl>
                                              <a:chart seriesIdx="0" categoryIdx="5" bldStep="ptInSeries"/>
                                            </p:graphicEl>
                                          </p:spTgt>
                                        </p:tgtEl>
                                        <p:attrNameLst>
                                          <p:attrName>style.visibility</p:attrName>
                                        </p:attrNameLst>
                                      </p:cBhvr>
                                      <p:to>
                                        <p:strVal val="visible"/>
                                      </p:to>
                                    </p:set>
                                    <p:animEffect transition="in" filter="wipe(down)">
                                      <p:cBhvr>
                                        <p:cTn id="158" dur="250"/>
                                        <p:tgtEl>
                                          <p:spTgt spid="106">
                                            <p:graphicEl>
                                              <a:chart seriesIdx="0" categoryIdx="5" bldStep="ptInSeries"/>
                                            </p:graphicEl>
                                          </p:spTgt>
                                        </p:tgtEl>
                                      </p:cBhvr>
                                    </p:animEffect>
                                  </p:childTnLst>
                                </p:cTn>
                              </p:par>
                            </p:childTnLst>
                          </p:cTn>
                        </p:par>
                        <p:par>
                          <p:cTn id="159" fill="hold">
                            <p:stCondLst>
                              <p:cond delay="2250"/>
                            </p:stCondLst>
                            <p:childTnLst>
                              <p:par>
                                <p:cTn id="160" presetID="22" presetClass="entr" presetSubtype="4" fill="hold" grpId="0" nodeType="afterEffect">
                                  <p:stCondLst>
                                    <p:cond delay="0"/>
                                  </p:stCondLst>
                                  <p:childTnLst>
                                    <p:set>
                                      <p:cBhvr>
                                        <p:cTn id="161" dur="1" fill="hold">
                                          <p:stCondLst>
                                            <p:cond delay="0"/>
                                          </p:stCondLst>
                                        </p:cTn>
                                        <p:tgtEl>
                                          <p:spTgt spid="106">
                                            <p:graphicEl>
                                              <a:chart seriesIdx="0" categoryIdx="6" bldStep="ptInSeries"/>
                                            </p:graphicEl>
                                          </p:spTgt>
                                        </p:tgtEl>
                                        <p:attrNameLst>
                                          <p:attrName>style.visibility</p:attrName>
                                        </p:attrNameLst>
                                      </p:cBhvr>
                                      <p:to>
                                        <p:strVal val="visible"/>
                                      </p:to>
                                    </p:set>
                                    <p:animEffect transition="in" filter="wipe(down)">
                                      <p:cBhvr>
                                        <p:cTn id="162" dur="250"/>
                                        <p:tgtEl>
                                          <p:spTgt spid="106">
                                            <p:graphicEl>
                                              <a:chart seriesIdx="0" categoryIdx="6" bldStep="ptInSeries"/>
                                            </p:graphicEl>
                                          </p:spTgt>
                                        </p:tgtEl>
                                      </p:cBhvr>
                                    </p:animEffect>
                                  </p:childTnLst>
                                </p:cTn>
                              </p:par>
                            </p:childTnLst>
                          </p:cTn>
                        </p:par>
                        <p:par>
                          <p:cTn id="163" fill="hold">
                            <p:stCondLst>
                              <p:cond delay="2500"/>
                            </p:stCondLst>
                            <p:childTnLst>
                              <p:par>
                                <p:cTn id="164" presetID="22" presetClass="entr" presetSubtype="4" fill="hold" grpId="0" nodeType="afterEffect">
                                  <p:stCondLst>
                                    <p:cond delay="0"/>
                                  </p:stCondLst>
                                  <p:childTnLst>
                                    <p:set>
                                      <p:cBhvr>
                                        <p:cTn id="165" dur="1" fill="hold">
                                          <p:stCondLst>
                                            <p:cond delay="0"/>
                                          </p:stCondLst>
                                        </p:cTn>
                                        <p:tgtEl>
                                          <p:spTgt spid="106">
                                            <p:graphicEl>
                                              <a:chart seriesIdx="0" categoryIdx="7" bldStep="ptInSeries"/>
                                            </p:graphicEl>
                                          </p:spTgt>
                                        </p:tgtEl>
                                        <p:attrNameLst>
                                          <p:attrName>style.visibility</p:attrName>
                                        </p:attrNameLst>
                                      </p:cBhvr>
                                      <p:to>
                                        <p:strVal val="visible"/>
                                      </p:to>
                                    </p:set>
                                    <p:animEffect transition="in" filter="wipe(down)">
                                      <p:cBhvr>
                                        <p:cTn id="166" dur="250"/>
                                        <p:tgtEl>
                                          <p:spTgt spid="106">
                                            <p:graphicEl>
                                              <a:chart seriesIdx="0" categoryIdx="7" bldStep="ptInSeries"/>
                                            </p:graphicEl>
                                          </p:spTgt>
                                        </p:tgtEl>
                                      </p:cBhvr>
                                    </p:animEffect>
                                  </p:childTnLst>
                                </p:cTn>
                              </p:par>
                            </p:childTnLst>
                          </p:cTn>
                        </p:par>
                        <p:par>
                          <p:cTn id="167" fill="hold">
                            <p:stCondLst>
                              <p:cond delay="2750"/>
                            </p:stCondLst>
                            <p:childTnLst>
                              <p:par>
                                <p:cTn id="168" presetID="22" presetClass="entr" presetSubtype="4" fill="hold" grpId="0" nodeType="afterEffect">
                                  <p:stCondLst>
                                    <p:cond delay="0"/>
                                  </p:stCondLst>
                                  <p:childTnLst>
                                    <p:set>
                                      <p:cBhvr>
                                        <p:cTn id="169" dur="1" fill="hold">
                                          <p:stCondLst>
                                            <p:cond delay="0"/>
                                          </p:stCondLst>
                                        </p:cTn>
                                        <p:tgtEl>
                                          <p:spTgt spid="106">
                                            <p:graphicEl>
                                              <a:chart seriesIdx="0" categoryIdx="8" bldStep="ptInSeries"/>
                                            </p:graphicEl>
                                          </p:spTgt>
                                        </p:tgtEl>
                                        <p:attrNameLst>
                                          <p:attrName>style.visibility</p:attrName>
                                        </p:attrNameLst>
                                      </p:cBhvr>
                                      <p:to>
                                        <p:strVal val="visible"/>
                                      </p:to>
                                    </p:set>
                                    <p:animEffect transition="in" filter="wipe(down)">
                                      <p:cBhvr>
                                        <p:cTn id="170" dur="250"/>
                                        <p:tgtEl>
                                          <p:spTgt spid="106">
                                            <p:graphicEl>
                                              <a:chart seriesIdx="0" categoryIdx="8" bldStep="ptIn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103" grpId="0"/>
      <p:bldP spid="104" grpId="0"/>
      <p:bldGraphic spid="105" grpId="0">
        <p:bldSub>
          <a:bldChart bld="seriesEl"/>
        </p:bldSub>
      </p:bldGraphic>
      <p:bldGraphic spid="106" grpId="0">
        <p:bldSub>
          <a:bldChart bld="seriesEl"/>
        </p:bldSub>
      </p:bldGraphic>
      <p:bldGraphic spid="107" grpId="0">
        <p:bldSub>
          <a:bldChart bld="seriesEl"/>
        </p:bldSub>
      </p:bldGraphic>
      <p:bldP spid="108" grpId="0"/>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Placeholder 5"/>
          <p:cNvSpPr>
            <a:spLocks noGrp="1"/>
          </p:cNvSpPr>
          <p:nvPr>
            <p:ph type="body" sz="quarter" idx="10"/>
          </p:nvPr>
        </p:nvSpPr>
        <p:spPr>
          <a:xfrm>
            <a:off x="507226" y="382630"/>
            <a:ext cx="11009271" cy="642938"/>
          </a:xfrm>
        </p:spPr>
        <p:txBody>
          <a:bodyPr/>
          <a:lstStyle/>
          <a:p>
            <a:r>
              <a:rPr lang="en-US" dirty="0"/>
              <a:t>Handling </a:t>
            </a:r>
            <a:r>
              <a:rPr lang="en-US" i="1" dirty="0">
                <a:solidFill>
                  <a:srgbClr val="D43E01"/>
                </a:solidFill>
                <a:latin typeface="Lato Light" panose="020F0302020204030203" pitchFamily="34" charset="0"/>
              </a:rPr>
              <a:t>Noise</a:t>
            </a:r>
          </a:p>
        </p:txBody>
      </p:sp>
      <p:sp>
        <p:nvSpPr>
          <p:cNvPr id="58" name="Text Placeholder 6"/>
          <p:cNvSpPr>
            <a:spLocks noGrp="1"/>
          </p:cNvSpPr>
          <p:nvPr>
            <p:ph type="body" sz="quarter" idx="11"/>
          </p:nvPr>
        </p:nvSpPr>
        <p:spPr>
          <a:xfrm>
            <a:off x="538446" y="912983"/>
            <a:ext cx="10984557" cy="305229"/>
          </a:xfrm>
        </p:spPr>
        <p:txBody>
          <a:bodyPr/>
          <a:lstStyle/>
          <a:p>
            <a:r>
              <a:rPr lang="en-US" b="1" dirty="0"/>
              <a:t>Feature Data Vs. Histogram</a:t>
            </a:r>
          </a:p>
        </p:txBody>
      </p:sp>
      <p:grpSp>
        <p:nvGrpSpPr>
          <p:cNvPr id="59" name="Group 58"/>
          <p:cNvGrpSpPr/>
          <p:nvPr/>
        </p:nvGrpSpPr>
        <p:grpSpPr>
          <a:xfrm>
            <a:off x="455000" y="491056"/>
            <a:ext cx="45720" cy="675713"/>
            <a:chOff x="455000" y="491056"/>
            <a:chExt cx="45720" cy="675713"/>
          </a:xfrm>
        </p:grpSpPr>
        <p:sp>
          <p:nvSpPr>
            <p:cNvPr id="60" name="Rectangle 59"/>
            <p:cNvSpPr/>
            <p:nvPr userDrawn="1"/>
          </p:nvSpPr>
          <p:spPr>
            <a:xfrm>
              <a:off x="455001" y="491056"/>
              <a:ext cx="45719" cy="675713"/>
            </a:xfrm>
            <a:prstGeom prst="rect">
              <a:avLst/>
            </a:prstGeom>
            <a:solidFill>
              <a:srgbClr val="D43E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Rectangle 60"/>
            <p:cNvSpPr/>
            <p:nvPr userDrawn="1"/>
          </p:nvSpPr>
          <p:spPr>
            <a:xfrm>
              <a:off x="455000" y="961799"/>
              <a:ext cx="45719" cy="204970"/>
            </a:xfrm>
            <a:prstGeom prst="rect">
              <a:avLst/>
            </a:prstGeom>
            <a:solidFill>
              <a:schemeClr val="tx1">
                <a:lumMod val="95000"/>
                <a:lumOff val="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15" name="TextBox 114"/>
          <p:cNvSpPr txBox="1"/>
          <p:nvPr/>
        </p:nvSpPr>
        <p:spPr>
          <a:xfrm>
            <a:off x="6866467" y="6512928"/>
            <a:ext cx="5129408" cy="276999"/>
          </a:xfrm>
          <a:prstGeom prst="rect">
            <a:avLst/>
          </a:prstGeom>
          <a:noFill/>
        </p:spPr>
        <p:txBody>
          <a:bodyPr wrap="square" rtlCol="0">
            <a:spAutoFit/>
          </a:bodyPr>
          <a:lstStyle/>
          <a:p>
            <a:pPr algn="r"/>
            <a:r>
              <a:rPr lang="en-US" sz="1200" dirty="0">
                <a:solidFill>
                  <a:prstClr val="white">
                    <a:lumMod val="75000"/>
                  </a:prstClr>
                </a:solidFill>
                <a:latin typeface="Lato Light" panose="020F0402020204030203" pitchFamily="34" charset="0"/>
                <a:cs typeface="Lato Light" panose="020F0402020204030203" pitchFamily="34" charset="0"/>
              </a:rPr>
              <a:t>Computer Science and Information Engineering – </a:t>
            </a:r>
            <a:r>
              <a:rPr lang="en-US" sz="1200" b="1" dirty="0">
                <a:solidFill>
                  <a:prstClr val="white">
                    <a:lumMod val="75000"/>
                  </a:prstClr>
                </a:solidFill>
                <a:latin typeface="Lato Light" panose="020F0402020204030203" pitchFamily="34" charset="0"/>
                <a:cs typeface="Lato Light" panose="020F0402020204030203" pitchFamily="34" charset="0"/>
              </a:rPr>
              <a:t>National Central University - 13</a:t>
            </a:r>
          </a:p>
        </p:txBody>
      </p:sp>
      <p:sp>
        <p:nvSpPr>
          <p:cNvPr id="2" name="TextBox 1"/>
          <p:cNvSpPr txBox="1"/>
          <p:nvPr/>
        </p:nvSpPr>
        <p:spPr>
          <a:xfrm>
            <a:off x="283146" y="2659965"/>
            <a:ext cx="11457429" cy="2308324"/>
          </a:xfrm>
          <a:prstGeom prst="rect">
            <a:avLst/>
          </a:prstGeom>
          <a:noFill/>
        </p:spPr>
        <p:txBody>
          <a:bodyPr wrap="square" rtlCol="0">
            <a:spAutoFit/>
          </a:bodyPr>
          <a:lstStyle/>
          <a:p>
            <a:pPr algn="ctr"/>
            <a:r>
              <a:rPr lang="en-US" sz="3600" dirty="0"/>
              <a:t>Does our adjustment method will make our system </a:t>
            </a:r>
          </a:p>
          <a:p>
            <a:pPr algn="ctr"/>
            <a:r>
              <a:rPr lang="en-US" sz="3600" dirty="0"/>
              <a:t>more noise-tolerant?</a:t>
            </a:r>
          </a:p>
          <a:p>
            <a:pPr algn="ctr"/>
            <a:endParaRPr lang="en-US" sz="3600" dirty="0"/>
          </a:p>
          <a:p>
            <a:pPr algn="ctr"/>
            <a:r>
              <a:rPr lang="en-US" sz="3600" dirty="0"/>
              <a:t>We will explore it in LAB session</a:t>
            </a:r>
          </a:p>
        </p:txBody>
      </p:sp>
    </p:spTree>
    <p:extLst>
      <p:ext uri="{BB962C8B-B14F-4D97-AF65-F5344CB8AC3E}">
        <p14:creationId xmlns:p14="http://schemas.microsoft.com/office/powerpoint/2010/main" val="16613987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426759" y="2905780"/>
            <a:ext cx="5338482" cy="1046440"/>
          </a:xfrm>
          <a:prstGeom prst="rect">
            <a:avLst/>
          </a:prstGeom>
          <a:noFill/>
        </p:spPr>
        <p:txBody>
          <a:bodyPr wrap="square" rtlCol="0">
            <a:spAutoFit/>
          </a:bodyPr>
          <a:lstStyle/>
          <a:p>
            <a:pPr algn="ctr"/>
            <a:r>
              <a:rPr lang="en-US" sz="6200">
                <a:solidFill>
                  <a:schemeClr val="tx1">
                    <a:lumMod val="75000"/>
                    <a:lumOff val="25000"/>
                  </a:schemeClr>
                </a:solidFill>
                <a:latin typeface="Tw Cen MT" panose="020B0602020104020603" pitchFamily="34" charset="0"/>
                <a:cs typeface="Lato Heavy" panose="020F0902020204030203" pitchFamily="34" charset="0"/>
              </a:rPr>
              <a:t>THANK YOU</a:t>
            </a:r>
            <a:endParaRPr lang="en-US" sz="6200" dirty="0">
              <a:solidFill>
                <a:schemeClr val="tx1">
                  <a:lumMod val="75000"/>
                  <a:lumOff val="25000"/>
                </a:schemeClr>
              </a:solidFill>
              <a:latin typeface="Tw Cen MT" panose="020B0602020104020603" pitchFamily="34" charset="0"/>
              <a:cs typeface="Lato Heavy" panose="020F0902020204030203" pitchFamily="34" charset="0"/>
            </a:endParaRPr>
          </a:p>
        </p:txBody>
      </p:sp>
    </p:spTree>
    <p:extLst>
      <p:ext uri="{BB962C8B-B14F-4D97-AF65-F5344CB8AC3E}">
        <p14:creationId xmlns:p14="http://schemas.microsoft.com/office/powerpoint/2010/main" val="376203962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Theme">
  <a:themeElements>
    <a:clrScheme name="Office">
      <a:dk1>
        <a:sysClr val="windowText" lastClr="464646"/>
      </a:dk1>
      <a:lt1>
        <a:sysClr val="window" lastClr="FCFCFC"/>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asic Slide">
  <a:themeElements>
    <a:clrScheme name="Office">
      <a:dk1>
        <a:sysClr val="windowText" lastClr="464646"/>
      </a:dk1>
      <a:lt1>
        <a:sysClr val="window" lastClr="FCFCFC"/>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464646"/>
      </a:dk1>
      <a:lt1>
        <a:sysClr val="window" lastClr="FCFCFC"/>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34659</TotalTime>
  <Words>2316</Words>
  <Application>Microsoft Office PowerPoint</Application>
  <PresentationFormat>Widescreen</PresentationFormat>
  <Paragraphs>798</Paragraphs>
  <Slides>22</Slides>
  <Notes>17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22</vt:i4>
      </vt:variant>
    </vt:vector>
  </HeadingPairs>
  <TitlesOfParts>
    <vt:vector size="36" baseType="lpstr">
      <vt:lpstr>FontAwesome</vt:lpstr>
      <vt:lpstr>Arial</vt:lpstr>
      <vt:lpstr>Calibri</vt:lpstr>
      <vt:lpstr>Calibri Light</vt:lpstr>
      <vt:lpstr>Cambria Math</vt:lpstr>
      <vt:lpstr>Courier New</vt:lpstr>
      <vt:lpstr>Lato</vt:lpstr>
      <vt:lpstr>Lato Black</vt:lpstr>
      <vt:lpstr>Lato Light</vt:lpstr>
      <vt:lpstr>Lato Medium</vt:lpstr>
      <vt:lpstr>Tw Cen MT</vt:lpstr>
      <vt:lpstr>Wingdings</vt:lpstr>
      <vt:lpstr>Office Theme</vt:lpstr>
      <vt:lpstr>1_Basic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 Danny</dc:creator>
  <cp:lastModifiedBy>Afif Izzul Falakh</cp:lastModifiedBy>
  <cp:revision>545</cp:revision>
  <dcterms:created xsi:type="dcterms:W3CDTF">2014-12-09T04:02:55Z</dcterms:created>
  <dcterms:modified xsi:type="dcterms:W3CDTF">2022-06-05T23:47:17Z</dcterms:modified>
</cp:coreProperties>
</file>