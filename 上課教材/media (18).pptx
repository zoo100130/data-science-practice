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handoutMasterIdLst>
    <p:handoutMasterId r:id="rId21"/>
  </p:handoutMasterIdLst>
  <p:sldIdLst>
    <p:sldId id="310" r:id="rId2"/>
    <p:sldId id="382" r:id="rId3"/>
    <p:sldId id="380" r:id="rId4"/>
    <p:sldId id="378" r:id="rId5"/>
    <p:sldId id="379" r:id="rId6"/>
    <p:sldId id="336" r:id="rId7"/>
    <p:sldId id="356" r:id="rId8"/>
    <p:sldId id="357" r:id="rId9"/>
    <p:sldId id="337" r:id="rId10"/>
    <p:sldId id="385" r:id="rId11"/>
    <p:sldId id="387" r:id="rId12"/>
    <p:sldId id="383" r:id="rId13"/>
    <p:sldId id="384" r:id="rId14"/>
    <p:sldId id="371" r:id="rId15"/>
    <p:sldId id="372" r:id="rId16"/>
    <p:sldId id="374" r:id="rId17"/>
    <p:sldId id="381" r:id="rId18"/>
    <p:sldId id="37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ersi 1" id="{050A6DC5-1E1E-41ED-A8C6-C8A9E05390E2}">
          <p14:sldIdLst>
            <p14:sldId id="310"/>
            <p14:sldId id="382"/>
            <p14:sldId id="380"/>
            <p14:sldId id="378"/>
            <p14:sldId id="379"/>
            <p14:sldId id="336"/>
            <p14:sldId id="356"/>
            <p14:sldId id="357"/>
            <p14:sldId id="337"/>
            <p14:sldId id="385"/>
            <p14:sldId id="387"/>
            <p14:sldId id="383"/>
            <p14:sldId id="384"/>
            <p14:sldId id="371"/>
            <p14:sldId id="372"/>
            <p14:sldId id="374"/>
            <p14:sldId id="381"/>
            <p14:sldId id="3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99" autoAdjust="0"/>
    <p:restoredTop sz="90766" autoAdjust="0"/>
  </p:normalViewPr>
  <p:slideViewPr>
    <p:cSldViewPr snapToGrid="0">
      <p:cViewPr varScale="1">
        <p:scale>
          <a:sx n="76" d="100"/>
          <a:sy n="76" d="100"/>
        </p:scale>
        <p:origin x="96"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ECF772E-CB5E-43B1-A6E6-74E946A0154C}" type="datetimeFigureOut">
              <a:rPr lang="en-US" smtClean="0"/>
              <a:t>3/19/2024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A43694-BFA7-4F3B-A6E9-279DC4037419}" type="slidenum">
              <a:rPr lang="en-US" smtClean="0"/>
              <a:t>‹#›</a:t>
            </a:fld>
            <a:endParaRPr lang="en-US"/>
          </a:p>
        </p:txBody>
      </p:sp>
    </p:spTree>
    <p:extLst>
      <p:ext uri="{BB962C8B-B14F-4D97-AF65-F5344CB8AC3E}">
        <p14:creationId xmlns:p14="http://schemas.microsoft.com/office/powerpoint/2010/main" val="93200440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399B95-7A66-43D9-B8EA-7E2014C067DF}" type="datetimeFigureOut">
              <a:rPr lang="zh-TW" altLang="en-US" smtClean="0"/>
              <a:t>2024/3/19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26F587-C6A9-420B-88EF-38E992047312}" type="slidenum">
              <a:rPr lang="zh-TW" altLang="en-US" smtClean="0"/>
              <a:t>‹#›</a:t>
            </a:fld>
            <a:endParaRPr lang="zh-TW" altLang="en-US"/>
          </a:p>
        </p:txBody>
      </p:sp>
    </p:spTree>
    <p:extLst>
      <p:ext uri="{BB962C8B-B14F-4D97-AF65-F5344CB8AC3E}">
        <p14:creationId xmlns:p14="http://schemas.microsoft.com/office/powerpoint/2010/main" val="154771479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EM algorithm application is Modelling step in the data science flow</a:t>
            </a:r>
            <a:endParaRPr lang="en-US" dirty="0"/>
          </a:p>
        </p:txBody>
      </p:sp>
      <p:sp>
        <p:nvSpPr>
          <p:cNvPr id="4" name="Slide Number Placeholder 3"/>
          <p:cNvSpPr>
            <a:spLocks noGrp="1"/>
          </p:cNvSpPr>
          <p:nvPr>
            <p:ph type="sldNum" sz="quarter" idx="10"/>
          </p:nvPr>
        </p:nvSpPr>
        <p:spPr/>
        <p:txBody>
          <a:bodyPr/>
          <a:lstStyle/>
          <a:p>
            <a:fld id="{2CA3AB2B-189A-4C92-A457-C6A3833631A7}" type="slidenum">
              <a:rPr lang="en-US" smtClean="0"/>
              <a:pPr/>
              <a:t>2</a:t>
            </a:fld>
            <a:endParaRPr lang="en-US"/>
          </a:p>
        </p:txBody>
      </p:sp>
    </p:spTree>
    <p:extLst>
      <p:ext uri="{BB962C8B-B14F-4D97-AF65-F5344CB8AC3E}">
        <p14:creationId xmlns:p14="http://schemas.microsoft.com/office/powerpoint/2010/main" val="35917696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Picture in the left, the green dots are an example of given data that cannot (will be bad) be modeled using single Gaussian distribution, because it has two summits. To model green dots distributions, we can use linear combination of Gaussian distributions (picture in the right), which is much better than single Gaussian distribution. This model combination of Gaussian is usually called GMM (Gaussian Mixture Model)</a:t>
            </a:r>
          </a:p>
          <a:p>
            <a:endParaRPr lang="en-US" dirty="0"/>
          </a:p>
        </p:txBody>
      </p:sp>
      <p:sp>
        <p:nvSpPr>
          <p:cNvPr id="4" name="Slide Number Placeholder 3"/>
          <p:cNvSpPr>
            <a:spLocks noGrp="1"/>
          </p:cNvSpPr>
          <p:nvPr>
            <p:ph type="sldNum" sz="quarter" idx="10"/>
          </p:nvPr>
        </p:nvSpPr>
        <p:spPr/>
        <p:txBody>
          <a:bodyPr/>
          <a:lstStyle/>
          <a:p>
            <a:fld id="{D65E2E34-C12E-476F-BFD6-83F3F9ABABAF}" type="slidenum">
              <a:rPr lang="zh-TW" altLang="en-US" smtClean="0"/>
              <a:t>6</a:t>
            </a:fld>
            <a:endParaRPr lang="zh-TW" altLang="en-US"/>
          </a:p>
        </p:txBody>
      </p:sp>
    </p:spTree>
    <p:extLst>
      <p:ext uri="{BB962C8B-B14F-4D97-AF65-F5344CB8AC3E}">
        <p14:creationId xmlns:p14="http://schemas.microsoft.com/office/powerpoint/2010/main" val="18294061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sz="1200" b="0" i="0" u="none" strike="noStrike" kern="1200" dirty="0">
                <a:solidFill>
                  <a:schemeClr val="tx1"/>
                </a:solidFill>
                <a:effectLst/>
                <a:latin typeface="+mn-lt"/>
                <a:ea typeface="+mn-ea"/>
                <a:cs typeface="+mn-cs"/>
              </a:rPr>
              <a:t>A Gaussian mixture model is </a:t>
            </a:r>
            <a:r>
              <a:rPr lang="en-ID" sz="1200" b="1" i="0" u="none" strike="noStrike" kern="1200" dirty="0">
                <a:solidFill>
                  <a:schemeClr val="tx1"/>
                </a:solidFill>
                <a:effectLst/>
                <a:latin typeface="+mn-lt"/>
                <a:ea typeface="+mn-ea"/>
                <a:cs typeface="+mn-cs"/>
              </a:rPr>
              <a:t>a probabilistic model that assumes all the data points are generated from a mixture of a finite number of Gaussian distributions with unknown parameters</a:t>
            </a:r>
            <a:endParaRPr lang="en-US" dirty="0"/>
          </a:p>
        </p:txBody>
      </p:sp>
      <p:sp>
        <p:nvSpPr>
          <p:cNvPr id="4" name="Slide Number Placeholder 3"/>
          <p:cNvSpPr>
            <a:spLocks noGrp="1"/>
          </p:cNvSpPr>
          <p:nvPr>
            <p:ph type="sldNum" sz="quarter" idx="5"/>
          </p:nvPr>
        </p:nvSpPr>
        <p:spPr/>
        <p:txBody>
          <a:bodyPr/>
          <a:lstStyle/>
          <a:p>
            <a:fld id="{4726F587-C6A9-420B-88EF-38E992047312}" type="slidenum">
              <a:rPr lang="zh-TW" altLang="en-US" smtClean="0"/>
              <a:t>9</a:t>
            </a:fld>
            <a:endParaRPr lang="zh-TW" altLang="en-US"/>
          </a:p>
        </p:txBody>
      </p:sp>
    </p:spTree>
    <p:extLst>
      <p:ext uri="{BB962C8B-B14F-4D97-AF65-F5344CB8AC3E}">
        <p14:creationId xmlns:p14="http://schemas.microsoft.com/office/powerpoint/2010/main" val="2958673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The parameter </a:t>
                </a:r>
                <a14:m>
                  <m:oMath xmlns:m="http://schemas.openxmlformats.org/officeDocument/2006/math">
                    <m:r>
                      <a:rPr lang="en-US" i="1" smtClean="0">
                        <a:latin typeface="Cambria Math" panose="02040503050406030204" pitchFamily="18" charset="0"/>
                        <a:ea typeface="Cambria Math" panose="02040503050406030204" pitchFamily="18" charset="0"/>
                      </a:rPr>
                      <m:t>𝜇</m:t>
                    </m:r>
                  </m:oMath>
                </a14:m>
                <a:r>
                  <a:rPr lang="en-US" dirty="0"/>
                  <a:t> (mu) is the mean or expectation of the distribution (and also its median and mode), while the parameter  </a:t>
                </a:r>
                <a14:m>
                  <m:oMath xmlns:m="http://schemas.openxmlformats.org/officeDocument/2006/math">
                    <m:r>
                      <a:rPr lang="en-US" i="1" smtClean="0">
                        <a:latin typeface="Cambria Math" panose="02040503050406030204" pitchFamily="18" charset="0"/>
                        <a:ea typeface="Cambria Math" panose="02040503050406030204" pitchFamily="18" charset="0"/>
                      </a:rPr>
                      <m:t>𝜎</m:t>
                    </m:r>
                  </m:oMath>
                </a14:m>
                <a:r>
                  <a:rPr lang="en-US" dirty="0"/>
                  <a:t> (sigma) is its standard deviation.[1] The variance of the distribution is </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rPr>
                          <m:t>2</m:t>
                        </m:r>
                      </m:sup>
                    </m:sSup>
                  </m:oMath>
                </a14:m>
                <a:r>
                  <a:rPr lang="en-US" baseline="0" dirty="0"/>
                  <a:t>  </a:t>
                </a:r>
                <a:r>
                  <a:rPr lang="en-US" dirty="0"/>
                  <a:t>sigma square.</a:t>
                </a:r>
              </a:p>
            </p:txBody>
          </p:sp>
        </mc:Choice>
        <mc:Fallback xmlns="">
          <p:sp>
            <p:nvSpPr>
              <p:cNvPr id="3" name="Notes Placeholder 2"/>
              <p:cNvSpPr>
                <a:spLocks noGrp="1"/>
              </p:cNvSpPr>
              <p:nvPr>
                <p:ph type="body" idx="1"/>
              </p:nvPr>
            </p:nvSpPr>
            <p:spPr/>
            <p:txBody>
              <a:bodyPr/>
              <a:lstStyle/>
              <a:p>
                <a:r>
                  <a:rPr lang="en-US" dirty="0"/>
                  <a:t>The parameter </a:t>
                </a:r>
                <a:r>
                  <a:rPr lang="en-US" i="0">
                    <a:latin typeface="Cambria Math" panose="02040503050406030204" pitchFamily="18" charset="0"/>
                    <a:ea typeface="Cambria Math" panose="02040503050406030204" pitchFamily="18" charset="0"/>
                  </a:rPr>
                  <a:t>𝜇</a:t>
                </a:r>
                <a:r>
                  <a:rPr lang="en-US" dirty="0"/>
                  <a:t> (mu) is the mean or expectation of the distribution (and also its median and mode), while the parameter  </a:t>
                </a:r>
                <a:r>
                  <a:rPr lang="en-US" i="0">
                    <a:latin typeface="Cambria Math" panose="02040503050406030204" pitchFamily="18" charset="0"/>
                    <a:ea typeface="Cambria Math" panose="02040503050406030204" pitchFamily="18" charset="0"/>
                  </a:rPr>
                  <a:t>𝜎</a:t>
                </a:r>
                <a:r>
                  <a:rPr lang="en-US" dirty="0"/>
                  <a:t> (sigma) is its standard deviation.[1] The variance of the distribution is </a:t>
                </a:r>
                <a:r>
                  <a:rPr lang="en-US" i="0">
                    <a:latin typeface="Cambria Math" panose="02040503050406030204" pitchFamily="18" charset="0"/>
                    <a:ea typeface="Cambria Math" panose="02040503050406030204" pitchFamily="18" charset="0"/>
                  </a:rPr>
                  <a:t>𝜎^</a:t>
                </a:r>
                <a:r>
                  <a:rPr lang="en-US" b="0" i="0">
                    <a:latin typeface="Cambria Math" panose="02040503050406030204" pitchFamily="18" charset="0"/>
                  </a:rPr>
                  <a:t>2</a:t>
                </a:r>
                <a:r>
                  <a:rPr lang="en-US" baseline="0" dirty="0"/>
                  <a:t>  </a:t>
                </a:r>
                <a:r>
                  <a:rPr lang="en-US" dirty="0"/>
                  <a:t>sigma square.</a:t>
                </a:r>
              </a:p>
            </p:txBody>
          </p:sp>
        </mc:Fallback>
      </mc:AlternateContent>
      <p:sp>
        <p:nvSpPr>
          <p:cNvPr id="4" name="Slide Number Placeholder 3"/>
          <p:cNvSpPr>
            <a:spLocks noGrp="1"/>
          </p:cNvSpPr>
          <p:nvPr>
            <p:ph type="sldNum" sz="quarter" idx="5"/>
          </p:nvPr>
        </p:nvSpPr>
        <p:spPr/>
        <p:txBody>
          <a:bodyPr/>
          <a:lstStyle/>
          <a:p>
            <a:fld id="{4726F587-C6A9-420B-88EF-38E992047312}" type="slidenum">
              <a:rPr lang="zh-TW" altLang="en-US" smtClean="0"/>
              <a:t>10</a:t>
            </a:fld>
            <a:endParaRPr lang="zh-TW" altLang="en-US"/>
          </a:p>
        </p:txBody>
      </p:sp>
    </p:spTree>
    <p:extLst>
      <p:ext uri="{BB962C8B-B14F-4D97-AF65-F5344CB8AC3E}">
        <p14:creationId xmlns:p14="http://schemas.microsoft.com/office/powerpoint/2010/main" val="14691557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726F587-C6A9-420B-88EF-38E992047312}" type="slidenum">
              <a:rPr lang="zh-TW" altLang="en-US" smtClean="0"/>
              <a:t>11</a:t>
            </a:fld>
            <a:endParaRPr lang="zh-TW" altLang="en-US"/>
          </a:p>
        </p:txBody>
      </p:sp>
    </p:spTree>
    <p:extLst>
      <p:ext uri="{BB962C8B-B14F-4D97-AF65-F5344CB8AC3E}">
        <p14:creationId xmlns:p14="http://schemas.microsoft.com/office/powerpoint/2010/main" val="4029882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TW" altLang="en-US"/>
              <a:t>按一下以編輯母片標題樣式</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06A43397-EE72-4284-A53F-4787408DEC31}" type="datetime1">
              <a:rPr lang="zh-TW" altLang="en-US" smtClean="0"/>
              <a:t>2024/3/19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58370351-947A-4E07-9670-11236DD68188}" type="slidenum">
              <a:rPr lang="zh-TW" altLang="en-US" smtClean="0"/>
              <a:t>‹#›</a:t>
            </a:fld>
            <a:endParaRPr lang="zh-TW"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9422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A370C41B-A6D1-4140-8F5F-C17798C6EA87}" type="datetime1">
              <a:rPr lang="zh-TW" altLang="en-US" smtClean="0"/>
              <a:t>2024/3/19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58370351-947A-4E07-9670-11236DD68188}" type="slidenum">
              <a:rPr lang="zh-TW" altLang="en-US" smtClean="0"/>
              <a:t>‹#›</a:t>
            </a:fld>
            <a:endParaRPr lang="zh-TW" altLang="en-US"/>
          </a:p>
        </p:txBody>
      </p:sp>
    </p:spTree>
    <p:extLst>
      <p:ext uri="{BB962C8B-B14F-4D97-AF65-F5344CB8AC3E}">
        <p14:creationId xmlns:p14="http://schemas.microsoft.com/office/powerpoint/2010/main" val="19517336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A4356716-7CEB-42AD-971A-7847CBB4D13D}" type="datetime1">
              <a:rPr lang="zh-TW" altLang="en-US" smtClean="0"/>
              <a:t>2024/3/19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58370351-947A-4E07-9670-11236DD68188}" type="slidenum">
              <a:rPr lang="zh-TW" altLang="en-US" smtClean="0"/>
              <a:t>‹#›</a:t>
            </a:fld>
            <a:endParaRPr lang="zh-TW"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9476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684E8D3-702B-4500-B3A0-577C56814239}" type="datetime1">
              <a:rPr lang="zh-TW" altLang="en-US" smtClean="0"/>
              <a:t>2024/3/19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58370351-947A-4E07-9670-11236DD68188}" type="slidenum">
              <a:rPr lang="zh-TW" altLang="en-US" smtClean="0"/>
              <a:t>‹#›</a:t>
            </a:fld>
            <a:endParaRPr lang="zh-TW" altLang="en-US"/>
          </a:p>
        </p:txBody>
      </p:sp>
    </p:spTree>
    <p:extLst>
      <p:ext uri="{BB962C8B-B14F-4D97-AF65-F5344CB8AC3E}">
        <p14:creationId xmlns:p14="http://schemas.microsoft.com/office/powerpoint/2010/main" val="4193333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1097280" y="2582334"/>
            <a:ext cx="4937760" cy="33782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6217920" y="2582334"/>
            <a:ext cx="4937760" cy="33782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201B7465-88F6-4841-8688-F228E1785B5B}" type="datetime1">
              <a:rPr lang="zh-TW" altLang="en-US" smtClean="0"/>
              <a:t>2024/3/19</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58370351-947A-4E07-9670-11236DD68188}" type="slidenum">
              <a:rPr lang="zh-TW" altLang="en-US" smtClean="0"/>
              <a:t>‹#›</a:t>
            </a:fld>
            <a:endParaRPr lang="zh-TW" altLang="en-US"/>
          </a:p>
        </p:txBody>
      </p:sp>
    </p:spTree>
    <p:extLst>
      <p:ext uri="{BB962C8B-B14F-4D97-AF65-F5344CB8AC3E}">
        <p14:creationId xmlns:p14="http://schemas.microsoft.com/office/powerpoint/2010/main" val="3356569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25C5E60-9391-4EE9-B9BA-A0DF251119C2}" type="datetime1">
              <a:rPr lang="zh-TW" altLang="en-US" smtClean="0"/>
              <a:t>2024/3/19</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58370351-947A-4E07-9670-11236DD68188}" type="slidenum">
              <a:rPr lang="zh-TW" altLang="en-US" smtClean="0"/>
              <a:t>‹#›</a:t>
            </a:fld>
            <a:endParaRPr lang="zh-TW" altLang="en-US"/>
          </a:p>
        </p:txBody>
      </p:sp>
    </p:spTree>
    <p:extLst>
      <p:ext uri="{BB962C8B-B14F-4D97-AF65-F5344CB8AC3E}">
        <p14:creationId xmlns:p14="http://schemas.microsoft.com/office/powerpoint/2010/main" val="675759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397816A-3040-4D5D-A1FD-DC9D33E94772}" type="datetime1">
              <a:rPr lang="zh-TW" altLang="en-US" smtClean="0"/>
              <a:t>2024/3/19</a:t>
            </a:fld>
            <a:endParaRPr lang="zh-TW"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TW" altLang="en-US"/>
          </a:p>
        </p:txBody>
      </p:sp>
      <p:sp>
        <p:nvSpPr>
          <p:cNvPr id="9" name="Slide Number Placeholder 8"/>
          <p:cNvSpPr>
            <a:spLocks noGrp="1"/>
          </p:cNvSpPr>
          <p:nvPr>
            <p:ph type="sldNum" sz="quarter" idx="12"/>
          </p:nvPr>
        </p:nvSpPr>
        <p:spPr/>
        <p:txBody>
          <a:bodyPr/>
          <a:lstStyle/>
          <a:p>
            <a:fld id="{58370351-947A-4E07-9670-11236DD68188}" type="slidenum">
              <a:rPr lang="zh-TW" altLang="en-US" smtClean="0"/>
              <a:t>‹#›</a:t>
            </a:fld>
            <a:endParaRPr lang="zh-TW" altLang="en-US"/>
          </a:p>
        </p:txBody>
      </p:sp>
    </p:spTree>
    <p:extLst>
      <p:ext uri="{BB962C8B-B14F-4D97-AF65-F5344CB8AC3E}">
        <p14:creationId xmlns:p14="http://schemas.microsoft.com/office/powerpoint/2010/main" val="4291359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zh-TW" altLang="en-US"/>
              <a:t>按一下以編輯母片標題樣式</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A566A71-9476-407F-ACEA-DF5D44B033C1}" type="datetime1">
              <a:rPr lang="zh-TW" altLang="en-US" smtClean="0"/>
              <a:t>2024/3/19</a:t>
            </a:fld>
            <a:endParaRPr lang="zh-TW"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zh-TW"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8370351-947A-4E07-9670-11236DD68188}" type="slidenum">
              <a:rPr lang="zh-TW" altLang="en-US" smtClean="0"/>
              <a:t>‹#›</a:t>
            </a:fld>
            <a:endParaRPr lang="zh-TW" altLang="en-US"/>
          </a:p>
        </p:txBody>
      </p:sp>
    </p:spTree>
    <p:extLst>
      <p:ext uri="{BB962C8B-B14F-4D97-AF65-F5344CB8AC3E}">
        <p14:creationId xmlns:p14="http://schemas.microsoft.com/office/powerpoint/2010/main" val="3382029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Date Placeholder 4"/>
          <p:cNvSpPr>
            <a:spLocks noGrp="1"/>
          </p:cNvSpPr>
          <p:nvPr>
            <p:ph type="dt" sz="half" idx="10"/>
          </p:nvPr>
        </p:nvSpPr>
        <p:spPr/>
        <p:txBody>
          <a:bodyPr/>
          <a:lstStyle/>
          <a:p>
            <a:fld id="{1F23AA90-D60B-4770-8A91-8B97469B0248}" type="datetime1">
              <a:rPr lang="zh-TW" altLang="en-US" smtClean="0"/>
              <a:t>2024/3/19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58370351-947A-4E07-9670-11236DD68188}" type="slidenum">
              <a:rPr lang="zh-TW" altLang="en-US" smtClean="0"/>
              <a:t>‹#›</a:t>
            </a:fld>
            <a:endParaRPr lang="zh-TW" altLang="en-US"/>
          </a:p>
        </p:txBody>
      </p:sp>
    </p:spTree>
    <p:extLst>
      <p:ext uri="{BB962C8B-B14F-4D97-AF65-F5344CB8AC3E}">
        <p14:creationId xmlns:p14="http://schemas.microsoft.com/office/powerpoint/2010/main" val="1265894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DBE2B29E-717A-4D71-95E0-CBFB44E3B3B1}" type="datetime1">
              <a:rPr lang="zh-TW" altLang="en-US" smtClean="0"/>
              <a:t>2024/3/19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58370351-947A-4E07-9670-11236DD68188}" type="slidenum">
              <a:rPr lang="zh-TW" altLang="en-US" smtClean="0"/>
              <a:t>‹#›</a:t>
            </a:fld>
            <a:endParaRPr lang="zh-TW" altLang="en-US"/>
          </a:p>
        </p:txBody>
      </p:sp>
    </p:spTree>
    <p:extLst>
      <p:ext uri="{BB962C8B-B14F-4D97-AF65-F5344CB8AC3E}">
        <p14:creationId xmlns:p14="http://schemas.microsoft.com/office/powerpoint/2010/main" val="1765918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E9030E1E-B47E-4BA1-8A3C-D1D097FEE9E1}" type="datetime1">
              <a:rPr lang="zh-TW" altLang="en-US" smtClean="0"/>
              <a:t>2024/3/19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58370351-947A-4E07-9670-11236DD68188}" type="slidenum">
              <a:rPr lang="zh-TW" altLang="en-US" smtClean="0"/>
              <a:t>‹#›</a:t>
            </a:fld>
            <a:endParaRPr lang="zh-TW" altLang="en-US"/>
          </a:p>
        </p:txBody>
      </p:sp>
    </p:spTree>
    <p:extLst>
      <p:ext uri="{BB962C8B-B14F-4D97-AF65-F5344CB8AC3E}">
        <p14:creationId xmlns:p14="http://schemas.microsoft.com/office/powerpoint/2010/main" val="2619891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F6CA66C-C143-4C86-AAA4-96D3233189FD}" type="datetime1">
              <a:rPr lang="zh-TW" altLang="en-US" smtClean="0"/>
              <a:t>2024/3/19</a:t>
            </a:fld>
            <a:endParaRPr lang="zh-TW"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TW"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8370351-947A-4E07-9670-11236DD68188}" type="slidenum">
              <a:rPr lang="zh-TW" altLang="en-US" smtClean="0"/>
              <a:t>‹#›</a:t>
            </a:fld>
            <a:endParaRPr lang="zh-TW" alt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32391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12.png"/><Relationship Id="rId7" Type="http://schemas.openxmlformats.org/officeDocument/2006/relationships/image" Target="../media/image90.png"/><Relationship Id="rId2" Type="http://schemas.openxmlformats.org/officeDocument/2006/relationships/slideLayout" Target="../slideLayouts/slideLayout7.xml"/><Relationship Id="rId1" Type="http://schemas.openxmlformats.org/officeDocument/2006/relationships/tags" Target="../tags/tag2.xml"/><Relationship Id="rId6" Type="http://schemas.openxmlformats.org/officeDocument/2006/relationships/image" Target="../media/image80.png"/><Relationship Id="rId11" Type="http://schemas.openxmlformats.org/officeDocument/2006/relationships/image" Target="../media/image14.emf"/><Relationship Id="rId10" Type="http://schemas.openxmlformats.org/officeDocument/2006/relationships/image" Target="../media/image13.emf"/><Relationship Id="rId9" Type="http://schemas.openxmlformats.org/officeDocument/2006/relationships/image" Target="../media/image110.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hyperlink" Target="https://isslab.csie.ncu.edu.tw/en/results.html" TargetMode="External"/><Relationship Id="rId4" Type="http://schemas.openxmlformats.org/officeDocument/2006/relationships/image" Target="../media/image21.jpe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GAUSSIAN MIXTURE MODEL (GMM)</a:t>
            </a:r>
          </a:p>
        </p:txBody>
      </p:sp>
      <p:sp>
        <p:nvSpPr>
          <p:cNvPr id="6" name="Subtitle 5"/>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58370351-947A-4E07-9670-11236DD68188}" type="slidenum">
              <a:rPr lang="zh-TW" altLang="en-US" smtClean="0"/>
              <a:t>1</a:t>
            </a:fld>
            <a:endParaRPr lang="zh-TW" altLang="en-US"/>
          </a:p>
        </p:txBody>
      </p:sp>
    </p:spTree>
    <p:extLst>
      <p:ext uri="{BB962C8B-B14F-4D97-AF65-F5344CB8AC3E}">
        <p14:creationId xmlns:p14="http://schemas.microsoft.com/office/powerpoint/2010/main" val="855124542"/>
      </p:ext>
    </p:extLst>
  </p:cSld>
  <p:clrMapOvr>
    <a:masterClrMapping/>
  </p:clrMapOvr>
  <mc:AlternateContent xmlns:mc="http://schemas.openxmlformats.org/markup-compatibility/2006" xmlns:p14="http://schemas.microsoft.com/office/powerpoint/2010/main">
    <mc:Choice Requires="p14">
      <p:transition spd="slow" p14:dur="2000" advTm="7688"/>
    </mc:Choice>
    <mc:Fallback xmlns="">
      <p:transition spd="slow" advTm="768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0"/>
            <a:ext cx="12192000" cy="63008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4184647" y="188640"/>
            <a:ext cx="3848100" cy="523220"/>
          </a:xfrm>
          <a:prstGeom prst="rect">
            <a:avLst/>
          </a:prstGeom>
          <a:noFill/>
        </p:spPr>
        <p:txBody>
          <a:bodyPr wrap="square" rtlCol="0">
            <a:spAutoFit/>
          </a:bodyPr>
          <a:lstStyle/>
          <a:p>
            <a:pPr algn="ctr"/>
            <a:r>
              <a:rPr lang="en-US" sz="2800" dirty="0">
                <a:solidFill>
                  <a:schemeClr val="tx1">
                    <a:lumMod val="85000"/>
                    <a:lumOff val="15000"/>
                  </a:schemeClr>
                </a:solidFill>
                <a:latin typeface="Lato" panose="020F0502020204030203" pitchFamily="34" charset="0"/>
                <a:cs typeface="Lato" panose="020F0502020204030203" pitchFamily="34" charset="0"/>
              </a:rPr>
              <a:t>Data Science Flow</a:t>
            </a:r>
          </a:p>
        </p:txBody>
      </p:sp>
      <p:sp>
        <p:nvSpPr>
          <p:cNvPr id="16" name="TextBox 15"/>
          <p:cNvSpPr txBox="1"/>
          <p:nvPr/>
        </p:nvSpPr>
        <p:spPr>
          <a:xfrm>
            <a:off x="4185323" y="715375"/>
            <a:ext cx="3848100" cy="338554"/>
          </a:xfrm>
          <a:prstGeom prst="rect">
            <a:avLst/>
          </a:prstGeom>
          <a:noFill/>
        </p:spPr>
        <p:txBody>
          <a:bodyPr wrap="square" rtlCol="0">
            <a:spAutoFit/>
          </a:bodyPr>
          <a:lstStyle/>
          <a:p>
            <a:pPr algn="ctr"/>
            <a:r>
              <a:rPr lang="en-US" sz="1600" dirty="0">
                <a:solidFill>
                  <a:schemeClr val="tx1">
                    <a:lumMod val="85000"/>
                    <a:lumOff val="15000"/>
                  </a:schemeClr>
                </a:solidFill>
                <a:latin typeface="Lato Black" panose="020F0A02020204030203" pitchFamily="34" charset="0"/>
                <a:cs typeface="Lato Black" panose="020F0A02020204030203" pitchFamily="34" charset="0"/>
              </a:rPr>
              <a:t>Start!</a:t>
            </a:r>
          </a:p>
        </p:txBody>
      </p:sp>
      <p:sp>
        <p:nvSpPr>
          <p:cNvPr id="22" name="Rectangle 21"/>
          <p:cNvSpPr/>
          <p:nvPr/>
        </p:nvSpPr>
        <p:spPr>
          <a:xfrm>
            <a:off x="5765777" y="1053929"/>
            <a:ext cx="646331" cy="45719"/>
          </a:xfrm>
          <a:prstGeom prst="rect">
            <a:avLst/>
          </a:prstGeom>
          <a:solidFill>
            <a:srgbClr val="0087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p:cNvCxnSpPr>
            <a:cxnSpLocks/>
            <a:stCxn id="22" idx="2"/>
          </p:cNvCxnSpPr>
          <p:nvPr/>
        </p:nvCxnSpPr>
        <p:spPr>
          <a:xfrm flipH="1">
            <a:off x="6088941" y="1099647"/>
            <a:ext cx="2" cy="4206240"/>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351030" y="1447462"/>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9" name="Teardrop 8"/>
          <p:cNvSpPr/>
          <p:nvPr/>
        </p:nvSpPr>
        <p:spPr>
          <a:xfrm rot="2700000">
            <a:off x="4698167" y="1215103"/>
            <a:ext cx="457200" cy="457200"/>
          </a:xfrm>
          <a:prstGeom prst="teardrop">
            <a:avLst/>
          </a:prstGeom>
          <a:noFill/>
          <a:ln w="57150">
            <a:solidFill>
              <a:srgbClr val="0087B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6022558" y="1372084"/>
            <a:ext cx="150756" cy="150756"/>
          </a:xfrm>
          <a:prstGeom prst="ellipse">
            <a:avLst/>
          </a:prstGeom>
          <a:solidFill>
            <a:srgbClr val="0087B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6232553" y="2070426"/>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3" name="Teardrop 12"/>
          <p:cNvSpPr/>
          <p:nvPr/>
        </p:nvSpPr>
        <p:spPr>
          <a:xfrm rot="13500000">
            <a:off x="7043144" y="1841826"/>
            <a:ext cx="457200" cy="457200"/>
          </a:xfrm>
          <a:prstGeom prst="teardrop">
            <a:avLst/>
          </a:prstGeom>
          <a:noFill/>
          <a:ln w="57150">
            <a:solidFill>
              <a:srgbClr val="FF86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015274" y="1995048"/>
            <a:ext cx="150756" cy="150756"/>
          </a:xfrm>
          <a:prstGeom prst="ellipse">
            <a:avLst/>
          </a:prstGeom>
          <a:solidFill>
            <a:srgbClr val="FF860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p:nvPr/>
        </p:nvCxnSpPr>
        <p:spPr>
          <a:xfrm>
            <a:off x="5349066" y="2739542"/>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8" name="Teardrop 17"/>
          <p:cNvSpPr/>
          <p:nvPr/>
        </p:nvSpPr>
        <p:spPr>
          <a:xfrm rot="2700000">
            <a:off x="4698166" y="2514658"/>
            <a:ext cx="457200" cy="457200"/>
          </a:xfrm>
          <a:prstGeom prst="teardrop">
            <a:avLst/>
          </a:prstGeom>
          <a:noFill/>
          <a:ln w="57150">
            <a:solidFill>
              <a:srgbClr val="A1BB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6020594" y="2664164"/>
            <a:ext cx="150756" cy="150756"/>
          </a:xfrm>
          <a:prstGeom prst="ellipse">
            <a:avLst/>
          </a:prstGeom>
          <a:solidFill>
            <a:srgbClr val="A1BB2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p:cNvCxnSpPr/>
          <p:nvPr/>
        </p:nvCxnSpPr>
        <p:spPr>
          <a:xfrm>
            <a:off x="6232553" y="3382800"/>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1" name="Teardrop 20"/>
          <p:cNvSpPr/>
          <p:nvPr/>
        </p:nvSpPr>
        <p:spPr>
          <a:xfrm rot="13500000">
            <a:off x="7043144" y="3149086"/>
            <a:ext cx="457200" cy="457200"/>
          </a:xfrm>
          <a:prstGeom prst="teardrop">
            <a:avLst/>
          </a:prstGeom>
          <a:noFill/>
          <a:ln w="57150">
            <a:solidFill>
              <a:srgbClr val="012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6024799" y="3307422"/>
            <a:ext cx="150756" cy="150756"/>
          </a:xfrm>
          <a:prstGeom prst="ellipse">
            <a:avLst/>
          </a:prstGeom>
          <a:solidFill>
            <a:srgbClr val="01264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6211206" y="1053481"/>
            <a:ext cx="496115" cy="769441"/>
          </a:xfrm>
          <a:prstGeom prst="rect">
            <a:avLst/>
          </a:prstGeom>
          <a:noFill/>
        </p:spPr>
        <p:txBody>
          <a:bodyPr wrap="square" rtlCol="0">
            <a:spAutoFit/>
          </a:bodyPr>
          <a:lstStyle/>
          <a:p>
            <a:r>
              <a:rPr lang="en-US" sz="4400" dirty="0">
                <a:solidFill>
                  <a:schemeClr val="bg1">
                    <a:lumMod val="85000"/>
                  </a:schemeClr>
                </a:solidFill>
                <a:latin typeface="Lato Light" panose="020F0402020204030203" pitchFamily="34" charset="0"/>
                <a:cs typeface="Lato Light" panose="020F0402020204030203" pitchFamily="34" charset="0"/>
              </a:rPr>
              <a:t>1</a:t>
            </a:r>
          </a:p>
        </p:txBody>
      </p:sp>
      <p:sp>
        <p:nvSpPr>
          <p:cNvPr id="26" name="TextBox 25"/>
          <p:cNvSpPr txBox="1"/>
          <p:nvPr/>
        </p:nvSpPr>
        <p:spPr>
          <a:xfrm>
            <a:off x="5524849" y="1642624"/>
            <a:ext cx="496115" cy="769441"/>
          </a:xfrm>
          <a:prstGeom prst="rect">
            <a:avLst/>
          </a:prstGeom>
          <a:noFill/>
        </p:spPr>
        <p:txBody>
          <a:bodyPr wrap="square" rtlCol="0">
            <a:spAutoFit/>
          </a:bodyPr>
          <a:lstStyle/>
          <a:p>
            <a:r>
              <a:rPr lang="en-US" sz="4400" dirty="0">
                <a:solidFill>
                  <a:schemeClr val="bg1">
                    <a:lumMod val="85000"/>
                  </a:schemeClr>
                </a:solidFill>
                <a:latin typeface="Lato Light" panose="020F0402020204030203" pitchFamily="34" charset="0"/>
                <a:cs typeface="Lato Light" panose="020F0402020204030203" pitchFamily="34" charset="0"/>
              </a:rPr>
              <a:t>2</a:t>
            </a:r>
          </a:p>
        </p:txBody>
      </p:sp>
      <p:sp>
        <p:nvSpPr>
          <p:cNvPr id="27" name="TextBox 26"/>
          <p:cNvSpPr txBox="1"/>
          <p:nvPr/>
        </p:nvSpPr>
        <p:spPr>
          <a:xfrm>
            <a:off x="6211205" y="2358537"/>
            <a:ext cx="496115" cy="769441"/>
          </a:xfrm>
          <a:prstGeom prst="rect">
            <a:avLst/>
          </a:prstGeom>
          <a:noFill/>
        </p:spPr>
        <p:txBody>
          <a:bodyPr wrap="square" rtlCol="0">
            <a:spAutoFit/>
          </a:bodyPr>
          <a:lstStyle/>
          <a:p>
            <a:r>
              <a:rPr lang="en-US" sz="4400" dirty="0">
                <a:solidFill>
                  <a:schemeClr val="bg1">
                    <a:lumMod val="85000"/>
                  </a:schemeClr>
                </a:solidFill>
                <a:latin typeface="Lato Light" panose="020F0402020204030203" pitchFamily="34" charset="0"/>
                <a:cs typeface="Lato Light" panose="020F0402020204030203" pitchFamily="34" charset="0"/>
              </a:rPr>
              <a:t>3</a:t>
            </a:r>
          </a:p>
        </p:txBody>
      </p:sp>
      <p:sp>
        <p:nvSpPr>
          <p:cNvPr id="28" name="TextBox 27"/>
          <p:cNvSpPr txBox="1"/>
          <p:nvPr/>
        </p:nvSpPr>
        <p:spPr>
          <a:xfrm>
            <a:off x="5528684" y="2992965"/>
            <a:ext cx="496115" cy="769441"/>
          </a:xfrm>
          <a:prstGeom prst="rect">
            <a:avLst/>
          </a:prstGeom>
          <a:noFill/>
        </p:spPr>
        <p:txBody>
          <a:bodyPr wrap="square" rtlCol="0">
            <a:spAutoFit/>
          </a:bodyPr>
          <a:lstStyle/>
          <a:p>
            <a:r>
              <a:rPr lang="en-US" sz="4400" dirty="0">
                <a:solidFill>
                  <a:schemeClr val="bg1">
                    <a:lumMod val="85000"/>
                  </a:schemeClr>
                </a:solidFill>
                <a:latin typeface="Lato Light" panose="020F0402020204030203" pitchFamily="34" charset="0"/>
                <a:cs typeface="Lato Light" panose="020F0402020204030203" pitchFamily="34" charset="0"/>
              </a:rPr>
              <a:t>4</a:t>
            </a:r>
          </a:p>
        </p:txBody>
      </p:sp>
      <p:sp>
        <p:nvSpPr>
          <p:cNvPr id="29" name="TextBox 28"/>
          <p:cNvSpPr txBox="1"/>
          <p:nvPr/>
        </p:nvSpPr>
        <p:spPr>
          <a:xfrm>
            <a:off x="6575980" y="1200153"/>
            <a:ext cx="3848100" cy="369332"/>
          </a:xfrm>
          <a:prstGeom prst="rect">
            <a:avLst/>
          </a:prstGeom>
          <a:noFill/>
        </p:spPr>
        <p:txBody>
          <a:bodyPr wrap="square" rtlCol="0">
            <a:spAutoFit/>
          </a:bodyPr>
          <a:lstStyle/>
          <a:p>
            <a:r>
              <a:rPr lang="en-US" dirty="0">
                <a:solidFill>
                  <a:schemeClr val="tx1">
                    <a:lumMod val="85000"/>
                    <a:lumOff val="15000"/>
                  </a:schemeClr>
                </a:solidFill>
                <a:latin typeface="Lato" panose="020F0502020204030203" pitchFamily="34" charset="0"/>
                <a:cs typeface="Lato" panose="020F0502020204030203" pitchFamily="34" charset="0"/>
              </a:rPr>
              <a:t>Data Collection</a:t>
            </a:r>
          </a:p>
        </p:txBody>
      </p:sp>
      <p:sp>
        <p:nvSpPr>
          <p:cNvPr id="31" name="TextBox 30"/>
          <p:cNvSpPr txBox="1"/>
          <p:nvPr/>
        </p:nvSpPr>
        <p:spPr>
          <a:xfrm>
            <a:off x="1753620" y="1736170"/>
            <a:ext cx="3848100" cy="369332"/>
          </a:xfrm>
          <a:prstGeom prst="rect">
            <a:avLst/>
          </a:prstGeom>
          <a:noFill/>
        </p:spPr>
        <p:txBody>
          <a:bodyPr wrap="square" rtlCol="0">
            <a:spAutoFit/>
          </a:bodyPr>
          <a:lstStyle/>
          <a:p>
            <a:pPr algn="r"/>
            <a:r>
              <a:rPr lang="en-US" dirty="0">
                <a:solidFill>
                  <a:schemeClr val="tx1">
                    <a:lumMod val="85000"/>
                    <a:lumOff val="15000"/>
                  </a:schemeClr>
                </a:solidFill>
                <a:latin typeface="Lato" panose="020F0502020204030203" pitchFamily="34" charset="0"/>
                <a:cs typeface="Lato" panose="020F0502020204030203" pitchFamily="34" charset="0"/>
              </a:rPr>
              <a:t>Data Preprocessing</a:t>
            </a:r>
          </a:p>
        </p:txBody>
      </p:sp>
      <p:sp>
        <p:nvSpPr>
          <p:cNvPr id="33" name="TextBox 32"/>
          <p:cNvSpPr txBox="1"/>
          <p:nvPr/>
        </p:nvSpPr>
        <p:spPr>
          <a:xfrm>
            <a:off x="6569703" y="2478043"/>
            <a:ext cx="3848100" cy="369332"/>
          </a:xfrm>
          <a:prstGeom prst="rect">
            <a:avLst/>
          </a:prstGeom>
          <a:noFill/>
        </p:spPr>
        <p:txBody>
          <a:bodyPr wrap="square" rtlCol="0">
            <a:spAutoFit/>
          </a:bodyPr>
          <a:lstStyle/>
          <a:p>
            <a:r>
              <a:rPr lang="en-US" dirty="0">
                <a:solidFill>
                  <a:schemeClr val="tx1">
                    <a:lumMod val="85000"/>
                    <a:lumOff val="15000"/>
                  </a:schemeClr>
                </a:solidFill>
                <a:latin typeface="Lato" panose="020F0502020204030203" pitchFamily="34" charset="0"/>
                <a:cs typeface="Lato" panose="020F0502020204030203" pitchFamily="34" charset="0"/>
              </a:rPr>
              <a:t>Feature Extraction, Transformation</a:t>
            </a:r>
          </a:p>
        </p:txBody>
      </p:sp>
      <p:sp>
        <p:nvSpPr>
          <p:cNvPr id="35" name="TextBox 34"/>
          <p:cNvSpPr txBox="1"/>
          <p:nvPr/>
        </p:nvSpPr>
        <p:spPr>
          <a:xfrm>
            <a:off x="1749785" y="3088846"/>
            <a:ext cx="3848100" cy="369332"/>
          </a:xfrm>
          <a:prstGeom prst="rect">
            <a:avLst/>
          </a:prstGeom>
          <a:noFill/>
        </p:spPr>
        <p:txBody>
          <a:bodyPr wrap="square" rtlCol="0">
            <a:spAutoFit/>
          </a:bodyPr>
          <a:lstStyle/>
          <a:p>
            <a:pPr algn="r"/>
            <a:r>
              <a:rPr lang="en-US" dirty="0">
                <a:solidFill>
                  <a:schemeClr val="tx1">
                    <a:lumMod val="85000"/>
                    <a:lumOff val="15000"/>
                  </a:schemeClr>
                </a:solidFill>
                <a:latin typeface="Lato" panose="020F0502020204030203" pitchFamily="34" charset="0"/>
                <a:cs typeface="Lato" panose="020F0502020204030203" pitchFamily="34" charset="0"/>
              </a:rPr>
              <a:t>Modeling</a:t>
            </a:r>
          </a:p>
        </p:txBody>
      </p:sp>
      <p:cxnSp>
        <p:nvCxnSpPr>
          <p:cNvPr id="52" name="Straight Connector 51"/>
          <p:cNvCxnSpPr/>
          <p:nvPr/>
        </p:nvCxnSpPr>
        <p:spPr>
          <a:xfrm>
            <a:off x="5342035" y="4021992"/>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53" name="Teardrop 52"/>
          <p:cNvSpPr/>
          <p:nvPr/>
        </p:nvSpPr>
        <p:spPr>
          <a:xfrm rot="2700000">
            <a:off x="4694891" y="3793391"/>
            <a:ext cx="457200" cy="457200"/>
          </a:xfrm>
          <a:prstGeom prst="teardrop">
            <a:avLst/>
          </a:prstGeom>
          <a:noFill/>
          <a:ln w="57150">
            <a:solidFill>
              <a:srgbClr val="3DBF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Oval 53"/>
          <p:cNvSpPr/>
          <p:nvPr/>
        </p:nvSpPr>
        <p:spPr>
          <a:xfrm>
            <a:off x="6023502" y="3946614"/>
            <a:ext cx="150756" cy="150756"/>
          </a:xfrm>
          <a:prstGeom prst="ellipse">
            <a:avLst/>
          </a:prstGeom>
          <a:solidFill>
            <a:srgbClr val="3DBF9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5" name="Straight Connector 54"/>
          <p:cNvCxnSpPr/>
          <p:nvPr/>
        </p:nvCxnSpPr>
        <p:spPr>
          <a:xfrm>
            <a:off x="6228348" y="4682441"/>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56" name="Teardrop 55"/>
          <p:cNvSpPr/>
          <p:nvPr/>
        </p:nvSpPr>
        <p:spPr>
          <a:xfrm rot="13500000">
            <a:off x="7038940" y="4461023"/>
            <a:ext cx="457200" cy="457200"/>
          </a:xfrm>
          <a:prstGeom prst="teardrop">
            <a:avLst/>
          </a:prstGeom>
          <a:noFill/>
          <a:ln w="57150">
            <a:solidFill>
              <a:srgbClr val="D43E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p:cNvSpPr/>
          <p:nvPr/>
        </p:nvSpPr>
        <p:spPr>
          <a:xfrm>
            <a:off x="6020594" y="4607063"/>
            <a:ext cx="150756" cy="150756"/>
          </a:xfrm>
          <a:prstGeom prst="ellipse">
            <a:avLst/>
          </a:prstGeom>
          <a:solidFill>
            <a:srgbClr val="D43E0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ardrop 57"/>
          <p:cNvSpPr/>
          <p:nvPr/>
        </p:nvSpPr>
        <p:spPr>
          <a:xfrm rot="18900000">
            <a:off x="5857847" y="5419752"/>
            <a:ext cx="457200" cy="457200"/>
          </a:xfrm>
          <a:prstGeom prst="teardrop">
            <a:avLst/>
          </a:prstGeom>
          <a:noFill/>
          <a:ln w="57150">
            <a:solidFill>
              <a:srgbClr val="0087B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TextBox 58"/>
          <p:cNvSpPr txBox="1"/>
          <p:nvPr/>
        </p:nvSpPr>
        <p:spPr>
          <a:xfrm>
            <a:off x="6206387" y="3645024"/>
            <a:ext cx="496115" cy="769441"/>
          </a:xfrm>
          <a:prstGeom prst="rect">
            <a:avLst/>
          </a:prstGeom>
          <a:noFill/>
        </p:spPr>
        <p:txBody>
          <a:bodyPr wrap="square" rtlCol="0">
            <a:spAutoFit/>
          </a:bodyPr>
          <a:lstStyle/>
          <a:p>
            <a:r>
              <a:rPr lang="en-US" sz="4400" dirty="0">
                <a:solidFill>
                  <a:schemeClr val="bg1">
                    <a:lumMod val="85000"/>
                  </a:schemeClr>
                </a:solidFill>
                <a:latin typeface="Lato Light" panose="020F0402020204030203" pitchFamily="34" charset="0"/>
                <a:cs typeface="Lato Light" panose="020F0402020204030203" pitchFamily="34" charset="0"/>
              </a:rPr>
              <a:t>5</a:t>
            </a:r>
          </a:p>
        </p:txBody>
      </p:sp>
      <p:sp>
        <p:nvSpPr>
          <p:cNvPr id="60" name="TextBox 59"/>
          <p:cNvSpPr txBox="1"/>
          <p:nvPr/>
        </p:nvSpPr>
        <p:spPr>
          <a:xfrm>
            <a:off x="5528296" y="4285283"/>
            <a:ext cx="496115" cy="769441"/>
          </a:xfrm>
          <a:prstGeom prst="rect">
            <a:avLst/>
          </a:prstGeom>
          <a:noFill/>
        </p:spPr>
        <p:txBody>
          <a:bodyPr wrap="square" rtlCol="0">
            <a:spAutoFit/>
          </a:bodyPr>
          <a:lstStyle/>
          <a:p>
            <a:r>
              <a:rPr lang="en-US" sz="4400" dirty="0">
                <a:solidFill>
                  <a:schemeClr val="bg1">
                    <a:lumMod val="85000"/>
                  </a:schemeClr>
                </a:solidFill>
                <a:latin typeface="Lato Light" panose="020F0402020204030203" pitchFamily="34" charset="0"/>
                <a:cs typeface="Lato Light" panose="020F0402020204030203" pitchFamily="34" charset="0"/>
              </a:rPr>
              <a:t>6</a:t>
            </a:r>
          </a:p>
        </p:txBody>
      </p:sp>
      <p:sp>
        <p:nvSpPr>
          <p:cNvPr id="62" name="TextBox 61"/>
          <p:cNvSpPr txBox="1"/>
          <p:nvPr/>
        </p:nvSpPr>
        <p:spPr>
          <a:xfrm>
            <a:off x="1680196" y="4373234"/>
            <a:ext cx="3848100" cy="369332"/>
          </a:xfrm>
          <a:prstGeom prst="rect">
            <a:avLst/>
          </a:prstGeom>
          <a:noFill/>
        </p:spPr>
        <p:txBody>
          <a:bodyPr wrap="square" rtlCol="0">
            <a:spAutoFit/>
          </a:bodyPr>
          <a:lstStyle/>
          <a:p>
            <a:pPr algn="r"/>
            <a:r>
              <a:rPr lang="en-US" dirty="0">
                <a:solidFill>
                  <a:schemeClr val="tx1">
                    <a:lumMod val="85000"/>
                    <a:lumOff val="15000"/>
                  </a:schemeClr>
                </a:solidFill>
                <a:latin typeface="Lato" panose="020F0502020204030203" pitchFamily="34" charset="0"/>
                <a:cs typeface="Lato" panose="020F0502020204030203" pitchFamily="34" charset="0"/>
              </a:rPr>
              <a:t>Evaluation</a:t>
            </a:r>
          </a:p>
        </p:txBody>
      </p:sp>
      <p:sp>
        <p:nvSpPr>
          <p:cNvPr id="64" name="TextBox 63"/>
          <p:cNvSpPr txBox="1"/>
          <p:nvPr/>
        </p:nvSpPr>
        <p:spPr>
          <a:xfrm>
            <a:off x="4171922" y="5931470"/>
            <a:ext cx="3848100" cy="369332"/>
          </a:xfrm>
          <a:prstGeom prst="rect">
            <a:avLst/>
          </a:prstGeom>
          <a:noFill/>
        </p:spPr>
        <p:txBody>
          <a:bodyPr wrap="square" rtlCol="0">
            <a:spAutoFit/>
          </a:bodyPr>
          <a:lstStyle/>
          <a:p>
            <a:pPr algn="ctr"/>
            <a:r>
              <a:rPr lang="en-US" dirty="0">
                <a:solidFill>
                  <a:schemeClr val="tx1">
                    <a:lumMod val="85000"/>
                    <a:lumOff val="15000"/>
                  </a:schemeClr>
                </a:solidFill>
                <a:latin typeface="Lato" panose="020F0502020204030203" pitchFamily="34" charset="0"/>
                <a:cs typeface="Lato" panose="020F0502020204030203" pitchFamily="34" charset="0"/>
              </a:rPr>
              <a:t>Result</a:t>
            </a:r>
          </a:p>
        </p:txBody>
      </p:sp>
      <p:sp>
        <p:nvSpPr>
          <p:cNvPr id="66" name="TextBox 65"/>
          <p:cNvSpPr txBox="1"/>
          <p:nvPr/>
        </p:nvSpPr>
        <p:spPr>
          <a:xfrm>
            <a:off x="6569703" y="3758280"/>
            <a:ext cx="4598351" cy="369332"/>
          </a:xfrm>
          <a:prstGeom prst="rect">
            <a:avLst/>
          </a:prstGeom>
          <a:noFill/>
        </p:spPr>
        <p:txBody>
          <a:bodyPr wrap="square" rtlCol="0">
            <a:spAutoFit/>
          </a:bodyPr>
          <a:lstStyle/>
          <a:p>
            <a:r>
              <a:rPr lang="en-US" dirty="0">
                <a:solidFill>
                  <a:schemeClr val="tx1">
                    <a:lumMod val="85000"/>
                    <a:lumOff val="15000"/>
                  </a:schemeClr>
                </a:solidFill>
                <a:latin typeface="Lato" panose="020F0502020204030203" pitchFamily="34" charset="0"/>
                <a:cs typeface="Lato" panose="020F0502020204030203" pitchFamily="34" charset="0"/>
              </a:rPr>
              <a:t>Testing</a:t>
            </a:r>
          </a:p>
        </p:txBody>
      </p:sp>
      <p:sp>
        <p:nvSpPr>
          <p:cNvPr id="2" name="矩形 1"/>
          <p:cNvSpPr/>
          <p:nvPr/>
        </p:nvSpPr>
        <p:spPr>
          <a:xfrm>
            <a:off x="3483598" y="2362426"/>
            <a:ext cx="6862273" cy="74132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Title 2">
            <a:extLst>
              <a:ext uri="{FF2B5EF4-FFF2-40B4-BE49-F238E27FC236}">
                <a16:creationId xmlns:a16="http://schemas.microsoft.com/office/drawing/2014/main" id="{A9EB75EF-F634-4B6D-9D07-BDF51D240BAC}"/>
              </a:ext>
            </a:extLst>
          </p:cNvPr>
          <p:cNvSpPr>
            <a:spLocks noGrp="1"/>
          </p:cNvSpPr>
          <p:nvPr>
            <p:ph type="title"/>
          </p:nvPr>
        </p:nvSpPr>
        <p:spPr/>
        <p:txBody>
          <a:bodyPr/>
          <a:lstStyle/>
          <a:p>
            <a:endParaRPr lang="en-US"/>
          </a:p>
        </p:txBody>
      </p:sp>
      <p:sp>
        <p:nvSpPr>
          <p:cNvPr id="5" name="Slide Number Placeholder 4">
            <a:extLst>
              <a:ext uri="{FF2B5EF4-FFF2-40B4-BE49-F238E27FC236}">
                <a16:creationId xmlns:a16="http://schemas.microsoft.com/office/drawing/2014/main" id="{FA7BEBFE-4B43-449E-ACE5-5488D52BBDB6}"/>
              </a:ext>
            </a:extLst>
          </p:cNvPr>
          <p:cNvSpPr>
            <a:spLocks noGrp="1"/>
          </p:cNvSpPr>
          <p:nvPr>
            <p:ph type="sldNum" sz="quarter" idx="12"/>
          </p:nvPr>
        </p:nvSpPr>
        <p:spPr/>
        <p:txBody>
          <a:bodyPr/>
          <a:lstStyle/>
          <a:p>
            <a:fld id="{58370351-947A-4E07-9670-11236DD68188}" type="slidenum">
              <a:rPr lang="zh-TW" altLang="en-US" smtClean="0"/>
              <a:t>2</a:t>
            </a:fld>
            <a:endParaRPr lang="zh-TW" altLang="en-US"/>
          </a:p>
        </p:txBody>
      </p:sp>
    </p:spTree>
    <p:extLst>
      <p:ext uri="{BB962C8B-B14F-4D97-AF65-F5344CB8AC3E}">
        <p14:creationId xmlns:p14="http://schemas.microsoft.com/office/powerpoint/2010/main" val="4137573734"/>
      </p:ext>
    </p:extLst>
  </p:cSld>
  <p:clrMapOvr>
    <a:masterClrMapping/>
  </p:clrMapOvr>
  <mc:AlternateContent xmlns:mc="http://schemas.openxmlformats.org/markup-compatibility/2006" xmlns:p14="http://schemas.microsoft.com/office/powerpoint/2010/main">
    <mc:Choice Requires="p14">
      <p:transition spd="slow" p14:dur="2000" advTm="17554"/>
    </mc:Choice>
    <mc:Fallback xmlns="">
      <p:transition spd="slow" advTm="1755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53" presetClass="entr" presetSubtype="16" fill="hold" grpId="0" nodeType="withEffect">
                                  <p:stCondLst>
                                    <p:cond delay="250"/>
                                  </p:stCondLst>
                                  <p:childTnLst>
                                    <p:set>
                                      <p:cBhvr>
                                        <p:cTn id="9" dur="1" fill="hold">
                                          <p:stCondLst>
                                            <p:cond delay="0"/>
                                          </p:stCondLst>
                                        </p:cTn>
                                        <p:tgtEl>
                                          <p:spTgt spid="16"/>
                                        </p:tgtEl>
                                        <p:attrNameLst>
                                          <p:attrName>style.visibility</p:attrName>
                                        </p:attrNameLst>
                                      </p:cBhvr>
                                      <p:to>
                                        <p:strVal val="visible"/>
                                      </p:to>
                                    </p:set>
                                    <p:anim calcmode="lin" valueType="num">
                                      <p:cBhvr>
                                        <p:cTn id="10" dur="500" fill="hold"/>
                                        <p:tgtEl>
                                          <p:spTgt spid="16"/>
                                        </p:tgtEl>
                                        <p:attrNameLst>
                                          <p:attrName>ppt_w</p:attrName>
                                        </p:attrNameLst>
                                      </p:cBhvr>
                                      <p:tavLst>
                                        <p:tav tm="0">
                                          <p:val>
                                            <p:fltVal val="0"/>
                                          </p:val>
                                        </p:tav>
                                        <p:tav tm="100000">
                                          <p:val>
                                            <p:strVal val="#ppt_w"/>
                                          </p:val>
                                        </p:tav>
                                      </p:tavLst>
                                    </p:anim>
                                    <p:anim calcmode="lin" valueType="num">
                                      <p:cBhvr>
                                        <p:cTn id="11" dur="500" fill="hold"/>
                                        <p:tgtEl>
                                          <p:spTgt spid="16"/>
                                        </p:tgtEl>
                                        <p:attrNameLst>
                                          <p:attrName>ppt_h</p:attrName>
                                        </p:attrNameLst>
                                      </p:cBhvr>
                                      <p:tavLst>
                                        <p:tav tm="0">
                                          <p:val>
                                            <p:fltVal val="0"/>
                                          </p:val>
                                        </p:tav>
                                        <p:tav tm="100000">
                                          <p:val>
                                            <p:strVal val="#ppt_h"/>
                                          </p:val>
                                        </p:tav>
                                      </p:tavLst>
                                    </p:anim>
                                    <p:animEffect transition="in" filter="fade">
                                      <p:cBhvr>
                                        <p:cTn id="12" dur="500"/>
                                        <p:tgtEl>
                                          <p:spTgt spid="16"/>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childTnLst>
                          </p:cTn>
                        </p:par>
                        <p:par>
                          <p:cTn id="16" fill="hold">
                            <p:stCondLst>
                              <p:cond delay="750"/>
                            </p:stCondLst>
                            <p:childTnLst>
                              <p:par>
                                <p:cTn id="17" presetID="22" presetClass="entr" presetSubtype="1" fill="hold" nodeType="afterEffect">
                                  <p:stCondLst>
                                    <p:cond delay="50"/>
                                  </p:stCondLst>
                                  <p:childTnLst>
                                    <p:set>
                                      <p:cBhvr>
                                        <p:cTn id="18" dur="1" fill="hold">
                                          <p:stCondLst>
                                            <p:cond delay="0"/>
                                          </p:stCondLst>
                                        </p:cTn>
                                        <p:tgtEl>
                                          <p:spTgt spid="24"/>
                                        </p:tgtEl>
                                        <p:attrNameLst>
                                          <p:attrName>style.visibility</p:attrName>
                                        </p:attrNameLst>
                                      </p:cBhvr>
                                      <p:to>
                                        <p:strVal val="visible"/>
                                      </p:to>
                                    </p:set>
                                    <p:animEffect transition="in" filter="wipe(up)">
                                      <p:cBhvr>
                                        <p:cTn id="19" dur="4500"/>
                                        <p:tgtEl>
                                          <p:spTgt spid="24"/>
                                        </p:tgtEl>
                                      </p:cBhvr>
                                    </p:animEffect>
                                  </p:childTnLst>
                                </p:cTn>
                              </p:par>
                              <p:par>
                                <p:cTn id="20" presetID="53" presetClass="entr" presetSubtype="16" fill="hold" grpId="0" nodeType="withEffect">
                                  <p:stCondLst>
                                    <p:cond delay="25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par>
                                <p:cTn id="25" presetID="22" presetClass="entr" presetSubtype="2" fill="hold" nodeType="withEffect">
                                  <p:stCondLst>
                                    <p:cond delay="500"/>
                                  </p:stCondLst>
                                  <p:childTnLst>
                                    <p:set>
                                      <p:cBhvr>
                                        <p:cTn id="26" dur="1" fill="hold">
                                          <p:stCondLst>
                                            <p:cond delay="0"/>
                                          </p:stCondLst>
                                        </p:cTn>
                                        <p:tgtEl>
                                          <p:spTgt spid="8"/>
                                        </p:tgtEl>
                                        <p:attrNameLst>
                                          <p:attrName>style.visibility</p:attrName>
                                        </p:attrNameLst>
                                      </p:cBhvr>
                                      <p:to>
                                        <p:strVal val="visible"/>
                                      </p:to>
                                    </p:set>
                                    <p:animEffect transition="in" filter="wipe(right)">
                                      <p:cBhvr>
                                        <p:cTn id="27" dur="500"/>
                                        <p:tgtEl>
                                          <p:spTgt spid="8"/>
                                        </p:tgtEl>
                                      </p:cBhvr>
                                    </p:animEffect>
                                  </p:childTnLst>
                                </p:cTn>
                              </p:par>
                              <p:par>
                                <p:cTn id="28" presetID="53" presetClass="entr" presetSubtype="16" fill="hold" grpId="0" nodeType="withEffect">
                                  <p:stCondLst>
                                    <p:cond delay="500"/>
                                  </p:stCondLst>
                                  <p:childTnLst>
                                    <p:set>
                                      <p:cBhvr>
                                        <p:cTn id="29" dur="1" fill="hold">
                                          <p:stCondLst>
                                            <p:cond delay="0"/>
                                          </p:stCondLst>
                                        </p:cTn>
                                        <p:tgtEl>
                                          <p:spTgt spid="9"/>
                                        </p:tgtEl>
                                        <p:attrNameLst>
                                          <p:attrName>style.visibility</p:attrName>
                                        </p:attrNameLst>
                                      </p:cBhvr>
                                      <p:to>
                                        <p:strVal val="visible"/>
                                      </p:to>
                                    </p:set>
                                    <p:anim calcmode="lin" valueType="num">
                                      <p:cBhvr>
                                        <p:cTn id="30" dur="500" fill="hold"/>
                                        <p:tgtEl>
                                          <p:spTgt spid="9"/>
                                        </p:tgtEl>
                                        <p:attrNameLst>
                                          <p:attrName>ppt_w</p:attrName>
                                        </p:attrNameLst>
                                      </p:cBhvr>
                                      <p:tavLst>
                                        <p:tav tm="0">
                                          <p:val>
                                            <p:fltVal val="0"/>
                                          </p:val>
                                        </p:tav>
                                        <p:tav tm="100000">
                                          <p:val>
                                            <p:strVal val="#ppt_w"/>
                                          </p:val>
                                        </p:tav>
                                      </p:tavLst>
                                    </p:anim>
                                    <p:anim calcmode="lin" valueType="num">
                                      <p:cBhvr>
                                        <p:cTn id="31" dur="500" fill="hold"/>
                                        <p:tgtEl>
                                          <p:spTgt spid="9"/>
                                        </p:tgtEl>
                                        <p:attrNameLst>
                                          <p:attrName>ppt_h</p:attrName>
                                        </p:attrNameLst>
                                      </p:cBhvr>
                                      <p:tavLst>
                                        <p:tav tm="0">
                                          <p:val>
                                            <p:fltVal val="0"/>
                                          </p:val>
                                        </p:tav>
                                        <p:tav tm="100000">
                                          <p:val>
                                            <p:strVal val="#ppt_h"/>
                                          </p:val>
                                        </p:tav>
                                      </p:tavLst>
                                    </p:anim>
                                    <p:animEffect transition="in" filter="fade">
                                      <p:cBhvr>
                                        <p:cTn id="32" dur="500"/>
                                        <p:tgtEl>
                                          <p:spTgt spid="9"/>
                                        </p:tgtEl>
                                      </p:cBhvr>
                                    </p:animEffect>
                                  </p:childTnLst>
                                </p:cTn>
                              </p:par>
                              <p:par>
                                <p:cTn id="33" presetID="10" presetClass="entr" presetSubtype="0" fill="hold" grpId="0" nodeType="withEffect">
                                  <p:stCondLst>
                                    <p:cond delay="50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par>
                                <p:cTn id="36" presetID="10" presetClass="entr" presetSubtype="0" fill="hold" grpId="0" nodeType="withEffect">
                                  <p:stCondLst>
                                    <p:cond delay="50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500"/>
                                        <p:tgtEl>
                                          <p:spTgt spid="29"/>
                                        </p:tgtEl>
                                      </p:cBhvr>
                                    </p:animEffect>
                                  </p:childTnLst>
                                </p:cTn>
                              </p:par>
                              <p:par>
                                <p:cTn id="39" presetID="53" presetClass="entr" presetSubtype="16" fill="hold" grpId="0" nodeType="withEffect">
                                  <p:stCondLst>
                                    <p:cond delay="750"/>
                                  </p:stCondLst>
                                  <p:childTnLst>
                                    <p:set>
                                      <p:cBhvr>
                                        <p:cTn id="40" dur="1" fill="hold">
                                          <p:stCondLst>
                                            <p:cond delay="0"/>
                                          </p:stCondLst>
                                        </p:cTn>
                                        <p:tgtEl>
                                          <p:spTgt spid="14"/>
                                        </p:tgtEl>
                                        <p:attrNameLst>
                                          <p:attrName>style.visibility</p:attrName>
                                        </p:attrNameLst>
                                      </p:cBhvr>
                                      <p:to>
                                        <p:strVal val="visible"/>
                                      </p:to>
                                    </p:set>
                                    <p:anim calcmode="lin" valueType="num">
                                      <p:cBhvr>
                                        <p:cTn id="41" dur="500" fill="hold"/>
                                        <p:tgtEl>
                                          <p:spTgt spid="14"/>
                                        </p:tgtEl>
                                        <p:attrNameLst>
                                          <p:attrName>ppt_w</p:attrName>
                                        </p:attrNameLst>
                                      </p:cBhvr>
                                      <p:tavLst>
                                        <p:tav tm="0">
                                          <p:val>
                                            <p:fltVal val="0"/>
                                          </p:val>
                                        </p:tav>
                                        <p:tav tm="100000">
                                          <p:val>
                                            <p:strVal val="#ppt_w"/>
                                          </p:val>
                                        </p:tav>
                                      </p:tavLst>
                                    </p:anim>
                                    <p:anim calcmode="lin" valueType="num">
                                      <p:cBhvr>
                                        <p:cTn id="42" dur="500" fill="hold"/>
                                        <p:tgtEl>
                                          <p:spTgt spid="14"/>
                                        </p:tgtEl>
                                        <p:attrNameLst>
                                          <p:attrName>ppt_h</p:attrName>
                                        </p:attrNameLst>
                                      </p:cBhvr>
                                      <p:tavLst>
                                        <p:tav tm="0">
                                          <p:val>
                                            <p:fltVal val="0"/>
                                          </p:val>
                                        </p:tav>
                                        <p:tav tm="100000">
                                          <p:val>
                                            <p:strVal val="#ppt_h"/>
                                          </p:val>
                                        </p:tav>
                                      </p:tavLst>
                                    </p:anim>
                                    <p:animEffect transition="in" filter="fade">
                                      <p:cBhvr>
                                        <p:cTn id="43" dur="500"/>
                                        <p:tgtEl>
                                          <p:spTgt spid="14"/>
                                        </p:tgtEl>
                                      </p:cBhvr>
                                    </p:animEffect>
                                  </p:childTnLst>
                                </p:cTn>
                              </p:par>
                              <p:par>
                                <p:cTn id="44" presetID="22" presetClass="entr" presetSubtype="8" fill="hold" nodeType="withEffect">
                                  <p:stCondLst>
                                    <p:cond delay="100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500"/>
                                        <p:tgtEl>
                                          <p:spTgt spid="11"/>
                                        </p:tgtEl>
                                      </p:cBhvr>
                                    </p:animEffect>
                                  </p:childTnLst>
                                </p:cTn>
                              </p:par>
                              <p:par>
                                <p:cTn id="47" presetID="53" presetClass="entr" presetSubtype="16" fill="hold" grpId="0" nodeType="withEffect">
                                  <p:stCondLst>
                                    <p:cond delay="1000"/>
                                  </p:stCondLst>
                                  <p:childTnLst>
                                    <p:set>
                                      <p:cBhvr>
                                        <p:cTn id="48" dur="1" fill="hold">
                                          <p:stCondLst>
                                            <p:cond delay="0"/>
                                          </p:stCondLst>
                                        </p:cTn>
                                        <p:tgtEl>
                                          <p:spTgt spid="13"/>
                                        </p:tgtEl>
                                        <p:attrNameLst>
                                          <p:attrName>style.visibility</p:attrName>
                                        </p:attrNameLst>
                                      </p:cBhvr>
                                      <p:to>
                                        <p:strVal val="visible"/>
                                      </p:to>
                                    </p:set>
                                    <p:anim calcmode="lin" valueType="num">
                                      <p:cBhvr>
                                        <p:cTn id="49" dur="500" fill="hold"/>
                                        <p:tgtEl>
                                          <p:spTgt spid="13"/>
                                        </p:tgtEl>
                                        <p:attrNameLst>
                                          <p:attrName>ppt_w</p:attrName>
                                        </p:attrNameLst>
                                      </p:cBhvr>
                                      <p:tavLst>
                                        <p:tav tm="0">
                                          <p:val>
                                            <p:fltVal val="0"/>
                                          </p:val>
                                        </p:tav>
                                        <p:tav tm="100000">
                                          <p:val>
                                            <p:strVal val="#ppt_w"/>
                                          </p:val>
                                        </p:tav>
                                      </p:tavLst>
                                    </p:anim>
                                    <p:anim calcmode="lin" valueType="num">
                                      <p:cBhvr>
                                        <p:cTn id="50" dur="500" fill="hold"/>
                                        <p:tgtEl>
                                          <p:spTgt spid="13"/>
                                        </p:tgtEl>
                                        <p:attrNameLst>
                                          <p:attrName>ppt_h</p:attrName>
                                        </p:attrNameLst>
                                      </p:cBhvr>
                                      <p:tavLst>
                                        <p:tav tm="0">
                                          <p:val>
                                            <p:fltVal val="0"/>
                                          </p:val>
                                        </p:tav>
                                        <p:tav tm="100000">
                                          <p:val>
                                            <p:strVal val="#ppt_h"/>
                                          </p:val>
                                        </p:tav>
                                      </p:tavLst>
                                    </p:anim>
                                    <p:animEffect transition="in" filter="fade">
                                      <p:cBhvr>
                                        <p:cTn id="51" dur="500"/>
                                        <p:tgtEl>
                                          <p:spTgt spid="13"/>
                                        </p:tgtEl>
                                      </p:cBhvr>
                                    </p:animEffect>
                                  </p:childTnLst>
                                </p:cTn>
                              </p:par>
                              <p:par>
                                <p:cTn id="52" presetID="10" presetClass="entr" presetSubtype="0" fill="hold" grpId="0" nodeType="withEffect">
                                  <p:stCondLst>
                                    <p:cond delay="100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500"/>
                                        <p:tgtEl>
                                          <p:spTgt spid="26"/>
                                        </p:tgtEl>
                                      </p:cBhvr>
                                    </p:animEffect>
                                  </p:childTnLst>
                                </p:cTn>
                              </p:par>
                              <p:par>
                                <p:cTn id="55" presetID="10" presetClass="entr" presetSubtype="0" fill="hold" grpId="0" nodeType="withEffect">
                                  <p:stCondLst>
                                    <p:cond delay="1000"/>
                                  </p:stCondLst>
                                  <p:childTnLst>
                                    <p:set>
                                      <p:cBhvr>
                                        <p:cTn id="56" dur="1" fill="hold">
                                          <p:stCondLst>
                                            <p:cond delay="0"/>
                                          </p:stCondLst>
                                        </p:cTn>
                                        <p:tgtEl>
                                          <p:spTgt spid="31"/>
                                        </p:tgtEl>
                                        <p:attrNameLst>
                                          <p:attrName>style.visibility</p:attrName>
                                        </p:attrNameLst>
                                      </p:cBhvr>
                                      <p:to>
                                        <p:strVal val="visible"/>
                                      </p:to>
                                    </p:set>
                                    <p:animEffect transition="in" filter="fade">
                                      <p:cBhvr>
                                        <p:cTn id="57" dur="500"/>
                                        <p:tgtEl>
                                          <p:spTgt spid="31"/>
                                        </p:tgtEl>
                                      </p:cBhvr>
                                    </p:animEffect>
                                  </p:childTnLst>
                                </p:cTn>
                              </p:par>
                              <p:par>
                                <p:cTn id="58" presetID="53" presetClass="entr" presetSubtype="16" fill="hold" grpId="0" nodeType="withEffect">
                                  <p:stCondLst>
                                    <p:cond delay="1250"/>
                                  </p:stCondLst>
                                  <p:childTnLst>
                                    <p:set>
                                      <p:cBhvr>
                                        <p:cTn id="59" dur="1" fill="hold">
                                          <p:stCondLst>
                                            <p:cond delay="0"/>
                                          </p:stCondLst>
                                        </p:cTn>
                                        <p:tgtEl>
                                          <p:spTgt spid="19"/>
                                        </p:tgtEl>
                                        <p:attrNameLst>
                                          <p:attrName>style.visibility</p:attrName>
                                        </p:attrNameLst>
                                      </p:cBhvr>
                                      <p:to>
                                        <p:strVal val="visible"/>
                                      </p:to>
                                    </p:set>
                                    <p:anim calcmode="lin" valueType="num">
                                      <p:cBhvr>
                                        <p:cTn id="60" dur="500" fill="hold"/>
                                        <p:tgtEl>
                                          <p:spTgt spid="19"/>
                                        </p:tgtEl>
                                        <p:attrNameLst>
                                          <p:attrName>ppt_w</p:attrName>
                                        </p:attrNameLst>
                                      </p:cBhvr>
                                      <p:tavLst>
                                        <p:tav tm="0">
                                          <p:val>
                                            <p:fltVal val="0"/>
                                          </p:val>
                                        </p:tav>
                                        <p:tav tm="100000">
                                          <p:val>
                                            <p:strVal val="#ppt_w"/>
                                          </p:val>
                                        </p:tav>
                                      </p:tavLst>
                                    </p:anim>
                                    <p:anim calcmode="lin" valueType="num">
                                      <p:cBhvr>
                                        <p:cTn id="61" dur="500" fill="hold"/>
                                        <p:tgtEl>
                                          <p:spTgt spid="19"/>
                                        </p:tgtEl>
                                        <p:attrNameLst>
                                          <p:attrName>ppt_h</p:attrName>
                                        </p:attrNameLst>
                                      </p:cBhvr>
                                      <p:tavLst>
                                        <p:tav tm="0">
                                          <p:val>
                                            <p:fltVal val="0"/>
                                          </p:val>
                                        </p:tav>
                                        <p:tav tm="100000">
                                          <p:val>
                                            <p:strVal val="#ppt_h"/>
                                          </p:val>
                                        </p:tav>
                                      </p:tavLst>
                                    </p:anim>
                                    <p:animEffect transition="in" filter="fade">
                                      <p:cBhvr>
                                        <p:cTn id="62" dur="500"/>
                                        <p:tgtEl>
                                          <p:spTgt spid="19"/>
                                        </p:tgtEl>
                                      </p:cBhvr>
                                    </p:animEffect>
                                  </p:childTnLst>
                                </p:cTn>
                              </p:par>
                              <p:par>
                                <p:cTn id="63" presetID="22" presetClass="entr" presetSubtype="2" fill="hold" nodeType="withEffect">
                                  <p:stCondLst>
                                    <p:cond delay="1500"/>
                                  </p:stCondLst>
                                  <p:childTnLst>
                                    <p:set>
                                      <p:cBhvr>
                                        <p:cTn id="64" dur="1" fill="hold">
                                          <p:stCondLst>
                                            <p:cond delay="0"/>
                                          </p:stCondLst>
                                        </p:cTn>
                                        <p:tgtEl>
                                          <p:spTgt spid="17"/>
                                        </p:tgtEl>
                                        <p:attrNameLst>
                                          <p:attrName>style.visibility</p:attrName>
                                        </p:attrNameLst>
                                      </p:cBhvr>
                                      <p:to>
                                        <p:strVal val="visible"/>
                                      </p:to>
                                    </p:set>
                                    <p:animEffect transition="in" filter="wipe(right)">
                                      <p:cBhvr>
                                        <p:cTn id="65" dur="500"/>
                                        <p:tgtEl>
                                          <p:spTgt spid="17"/>
                                        </p:tgtEl>
                                      </p:cBhvr>
                                    </p:animEffect>
                                  </p:childTnLst>
                                </p:cTn>
                              </p:par>
                              <p:par>
                                <p:cTn id="66" presetID="53" presetClass="entr" presetSubtype="16" fill="hold" grpId="0" nodeType="withEffect">
                                  <p:stCondLst>
                                    <p:cond delay="1500"/>
                                  </p:stCondLst>
                                  <p:childTnLst>
                                    <p:set>
                                      <p:cBhvr>
                                        <p:cTn id="67" dur="1" fill="hold">
                                          <p:stCondLst>
                                            <p:cond delay="0"/>
                                          </p:stCondLst>
                                        </p:cTn>
                                        <p:tgtEl>
                                          <p:spTgt spid="18"/>
                                        </p:tgtEl>
                                        <p:attrNameLst>
                                          <p:attrName>style.visibility</p:attrName>
                                        </p:attrNameLst>
                                      </p:cBhvr>
                                      <p:to>
                                        <p:strVal val="visible"/>
                                      </p:to>
                                    </p:set>
                                    <p:anim calcmode="lin" valueType="num">
                                      <p:cBhvr>
                                        <p:cTn id="68" dur="500" fill="hold"/>
                                        <p:tgtEl>
                                          <p:spTgt spid="18"/>
                                        </p:tgtEl>
                                        <p:attrNameLst>
                                          <p:attrName>ppt_w</p:attrName>
                                        </p:attrNameLst>
                                      </p:cBhvr>
                                      <p:tavLst>
                                        <p:tav tm="0">
                                          <p:val>
                                            <p:fltVal val="0"/>
                                          </p:val>
                                        </p:tav>
                                        <p:tav tm="100000">
                                          <p:val>
                                            <p:strVal val="#ppt_w"/>
                                          </p:val>
                                        </p:tav>
                                      </p:tavLst>
                                    </p:anim>
                                    <p:anim calcmode="lin" valueType="num">
                                      <p:cBhvr>
                                        <p:cTn id="69" dur="500" fill="hold"/>
                                        <p:tgtEl>
                                          <p:spTgt spid="18"/>
                                        </p:tgtEl>
                                        <p:attrNameLst>
                                          <p:attrName>ppt_h</p:attrName>
                                        </p:attrNameLst>
                                      </p:cBhvr>
                                      <p:tavLst>
                                        <p:tav tm="0">
                                          <p:val>
                                            <p:fltVal val="0"/>
                                          </p:val>
                                        </p:tav>
                                        <p:tav tm="100000">
                                          <p:val>
                                            <p:strVal val="#ppt_h"/>
                                          </p:val>
                                        </p:tav>
                                      </p:tavLst>
                                    </p:anim>
                                    <p:animEffect transition="in" filter="fade">
                                      <p:cBhvr>
                                        <p:cTn id="70" dur="500"/>
                                        <p:tgtEl>
                                          <p:spTgt spid="18"/>
                                        </p:tgtEl>
                                      </p:cBhvr>
                                    </p:animEffect>
                                  </p:childTnLst>
                                </p:cTn>
                              </p:par>
                              <p:par>
                                <p:cTn id="71" presetID="10" presetClass="entr" presetSubtype="0" fill="hold" grpId="0" nodeType="withEffect">
                                  <p:stCondLst>
                                    <p:cond delay="150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150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500"/>
                                        <p:tgtEl>
                                          <p:spTgt spid="33"/>
                                        </p:tgtEl>
                                      </p:cBhvr>
                                    </p:animEffect>
                                  </p:childTnLst>
                                </p:cTn>
                              </p:par>
                              <p:par>
                                <p:cTn id="77" presetID="53" presetClass="entr" presetSubtype="16" fill="hold" grpId="0" nodeType="withEffect">
                                  <p:stCondLst>
                                    <p:cond delay="1750"/>
                                  </p:stCondLst>
                                  <p:childTnLst>
                                    <p:set>
                                      <p:cBhvr>
                                        <p:cTn id="78" dur="1" fill="hold">
                                          <p:stCondLst>
                                            <p:cond delay="0"/>
                                          </p:stCondLst>
                                        </p:cTn>
                                        <p:tgtEl>
                                          <p:spTgt spid="23"/>
                                        </p:tgtEl>
                                        <p:attrNameLst>
                                          <p:attrName>style.visibility</p:attrName>
                                        </p:attrNameLst>
                                      </p:cBhvr>
                                      <p:to>
                                        <p:strVal val="visible"/>
                                      </p:to>
                                    </p:set>
                                    <p:anim calcmode="lin" valueType="num">
                                      <p:cBhvr>
                                        <p:cTn id="79" dur="500" fill="hold"/>
                                        <p:tgtEl>
                                          <p:spTgt spid="23"/>
                                        </p:tgtEl>
                                        <p:attrNameLst>
                                          <p:attrName>ppt_w</p:attrName>
                                        </p:attrNameLst>
                                      </p:cBhvr>
                                      <p:tavLst>
                                        <p:tav tm="0">
                                          <p:val>
                                            <p:fltVal val="0"/>
                                          </p:val>
                                        </p:tav>
                                        <p:tav tm="100000">
                                          <p:val>
                                            <p:strVal val="#ppt_w"/>
                                          </p:val>
                                        </p:tav>
                                      </p:tavLst>
                                    </p:anim>
                                    <p:anim calcmode="lin" valueType="num">
                                      <p:cBhvr>
                                        <p:cTn id="80" dur="500" fill="hold"/>
                                        <p:tgtEl>
                                          <p:spTgt spid="23"/>
                                        </p:tgtEl>
                                        <p:attrNameLst>
                                          <p:attrName>ppt_h</p:attrName>
                                        </p:attrNameLst>
                                      </p:cBhvr>
                                      <p:tavLst>
                                        <p:tav tm="0">
                                          <p:val>
                                            <p:fltVal val="0"/>
                                          </p:val>
                                        </p:tav>
                                        <p:tav tm="100000">
                                          <p:val>
                                            <p:strVal val="#ppt_h"/>
                                          </p:val>
                                        </p:tav>
                                      </p:tavLst>
                                    </p:anim>
                                    <p:animEffect transition="in" filter="fade">
                                      <p:cBhvr>
                                        <p:cTn id="81" dur="500"/>
                                        <p:tgtEl>
                                          <p:spTgt spid="23"/>
                                        </p:tgtEl>
                                      </p:cBhvr>
                                    </p:animEffect>
                                  </p:childTnLst>
                                </p:cTn>
                              </p:par>
                              <p:par>
                                <p:cTn id="82" presetID="22" presetClass="entr" presetSubtype="8" fill="hold" nodeType="withEffect">
                                  <p:stCondLst>
                                    <p:cond delay="2000"/>
                                  </p:stCondLst>
                                  <p:childTnLst>
                                    <p:set>
                                      <p:cBhvr>
                                        <p:cTn id="83" dur="1" fill="hold">
                                          <p:stCondLst>
                                            <p:cond delay="0"/>
                                          </p:stCondLst>
                                        </p:cTn>
                                        <p:tgtEl>
                                          <p:spTgt spid="20"/>
                                        </p:tgtEl>
                                        <p:attrNameLst>
                                          <p:attrName>style.visibility</p:attrName>
                                        </p:attrNameLst>
                                      </p:cBhvr>
                                      <p:to>
                                        <p:strVal val="visible"/>
                                      </p:to>
                                    </p:set>
                                    <p:animEffect transition="in" filter="wipe(left)">
                                      <p:cBhvr>
                                        <p:cTn id="84" dur="500"/>
                                        <p:tgtEl>
                                          <p:spTgt spid="20"/>
                                        </p:tgtEl>
                                      </p:cBhvr>
                                    </p:animEffect>
                                  </p:childTnLst>
                                </p:cTn>
                              </p:par>
                              <p:par>
                                <p:cTn id="85" presetID="53" presetClass="entr" presetSubtype="16" fill="hold" grpId="0" nodeType="withEffect">
                                  <p:stCondLst>
                                    <p:cond delay="2000"/>
                                  </p:stCondLst>
                                  <p:childTnLst>
                                    <p:set>
                                      <p:cBhvr>
                                        <p:cTn id="86" dur="1" fill="hold">
                                          <p:stCondLst>
                                            <p:cond delay="0"/>
                                          </p:stCondLst>
                                        </p:cTn>
                                        <p:tgtEl>
                                          <p:spTgt spid="21"/>
                                        </p:tgtEl>
                                        <p:attrNameLst>
                                          <p:attrName>style.visibility</p:attrName>
                                        </p:attrNameLst>
                                      </p:cBhvr>
                                      <p:to>
                                        <p:strVal val="visible"/>
                                      </p:to>
                                    </p:set>
                                    <p:anim calcmode="lin" valueType="num">
                                      <p:cBhvr>
                                        <p:cTn id="87" dur="500" fill="hold"/>
                                        <p:tgtEl>
                                          <p:spTgt spid="21"/>
                                        </p:tgtEl>
                                        <p:attrNameLst>
                                          <p:attrName>ppt_w</p:attrName>
                                        </p:attrNameLst>
                                      </p:cBhvr>
                                      <p:tavLst>
                                        <p:tav tm="0">
                                          <p:val>
                                            <p:fltVal val="0"/>
                                          </p:val>
                                        </p:tav>
                                        <p:tav tm="100000">
                                          <p:val>
                                            <p:strVal val="#ppt_w"/>
                                          </p:val>
                                        </p:tav>
                                      </p:tavLst>
                                    </p:anim>
                                    <p:anim calcmode="lin" valueType="num">
                                      <p:cBhvr>
                                        <p:cTn id="88" dur="500" fill="hold"/>
                                        <p:tgtEl>
                                          <p:spTgt spid="21"/>
                                        </p:tgtEl>
                                        <p:attrNameLst>
                                          <p:attrName>ppt_h</p:attrName>
                                        </p:attrNameLst>
                                      </p:cBhvr>
                                      <p:tavLst>
                                        <p:tav tm="0">
                                          <p:val>
                                            <p:fltVal val="0"/>
                                          </p:val>
                                        </p:tav>
                                        <p:tav tm="100000">
                                          <p:val>
                                            <p:strVal val="#ppt_h"/>
                                          </p:val>
                                        </p:tav>
                                      </p:tavLst>
                                    </p:anim>
                                    <p:animEffect transition="in" filter="fade">
                                      <p:cBhvr>
                                        <p:cTn id="89" dur="500"/>
                                        <p:tgtEl>
                                          <p:spTgt spid="21"/>
                                        </p:tgtEl>
                                      </p:cBhvr>
                                    </p:animEffect>
                                  </p:childTnLst>
                                </p:cTn>
                              </p:par>
                              <p:par>
                                <p:cTn id="90" presetID="10" presetClass="entr" presetSubtype="0" fill="hold" grpId="0" nodeType="withEffect">
                                  <p:stCondLst>
                                    <p:cond delay="2000"/>
                                  </p:stCondLst>
                                  <p:childTnLst>
                                    <p:set>
                                      <p:cBhvr>
                                        <p:cTn id="91" dur="1" fill="hold">
                                          <p:stCondLst>
                                            <p:cond delay="0"/>
                                          </p:stCondLst>
                                        </p:cTn>
                                        <p:tgtEl>
                                          <p:spTgt spid="28"/>
                                        </p:tgtEl>
                                        <p:attrNameLst>
                                          <p:attrName>style.visibility</p:attrName>
                                        </p:attrNameLst>
                                      </p:cBhvr>
                                      <p:to>
                                        <p:strVal val="visible"/>
                                      </p:to>
                                    </p:set>
                                    <p:animEffect transition="in" filter="fade">
                                      <p:cBhvr>
                                        <p:cTn id="92" dur="500"/>
                                        <p:tgtEl>
                                          <p:spTgt spid="28"/>
                                        </p:tgtEl>
                                      </p:cBhvr>
                                    </p:animEffect>
                                  </p:childTnLst>
                                </p:cTn>
                              </p:par>
                              <p:par>
                                <p:cTn id="93" presetID="10" presetClass="entr" presetSubtype="0" fill="hold" grpId="0" nodeType="withEffect">
                                  <p:stCondLst>
                                    <p:cond delay="200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500"/>
                                        <p:tgtEl>
                                          <p:spTgt spid="35"/>
                                        </p:tgtEl>
                                      </p:cBhvr>
                                    </p:animEffect>
                                  </p:childTnLst>
                                </p:cTn>
                              </p:par>
                              <p:par>
                                <p:cTn id="96" presetID="53" presetClass="entr" presetSubtype="16" fill="hold" grpId="0" nodeType="withEffect">
                                  <p:stCondLst>
                                    <p:cond delay="2250"/>
                                  </p:stCondLst>
                                  <p:childTnLst>
                                    <p:set>
                                      <p:cBhvr>
                                        <p:cTn id="97" dur="1" fill="hold">
                                          <p:stCondLst>
                                            <p:cond delay="0"/>
                                          </p:stCondLst>
                                        </p:cTn>
                                        <p:tgtEl>
                                          <p:spTgt spid="54"/>
                                        </p:tgtEl>
                                        <p:attrNameLst>
                                          <p:attrName>style.visibility</p:attrName>
                                        </p:attrNameLst>
                                      </p:cBhvr>
                                      <p:to>
                                        <p:strVal val="visible"/>
                                      </p:to>
                                    </p:set>
                                    <p:anim calcmode="lin" valueType="num">
                                      <p:cBhvr>
                                        <p:cTn id="98" dur="500" fill="hold"/>
                                        <p:tgtEl>
                                          <p:spTgt spid="54"/>
                                        </p:tgtEl>
                                        <p:attrNameLst>
                                          <p:attrName>ppt_w</p:attrName>
                                        </p:attrNameLst>
                                      </p:cBhvr>
                                      <p:tavLst>
                                        <p:tav tm="0">
                                          <p:val>
                                            <p:fltVal val="0"/>
                                          </p:val>
                                        </p:tav>
                                        <p:tav tm="100000">
                                          <p:val>
                                            <p:strVal val="#ppt_w"/>
                                          </p:val>
                                        </p:tav>
                                      </p:tavLst>
                                    </p:anim>
                                    <p:anim calcmode="lin" valueType="num">
                                      <p:cBhvr>
                                        <p:cTn id="99" dur="500" fill="hold"/>
                                        <p:tgtEl>
                                          <p:spTgt spid="54"/>
                                        </p:tgtEl>
                                        <p:attrNameLst>
                                          <p:attrName>ppt_h</p:attrName>
                                        </p:attrNameLst>
                                      </p:cBhvr>
                                      <p:tavLst>
                                        <p:tav tm="0">
                                          <p:val>
                                            <p:fltVal val="0"/>
                                          </p:val>
                                        </p:tav>
                                        <p:tav tm="100000">
                                          <p:val>
                                            <p:strVal val="#ppt_h"/>
                                          </p:val>
                                        </p:tav>
                                      </p:tavLst>
                                    </p:anim>
                                    <p:animEffect transition="in" filter="fade">
                                      <p:cBhvr>
                                        <p:cTn id="100" dur="500"/>
                                        <p:tgtEl>
                                          <p:spTgt spid="54"/>
                                        </p:tgtEl>
                                      </p:cBhvr>
                                    </p:animEffect>
                                  </p:childTnLst>
                                </p:cTn>
                              </p:par>
                              <p:par>
                                <p:cTn id="101" presetID="22" presetClass="entr" presetSubtype="2" fill="hold" nodeType="withEffect">
                                  <p:stCondLst>
                                    <p:cond delay="2500"/>
                                  </p:stCondLst>
                                  <p:childTnLst>
                                    <p:set>
                                      <p:cBhvr>
                                        <p:cTn id="102" dur="1" fill="hold">
                                          <p:stCondLst>
                                            <p:cond delay="0"/>
                                          </p:stCondLst>
                                        </p:cTn>
                                        <p:tgtEl>
                                          <p:spTgt spid="52"/>
                                        </p:tgtEl>
                                        <p:attrNameLst>
                                          <p:attrName>style.visibility</p:attrName>
                                        </p:attrNameLst>
                                      </p:cBhvr>
                                      <p:to>
                                        <p:strVal val="visible"/>
                                      </p:to>
                                    </p:set>
                                    <p:animEffect transition="in" filter="wipe(right)">
                                      <p:cBhvr>
                                        <p:cTn id="103" dur="500"/>
                                        <p:tgtEl>
                                          <p:spTgt spid="52"/>
                                        </p:tgtEl>
                                      </p:cBhvr>
                                    </p:animEffect>
                                  </p:childTnLst>
                                </p:cTn>
                              </p:par>
                              <p:par>
                                <p:cTn id="104" presetID="53" presetClass="entr" presetSubtype="16" fill="hold" grpId="0" nodeType="withEffect">
                                  <p:stCondLst>
                                    <p:cond delay="2500"/>
                                  </p:stCondLst>
                                  <p:childTnLst>
                                    <p:set>
                                      <p:cBhvr>
                                        <p:cTn id="105" dur="1" fill="hold">
                                          <p:stCondLst>
                                            <p:cond delay="0"/>
                                          </p:stCondLst>
                                        </p:cTn>
                                        <p:tgtEl>
                                          <p:spTgt spid="53"/>
                                        </p:tgtEl>
                                        <p:attrNameLst>
                                          <p:attrName>style.visibility</p:attrName>
                                        </p:attrNameLst>
                                      </p:cBhvr>
                                      <p:to>
                                        <p:strVal val="visible"/>
                                      </p:to>
                                    </p:set>
                                    <p:anim calcmode="lin" valueType="num">
                                      <p:cBhvr>
                                        <p:cTn id="106" dur="500" fill="hold"/>
                                        <p:tgtEl>
                                          <p:spTgt spid="53"/>
                                        </p:tgtEl>
                                        <p:attrNameLst>
                                          <p:attrName>ppt_w</p:attrName>
                                        </p:attrNameLst>
                                      </p:cBhvr>
                                      <p:tavLst>
                                        <p:tav tm="0">
                                          <p:val>
                                            <p:fltVal val="0"/>
                                          </p:val>
                                        </p:tav>
                                        <p:tav tm="100000">
                                          <p:val>
                                            <p:strVal val="#ppt_w"/>
                                          </p:val>
                                        </p:tav>
                                      </p:tavLst>
                                    </p:anim>
                                    <p:anim calcmode="lin" valueType="num">
                                      <p:cBhvr>
                                        <p:cTn id="107" dur="500" fill="hold"/>
                                        <p:tgtEl>
                                          <p:spTgt spid="53"/>
                                        </p:tgtEl>
                                        <p:attrNameLst>
                                          <p:attrName>ppt_h</p:attrName>
                                        </p:attrNameLst>
                                      </p:cBhvr>
                                      <p:tavLst>
                                        <p:tav tm="0">
                                          <p:val>
                                            <p:fltVal val="0"/>
                                          </p:val>
                                        </p:tav>
                                        <p:tav tm="100000">
                                          <p:val>
                                            <p:strVal val="#ppt_h"/>
                                          </p:val>
                                        </p:tav>
                                      </p:tavLst>
                                    </p:anim>
                                    <p:animEffect transition="in" filter="fade">
                                      <p:cBhvr>
                                        <p:cTn id="108" dur="500"/>
                                        <p:tgtEl>
                                          <p:spTgt spid="53"/>
                                        </p:tgtEl>
                                      </p:cBhvr>
                                    </p:animEffect>
                                  </p:childTnLst>
                                </p:cTn>
                              </p:par>
                              <p:par>
                                <p:cTn id="109" presetID="10" presetClass="entr" presetSubtype="0" fill="hold" grpId="0" nodeType="withEffect">
                                  <p:stCondLst>
                                    <p:cond delay="2500"/>
                                  </p:stCondLst>
                                  <p:childTnLst>
                                    <p:set>
                                      <p:cBhvr>
                                        <p:cTn id="110" dur="1" fill="hold">
                                          <p:stCondLst>
                                            <p:cond delay="0"/>
                                          </p:stCondLst>
                                        </p:cTn>
                                        <p:tgtEl>
                                          <p:spTgt spid="59"/>
                                        </p:tgtEl>
                                        <p:attrNameLst>
                                          <p:attrName>style.visibility</p:attrName>
                                        </p:attrNameLst>
                                      </p:cBhvr>
                                      <p:to>
                                        <p:strVal val="visible"/>
                                      </p:to>
                                    </p:set>
                                    <p:animEffect transition="in" filter="fade">
                                      <p:cBhvr>
                                        <p:cTn id="111" dur="500"/>
                                        <p:tgtEl>
                                          <p:spTgt spid="59"/>
                                        </p:tgtEl>
                                      </p:cBhvr>
                                    </p:animEffect>
                                  </p:childTnLst>
                                </p:cTn>
                              </p:par>
                              <p:par>
                                <p:cTn id="112" presetID="10" presetClass="entr" presetSubtype="0" fill="hold" grpId="0" nodeType="withEffect">
                                  <p:stCondLst>
                                    <p:cond delay="2500"/>
                                  </p:stCondLst>
                                  <p:childTnLst>
                                    <p:set>
                                      <p:cBhvr>
                                        <p:cTn id="113" dur="1" fill="hold">
                                          <p:stCondLst>
                                            <p:cond delay="0"/>
                                          </p:stCondLst>
                                        </p:cTn>
                                        <p:tgtEl>
                                          <p:spTgt spid="66"/>
                                        </p:tgtEl>
                                        <p:attrNameLst>
                                          <p:attrName>style.visibility</p:attrName>
                                        </p:attrNameLst>
                                      </p:cBhvr>
                                      <p:to>
                                        <p:strVal val="visible"/>
                                      </p:to>
                                    </p:set>
                                    <p:animEffect transition="in" filter="fade">
                                      <p:cBhvr>
                                        <p:cTn id="114" dur="500"/>
                                        <p:tgtEl>
                                          <p:spTgt spid="66"/>
                                        </p:tgtEl>
                                      </p:cBhvr>
                                    </p:animEffect>
                                  </p:childTnLst>
                                </p:cTn>
                              </p:par>
                              <p:par>
                                <p:cTn id="115" presetID="53" presetClass="entr" presetSubtype="16" fill="hold" grpId="0" nodeType="withEffect">
                                  <p:stCondLst>
                                    <p:cond delay="2750"/>
                                  </p:stCondLst>
                                  <p:childTnLst>
                                    <p:set>
                                      <p:cBhvr>
                                        <p:cTn id="116" dur="1" fill="hold">
                                          <p:stCondLst>
                                            <p:cond delay="0"/>
                                          </p:stCondLst>
                                        </p:cTn>
                                        <p:tgtEl>
                                          <p:spTgt spid="57"/>
                                        </p:tgtEl>
                                        <p:attrNameLst>
                                          <p:attrName>style.visibility</p:attrName>
                                        </p:attrNameLst>
                                      </p:cBhvr>
                                      <p:to>
                                        <p:strVal val="visible"/>
                                      </p:to>
                                    </p:set>
                                    <p:anim calcmode="lin" valueType="num">
                                      <p:cBhvr>
                                        <p:cTn id="117" dur="500" fill="hold"/>
                                        <p:tgtEl>
                                          <p:spTgt spid="57"/>
                                        </p:tgtEl>
                                        <p:attrNameLst>
                                          <p:attrName>ppt_w</p:attrName>
                                        </p:attrNameLst>
                                      </p:cBhvr>
                                      <p:tavLst>
                                        <p:tav tm="0">
                                          <p:val>
                                            <p:fltVal val="0"/>
                                          </p:val>
                                        </p:tav>
                                        <p:tav tm="100000">
                                          <p:val>
                                            <p:strVal val="#ppt_w"/>
                                          </p:val>
                                        </p:tav>
                                      </p:tavLst>
                                    </p:anim>
                                    <p:anim calcmode="lin" valueType="num">
                                      <p:cBhvr>
                                        <p:cTn id="118" dur="500" fill="hold"/>
                                        <p:tgtEl>
                                          <p:spTgt spid="57"/>
                                        </p:tgtEl>
                                        <p:attrNameLst>
                                          <p:attrName>ppt_h</p:attrName>
                                        </p:attrNameLst>
                                      </p:cBhvr>
                                      <p:tavLst>
                                        <p:tav tm="0">
                                          <p:val>
                                            <p:fltVal val="0"/>
                                          </p:val>
                                        </p:tav>
                                        <p:tav tm="100000">
                                          <p:val>
                                            <p:strVal val="#ppt_h"/>
                                          </p:val>
                                        </p:tav>
                                      </p:tavLst>
                                    </p:anim>
                                    <p:animEffect transition="in" filter="fade">
                                      <p:cBhvr>
                                        <p:cTn id="119" dur="500"/>
                                        <p:tgtEl>
                                          <p:spTgt spid="57"/>
                                        </p:tgtEl>
                                      </p:cBhvr>
                                    </p:animEffect>
                                  </p:childTnLst>
                                </p:cTn>
                              </p:par>
                              <p:par>
                                <p:cTn id="120" presetID="22" presetClass="entr" presetSubtype="8" fill="hold" nodeType="withEffect">
                                  <p:stCondLst>
                                    <p:cond delay="3000"/>
                                  </p:stCondLst>
                                  <p:childTnLst>
                                    <p:set>
                                      <p:cBhvr>
                                        <p:cTn id="121" dur="1" fill="hold">
                                          <p:stCondLst>
                                            <p:cond delay="0"/>
                                          </p:stCondLst>
                                        </p:cTn>
                                        <p:tgtEl>
                                          <p:spTgt spid="55"/>
                                        </p:tgtEl>
                                        <p:attrNameLst>
                                          <p:attrName>style.visibility</p:attrName>
                                        </p:attrNameLst>
                                      </p:cBhvr>
                                      <p:to>
                                        <p:strVal val="visible"/>
                                      </p:to>
                                    </p:set>
                                    <p:animEffect transition="in" filter="wipe(left)">
                                      <p:cBhvr>
                                        <p:cTn id="122" dur="500"/>
                                        <p:tgtEl>
                                          <p:spTgt spid="55"/>
                                        </p:tgtEl>
                                      </p:cBhvr>
                                    </p:animEffect>
                                  </p:childTnLst>
                                </p:cTn>
                              </p:par>
                              <p:par>
                                <p:cTn id="123" presetID="53" presetClass="entr" presetSubtype="16" fill="hold" grpId="0" nodeType="withEffect">
                                  <p:stCondLst>
                                    <p:cond delay="3000"/>
                                  </p:stCondLst>
                                  <p:childTnLst>
                                    <p:set>
                                      <p:cBhvr>
                                        <p:cTn id="124" dur="1" fill="hold">
                                          <p:stCondLst>
                                            <p:cond delay="0"/>
                                          </p:stCondLst>
                                        </p:cTn>
                                        <p:tgtEl>
                                          <p:spTgt spid="56"/>
                                        </p:tgtEl>
                                        <p:attrNameLst>
                                          <p:attrName>style.visibility</p:attrName>
                                        </p:attrNameLst>
                                      </p:cBhvr>
                                      <p:to>
                                        <p:strVal val="visible"/>
                                      </p:to>
                                    </p:set>
                                    <p:anim calcmode="lin" valueType="num">
                                      <p:cBhvr>
                                        <p:cTn id="125" dur="500" fill="hold"/>
                                        <p:tgtEl>
                                          <p:spTgt spid="56"/>
                                        </p:tgtEl>
                                        <p:attrNameLst>
                                          <p:attrName>ppt_w</p:attrName>
                                        </p:attrNameLst>
                                      </p:cBhvr>
                                      <p:tavLst>
                                        <p:tav tm="0">
                                          <p:val>
                                            <p:fltVal val="0"/>
                                          </p:val>
                                        </p:tav>
                                        <p:tav tm="100000">
                                          <p:val>
                                            <p:strVal val="#ppt_w"/>
                                          </p:val>
                                        </p:tav>
                                      </p:tavLst>
                                    </p:anim>
                                    <p:anim calcmode="lin" valueType="num">
                                      <p:cBhvr>
                                        <p:cTn id="126" dur="500" fill="hold"/>
                                        <p:tgtEl>
                                          <p:spTgt spid="56"/>
                                        </p:tgtEl>
                                        <p:attrNameLst>
                                          <p:attrName>ppt_h</p:attrName>
                                        </p:attrNameLst>
                                      </p:cBhvr>
                                      <p:tavLst>
                                        <p:tav tm="0">
                                          <p:val>
                                            <p:fltVal val="0"/>
                                          </p:val>
                                        </p:tav>
                                        <p:tav tm="100000">
                                          <p:val>
                                            <p:strVal val="#ppt_h"/>
                                          </p:val>
                                        </p:tav>
                                      </p:tavLst>
                                    </p:anim>
                                    <p:animEffect transition="in" filter="fade">
                                      <p:cBhvr>
                                        <p:cTn id="127" dur="500"/>
                                        <p:tgtEl>
                                          <p:spTgt spid="56"/>
                                        </p:tgtEl>
                                      </p:cBhvr>
                                    </p:animEffect>
                                  </p:childTnLst>
                                </p:cTn>
                              </p:par>
                              <p:par>
                                <p:cTn id="128" presetID="10" presetClass="entr" presetSubtype="0" fill="hold" grpId="0" nodeType="withEffect">
                                  <p:stCondLst>
                                    <p:cond delay="3000"/>
                                  </p:stCondLst>
                                  <p:childTnLst>
                                    <p:set>
                                      <p:cBhvr>
                                        <p:cTn id="129" dur="1" fill="hold">
                                          <p:stCondLst>
                                            <p:cond delay="0"/>
                                          </p:stCondLst>
                                        </p:cTn>
                                        <p:tgtEl>
                                          <p:spTgt spid="60"/>
                                        </p:tgtEl>
                                        <p:attrNameLst>
                                          <p:attrName>style.visibility</p:attrName>
                                        </p:attrNameLst>
                                      </p:cBhvr>
                                      <p:to>
                                        <p:strVal val="visible"/>
                                      </p:to>
                                    </p:set>
                                    <p:animEffect transition="in" filter="fade">
                                      <p:cBhvr>
                                        <p:cTn id="130" dur="500"/>
                                        <p:tgtEl>
                                          <p:spTgt spid="60"/>
                                        </p:tgtEl>
                                      </p:cBhvr>
                                    </p:animEffect>
                                  </p:childTnLst>
                                </p:cTn>
                              </p:par>
                              <p:par>
                                <p:cTn id="131" presetID="10" presetClass="entr" presetSubtype="0" fill="hold" grpId="0" nodeType="withEffect">
                                  <p:stCondLst>
                                    <p:cond delay="3000"/>
                                  </p:stCondLst>
                                  <p:childTnLst>
                                    <p:set>
                                      <p:cBhvr>
                                        <p:cTn id="132" dur="1" fill="hold">
                                          <p:stCondLst>
                                            <p:cond delay="0"/>
                                          </p:stCondLst>
                                        </p:cTn>
                                        <p:tgtEl>
                                          <p:spTgt spid="62"/>
                                        </p:tgtEl>
                                        <p:attrNameLst>
                                          <p:attrName>style.visibility</p:attrName>
                                        </p:attrNameLst>
                                      </p:cBhvr>
                                      <p:to>
                                        <p:strVal val="visible"/>
                                      </p:to>
                                    </p:set>
                                    <p:animEffect transition="in" filter="fade">
                                      <p:cBhvr>
                                        <p:cTn id="133" dur="500"/>
                                        <p:tgtEl>
                                          <p:spTgt spid="62"/>
                                        </p:tgtEl>
                                      </p:cBhvr>
                                    </p:animEffect>
                                  </p:childTnLst>
                                </p:cTn>
                              </p:par>
                              <p:par>
                                <p:cTn id="134" presetID="53" presetClass="entr" presetSubtype="16" fill="hold" grpId="0" nodeType="withEffect">
                                  <p:stCondLst>
                                    <p:cond delay="3500"/>
                                  </p:stCondLst>
                                  <p:childTnLst>
                                    <p:set>
                                      <p:cBhvr>
                                        <p:cTn id="135" dur="1" fill="hold">
                                          <p:stCondLst>
                                            <p:cond delay="0"/>
                                          </p:stCondLst>
                                        </p:cTn>
                                        <p:tgtEl>
                                          <p:spTgt spid="58"/>
                                        </p:tgtEl>
                                        <p:attrNameLst>
                                          <p:attrName>style.visibility</p:attrName>
                                        </p:attrNameLst>
                                      </p:cBhvr>
                                      <p:to>
                                        <p:strVal val="visible"/>
                                      </p:to>
                                    </p:set>
                                    <p:anim calcmode="lin" valueType="num">
                                      <p:cBhvr>
                                        <p:cTn id="136" dur="500" fill="hold"/>
                                        <p:tgtEl>
                                          <p:spTgt spid="58"/>
                                        </p:tgtEl>
                                        <p:attrNameLst>
                                          <p:attrName>ppt_w</p:attrName>
                                        </p:attrNameLst>
                                      </p:cBhvr>
                                      <p:tavLst>
                                        <p:tav tm="0">
                                          <p:val>
                                            <p:fltVal val="0"/>
                                          </p:val>
                                        </p:tav>
                                        <p:tav tm="100000">
                                          <p:val>
                                            <p:strVal val="#ppt_w"/>
                                          </p:val>
                                        </p:tav>
                                      </p:tavLst>
                                    </p:anim>
                                    <p:anim calcmode="lin" valueType="num">
                                      <p:cBhvr>
                                        <p:cTn id="137" dur="500" fill="hold"/>
                                        <p:tgtEl>
                                          <p:spTgt spid="58"/>
                                        </p:tgtEl>
                                        <p:attrNameLst>
                                          <p:attrName>ppt_h</p:attrName>
                                        </p:attrNameLst>
                                      </p:cBhvr>
                                      <p:tavLst>
                                        <p:tav tm="0">
                                          <p:val>
                                            <p:fltVal val="0"/>
                                          </p:val>
                                        </p:tav>
                                        <p:tav tm="100000">
                                          <p:val>
                                            <p:strVal val="#ppt_h"/>
                                          </p:val>
                                        </p:tav>
                                      </p:tavLst>
                                    </p:anim>
                                    <p:animEffect transition="in" filter="fade">
                                      <p:cBhvr>
                                        <p:cTn id="138" dur="500"/>
                                        <p:tgtEl>
                                          <p:spTgt spid="58"/>
                                        </p:tgtEl>
                                      </p:cBhvr>
                                    </p:animEffect>
                                  </p:childTnLst>
                                </p:cTn>
                              </p:par>
                              <p:par>
                                <p:cTn id="139" presetID="10" presetClass="entr" presetSubtype="0" fill="hold" grpId="0" nodeType="withEffect">
                                  <p:stCondLst>
                                    <p:cond delay="3500"/>
                                  </p:stCondLst>
                                  <p:childTnLst>
                                    <p:set>
                                      <p:cBhvr>
                                        <p:cTn id="140" dur="1" fill="hold">
                                          <p:stCondLst>
                                            <p:cond delay="0"/>
                                          </p:stCondLst>
                                        </p:cTn>
                                        <p:tgtEl>
                                          <p:spTgt spid="64"/>
                                        </p:tgtEl>
                                        <p:attrNameLst>
                                          <p:attrName>style.visibility</p:attrName>
                                        </p:attrNameLst>
                                      </p:cBhvr>
                                      <p:to>
                                        <p:strVal val="visible"/>
                                      </p:to>
                                    </p:set>
                                    <p:animEffect transition="in" filter="fade">
                                      <p:cBhvr>
                                        <p:cTn id="141"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2" grpId="0" animBg="1"/>
      <p:bldP spid="9" grpId="0" animBg="1"/>
      <p:bldP spid="10" grpId="0" animBg="1"/>
      <p:bldP spid="13" grpId="0" animBg="1"/>
      <p:bldP spid="14" grpId="0" animBg="1"/>
      <p:bldP spid="18" grpId="0" animBg="1"/>
      <p:bldP spid="19" grpId="0" animBg="1"/>
      <p:bldP spid="21" grpId="0" animBg="1"/>
      <p:bldP spid="23" grpId="0" animBg="1"/>
      <p:bldP spid="25" grpId="0"/>
      <p:bldP spid="26" grpId="0"/>
      <p:bldP spid="27" grpId="0"/>
      <p:bldP spid="28" grpId="0"/>
      <p:bldP spid="29" grpId="0"/>
      <p:bldP spid="31" grpId="0"/>
      <p:bldP spid="33" grpId="0"/>
      <p:bldP spid="35" grpId="0"/>
      <p:bldP spid="53" grpId="0" animBg="1"/>
      <p:bldP spid="54" grpId="0" animBg="1"/>
      <p:bldP spid="56" grpId="0" animBg="1"/>
      <p:bldP spid="57" grpId="0" animBg="1"/>
      <p:bldP spid="58" grpId="0" animBg="1"/>
      <p:bldP spid="59" grpId="0"/>
      <p:bldP spid="60" grpId="0"/>
      <p:bldP spid="62" grpId="0"/>
      <p:bldP spid="64" grpId="0"/>
      <p:bldP spid="6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arallelogram 94"/>
          <p:cNvSpPr/>
          <p:nvPr/>
        </p:nvSpPr>
        <p:spPr>
          <a:xfrm>
            <a:off x="3444989" y="1390037"/>
            <a:ext cx="1301972" cy="296724"/>
          </a:xfrm>
          <a:prstGeom prst="parallelogram">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100" dirty="0">
              <a:solidFill>
                <a:schemeClr val="tx1"/>
              </a:solidFill>
            </a:endParaRPr>
          </a:p>
        </p:txBody>
      </p:sp>
      <p:sp>
        <p:nvSpPr>
          <p:cNvPr id="4" name="Slide Number Placeholder 3"/>
          <p:cNvSpPr>
            <a:spLocks noGrp="1"/>
          </p:cNvSpPr>
          <p:nvPr>
            <p:ph type="sldNum" sz="quarter" idx="12"/>
          </p:nvPr>
        </p:nvSpPr>
        <p:spPr/>
        <p:txBody>
          <a:bodyPr/>
          <a:lstStyle/>
          <a:p>
            <a:fld id="{1D790B7D-7CE2-423E-A609-5BC5140947F8}" type="slidenum">
              <a:rPr lang="en-US" smtClean="0"/>
              <a:t>3</a:t>
            </a:fld>
            <a:endParaRPr lang="en-US" dirty="0"/>
          </a:p>
        </p:txBody>
      </p:sp>
      <p:sp>
        <p:nvSpPr>
          <p:cNvPr id="38" name="Title 1"/>
          <p:cNvSpPr>
            <a:spLocks noGrp="1"/>
          </p:cNvSpPr>
          <p:nvPr>
            <p:ph type="title" idx="4294967295"/>
          </p:nvPr>
        </p:nvSpPr>
        <p:spPr>
          <a:xfrm>
            <a:off x="232155" y="186266"/>
            <a:ext cx="8373963" cy="511175"/>
          </a:xfrm>
        </p:spPr>
        <p:txBody>
          <a:bodyPr>
            <a:normAutofit/>
          </a:bodyPr>
          <a:lstStyle/>
          <a:p>
            <a:r>
              <a:rPr lang="en-US" sz="3200" dirty="0"/>
              <a:t>Example in DRIVER RECOGNITION ARCHITECTURE</a:t>
            </a:r>
          </a:p>
        </p:txBody>
      </p:sp>
      <p:sp>
        <p:nvSpPr>
          <p:cNvPr id="5" name="Parallelogram 4"/>
          <p:cNvSpPr/>
          <p:nvPr/>
        </p:nvSpPr>
        <p:spPr>
          <a:xfrm>
            <a:off x="186281" y="1815943"/>
            <a:ext cx="1320575" cy="313233"/>
          </a:xfrm>
          <a:prstGeom prst="parallelogram">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dirty="0">
                <a:solidFill>
                  <a:schemeClr val="tx1"/>
                </a:solidFill>
              </a:rPr>
              <a:t>Smartwatch sensor</a:t>
            </a:r>
          </a:p>
        </p:txBody>
      </p:sp>
      <p:sp>
        <p:nvSpPr>
          <p:cNvPr id="33" name="Parallelogram 32"/>
          <p:cNvSpPr/>
          <p:nvPr/>
        </p:nvSpPr>
        <p:spPr>
          <a:xfrm>
            <a:off x="3357575" y="1304312"/>
            <a:ext cx="1301972" cy="296724"/>
          </a:xfrm>
          <a:prstGeom prst="parallelogram">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dirty="0">
                <a:solidFill>
                  <a:schemeClr val="tx1"/>
                </a:solidFill>
              </a:rPr>
              <a:t>Raw Data</a:t>
            </a:r>
          </a:p>
          <a:p>
            <a:pPr algn="ctr"/>
            <a:r>
              <a:rPr lang="en-US" sz="1100" dirty="0">
                <a:solidFill>
                  <a:schemeClr val="tx1"/>
                </a:solidFill>
              </a:rPr>
              <a:t>(Simulation)</a:t>
            </a:r>
          </a:p>
        </p:txBody>
      </p:sp>
      <p:sp>
        <p:nvSpPr>
          <p:cNvPr id="29" name="Rectangle 28"/>
          <p:cNvSpPr/>
          <p:nvPr/>
        </p:nvSpPr>
        <p:spPr>
          <a:xfrm>
            <a:off x="1925438" y="1815943"/>
            <a:ext cx="1046762" cy="3132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dirty="0">
                <a:solidFill>
                  <a:schemeClr val="tx1"/>
                </a:solidFill>
              </a:rPr>
              <a:t>Data Collection</a:t>
            </a:r>
          </a:p>
          <a:p>
            <a:pPr algn="ctr"/>
            <a:endParaRPr lang="en-US" sz="1100" dirty="0">
              <a:solidFill>
                <a:schemeClr val="tx1"/>
              </a:solidFill>
            </a:endParaRPr>
          </a:p>
        </p:txBody>
      </p:sp>
      <p:sp>
        <p:nvSpPr>
          <p:cNvPr id="47" name="Rectangle 46"/>
          <p:cNvSpPr/>
          <p:nvPr/>
        </p:nvSpPr>
        <p:spPr>
          <a:xfrm>
            <a:off x="5183782" y="1194546"/>
            <a:ext cx="1894271" cy="120872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just"/>
            <a:r>
              <a:rPr lang="en-US" sz="1100" dirty="0">
                <a:solidFill>
                  <a:schemeClr val="tx1"/>
                </a:solidFill>
              </a:rPr>
              <a:t>PRE-PROCESSING</a:t>
            </a:r>
          </a:p>
          <a:p>
            <a:pPr marL="285750" indent="-285750" algn="just">
              <a:buFontTx/>
              <a:buChar char="-"/>
            </a:pPr>
            <a:r>
              <a:rPr lang="en-US" sz="1100" dirty="0">
                <a:solidFill>
                  <a:schemeClr val="tx1"/>
                </a:solidFill>
              </a:rPr>
              <a:t>Clock Synchronization</a:t>
            </a:r>
          </a:p>
          <a:p>
            <a:pPr marL="285750" indent="-285750" algn="just">
              <a:buFontTx/>
              <a:buChar char="-"/>
            </a:pPr>
            <a:r>
              <a:rPr lang="en-US" sz="1100" dirty="0">
                <a:solidFill>
                  <a:schemeClr val="tx1"/>
                </a:solidFill>
              </a:rPr>
              <a:t>Delta Coefficient Calculation</a:t>
            </a:r>
          </a:p>
          <a:p>
            <a:pPr marL="285750" indent="-285750" algn="just">
              <a:buFontTx/>
              <a:buChar char="-"/>
            </a:pPr>
            <a:r>
              <a:rPr lang="en-US" sz="1100" dirty="0">
                <a:solidFill>
                  <a:schemeClr val="tx1"/>
                </a:solidFill>
              </a:rPr>
              <a:t>Median Filter</a:t>
            </a:r>
          </a:p>
          <a:p>
            <a:pPr marL="285750" indent="-285750" algn="just">
              <a:buFontTx/>
              <a:buChar char="-"/>
            </a:pPr>
            <a:r>
              <a:rPr lang="en-US" sz="1100" dirty="0">
                <a:solidFill>
                  <a:schemeClr val="tx1"/>
                </a:solidFill>
              </a:rPr>
              <a:t>Segment Partition (automatic)</a:t>
            </a:r>
          </a:p>
        </p:txBody>
      </p:sp>
      <p:sp>
        <p:nvSpPr>
          <p:cNvPr id="49" name="Parallelogram 48"/>
          <p:cNvSpPr/>
          <p:nvPr/>
        </p:nvSpPr>
        <p:spPr>
          <a:xfrm>
            <a:off x="3405392" y="2403266"/>
            <a:ext cx="1301972" cy="296724"/>
          </a:xfrm>
          <a:prstGeom prst="parallelogram">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100" dirty="0">
              <a:solidFill>
                <a:schemeClr val="tx1"/>
              </a:solidFill>
            </a:endParaRPr>
          </a:p>
        </p:txBody>
      </p:sp>
      <p:sp>
        <p:nvSpPr>
          <p:cNvPr id="50" name="Parallelogram 49"/>
          <p:cNvSpPr/>
          <p:nvPr/>
        </p:nvSpPr>
        <p:spPr>
          <a:xfrm>
            <a:off x="3317978" y="2317541"/>
            <a:ext cx="1301972" cy="296724"/>
          </a:xfrm>
          <a:prstGeom prst="parallelogram">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dirty="0">
                <a:solidFill>
                  <a:schemeClr val="tx1"/>
                </a:solidFill>
              </a:rPr>
              <a:t>Raw Data</a:t>
            </a:r>
          </a:p>
          <a:p>
            <a:pPr algn="ctr"/>
            <a:r>
              <a:rPr lang="en-US" sz="1100" dirty="0">
                <a:solidFill>
                  <a:schemeClr val="tx1"/>
                </a:solidFill>
              </a:rPr>
              <a:t>(Real)</a:t>
            </a:r>
          </a:p>
        </p:txBody>
      </p:sp>
      <p:sp>
        <p:nvSpPr>
          <p:cNvPr id="51" name="Parallelogram 50"/>
          <p:cNvSpPr/>
          <p:nvPr/>
        </p:nvSpPr>
        <p:spPr>
          <a:xfrm>
            <a:off x="7768864" y="1286157"/>
            <a:ext cx="1264680" cy="579269"/>
          </a:xfrm>
          <a:prstGeom prst="parallelogram">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100" dirty="0">
              <a:solidFill>
                <a:schemeClr val="tx1"/>
              </a:solidFill>
            </a:endParaRPr>
          </a:p>
        </p:txBody>
      </p:sp>
      <p:sp>
        <p:nvSpPr>
          <p:cNvPr id="52" name="Parallelogram 51"/>
          <p:cNvSpPr/>
          <p:nvPr/>
        </p:nvSpPr>
        <p:spPr>
          <a:xfrm>
            <a:off x="7691961" y="1156135"/>
            <a:ext cx="1264680" cy="615224"/>
          </a:xfrm>
          <a:prstGeom prst="parallelogram">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dirty="0">
                <a:solidFill>
                  <a:schemeClr val="tx1"/>
                </a:solidFill>
              </a:rPr>
              <a:t>Training Data Set</a:t>
            </a:r>
          </a:p>
          <a:p>
            <a:pPr algn="ctr"/>
            <a:r>
              <a:rPr lang="en-US" sz="1100" dirty="0">
                <a:solidFill>
                  <a:schemeClr val="tx1"/>
                </a:solidFill>
              </a:rPr>
              <a:t>(Simulation &amp; Real)</a:t>
            </a:r>
          </a:p>
        </p:txBody>
      </p:sp>
      <p:sp>
        <p:nvSpPr>
          <p:cNvPr id="53" name="Parallelogram 52"/>
          <p:cNvSpPr/>
          <p:nvPr/>
        </p:nvSpPr>
        <p:spPr>
          <a:xfrm>
            <a:off x="7735791" y="2475272"/>
            <a:ext cx="1297753" cy="623307"/>
          </a:xfrm>
          <a:prstGeom prst="parallelogram">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100" dirty="0">
              <a:solidFill>
                <a:schemeClr val="tx1"/>
              </a:solidFill>
            </a:endParaRPr>
          </a:p>
        </p:txBody>
      </p:sp>
      <p:sp>
        <p:nvSpPr>
          <p:cNvPr id="54" name="Parallelogram 53"/>
          <p:cNvSpPr/>
          <p:nvPr/>
        </p:nvSpPr>
        <p:spPr>
          <a:xfrm>
            <a:off x="7653287" y="2322915"/>
            <a:ext cx="1297753" cy="676961"/>
          </a:xfrm>
          <a:prstGeom prst="parallelogram">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dirty="0">
                <a:solidFill>
                  <a:schemeClr val="tx1"/>
                </a:solidFill>
              </a:rPr>
              <a:t>Testing data </a:t>
            </a:r>
            <a:r>
              <a:rPr lang="en-US" sz="1100" dirty="0" err="1">
                <a:solidFill>
                  <a:schemeClr val="tx1"/>
                </a:solidFill>
              </a:rPr>
              <a:t>Data</a:t>
            </a:r>
            <a:r>
              <a:rPr lang="en-US" sz="1100" dirty="0">
                <a:solidFill>
                  <a:schemeClr val="tx1"/>
                </a:solidFill>
              </a:rPr>
              <a:t> Set</a:t>
            </a:r>
          </a:p>
          <a:p>
            <a:pPr algn="ctr"/>
            <a:r>
              <a:rPr lang="en-US" sz="1100" dirty="0">
                <a:solidFill>
                  <a:schemeClr val="tx1"/>
                </a:solidFill>
              </a:rPr>
              <a:t>(Simulation &amp; Real)</a:t>
            </a:r>
          </a:p>
        </p:txBody>
      </p:sp>
      <p:sp>
        <p:nvSpPr>
          <p:cNvPr id="55" name="Rectangle 54"/>
          <p:cNvSpPr/>
          <p:nvPr/>
        </p:nvSpPr>
        <p:spPr>
          <a:xfrm>
            <a:off x="9500637" y="784630"/>
            <a:ext cx="1931690" cy="1440755"/>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just"/>
            <a:r>
              <a:rPr lang="en-US" sz="1100" dirty="0">
                <a:solidFill>
                  <a:schemeClr val="tx1"/>
                </a:solidFill>
              </a:rPr>
              <a:t>FEATURE EXTRACTION, FEATURE TRANSFORMATION</a:t>
            </a:r>
          </a:p>
          <a:p>
            <a:pPr marL="285750" indent="-285750" algn="just">
              <a:buFontTx/>
              <a:buChar char="-"/>
            </a:pPr>
            <a:r>
              <a:rPr lang="en-US" sz="1100" dirty="0">
                <a:solidFill>
                  <a:schemeClr val="tx1"/>
                </a:solidFill>
              </a:rPr>
              <a:t>GMM (Gaussian Mixture Model)</a:t>
            </a:r>
          </a:p>
          <a:p>
            <a:pPr marL="285750" indent="-285750" algn="just">
              <a:buFontTx/>
              <a:buChar char="-"/>
            </a:pPr>
            <a:r>
              <a:rPr lang="en-US" sz="1100" dirty="0">
                <a:solidFill>
                  <a:schemeClr val="tx1"/>
                </a:solidFill>
              </a:rPr>
              <a:t>HHT (Hilbert Huang Transformation)</a:t>
            </a:r>
          </a:p>
          <a:p>
            <a:pPr marL="285750" indent="-285750" algn="just">
              <a:buFontTx/>
              <a:buChar char="-"/>
            </a:pPr>
            <a:r>
              <a:rPr lang="en-US" sz="1100" dirty="0">
                <a:solidFill>
                  <a:schemeClr val="tx1"/>
                </a:solidFill>
              </a:rPr>
              <a:t>PCA (Principal Component Analysis)</a:t>
            </a:r>
          </a:p>
        </p:txBody>
      </p:sp>
      <p:sp>
        <p:nvSpPr>
          <p:cNvPr id="56" name="Parallelogram 55"/>
          <p:cNvSpPr/>
          <p:nvPr/>
        </p:nvSpPr>
        <p:spPr>
          <a:xfrm>
            <a:off x="892064" y="5025937"/>
            <a:ext cx="1247869" cy="241988"/>
          </a:xfrm>
          <a:prstGeom prst="parallelogram">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100" dirty="0">
              <a:solidFill>
                <a:schemeClr val="tx1"/>
              </a:solidFill>
            </a:endParaRPr>
          </a:p>
        </p:txBody>
      </p:sp>
      <p:sp>
        <p:nvSpPr>
          <p:cNvPr id="57" name="Parallelogram 56"/>
          <p:cNvSpPr/>
          <p:nvPr/>
        </p:nvSpPr>
        <p:spPr>
          <a:xfrm>
            <a:off x="804650" y="4940212"/>
            <a:ext cx="1247869" cy="241988"/>
          </a:xfrm>
          <a:prstGeom prst="parallelogram">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dirty="0">
                <a:solidFill>
                  <a:schemeClr val="tx1"/>
                </a:solidFill>
              </a:rPr>
              <a:t>model</a:t>
            </a:r>
          </a:p>
        </p:txBody>
      </p:sp>
      <p:sp>
        <p:nvSpPr>
          <p:cNvPr id="60" name="Rectangle 59"/>
          <p:cNvSpPr/>
          <p:nvPr/>
        </p:nvSpPr>
        <p:spPr>
          <a:xfrm>
            <a:off x="2611250" y="4657553"/>
            <a:ext cx="1894271" cy="97228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just"/>
            <a:r>
              <a:rPr lang="en-US" sz="1100" dirty="0">
                <a:solidFill>
                  <a:schemeClr val="tx1"/>
                </a:solidFill>
              </a:rPr>
              <a:t>TESTING (DECISION)</a:t>
            </a:r>
          </a:p>
          <a:p>
            <a:pPr marL="285750" indent="-285750" algn="just">
              <a:buFontTx/>
              <a:buChar char="-"/>
            </a:pPr>
            <a:r>
              <a:rPr lang="en-US" sz="1100" dirty="0">
                <a:solidFill>
                  <a:schemeClr val="tx1"/>
                </a:solidFill>
              </a:rPr>
              <a:t>Authentication</a:t>
            </a:r>
          </a:p>
          <a:p>
            <a:pPr marL="285750" indent="-285750" algn="just">
              <a:buFontTx/>
              <a:buChar char="-"/>
            </a:pPr>
            <a:r>
              <a:rPr lang="en-US" sz="1100" dirty="0">
                <a:solidFill>
                  <a:schemeClr val="tx1"/>
                </a:solidFill>
              </a:rPr>
              <a:t>Identification</a:t>
            </a:r>
          </a:p>
          <a:p>
            <a:pPr marL="285750" indent="-285750" algn="just">
              <a:buFontTx/>
              <a:buChar char="-"/>
            </a:pPr>
            <a:r>
              <a:rPr lang="en-US" sz="1100" dirty="0">
                <a:solidFill>
                  <a:schemeClr val="tx1"/>
                </a:solidFill>
              </a:rPr>
              <a:t>Safe/unsafe driving</a:t>
            </a:r>
          </a:p>
        </p:txBody>
      </p:sp>
      <p:sp>
        <p:nvSpPr>
          <p:cNvPr id="63" name="Parallelogram 62"/>
          <p:cNvSpPr/>
          <p:nvPr/>
        </p:nvSpPr>
        <p:spPr>
          <a:xfrm>
            <a:off x="5075006" y="5025937"/>
            <a:ext cx="1247869" cy="241988"/>
          </a:xfrm>
          <a:prstGeom prst="parallelogram">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dirty="0">
                <a:solidFill>
                  <a:schemeClr val="tx1"/>
                </a:solidFill>
              </a:rPr>
              <a:t>result</a:t>
            </a:r>
          </a:p>
        </p:txBody>
      </p:sp>
      <p:sp>
        <p:nvSpPr>
          <p:cNvPr id="64" name="Rectangle 63"/>
          <p:cNvSpPr/>
          <p:nvPr/>
        </p:nvSpPr>
        <p:spPr>
          <a:xfrm>
            <a:off x="6816159" y="4805082"/>
            <a:ext cx="1894271" cy="68839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just"/>
            <a:r>
              <a:rPr lang="en-US" sz="1100" dirty="0">
                <a:solidFill>
                  <a:schemeClr val="tx1"/>
                </a:solidFill>
              </a:rPr>
              <a:t>PERFORMANCE EVALUATION</a:t>
            </a:r>
          </a:p>
          <a:p>
            <a:pPr marL="285750" indent="-285750" algn="just">
              <a:buFontTx/>
              <a:buChar char="-"/>
            </a:pPr>
            <a:r>
              <a:rPr lang="en-US" sz="1100" dirty="0">
                <a:solidFill>
                  <a:schemeClr val="tx1"/>
                </a:solidFill>
              </a:rPr>
              <a:t>FAR, FRR, EER, DET CURVE</a:t>
            </a:r>
          </a:p>
        </p:txBody>
      </p:sp>
      <p:sp>
        <p:nvSpPr>
          <p:cNvPr id="66" name="Parallelogram 65"/>
          <p:cNvSpPr/>
          <p:nvPr/>
        </p:nvSpPr>
        <p:spPr>
          <a:xfrm>
            <a:off x="9258259" y="5025937"/>
            <a:ext cx="1247869" cy="241988"/>
          </a:xfrm>
          <a:prstGeom prst="parallelogram">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dirty="0">
                <a:solidFill>
                  <a:schemeClr val="tx1"/>
                </a:solidFill>
              </a:rPr>
              <a:t>conclusions</a:t>
            </a:r>
          </a:p>
        </p:txBody>
      </p:sp>
      <p:cxnSp>
        <p:nvCxnSpPr>
          <p:cNvPr id="9" name="Straight Arrow Connector 8"/>
          <p:cNvCxnSpPr>
            <a:stCxn id="5" idx="2"/>
            <a:endCxn id="29" idx="1"/>
          </p:cNvCxnSpPr>
          <p:nvPr/>
        </p:nvCxnSpPr>
        <p:spPr>
          <a:xfrm>
            <a:off x="1467702" y="1972560"/>
            <a:ext cx="4577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Elbow Connector 15"/>
          <p:cNvCxnSpPr>
            <a:stCxn id="29" idx="3"/>
            <a:endCxn id="33" idx="5"/>
          </p:cNvCxnSpPr>
          <p:nvPr/>
        </p:nvCxnSpPr>
        <p:spPr>
          <a:xfrm flipV="1">
            <a:off x="2972200" y="1452674"/>
            <a:ext cx="422466" cy="51988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1" name="Elbow Connector 20"/>
          <p:cNvCxnSpPr>
            <a:stCxn id="29" idx="3"/>
            <a:endCxn id="50" idx="5"/>
          </p:cNvCxnSpPr>
          <p:nvPr/>
        </p:nvCxnSpPr>
        <p:spPr>
          <a:xfrm>
            <a:off x="2972200" y="1972560"/>
            <a:ext cx="382869" cy="49334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3" name="Elbow Connector 22"/>
          <p:cNvCxnSpPr>
            <a:stCxn id="95" idx="2"/>
            <a:endCxn id="47" idx="1"/>
          </p:cNvCxnSpPr>
          <p:nvPr/>
        </p:nvCxnSpPr>
        <p:spPr>
          <a:xfrm>
            <a:off x="4709871" y="1538399"/>
            <a:ext cx="473911" cy="260507"/>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5" name="Elbow Connector 24"/>
          <p:cNvCxnSpPr>
            <a:stCxn id="49" idx="2"/>
            <a:endCxn id="47" idx="1"/>
          </p:cNvCxnSpPr>
          <p:nvPr/>
        </p:nvCxnSpPr>
        <p:spPr>
          <a:xfrm flipV="1">
            <a:off x="4670274" y="1798906"/>
            <a:ext cx="513508" cy="75272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31" name="Elbow Connector 30"/>
          <p:cNvCxnSpPr>
            <a:stCxn id="47" idx="3"/>
            <a:endCxn id="52" idx="5"/>
          </p:cNvCxnSpPr>
          <p:nvPr/>
        </p:nvCxnSpPr>
        <p:spPr>
          <a:xfrm flipV="1">
            <a:off x="7078053" y="1463747"/>
            <a:ext cx="690811" cy="335159"/>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5" name="Elbow Connector 34"/>
          <p:cNvCxnSpPr>
            <a:stCxn id="47" idx="3"/>
            <a:endCxn id="54" idx="5"/>
          </p:cNvCxnSpPr>
          <p:nvPr/>
        </p:nvCxnSpPr>
        <p:spPr>
          <a:xfrm>
            <a:off x="7078053" y="1798906"/>
            <a:ext cx="659854" cy="86249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7" name="Elbow Connector 36"/>
          <p:cNvCxnSpPr>
            <a:stCxn id="51" idx="2"/>
            <a:endCxn id="55" idx="1"/>
          </p:cNvCxnSpPr>
          <p:nvPr/>
        </p:nvCxnSpPr>
        <p:spPr>
          <a:xfrm flipV="1">
            <a:off x="8961135" y="1505008"/>
            <a:ext cx="539502" cy="7078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76" name="Elbow Connector 75"/>
          <p:cNvCxnSpPr>
            <a:endCxn id="57" idx="5"/>
          </p:cNvCxnSpPr>
          <p:nvPr/>
        </p:nvCxnSpPr>
        <p:spPr>
          <a:xfrm rot="10800000" flipV="1">
            <a:off x="834900" y="3468116"/>
            <a:ext cx="8587007" cy="1593089"/>
          </a:xfrm>
          <a:prstGeom prst="bentConnector3">
            <a:avLst>
              <a:gd name="adj1" fmla="val 103014"/>
            </a:avLst>
          </a:prstGeom>
          <a:ln>
            <a:tailEnd type="triangle"/>
          </a:ln>
        </p:spPr>
        <p:style>
          <a:lnRef idx="1">
            <a:schemeClr val="dk1"/>
          </a:lnRef>
          <a:fillRef idx="0">
            <a:schemeClr val="dk1"/>
          </a:fillRef>
          <a:effectRef idx="0">
            <a:schemeClr val="dk1"/>
          </a:effectRef>
          <a:fontRef idx="minor">
            <a:schemeClr val="tx1"/>
          </a:fontRef>
        </p:style>
      </p:cxnSp>
      <p:cxnSp>
        <p:nvCxnSpPr>
          <p:cNvPr id="79" name="Straight Arrow Connector 78"/>
          <p:cNvCxnSpPr>
            <a:stCxn id="56" idx="2"/>
            <a:endCxn id="60" idx="1"/>
          </p:cNvCxnSpPr>
          <p:nvPr/>
        </p:nvCxnSpPr>
        <p:spPr>
          <a:xfrm flipV="1">
            <a:off x="2109685" y="5143694"/>
            <a:ext cx="501565" cy="32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2" name="Straight Arrow Connector 81"/>
          <p:cNvCxnSpPr>
            <a:stCxn id="60" idx="3"/>
            <a:endCxn id="63" idx="5"/>
          </p:cNvCxnSpPr>
          <p:nvPr/>
        </p:nvCxnSpPr>
        <p:spPr>
          <a:xfrm>
            <a:off x="4505521" y="5143694"/>
            <a:ext cx="599734" cy="32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5" name="Straight Arrow Connector 84"/>
          <p:cNvCxnSpPr>
            <a:stCxn id="63" idx="2"/>
            <a:endCxn id="64" idx="1"/>
          </p:cNvCxnSpPr>
          <p:nvPr/>
        </p:nvCxnSpPr>
        <p:spPr>
          <a:xfrm>
            <a:off x="6292627" y="5146931"/>
            <a:ext cx="523532" cy="23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9" name="Straight Arrow Connector 88"/>
          <p:cNvCxnSpPr>
            <a:stCxn id="64" idx="3"/>
            <a:endCxn id="66" idx="5"/>
          </p:cNvCxnSpPr>
          <p:nvPr/>
        </p:nvCxnSpPr>
        <p:spPr>
          <a:xfrm flipV="1">
            <a:off x="8710430" y="5146931"/>
            <a:ext cx="578078" cy="23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0" name="Elbow Connector 109"/>
          <p:cNvCxnSpPr>
            <a:stCxn id="53" idx="3"/>
            <a:endCxn id="60" idx="0"/>
          </p:cNvCxnSpPr>
          <p:nvPr/>
        </p:nvCxnSpPr>
        <p:spPr>
          <a:xfrm rot="5400000">
            <a:off x="5153083" y="1503882"/>
            <a:ext cx="1558974" cy="474836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59" name="Rectangle 58"/>
          <p:cNvSpPr/>
          <p:nvPr/>
        </p:nvSpPr>
        <p:spPr>
          <a:xfrm>
            <a:off x="9504090" y="3178483"/>
            <a:ext cx="1931690" cy="55083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just"/>
            <a:r>
              <a:rPr lang="en-US" sz="1100" dirty="0">
                <a:solidFill>
                  <a:schemeClr val="tx1"/>
                </a:solidFill>
              </a:rPr>
              <a:t>TRAINING:</a:t>
            </a:r>
          </a:p>
          <a:p>
            <a:pPr algn="just"/>
            <a:r>
              <a:rPr lang="en-US" sz="1100" dirty="0">
                <a:solidFill>
                  <a:schemeClr val="tx1"/>
                </a:solidFill>
              </a:rPr>
              <a:t>MODELING</a:t>
            </a:r>
          </a:p>
          <a:p>
            <a:pPr algn="just"/>
            <a:r>
              <a:rPr lang="en-US" sz="1100" dirty="0">
                <a:solidFill>
                  <a:schemeClr val="tx1"/>
                </a:solidFill>
              </a:rPr>
              <a:t>- SVM </a:t>
            </a:r>
          </a:p>
        </p:txBody>
      </p:sp>
      <p:cxnSp>
        <p:nvCxnSpPr>
          <p:cNvPr id="24" name="Elbow Connector 23"/>
          <p:cNvCxnSpPr>
            <a:stCxn id="55" idx="3"/>
            <a:endCxn id="59" idx="3"/>
          </p:cNvCxnSpPr>
          <p:nvPr/>
        </p:nvCxnSpPr>
        <p:spPr>
          <a:xfrm>
            <a:off x="11432327" y="1505008"/>
            <a:ext cx="3453" cy="1948893"/>
          </a:xfrm>
          <a:prstGeom prst="bentConnector3">
            <a:avLst>
              <a:gd name="adj1" fmla="val 6720330"/>
            </a:avLst>
          </a:prstGeom>
          <a:ln>
            <a:tailEnd type="triangle"/>
          </a:ln>
        </p:spPr>
        <p:style>
          <a:lnRef idx="1">
            <a:schemeClr val="dk1"/>
          </a:lnRef>
          <a:fillRef idx="0">
            <a:schemeClr val="dk1"/>
          </a:fillRef>
          <a:effectRef idx="0">
            <a:schemeClr val="dk1"/>
          </a:effectRef>
          <a:fontRef idx="minor">
            <a:schemeClr val="tx1"/>
          </a:fontRef>
        </p:style>
      </p:cxnSp>
      <p:cxnSp>
        <p:nvCxnSpPr>
          <p:cNvPr id="27" name="Elbow Connector 26"/>
          <p:cNvCxnSpPr>
            <a:stCxn id="53" idx="2"/>
            <a:endCxn id="55" idx="2"/>
          </p:cNvCxnSpPr>
          <p:nvPr/>
        </p:nvCxnSpPr>
        <p:spPr>
          <a:xfrm flipV="1">
            <a:off x="8955631" y="2225385"/>
            <a:ext cx="1510851" cy="56154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58628791"/>
      </p:ext>
    </p:extLst>
  </p:cSld>
  <p:clrMapOvr>
    <a:masterClrMapping/>
  </p:clrMapOvr>
  <mc:AlternateContent xmlns:mc="http://schemas.openxmlformats.org/markup-compatibility/2006" xmlns:p14="http://schemas.microsoft.com/office/powerpoint/2010/main">
    <mc:Choice Requires="p14">
      <p:transition spd="slow" p14:dur="2000" advTm="94028"/>
    </mc:Choice>
    <mc:Fallback xmlns="">
      <p:transition spd="slow" advTm="9402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Extraction</a:t>
            </a:r>
          </a:p>
        </p:txBody>
      </p:sp>
      <p:sp>
        <p:nvSpPr>
          <p:cNvPr id="3" name="Content Placeholder 2"/>
          <p:cNvSpPr>
            <a:spLocks noGrp="1"/>
          </p:cNvSpPr>
          <p:nvPr>
            <p:ph idx="1"/>
          </p:nvPr>
        </p:nvSpPr>
        <p:spPr>
          <a:xfrm>
            <a:off x="1097280" y="1845732"/>
            <a:ext cx="10058400" cy="4023360"/>
          </a:xfrm>
        </p:spPr>
        <p:txBody>
          <a:bodyPr/>
          <a:lstStyle/>
          <a:p>
            <a:r>
              <a:rPr lang="en-US" dirty="0"/>
              <a:t>Learned Previously:</a:t>
            </a:r>
          </a:p>
          <a:p>
            <a:endParaRPr lang="en-US" dirty="0"/>
          </a:p>
          <a:p>
            <a:endParaRPr lang="en-US" dirty="0"/>
          </a:p>
          <a:p>
            <a:r>
              <a:rPr lang="en-US" dirty="0"/>
              <a:t>Learn on This Session:  </a:t>
            </a:r>
          </a:p>
        </p:txBody>
      </p:sp>
      <p:sp>
        <p:nvSpPr>
          <p:cNvPr id="4" name="Slide Number Placeholder 3"/>
          <p:cNvSpPr>
            <a:spLocks noGrp="1"/>
          </p:cNvSpPr>
          <p:nvPr>
            <p:ph type="sldNum" sz="quarter" idx="12"/>
          </p:nvPr>
        </p:nvSpPr>
        <p:spPr/>
        <p:txBody>
          <a:bodyPr/>
          <a:lstStyle/>
          <a:p>
            <a:fld id="{58370351-947A-4E07-9670-11236DD68188}" type="slidenum">
              <a:rPr lang="zh-TW" altLang="en-US" smtClean="0"/>
              <a:t>4</a:t>
            </a:fld>
            <a:endParaRPr lang="zh-TW" altLang="en-US"/>
          </a:p>
        </p:txBody>
      </p:sp>
      <p:sp>
        <p:nvSpPr>
          <p:cNvPr id="5" name="Rounded Rectangle 4"/>
          <p:cNvSpPr/>
          <p:nvPr/>
        </p:nvSpPr>
        <p:spPr>
          <a:xfrm>
            <a:off x="3401226" y="2187722"/>
            <a:ext cx="1418602" cy="55547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Histogram</a:t>
            </a:r>
          </a:p>
        </p:txBody>
      </p:sp>
      <p:sp>
        <p:nvSpPr>
          <p:cNvPr id="6" name="Rounded Rectangle 5"/>
          <p:cNvSpPr/>
          <p:nvPr/>
        </p:nvSpPr>
        <p:spPr>
          <a:xfrm>
            <a:off x="4819828" y="2187721"/>
            <a:ext cx="1418602" cy="55547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200" dirty="0"/>
              <a:t>Earth Movement Distance</a:t>
            </a:r>
          </a:p>
        </p:txBody>
      </p:sp>
      <p:sp>
        <p:nvSpPr>
          <p:cNvPr id="7" name="Rounded Rectangle 6"/>
          <p:cNvSpPr/>
          <p:nvPr/>
        </p:nvSpPr>
        <p:spPr>
          <a:xfrm>
            <a:off x="6238430" y="2187720"/>
            <a:ext cx="1418602" cy="55547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K-Means Clustering</a:t>
            </a:r>
          </a:p>
        </p:txBody>
      </p:sp>
      <p:sp>
        <p:nvSpPr>
          <p:cNvPr id="8" name="Rounded Rectangle 7"/>
          <p:cNvSpPr/>
          <p:nvPr/>
        </p:nvSpPr>
        <p:spPr>
          <a:xfrm>
            <a:off x="7657032" y="2187720"/>
            <a:ext cx="1418602" cy="55547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Kernel Mapping</a:t>
            </a:r>
          </a:p>
        </p:txBody>
      </p:sp>
      <p:sp>
        <p:nvSpPr>
          <p:cNvPr id="9" name="Rounded Rectangle 8"/>
          <p:cNvSpPr/>
          <p:nvPr/>
        </p:nvSpPr>
        <p:spPr>
          <a:xfrm>
            <a:off x="3401226" y="3750665"/>
            <a:ext cx="1418602" cy="555477"/>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GMM</a:t>
            </a:r>
          </a:p>
        </p:txBody>
      </p:sp>
      <p:sp>
        <p:nvSpPr>
          <p:cNvPr id="10" name="Rounded Rectangle 9"/>
          <p:cNvSpPr/>
          <p:nvPr/>
        </p:nvSpPr>
        <p:spPr>
          <a:xfrm>
            <a:off x="4819828" y="3750665"/>
            <a:ext cx="1418602" cy="555477"/>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HHT</a:t>
            </a:r>
          </a:p>
        </p:txBody>
      </p:sp>
      <p:sp>
        <p:nvSpPr>
          <p:cNvPr id="11" name="Rounded Rectangle 10"/>
          <p:cNvSpPr/>
          <p:nvPr/>
        </p:nvSpPr>
        <p:spPr>
          <a:xfrm>
            <a:off x="6238430" y="3750663"/>
            <a:ext cx="1418602" cy="555477"/>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PCA</a:t>
            </a:r>
          </a:p>
        </p:txBody>
      </p:sp>
      <p:sp>
        <p:nvSpPr>
          <p:cNvPr id="12" name="Rounded Rectangle 11"/>
          <p:cNvSpPr/>
          <p:nvPr/>
        </p:nvSpPr>
        <p:spPr>
          <a:xfrm>
            <a:off x="9075634" y="2187719"/>
            <a:ext cx="1418602" cy="55547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a:t>
            </a:r>
          </a:p>
        </p:txBody>
      </p:sp>
    </p:spTree>
    <p:custDataLst>
      <p:tags r:id="rId1"/>
    </p:custDataLst>
    <p:extLst>
      <p:ext uri="{BB962C8B-B14F-4D97-AF65-F5344CB8AC3E}">
        <p14:creationId xmlns:p14="http://schemas.microsoft.com/office/powerpoint/2010/main" val="3039143953"/>
      </p:ext>
    </p:extLst>
  </p:cSld>
  <p:clrMapOvr>
    <a:masterClrMapping/>
  </p:clrMapOvr>
  <mc:AlternateContent xmlns:mc="http://schemas.openxmlformats.org/markup-compatibility/2006" xmlns:p14="http://schemas.microsoft.com/office/powerpoint/2010/main">
    <mc:Choice Requires="p14">
      <p:transition spd="slow" p14:dur="2000" advTm="29849"/>
    </mc:Choice>
    <mc:Fallback xmlns="">
      <p:transition spd="slow" advTm="2984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circle(in)">
                                      <p:cBhvr>
                                        <p:cTn id="32" dur="20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circle(in)">
                                      <p:cBhvr>
                                        <p:cTn id="37" dur="20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circle(in)">
                                      <p:cBhvr>
                                        <p:cTn id="42" dur="20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circle(in)">
                                      <p:cBhvr>
                                        <p:cTn id="4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Extraction</a:t>
            </a:r>
          </a:p>
        </p:txBody>
      </p:sp>
      <p:sp>
        <p:nvSpPr>
          <p:cNvPr id="3" name="Content Placeholder 2"/>
          <p:cNvSpPr>
            <a:spLocks noGrp="1"/>
          </p:cNvSpPr>
          <p:nvPr>
            <p:ph idx="1"/>
          </p:nvPr>
        </p:nvSpPr>
        <p:spPr>
          <a:xfrm>
            <a:off x="1097280" y="1845732"/>
            <a:ext cx="10058400" cy="4023360"/>
          </a:xfrm>
        </p:spPr>
        <p:txBody>
          <a:bodyPr/>
          <a:lstStyle/>
          <a:p>
            <a:r>
              <a:rPr lang="en-US" dirty="0"/>
              <a:t>Learned Previously:</a:t>
            </a:r>
          </a:p>
          <a:p>
            <a:endParaRPr lang="en-US" dirty="0"/>
          </a:p>
          <a:p>
            <a:endParaRPr lang="en-US" dirty="0"/>
          </a:p>
          <a:p>
            <a:r>
              <a:rPr lang="en-US" dirty="0"/>
              <a:t>Learned on This Session:  </a:t>
            </a:r>
          </a:p>
        </p:txBody>
      </p:sp>
      <p:sp>
        <p:nvSpPr>
          <p:cNvPr id="4" name="Slide Number Placeholder 3"/>
          <p:cNvSpPr>
            <a:spLocks noGrp="1"/>
          </p:cNvSpPr>
          <p:nvPr>
            <p:ph type="sldNum" sz="quarter" idx="12"/>
          </p:nvPr>
        </p:nvSpPr>
        <p:spPr/>
        <p:txBody>
          <a:bodyPr/>
          <a:lstStyle/>
          <a:p>
            <a:fld id="{58370351-947A-4E07-9670-11236DD68188}" type="slidenum">
              <a:rPr lang="zh-TW" altLang="en-US" smtClean="0"/>
              <a:t>5</a:t>
            </a:fld>
            <a:endParaRPr lang="zh-TW" altLang="en-US"/>
          </a:p>
        </p:txBody>
      </p:sp>
      <p:sp>
        <p:nvSpPr>
          <p:cNvPr id="5" name="Rounded Rectangle 4"/>
          <p:cNvSpPr/>
          <p:nvPr/>
        </p:nvSpPr>
        <p:spPr>
          <a:xfrm>
            <a:off x="3401226" y="2187722"/>
            <a:ext cx="1418602" cy="55547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Histogram</a:t>
            </a:r>
          </a:p>
        </p:txBody>
      </p:sp>
      <p:sp>
        <p:nvSpPr>
          <p:cNvPr id="6" name="Rounded Rectangle 5"/>
          <p:cNvSpPr/>
          <p:nvPr/>
        </p:nvSpPr>
        <p:spPr>
          <a:xfrm>
            <a:off x="4819828" y="2187721"/>
            <a:ext cx="1418602" cy="55547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200" dirty="0"/>
              <a:t>Earth Movement Distance</a:t>
            </a:r>
          </a:p>
        </p:txBody>
      </p:sp>
      <p:sp>
        <p:nvSpPr>
          <p:cNvPr id="7" name="Rounded Rectangle 6"/>
          <p:cNvSpPr/>
          <p:nvPr/>
        </p:nvSpPr>
        <p:spPr>
          <a:xfrm>
            <a:off x="6238430" y="2187720"/>
            <a:ext cx="1418602" cy="55547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K-Means Clustering</a:t>
            </a:r>
          </a:p>
        </p:txBody>
      </p:sp>
      <p:sp>
        <p:nvSpPr>
          <p:cNvPr id="8" name="Rounded Rectangle 7"/>
          <p:cNvSpPr/>
          <p:nvPr/>
        </p:nvSpPr>
        <p:spPr>
          <a:xfrm>
            <a:off x="7657032" y="2187720"/>
            <a:ext cx="1418602" cy="55547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Kernel Mapping</a:t>
            </a:r>
          </a:p>
        </p:txBody>
      </p:sp>
      <p:sp>
        <p:nvSpPr>
          <p:cNvPr id="9" name="Rounded Rectangle 8"/>
          <p:cNvSpPr/>
          <p:nvPr/>
        </p:nvSpPr>
        <p:spPr>
          <a:xfrm>
            <a:off x="3401226" y="3750665"/>
            <a:ext cx="1418602" cy="555477"/>
          </a:xfrm>
          <a:prstGeom prst="roundRect">
            <a:avLst/>
          </a:prstGeom>
          <a:solidFill>
            <a:srgbClr val="92D050"/>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GMM</a:t>
            </a:r>
          </a:p>
        </p:txBody>
      </p:sp>
      <p:sp>
        <p:nvSpPr>
          <p:cNvPr id="10" name="Rounded Rectangle 9"/>
          <p:cNvSpPr/>
          <p:nvPr/>
        </p:nvSpPr>
        <p:spPr>
          <a:xfrm>
            <a:off x="4819828" y="3750665"/>
            <a:ext cx="1418602" cy="555477"/>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HHT</a:t>
            </a:r>
          </a:p>
        </p:txBody>
      </p:sp>
      <p:sp>
        <p:nvSpPr>
          <p:cNvPr id="11" name="Rounded Rectangle 10"/>
          <p:cNvSpPr/>
          <p:nvPr/>
        </p:nvSpPr>
        <p:spPr>
          <a:xfrm>
            <a:off x="6238430" y="3750663"/>
            <a:ext cx="1418602" cy="555477"/>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PCA</a:t>
            </a:r>
          </a:p>
        </p:txBody>
      </p:sp>
    </p:spTree>
    <p:extLst>
      <p:ext uri="{BB962C8B-B14F-4D97-AF65-F5344CB8AC3E}">
        <p14:creationId xmlns:p14="http://schemas.microsoft.com/office/powerpoint/2010/main" val="2197334381"/>
      </p:ext>
    </p:extLst>
  </p:cSld>
  <p:clrMapOvr>
    <a:masterClrMapping/>
  </p:clrMapOvr>
  <mc:AlternateContent xmlns:mc="http://schemas.openxmlformats.org/markup-compatibility/2006" xmlns:p14="http://schemas.microsoft.com/office/powerpoint/2010/main">
    <mc:Choice Requires="p14">
      <p:transition spd="slow" p14:dur="2000" advTm="4246"/>
    </mc:Choice>
    <mc:Fallback xmlns="">
      <p:transition spd="slow" advTm="424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we use GMM</a:t>
            </a:r>
          </a:p>
        </p:txBody>
      </p:sp>
      <p:sp>
        <p:nvSpPr>
          <p:cNvPr id="3" name="Content Placeholder 2"/>
          <p:cNvSpPr>
            <a:spLocks noGrp="1"/>
          </p:cNvSpPr>
          <p:nvPr>
            <p:ph idx="1"/>
          </p:nvPr>
        </p:nvSpPr>
        <p:spPr>
          <a:xfrm>
            <a:off x="1229192" y="4242215"/>
            <a:ext cx="10124607" cy="1934747"/>
          </a:xfrm>
        </p:spPr>
        <p:txBody>
          <a:bodyPr>
            <a:noAutofit/>
          </a:bodyPr>
          <a:lstStyle/>
          <a:p>
            <a:pPr marL="0" indent="0">
              <a:buNone/>
            </a:pPr>
            <a:r>
              <a:rPr lang="en-US" sz="1800" dirty="0"/>
              <a:t>In reality (for example: driving behavior), sometimes we cannot model the probability distribution using single Gaussian model. </a:t>
            </a:r>
          </a:p>
          <a:p>
            <a:pPr marL="0" indent="0">
              <a:buNone/>
            </a:pPr>
            <a:r>
              <a:rPr lang="en-US" sz="1800" dirty="0"/>
              <a:t>We need to use linear combination of Gaussian distribution =&gt; GMM</a:t>
            </a:r>
          </a:p>
        </p:txBody>
      </p:sp>
      <p:sp>
        <p:nvSpPr>
          <p:cNvPr id="4" name="Slide Number Placeholder 3"/>
          <p:cNvSpPr>
            <a:spLocks noGrp="1"/>
          </p:cNvSpPr>
          <p:nvPr>
            <p:ph type="sldNum" sz="quarter" idx="12"/>
          </p:nvPr>
        </p:nvSpPr>
        <p:spPr/>
        <p:txBody>
          <a:bodyPr/>
          <a:lstStyle/>
          <a:p>
            <a:fld id="{B784A550-5AC5-4180-9019-AEC96481E030}" type="slidenum">
              <a:rPr lang="zh-TW" altLang="en-US" smtClean="0"/>
              <a:t>6</a:t>
            </a:fld>
            <a:endParaRPr lang="zh-TW" altLang="en-US"/>
          </a:p>
        </p:txBody>
      </p:sp>
      <p:pic>
        <p:nvPicPr>
          <p:cNvPr id="5" name="Picture 4"/>
          <p:cNvPicPr>
            <a:picLocks noChangeAspect="1"/>
          </p:cNvPicPr>
          <p:nvPr/>
        </p:nvPicPr>
        <p:blipFill>
          <a:blip r:embed="rId3"/>
          <a:stretch>
            <a:fillRect/>
          </a:stretch>
        </p:blipFill>
        <p:spPr>
          <a:xfrm>
            <a:off x="3681100" y="1813450"/>
            <a:ext cx="4410075" cy="2352675"/>
          </a:xfrm>
          <a:prstGeom prst="rect">
            <a:avLst/>
          </a:prstGeom>
        </p:spPr>
      </p:pic>
    </p:spTree>
    <p:extLst>
      <p:ext uri="{BB962C8B-B14F-4D97-AF65-F5344CB8AC3E}">
        <p14:creationId xmlns:p14="http://schemas.microsoft.com/office/powerpoint/2010/main" val="2620286861"/>
      </p:ext>
    </p:extLst>
  </p:cSld>
  <p:clrMapOvr>
    <a:masterClrMapping/>
  </p:clrMapOvr>
  <mc:AlternateContent xmlns:mc="http://schemas.openxmlformats.org/markup-compatibility/2006" xmlns:p14="http://schemas.microsoft.com/office/powerpoint/2010/main">
    <mc:Choice Requires="p14">
      <p:transition spd="slow" p14:dur="2000" advTm="43089"/>
    </mc:Choice>
    <mc:Fallback xmlns="">
      <p:transition spd="slow" advTm="4308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2420" name="Picture 4" descr="tnfpoi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1" y="444501"/>
            <a:ext cx="5864225" cy="5864225"/>
          </a:xfrm>
          <a:prstGeom prst="rect">
            <a:avLst/>
          </a:prstGeom>
          <a:noFill/>
          <a:extLst>
            <a:ext uri="{909E8E84-426E-40DD-AFC4-6F175D3DCCD1}">
              <a14:hiddenFill xmlns:a14="http://schemas.microsoft.com/office/drawing/2010/main">
                <a:solidFill>
                  <a:srgbClr val="FFFFFF"/>
                </a:solidFill>
              </a14:hiddenFill>
            </a:ext>
          </a:extLst>
        </p:spPr>
      </p:pic>
      <p:sp>
        <p:nvSpPr>
          <p:cNvPr id="572418" name="Rectangle 2"/>
          <p:cNvSpPr>
            <a:spLocks noGrp="1" noChangeArrowheads="1"/>
          </p:cNvSpPr>
          <p:nvPr>
            <p:ph type="title"/>
          </p:nvPr>
        </p:nvSpPr>
        <p:spPr>
          <a:xfrm>
            <a:off x="1060937" y="316523"/>
            <a:ext cx="5855677" cy="1289538"/>
          </a:xfrm>
        </p:spPr>
        <p:txBody>
          <a:bodyPr>
            <a:normAutofit/>
          </a:bodyPr>
          <a:lstStyle/>
          <a:p>
            <a:r>
              <a:rPr lang="en-US" altLang="en-US" dirty="0"/>
              <a:t>Raw data</a:t>
            </a:r>
          </a:p>
        </p:txBody>
      </p:sp>
      <p:sp>
        <p:nvSpPr>
          <p:cNvPr id="2" name="Slide Number Placeholder 1"/>
          <p:cNvSpPr>
            <a:spLocks noGrp="1"/>
          </p:cNvSpPr>
          <p:nvPr>
            <p:ph type="sldNum" sz="quarter" idx="12"/>
          </p:nvPr>
        </p:nvSpPr>
        <p:spPr/>
        <p:txBody>
          <a:bodyPr/>
          <a:lstStyle/>
          <a:p>
            <a:fld id="{58370351-947A-4E07-9670-11236DD68188}" type="slidenum">
              <a:rPr lang="zh-TW" altLang="en-US" smtClean="0"/>
              <a:t>7</a:t>
            </a:fld>
            <a:endParaRPr lang="zh-TW" altLang="en-US"/>
          </a:p>
        </p:txBody>
      </p:sp>
    </p:spTree>
    <p:extLst>
      <p:ext uri="{BB962C8B-B14F-4D97-AF65-F5344CB8AC3E}">
        <p14:creationId xmlns:p14="http://schemas.microsoft.com/office/powerpoint/2010/main" val="1021531751"/>
      </p:ext>
    </p:extLst>
  </p:cSld>
  <p:clrMapOvr>
    <a:masterClrMapping/>
  </p:clrMapOvr>
  <mc:AlternateContent xmlns:mc="http://schemas.openxmlformats.org/markup-compatibility/2006" xmlns:p14="http://schemas.microsoft.com/office/powerpoint/2010/main">
    <mc:Choice Requires="p14">
      <p:transition spd="slow" p14:dur="2000" advTm="6023"/>
    </mc:Choice>
    <mc:Fallback xmlns="">
      <p:transition spd="slow" advTm="602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44" name="Picture 4" descr="tnfgaussia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406400"/>
            <a:ext cx="5886450" cy="588645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58370351-947A-4E07-9670-11236DD68188}" type="slidenum">
              <a:rPr lang="zh-TW" altLang="en-US" smtClean="0"/>
              <a:t>8</a:t>
            </a:fld>
            <a:endParaRPr lang="zh-TW" altLang="en-US"/>
          </a:p>
        </p:txBody>
      </p:sp>
      <p:sp>
        <p:nvSpPr>
          <p:cNvPr id="5" name="Rectangle 2"/>
          <p:cNvSpPr txBox="1">
            <a:spLocks noChangeArrowheads="1"/>
          </p:cNvSpPr>
          <p:nvPr/>
        </p:nvSpPr>
        <p:spPr>
          <a:xfrm>
            <a:off x="1060937" y="316523"/>
            <a:ext cx="5855677" cy="128953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dirty="0"/>
              <a:t>Using GMM</a:t>
            </a:r>
          </a:p>
        </p:txBody>
      </p:sp>
    </p:spTree>
    <p:extLst>
      <p:ext uri="{BB962C8B-B14F-4D97-AF65-F5344CB8AC3E}">
        <p14:creationId xmlns:p14="http://schemas.microsoft.com/office/powerpoint/2010/main" val="101075297"/>
      </p:ext>
    </p:extLst>
  </p:cSld>
  <p:clrMapOvr>
    <a:masterClrMapping/>
  </p:clrMapOvr>
  <mc:AlternateContent xmlns:mc="http://schemas.openxmlformats.org/markup-compatibility/2006" xmlns:p14="http://schemas.microsoft.com/office/powerpoint/2010/main">
    <mc:Choice Requires="p14">
      <p:transition spd="slow" p14:dur="2000" advTm="7236"/>
    </mc:Choice>
    <mc:Fallback xmlns="">
      <p:transition spd="slow" advTm="723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GMM</a:t>
            </a:r>
          </a:p>
        </p:txBody>
      </p:sp>
      <p:sp>
        <p:nvSpPr>
          <p:cNvPr id="4" name="Slide Number Placeholder 3"/>
          <p:cNvSpPr>
            <a:spLocks noGrp="1"/>
          </p:cNvSpPr>
          <p:nvPr>
            <p:ph type="sldNum" sz="quarter" idx="12"/>
          </p:nvPr>
        </p:nvSpPr>
        <p:spPr/>
        <p:txBody>
          <a:bodyPr/>
          <a:lstStyle/>
          <a:p>
            <a:fld id="{B784A550-5AC5-4180-9019-AEC96481E030}" type="slidenum">
              <a:rPr lang="zh-TW" altLang="en-US" smtClean="0"/>
              <a:t>9</a:t>
            </a:fld>
            <a:endParaRPr lang="zh-TW" altLang="en-US"/>
          </a:p>
        </p:txBody>
      </p:sp>
      <p:pic>
        <p:nvPicPr>
          <p:cNvPr id="5" name="Picture 4"/>
          <p:cNvPicPr>
            <a:picLocks noChangeAspect="1"/>
          </p:cNvPicPr>
          <p:nvPr/>
        </p:nvPicPr>
        <p:blipFill>
          <a:blip r:embed="rId3"/>
          <a:stretch>
            <a:fillRect/>
          </a:stretch>
        </p:blipFill>
        <p:spPr>
          <a:xfrm>
            <a:off x="3460862" y="2247993"/>
            <a:ext cx="5331236" cy="3729475"/>
          </a:xfrm>
          <a:prstGeom prst="rect">
            <a:avLst/>
          </a:prstGeom>
        </p:spPr>
      </p:pic>
      <p:sp>
        <p:nvSpPr>
          <p:cNvPr id="6" name="Content Placeholder 5"/>
          <p:cNvSpPr>
            <a:spLocks noGrp="1"/>
          </p:cNvSpPr>
          <p:nvPr>
            <p:ph idx="1"/>
          </p:nvPr>
        </p:nvSpPr>
        <p:spPr/>
        <p:txBody>
          <a:bodyPr/>
          <a:lstStyle/>
          <a:p>
            <a:r>
              <a:rPr lang="en-US" dirty="0"/>
              <a:t>GAUSSIAN MIXTURE MODEL: in one dimension</a:t>
            </a:r>
          </a:p>
        </p:txBody>
      </p:sp>
    </p:spTree>
    <p:extLst>
      <p:ext uri="{BB962C8B-B14F-4D97-AF65-F5344CB8AC3E}">
        <p14:creationId xmlns:p14="http://schemas.microsoft.com/office/powerpoint/2010/main" val="2740418751"/>
      </p:ext>
    </p:extLst>
  </p:cSld>
  <p:clrMapOvr>
    <a:masterClrMapping/>
  </p:clrMapOvr>
  <mc:AlternateContent xmlns:mc="http://schemas.openxmlformats.org/markup-compatibility/2006" xmlns:p14="http://schemas.microsoft.com/office/powerpoint/2010/main">
    <mc:Choice Requires="p14">
      <p:transition spd="slow" p14:dur="2000" advTm="20022"/>
    </mc:Choice>
    <mc:Fallback xmlns="">
      <p:transition spd="slow" advTm="20022"/>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72484-AD88-4679-BEED-4F30A5781612}"/>
              </a:ext>
            </a:extLst>
          </p:cNvPr>
          <p:cNvSpPr>
            <a:spLocks noGrp="1"/>
          </p:cNvSpPr>
          <p:nvPr>
            <p:ph type="title"/>
          </p:nvPr>
        </p:nvSpPr>
        <p:spPr/>
        <p:txBody>
          <a:bodyPr/>
          <a:lstStyle/>
          <a:p>
            <a:r>
              <a:rPr lang="en-US" b="1" dirty="0"/>
              <a:t>Normal (Gaussian) Distribution</a:t>
            </a:r>
            <a:br>
              <a:rPr lang="en-US" b="1" dirty="0"/>
            </a:br>
            <a:endParaRPr lang="en-US" b="1" dirty="0"/>
          </a:p>
        </p:txBody>
      </p:sp>
      <p:sp>
        <p:nvSpPr>
          <p:cNvPr id="3" name="Content Placeholder 2">
            <a:extLst>
              <a:ext uri="{FF2B5EF4-FFF2-40B4-BE49-F238E27FC236}">
                <a16:creationId xmlns:a16="http://schemas.microsoft.com/office/drawing/2014/main" id="{52CA826F-7A66-41CA-8122-D5EA0B83F15E}"/>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9FA5C5A1-2664-4E41-8430-2E6E43846C98}"/>
              </a:ext>
            </a:extLst>
          </p:cNvPr>
          <p:cNvSpPr>
            <a:spLocks noGrp="1"/>
          </p:cNvSpPr>
          <p:nvPr>
            <p:ph type="sldNum" sz="quarter" idx="12"/>
          </p:nvPr>
        </p:nvSpPr>
        <p:spPr/>
        <p:txBody>
          <a:bodyPr/>
          <a:lstStyle/>
          <a:p>
            <a:fld id="{58370351-947A-4E07-9670-11236DD68188}" type="slidenum">
              <a:rPr lang="zh-TW" altLang="en-US" smtClean="0"/>
              <a:t>10</a:t>
            </a:fld>
            <a:endParaRPr lang="zh-TW" altLang="en-US"/>
          </a:p>
        </p:txBody>
      </p:sp>
      <p:sp>
        <p:nvSpPr>
          <p:cNvPr id="9" name="Rectangle 8">
            <a:extLst>
              <a:ext uri="{FF2B5EF4-FFF2-40B4-BE49-F238E27FC236}">
                <a16:creationId xmlns:a16="http://schemas.microsoft.com/office/drawing/2014/main" id="{BC49C626-CE4E-4A56-8267-35C6C035DA60}"/>
              </a:ext>
            </a:extLst>
          </p:cNvPr>
          <p:cNvSpPr/>
          <p:nvPr/>
        </p:nvSpPr>
        <p:spPr>
          <a:xfrm>
            <a:off x="1801513" y="5400658"/>
            <a:ext cx="3924300" cy="246221"/>
          </a:xfrm>
          <a:prstGeom prst="rect">
            <a:avLst/>
          </a:prstGeom>
        </p:spPr>
        <p:txBody>
          <a:bodyPr wrap="square">
            <a:spAutoFit/>
          </a:bodyPr>
          <a:lstStyle/>
          <a:p>
            <a:pPr algn="just"/>
            <a:r>
              <a:rPr lang="en-US" sz="1000" dirty="0"/>
              <a:t>*probability density function:  density of a continuous random variable</a:t>
            </a:r>
          </a:p>
        </p:txBody>
      </p:sp>
      <p:sp>
        <p:nvSpPr>
          <p:cNvPr id="10" name="Rectangle 9">
            <a:extLst>
              <a:ext uri="{FF2B5EF4-FFF2-40B4-BE49-F238E27FC236}">
                <a16:creationId xmlns:a16="http://schemas.microsoft.com/office/drawing/2014/main" id="{7CBCB762-BD7C-4531-961F-1DD925179065}"/>
              </a:ext>
            </a:extLst>
          </p:cNvPr>
          <p:cNvSpPr/>
          <p:nvPr/>
        </p:nvSpPr>
        <p:spPr>
          <a:xfrm>
            <a:off x="1097280" y="1011926"/>
            <a:ext cx="8123993" cy="369332"/>
          </a:xfrm>
          <a:prstGeom prst="rect">
            <a:avLst/>
          </a:prstGeom>
        </p:spPr>
        <p:txBody>
          <a:bodyPr wrap="square">
            <a:spAutoFit/>
          </a:bodyPr>
          <a:lstStyle/>
          <a:p>
            <a:r>
              <a:rPr lang="en-US" dirty="0"/>
              <a:t>a type of continuous probability distribution for a real-valued random variable.</a:t>
            </a:r>
          </a:p>
        </p:txBody>
      </p:sp>
      <p:pic>
        <p:nvPicPr>
          <p:cNvPr id="11" name="Picture 10"/>
          <p:cNvPicPr>
            <a:picLocks noChangeAspect="1"/>
          </p:cNvPicPr>
          <p:nvPr/>
        </p:nvPicPr>
        <p:blipFill>
          <a:blip r:embed="rId3"/>
          <a:stretch>
            <a:fillRect/>
          </a:stretch>
        </p:blipFill>
        <p:spPr>
          <a:xfrm>
            <a:off x="1132106" y="1774120"/>
            <a:ext cx="6819811" cy="3404324"/>
          </a:xfrm>
          <a:prstGeom prst="rect">
            <a:avLst/>
          </a:prstGeom>
        </p:spPr>
      </p:pic>
    </p:spTree>
    <p:extLst>
      <p:ext uri="{BB962C8B-B14F-4D97-AF65-F5344CB8AC3E}">
        <p14:creationId xmlns:p14="http://schemas.microsoft.com/office/powerpoint/2010/main" val="1403307088"/>
      </p:ext>
    </p:extLst>
  </p:cSld>
  <p:clrMapOvr>
    <a:masterClrMapping/>
  </p:clrMapOvr>
  <mc:AlternateContent xmlns:mc="http://schemas.openxmlformats.org/markup-compatibility/2006" xmlns:p14="http://schemas.microsoft.com/office/powerpoint/2010/main">
    <mc:Choice Requires="p14">
      <p:transition spd="slow" p14:dur="2000" advTm="33177"/>
    </mc:Choice>
    <mc:Fallback xmlns="">
      <p:transition spd="slow" advTm="33177"/>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44" name="Picture 4" descr="tnfgaussia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533400"/>
            <a:ext cx="5886450" cy="588645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58370351-947A-4E07-9670-11236DD68188}" type="slidenum">
              <a:rPr lang="zh-TW" altLang="en-US" smtClean="0"/>
              <a:t>11</a:t>
            </a:fld>
            <a:endParaRPr lang="zh-TW" altLang="en-US"/>
          </a:p>
        </p:txBody>
      </p:sp>
      <p:sp>
        <p:nvSpPr>
          <p:cNvPr id="5" name="Rectangle 2"/>
          <p:cNvSpPr txBox="1">
            <a:spLocks noChangeArrowheads="1"/>
          </p:cNvSpPr>
          <p:nvPr/>
        </p:nvSpPr>
        <p:spPr>
          <a:xfrm>
            <a:off x="1060937" y="316523"/>
            <a:ext cx="5855677" cy="128953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US" dirty="0"/>
          </a:p>
        </p:txBody>
      </p:sp>
      <p:sp>
        <p:nvSpPr>
          <p:cNvPr id="6" name="TextBox 5"/>
          <p:cNvSpPr txBox="1"/>
          <p:nvPr/>
        </p:nvSpPr>
        <p:spPr>
          <a:xfrm>
            <a:off x="5772149" y="2702134"/>
            <a:ext cx="1457325" cy="276999"/>
          </a:xfrm>
          <a:prstGeom prst="rect">
            <a:avLst/>
          </a:prstGeom>
          <a:noFill/>
        </p:spPr>
        <p:txBody>
          <a:bodyPr wrap="square" rtlCol="0">
            <a:spAutoFit/>
          </a:bodyPr>
          <a:lstStyle/>
          <a:p>
            <a:r>
              <a:rPr lang="en-US" sz="1200" dirty="0"/>
              <a:t>a random variable</a:t>
            </a:r>
          </a:p>
        </p:txBody>
      </p:sp>
      <p:sp>
        <p:nvSpPr>
          <p:cNvPr id="7" name="Rectangle 6"/>
          <p:cNvSpPr/>
          <p:nvPr/>
        </p:nvSpPr>
        <p:spPr>
          <a:xfrm>
            <a:off x="1047455" y="90258"/>
            <a:ext cx="8423105" cy="1569660"/>
          </a:xfrm>
          <a:prstGeom prst="rect">
            <a:avLst/>
          </a:prstGeom>
        </p:spPr>
        <p:txBody>
          <a:bodyPr wrap="square">
            <a:spAutoFit/>
          </a:bodyPr>
          <a:lstStyle/>
          <a:p>
            <a:r>
              <a:rPr lang="en-US" sz="4800" b="1" dirty="0"/>
              <a:t>Normal (Gaussian) Distribution</a:t>
            </a:r>
          </a:p>
          <a:p>
            <a:r>
              <a:rPr lang="en-US" sz="4800" b="1" dirty="0"/>
              <a:t>In GMM</a:t>
            </a:r>
            <a:endParaRPr lang="en-US" sz="4800" dirty="0"/>
          </a:p>
        </p:txBody>
      </p:sp>
      <p:pic>
        <p:nvPicPr>
          <p:cNvPr id="9" name="Picture 8">
            <a:extLst>
              <a:ext uri="{FF2B5EF4-FFF2-40B4-BE49-F238E27FC236}">
                <a16:creationId xmlns:a16="http://schemas.microsoft.com/office/drawing/2014/main" id="{4CA95EE2-01FC-487E-96CA-A3C82ECD3C70}"/>
              </a:ext>
            </a:extLst>
          </p:cNvPr>
          <p:cNvPicPr>
            <a:picLocks noChangeAspect="1"/>
          </p:cNvPicPr>
          <p:nvPr/>
        </p:nvPicPr>
        <p:blipFill>
          <a:blip r:embed="rId4"/>
          <a:stretch>
            <a:fillRect/>
          </a:stretch>
        </p:blipFill>
        <p:spPr>
          <a:xfrm>
            <a:off x="691291" y="3676637"/>
            <a:ext cx="3585434" cy="2287956"/>
          </a:xfrm>
          <a:prstGeom prst="rect">
            <a:avLst/>
          </a:prstGeom>
        </p:spPr>
      </p:pic>
      <p:sp>
        <p:nvSpPr>
          <p:cNvPr id="10" name="Rectangle 9">
            <a:extLst>
              <a:ext uri="{FF2B5EF4-FFF2-40B4-BE49-F238E27FC236}">
                <a16:creationId xmlns:a16="http://schemas.microsoft.com/office/drawing/2014/main" id="{1F44796F-7CA3-40CA-946D-C9E48DD61DF2}"/>
              </a:ext>
            </a:extLst>
          </p:cNvPr>
          <p:cNvSpPr/>
          <p:nvPr/>
        </p:nvSpPr>
        <p:spPr>
          <a:xfrm>
            <a:off x="1047455" y="5964593"/>
            <a:ext cx="2941320" cy="430887"/>
          </a:xfrm>
          <a:prstGeom prst="rect">
            <a:avLst/>
          </a:prstGeom>
        </p:spPr>
        <p:txBody>
          <a:bodyPr wrap="square">
            <a:spAutoFit/>
          </a:bodyPr>
          <a:lstStyle/>
          <a:p>
            <a:pPr algn="ctr"/>
            <a:r>
              <a:rPr lang="en-US" sz="1100" dirty="0"/>
              <a:t>Normalized Gaussian curves </a:t>
            </a:r>
          </a:p>
          <a:p>
            <a:pPr algn="ctr"/>
            <a:r>
              <a:rPr lang="en-US" sz="1100" dirty="0"/>
              <a:t>with expected value μ and variance σ2</a:t>
            </a:r>
          </a:p>
        </p:txBody>
      </p:sp>
      <p:sp>
        <p:nvSpPr>
          <p:cNvPr id="8" name="Oval 7"/>
          <p:cNvSpPr/>
          <p:nvPr/>
        </p:nvSpPr>
        <p:spPr>
          <a:xfrm rot="19406249">
            <a:off x="7296863" y="2759686"/>
            <a:ext cx="2577074" cy="836602"/>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rot="483988">
            <a:off x="5488945" y="3776742"/>
            <a:ext cx="2563964" cy="670705"/>
          </a:xfrm>
          <a:prstGeom prst="ellipse">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rot="20016318">
            <a:off x="5361644" y="5033681"/>
            <a:ext cx="1827096" cy="445398"/>
          </a:xfrm>
          <a:prstGeom prst="ellipse">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a:endCxn id="9" idx="3"/>
          </p:cNvCxnSpPr>
          <p:nvPr/>
        </p:nvCxnSpPr>
        <p:spPr>
          <a:xfrm flipH="1">
            <a:off x="4276725" y="2838450"/>
            <a:ext cx="4010025" cy="1982165"/>
          </a:xfrm>
          <a:prstGeom prst="straightConnector1">
            <a:avLst/>
          </a:prstGeom>
          <a:ln>
            <a:solidFill>
              <a:srgbClr val="00B050"/>
            </a:solidFill>
            <a:tailEnd type="triangle"/>
          </a:ln>
        </p:spPr>
        <p:style>
          <a:lnRef idx="1">
            <a:schemeClr val="accent6"/>
          </a:lnRef>
          <a:fillRef idx="0">
            <a:schemeClr val="accent6"/>
          </a:fillRef>
          <a:effectRef idx="0">
            <a:schemeClr val="accent6"/>
          </a:effectRef>
          <a:fontRef idx="minor">
            <a:schemeClr val="tx1"/>
          </a:fontRef>
        </p:style>
      </p:cxnSp>
      <p:cxnSp>
        <p:nvCxnSpPr>
          <p:cNvPr id="16" name="Straight Arrow Connector 15"/>
          <p:cNvCxnSpPr>
            <a:stCxn id="11" idx="4"/>
            <a:endCxn id="9" idx="3"/>
          </p:cNvCxnSpPr>
          <p:nvPr/>
        </p:nvCxnSpPr>
        <p:spPr>
          <a:xfrm flipH="1">
            <a:off x="4276725" y="4444129"/>
            <a:ext cx="2447145" cy="376486"/>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2" idx="1"/>
            <a:endCxn id="9" idx="3"/>
          </p:cNvCxnSpPr>
          <p:nvPr/>
        </p:nvCxnSpPr>
        <p:spPr>
          <a:xfrm flipH="1" flipV="1">
            <a:off x="4276725" y="4820615"/>
            <a:ext cx="1349828" cy="581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76F39BE2-B9F6-4856-A8B8-5FC2A93B6BC7}"/>
              </a:ext>
            </a:extLst>
          </p:cNvPr>
          <p:cNvPicPr>
            <a:picLocks noChangeAspect="1"/>
          </p:cNvPicPr>
          <p:nvPr/>
        </p:nvPicPr>
        <p:blipFill>
          <a:blip r:embed="rId5"/>
          <a:stretch>
            <a:fillRect/>
          </a:stretch>
        </p:blipFill>
        <p:spPr>
          <a:xfrm>
            <a:off x="5143500" y="1798260"/>
            <a:ext cx="1524499" cy="762250"/>
          </a:xfrm>
          <a:prstGeom prst="rect">
            <a:avLst/>
          </a:prstGeom>
        </p:spPr>
      </p:pic>
      <p:cxnSp>
        <p:nvCxnSpPr>
          <p:cNvPr id="21" name="Straight Arrow Connector 20"/>
          <p:cNvCxnSpPr>
            <a:endCxn id="9" idx="3"/>
          </p:cNvCxnSpPr>
          <p:nvPr/>
        </p:nvCxnSpPr>
        <p:spPr>
          <a:xfrm flipH="1">
            <a:off x="4276725" y="3005889"/>
            <a:ext cx="2781300" cy="181472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Pentagon 22"/>
          <p:cNvSpPr/>
          <p:nvPr/>
        </p:nvSpPr>
        <p:spPr>
          <a:xfrm rot="16200000">
            <a:off x="6242383" y="2485892"/>
            <a:ext cx="166289" cy="316446"/>
          </a:xfrm>
          <a:prstGeom prst="homePlat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8728798"/>
      </p:ext>
    </p:extLst>
  </p:cSld>
  <p:clrMapOvr>
    <a:masterClrMapping/>
  </p:clrMapOvr>
  <mc:AlternateContent xmlns:mc="http://schemas.openxmlformats.org/markup-compatibility/2006" xmlns:p14="http://schemas.microsoft.com/office/powerpoint/2010/main">
    <mc:Choice Requires="p14">
      <p:transition spd="slow" p14:dur="2000" advTm="14526"/>
    </mc:Choice>
    <mc:Fallback xmlns="">
      <p:transition spd="slow" advTm="14526"/>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FC1FD-CD4A-427B-92DE-BE7ED804F29E}"/>
              </a:ext>
            </a:extLst>
          </p:cNvPr>
          <p:cNvSpPr>
            <a:spLocks noGrp="1"/>
          </p:cNvSpPr>
          <p:nvPr>
            <p:ph type="title"/>
          </p:nvPr>
        </p:nvSpPr>
        <p:spPr/>
        <p:txBody>
          <a:bodyPr/>
          <a:lstStyle/>
          <a:p>
            <a:r>
              <a:rPr lang="en-US" dirty="0"/>
              <a:t>Gaussian</a:t>
            </a:r>
          </a:p>
        </p:txBody>
      </p:sp>
      <p:sp>
        <p:nvSpPr>
          <p:cNvPr id="3" name="Content Placeholder 2">
            <a:extLst>
              <a:ext uri="{FF2B5EF4-FFF2-40B4-BE49-F238E27FC236}">
                <a16:creationId xmlns:a16="http://schemas.microsoft.com/office/drawing/2014/main" id="{467FB19C-187A-489A-AD75-94EBBBD85057}"/>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7EABD7CB-1591-4734-8645-AF958528F48F}"/>
              </a:ext>
            </a:extLst>
          </p:cNvPr>
          <p:cNvSpPr>
            <a:spLocks noGrp="1"/>
          </p:cNvSpPr>
          <p:nvPr>
            <p:ph type="sldNum" sz="quarter" idx="12"/>
          </p:nvPr>
        </p:nvSpPr>
        <p:spPr/>
        <p:txBody>
          <a:bodyPr/>
          <a:lstStyle/>
          <a:p>
            <a:fld id="{58370351-947A-4E07-9670-11236DD68188}" type="slidenum">
              <a:rPr lang="zh-TW" altLang="en-US" smtClean="0"/>
              <a:t>12</a:t>
            </a:fld>
            <a:endParaRPr lang="zh-TW" altLang="en-US"/>
          </a:p>
        </p:txBody>
      </p:sp>
      <p:pic>
        <p:nvPicPr>
          <p:cNvPr id="5" name="Picture 4">
            <a:extLst>
              <a:ext uri="{FF2B5EF4-FFF2-40B4-BE49-F238E27FC236}">
                <a16:creationId xmlns:a16="http://schemas.microsoft.com/office/drawing/2014/main" id="{44693A44-1D1C-4E09-95E7-6761B0AA62E9}"/>
              </a:ext>
            </a:extLst>
          </p:cNvPr>
          <p:cNvPicPr>
            <a:picLocks noChangeAspect="1"/>
          </p:cNvPicPr>
          <p:nvPr/>
        </p:nvPicPr>
        <p:blipFill>
          <a:blip r:embed="rId2"/>
          <a:stretch>
            <a:fillRect/>
          </a:stretch>
        </p:blipFill>
        <p:spPr>
          <a:xfrm>
            <a:off x="3873572" y="1360965"/>
            <a:ext cx="6026886" cy="3725604"/>
          </a:xfrm>
          <a:prstGeom prst="rect">
            <a:avLst/>
          </a:prstGeom>
        </p:spPr>
      </p:pic>
      <p:sp>
        <p:nvSpPr>
          <p:cNvPr id="6" name="Rectangle 5">
            <a:extLst>
              <a:ext uri="{FF2B5EF4-FFF2-40B4-BE49-F238E27FC236}">
                <a16:creationId xmlns:a16="http://schemas.microsoft.com/office/drawing/2014/main" id="{871865FD-E5A8-40F7-9133-ABA617D14450}"/>
              </a:ext>
            </a:extLst>
          </p:cNvPr>
          <p:cNvSpPr/>
          <p:nvPr/>
        </p:nvSpPr>
        <p:spPr>
          <a:xfrm>
            <a:off x="3279819" y="5194943"/>
            <a:ext cx="6096000" cy="646331"/>
          </a:xfrm>
          <a:prstGeom prst="rect">
            <a:avLst/>
          </a:prstGeom>
        </p:spPr>
        <p:txBody>
          <a:bodyPr>
            <a:spAutoFit/>
          </a:bodyPr>
          <a:lstStyle/>
          <a:p>
            <a:r>
              <a:rPr lang="en-US" dirty="0"/>
              <a:t>The normal distribution, a very common probability density, useful because of the central limit theorem.</a:t>
            </a:r>
          </a:p>
        </p:txBody>
      </p:sp>
      <p:sp>
        <p:nvSpPr>
          <p:cNvPr id="7" name="Rectangle 6">
            <a:extLst>
              <a:ext uri="{FF2B5EF4-FFF2-40B4-BE49-F238E27FC236}">
                <a16:creationId xmlns:a16="http://schemas.microsoft.com/office/drawing/2014/main" id="{B3D01F23-B937-4F41-AB38-7BAA151AEEE3}"/>
              </a:ext>
            </a:extLst>
          </p:cNvPr>
          <p:cNvSpPr/>
          <p:nvPr/>
        </p:nvSpPr>
        <p:spPr>
          <a:xfrm>
            <a:off x="370483" y="2287753"/>
            <a:ext cx="3636134" cy="3139321"/>
          </a:xfrm>
          <a:prstGeom prst="rect">
            <a:avLst/>
          </a:prstGeom>
        </p:spPr>
        <p:txBody>
          <a:bodyPr wrap="square">
            <a:spAutoFit/>
          </a:bodyPr>
          <a:lstStyle/>
          <a:p>
            <a:r>
              <a:rPr lang="en-US" dirty="0"/>
              <a:t>in probability theory, a probability density function (PDF), or density of a continuous random variable, is a function whose value at any given sample (or point) in the sample space (the set of possible values taken by the random variable) can be interpreted as providing a relative likelihood that the value of the random variable would equal that sample.[</a:t>
            </a:r>
          </a:p>
        </p:txBody>
      </p:sp>
      <p:sp>
        <p:nvSpPr>
          <p:cNvPr id="8" name="Rectangle 7">
            <a:extLst>
              <a:ext uri="{FF2B5EF4-FFF2-40B4-BE49-F238E27FC236}">
                <a16:creationId xmlns:a16="http://schemas.microsoft.com/office/drawing/2014/main" id="{7B63F319-FC00-4511-8212-D6E723652CE2}"/>
              </a:ext>
            </a:extLst>
          </p:cNvPr>
          <p:cNvSpPr/>
          <p:nvPr/>
        </p:nvSpPr>
        <p:spPr>
          <a:xfrm>
            <a:off x="8676497" y="485962"/>
            <a:ext cx="3178505" cy="5355312"/>
          </a:xfrm>
          <a:prstGeom prst="rect">
            <a:avLst/>
          </a:prstGeom>
        </p:spPr>
        <p:txBody>
          <a:bodyPr wrap="square">
            <a:spAutoFit/>
          </a:bodyPr>
          <a:lstStyle/>
          <a:p>
            <a:r>
              <a:rPr lang="en-US" dirty="0"/>
              <a:t>In probability theory, the central limit theorem (CLT) establishes that, in many situations, when independent random variables are added, their properly normalized sum tends toward a normal distribution (informally a bell curve) even if the original variables themselves are not normally distributed. The theorem is a key concept in probability theory because it implies that probabilistic and statistical methods that work for normal distributions can be applicable to many problems involving other types of distributions.</a:t>
            </a:r>
          </a:p>
        </p:txBody>
      </p:sp>
    </p:spTree>
    <p:extLst>
      <p:ext uri="{BB962C8B-B14F-4D97-AF65-F5344CB8AC3E}">
        <p14:creationId xmlns:p14="http://schemas.microsoft.com/office/powerpoint/2010/main" val="1379021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91EB7-E488-4E08-9D61-EF4C67985C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DF42EF5-DEC0-4426-8648-431ACF7C926A}"/>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018F1CAA-F8F0-42EF-A908-6EBF3C948D6C}"/>
              </a:ext>
            </a:extLst>
          </p:cNvPr>
          <p:cNvSpPr>
            <a:spLocks noGrp="1"/>
          </p:cNvSpPr>
          <p:nvPr>
            <p:ph type="sldNum" sz="quarter" idx="12"/>
          </p:nvPr>
        </p:nvSpPr>
        <p:spPr/>
        <p:txBody>
          <a:bodyPr/>
          <a:lstStyle/>
          <a:p>
            <a:fld id="{58370351-947A-4E07-9670-11236DD68188}" type="slidenum">
              <a:rPr lang="zh-TW" altLang="en-US" smtClean="0"/>
              <a:t>13</a:t>
            </a:fld>
            <a:endParaRPr lang="zh-TW" altLang="en-US"/>
          </a:p>
        </p:txBody>
      </p:sp>
      <p:pic>
        <p:nvPicPr>
          <p:cNvPr id="1026" name="Picture 2" descr="https://upload.wikimedia.org/wikipedia/commons/thumb/7/74/Normal_Distribution_PDF.svg/1024px-Normal_Distribution_PDF.svg.png">
            <a:extLst>
              <a:ext uri="{FF2B5EF4-FFF2-40B4-BE49-F238E27FC236}">
                <a16:creationId xmlns:a16="http://schemas.microsoft.com/office/drawing/2014/main" id="{BC7C9FDF-580B-4D14-9F87-5A6CA6213D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314325"/>
            <a:ext cx="9753600" cy="62293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92337EFE-4E94-4D76-BFF3-85B9715D9118}"/>
              </a:ext>
            </a:extLst>
          </p:cNvPr>
          <p:cNvSpPr/>
          <p:nvPr/>
        </p:nvSpPr>
        <p:spPr>
          <a:xfrm>
            <a:off x="0" y="1845734"/>
            <a:ext cx="1970468" cy="3970318"/>
          </a:xfrm>
          <a:prstGeom prst="rect">
            <a:avLst/>
          </a:prstGeom>
        </p:spPr>
        <p:txBody>
          <a:bodyPr wrap="square">
            <a:spAutoFit/>
          </a:bodyPr>
          <a:lstStyle/>
          <a:p>
            <a:r>
              <a:rPr lang="en-US" dirty="0"/>
              <a:t>Normalized Gaussian curves with expected value </a:t>
            </a:r>
            <a:r>
              <a:rPr lang="el-GR" dirty="0"/>
              <a:t>μ </a:t>
            </a:r>
            <a:r>
              <a:rPr lang="en-US" dirty="0"/>
              <a:t>and variance </a:t>
            </a:r>
            <a:r>
              <a:rPr lang="el-GR" dirty="0"/>
              <a:t>σ2. </a:t>
            </a:r>
            <a:r>
              <a:rPr lang="en-US" dirty="0"/>
              <a:t>The corresponding parameters are {\</a:t>
            </a:r>
            <a:r>
              <a:rPr lang="en-US" dirty="0" err="1"/>
              <a:t>displaystyle</a:t>
            </a:r>
            <a:r>
              <a:rPr lang="en-US" dirty="0"/>
              <a:t> a={\</a:t>
            </a:r>
            <a:r>
              <a:rPr lang="en-US" dirty="0" err="1"/>
              <a:t>tfrac</a:t>
            </a:r>
            <a:r>
              <a:rPr lang="en-US" dirty="0"/>
              <a:t> {1}{\sigma {\sqrt {2\pi }}}}}a={\</a:t>
            </a:r>
            <a:r>
              <a:rPr lang="en-US" dirty="0" err="1"/>
              <a:t>tfrac</a:t>
            </a:r>
            <a:r>
              <a:rPr lang="en-US" dirty="0"/>
              <a:t> {1}{\sigma {\sqrt {2\pi }}}}, b = </a:t>
            </a:r>
            <a:r>
              <a:rPr lang="el-GR" dirty="0"/>
              <a:t>μ </a:t>
            </a:r>
            <a:r>
              <a:rPr lang="en-US" dirty="0"/>
              <a:t>and c = </a:t>
            </a:r>
            <a:r>
              <a:rPr lang="el-GR" dirty="0"/>
              <a:t>σ</a:t>
            </a:r>
            <a:endParaRPr lang="en-US" dirty="0"/>
          </a:p>
        </p:txBody>
      </p:sp>
      <p:pic>
        <p:nvPicPr>
          <p:cNvPr id="6" name="Picture 5">
            <a:extLst>
              <a:ext uri="{FF2B5EF4-FFF2-40B4-BE49-F238E27FC236}">
                <a16:creationId xmlns:a16="http://schemas.microsoft.com/office/drawing/2014/main" id="{28F542E7-C6C2-475E-91BB-EB0C446678D5}"/>
              </a:ext>
            </a:extLst>
          </p:cNvPr>
          <p:cNvPicPr>
            <a:picLocks noChangeAspect="1"/>
          </p:cNvPicPr>
          <p:nvPr/>
        </p:nvPicPr>
        <p:blipFill>
          <a:blip r:embed="rId3"/>
          <a:stretch>
            <a:fillRect/>
          </a:stretch>
        </p:blipFill>
        <p:spPr>
          <a:xfrm>
            <a:off x="261937" y="580603"/>
            <a:ext cx="1914525" cy="590550"/>
          </a:xfrm>
          <a:prstGeom prst="rect">
            <a:avLst/>
          </a:prstGeom>
        </p:spPr>
      </p:pic>
    </p:spTree>
    <p:extLst>
      <p:ext uri="{BB962C8B-B14F-4D97-AF65-F5344CB8AC3E}">
        <p14:creationId xmlns:p14="http://schemas.microsoft.com/office/powerpoint/2010/main" val="3104438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73DA0BB7-265A-403C-9275-D587AB510EDC}" type="slidenum">
              <a:rPr lang="zh-TW" altLang="en-US" smtClean="0"/>
              <a:pPr/>
              <a:t>14</a:t>
            </a:fld>
            <a:endParaRPr lang="zh-TW" altLang="en-US"/>
          </a:p>
        </p:txBody>
      </p:sp>
      <p:sp>
        <p:nvSpPr>
          <p:cNvPr id="2" name="標題 1"/>
          <p:cNvSpPr>
            <a:spLocks noGrp="1"/>
          </p:cNvSpPr>
          <p:nvPr>
            <p:ph type="title" idx="4294967295"/>
          </p:nvPr>
        </p:nvSpPr>
        <p:spPr>
          <a:xfrm>
            <a:off x="2133600" y="150813"/>
            <a:ext cx="10058400" cy="620712"/>
          </a:xfrm>
        </p:spPr>
        <p:txBody>
          <a:bodyPr>
            <a:normAutofit fontScale="90000"/>
          </a:bodyPr>
          <a:lstStyle/>
          <a:p>
            <a:r>
              <a:rPr lang="en-US" altLang="zh-TW" dirty="0"/>
              <a:t>Gaussian Mixture Model (GMM)</a:t>
            </a:r>
            <a:endParaRPr lang="zh-TW" altLang="en-US" dirty="0"/>
          </a:p>
        </p:txBody>
      </p:sp>
      <p:sp>
        <p:nvSpPr>
          <p:cNvPr id="11" name="內容版面配置區 10"/>
          <p:cNvSpPr>
            <a:spLocks noGrp="1"/>
          </p:cNvSpPr>
          <p:nvPr>
            <p:ph idx="4294967295"/>
          </p:nvPr>
        </p:nvSpPr>
        <p:spPr>
          <a:xfrm>
            <a:off x="4038600" y="3789363"/>
            <a:ext cx="8153400" cy="2519362"/>
          </a:xfrm>
        </p:spPr>
        <p:txBody>
          <a:bodyPr/>
          <a:lstStyle/>
          <a:p>
            <a:r>
              <a:rPr lang="en-US" altLang="zh-TW" dirty="0"/>
              <a:t>Probability density function for Gaussian mixture distribution</a:t>
            </a:r>
          </a:p>
          <a:p>
            <a:endParaRPr lang="en-US" altLang="zh-TW" dirty="0"/>
          </a:p>
          <a:p>
            <a:pPr marL="0" indent="0">
              <a:buNone/>
            </a:pPr>
            <a:endParaRPr lang="en-US" altLang="zh-TW" dirty="0"/>
          </a:p>
          <a:p>
            <a:r>
              <a:rPr lang="en-US" altLang="zh-TW" dirty="0"/>
              <a:t>Density function of the multivariate normal distribution</a:t>
            </a:r>
            <a:endParaRPr lang="zh-TW" altLang="en-US" dirty="0"/>
          </a:p>
        </p:txBody>
      </p:sp>
      <p:pic>
        <p:nvPicPr>
          <p:cNvPr id="4" name="圖片 3"/>
          <p:cNvPicPr>
            <a:picLocks noChangeAspect="1"/>
          </p:cNvPicPr>
          <p:nvPr/>
        </p:nvPicPr>
        <p:blipFill>
          <a:blip r:embed="rId3"/>
          <a:stretch>
            <a:fillRect/>
          </a:stretch>
        </p:blipFill>
        <p:spPr>
          <a:xfrm>
            <a:off x="4424974" y="1057804"/>
            <a:ext cx="3405455" cy="1987148"/>
          </a:xfrm>
          <a:prstGeom prst="rect">
            <a:avLst/>
          </a:prstGeom>
        </p:spPr>
      </p:pic>
      <mc:AlternateContent xmlns:mc="http://schemas.openxmlformats.org/markup-compatibility/2006" xmlns:a14="http://schemas.microsoft.com/office/drawing/2010/main">
        <mc:Choice Requires="a14">
          <p:sp>
            <p:nvSpPr>
              <p:cNvPr id="5" name="矩形 4"/>
              <p:cNvSpPr/>
              <p:nvPr/>
            </p:nvSpPr>
            <p:spPr>
              <a:xfrm>
                <a:off x="4057651" y="2971425"/>
                <a:ext cx="146392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新細明體" panose="02020500000000000000" pitchFamily="18" charset="-120"/>
                            </a:rPr>
                            <m:t>𝑤</m:t>
                          </m:r>
                        </m:e>
                        <m:sub>
                          <m:r>
                            <a:rPr lang="en-US" altLang="zh-TW" i="1">
                              <a:latin typeface="Cambria Math" panose="02040503050406030204" pitchFamily="18" charset="0"/>
                              <a:ea typeface="新細明體" panose="02020500000000000000" pitchFamily="18" charset="-120"/>
                            </a:rPr>
                            <m:t>1</m:t>
                          </m:r>
                        </m:sub>
                      </m:sSub>
                    </m:oMath>
                  </m:oMathPara>
                </a14:m>
                <a:endParaRPr lang="en-US" altLang="zh-TW" i="1" dirty="0">
                  <a:latin typeface="Cambria Math" panose="02040503050406030204" pitchFamily="18" charset="0"/>
                  <a:ea typeface="新細明體" panose="02020500000000000000" pitchFamily="18" charset="-12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ea typeface="新細明體" panose="02020500000000000000" pitchFamily="18" charset="-120"/>
                          <a:cs typeface="Times New Roman" panose="02020603050405020304" pitchFamily="18" charset="0"/>
                        </a:rPr>
                        <m:t>𝐺</m:t>
                      </m:r>
                      <m:d>
                        <m:dPr>
                          <m:ctrlPr>
                            <a:rPr lang="zh-TW" altLang="zh-TW" i="1">
                              <a:latin typeface="Cambria Math" panose="02040503050406030204" pitchFamily="18" charset="0"/>
                              <a:ea typeface="Cambria Math" panose="02040503050406030204" pitchFamily="18" charset="0"/>
                            </a:rPr>
                          </m:ctrlPr>
                        </m:dPr>
                        <m:e>
                          <m:r>
                            <a:rPr lang="en-US" altLang="zh-TW" b="1" i="1">
                              <a:latin typeface="Cambria Math" panose="02040503050406030204" pitchFamily="18" charset="0"/>
                              <a:ea typeface="新細明體" panose="02020500000000000000" pitchFamily="18" charset="-120"/>
                              <a:cs typeface="Times New Roman" panose="02020603050405020304" pitchFamily="18" charset="0"/>
                            </a:rPr>
                            <m:t>𝝎</m:t>
                          </m:r>
                          <m:r>
                            <a:rPr lang="en-US" altLang="zh-TW" i="1">
                              <a:latin typeface="Cambria Math" panose="02040503050406030204" pitchFamily="18" charset="0"/>
                              <a:ea typeface="新細明體" panose="02020500000000000000" pitchFamily="18" charset="-120"/>
                              <a:cs typeface="Times New Roman" panose="02020603050405020304" pitchFamily="18" charset="0"/>
                            </a:rPr>
                            <m:t>|</m:t>
                          </m:r>
                          <m:sSub>
                            <m:sSubPr>
                              <m:ctrlPr>
                                <a:rPr lang="zh-TW" altLang="zh-TW" b="1" i="1">
                                  <a:latin typeface="Cambria Math" panose="02040503050406030204" pitchFamily="18" charset="0"/>
                                  <a:ea typeface="Cambria Math" panose="02040503050406030204" pitchFamily="18" charset="0"/>
                                </a:rPr>
                              </m:ctrlPr>
                            </m:sSubPr>
                            <m:e>
                              <m:r>
                                <a:rPr lang="en-US" altLang="zh-TW" b="1" i="1">
                                  <a:latin typeface="Cambria Math" panose="02040503050406030204" pitchFamily="18" charset="0"/>
                                  <a:ea typeface="新細明體" panose="02020500000000000000" pitchFamily="18" charset="-120"/>
                                  <a:cs typeface="Times New Roman" panose="02020603050405020304" pitchFamily="18" charset="0"/>
                                </a:rPr>
                                <m:t>𝝁</m:t>
                              </m:r>
                            </m:e>
                            <m:sub>
                              <m:r>
                                <a:rPr lang="en-US" altLang="zh-TW" i="1">
                                  <a:latin typeface="Cambria Math" panose="02040503050406030204" pitchFamily="18" charset="0"/>
                                  <a:ea typeface="新細明體" panose="02020500000000000000" pitchFamily="18" charset="-120"/>
                                  <a:cs typeface="Times New Roman" panose="02020603050405020304" pitchFamily="18" charset="0"/>
                                </a:rPr>
                                <m:t>1</m:t>
                              </m:r>
                            </m:sub>
                          </m:sSub>
                          <m:r>
                            <a:rPr lang="en-US" altLang="zh-TW" b="1" i="1">
                              <a:latin typeface="Cambria Math" panose="02040503050406030204" pitchFamily="18" charset="0"/>
                              <a:ea typeface="新細明體" panose="02020500000000000000" pitchFamily="18" charset="-120"/>
                              <a:cs typeface="Times New Roman" panose="02020603050405020304" pitchFamily="18" charset="0"/>
                            </a:rPr>
                            <m:t>,</m:t>
                          </m:r>
                          <m:sSub>
                            <m:sSubPr>
                              <m:ctrlPr>
                                <a:rPr lang="zh-TW" altLang="zh-TW" b="1" i="1">
                                  <a:latin typeface="Cambria Math" panose="02040503050406030204" pitchFamily="18" charset="0"/>
                                  <a:ea typeface="Cambria Math" panose="02040503050406030204" pitchFamily="18" charset="0"/>
                                </a:rPr>
                              </m:ctrlPr>
                            </m:sSubPr>
                            <m:e>
                              <m:r>
                                <a:rPr lang="en-US" altLang="zh-TW" b="1" i="1">
                                  <a:latin typeface="Cambria Math" panose="02040503050406030204" pitchFamily="18" charset="0"/>
                                  <a:ea typeface="新細明體" panose="02020500000000000000" pitchFamily="18" charset="-120"/>
                                  <a:cs typeface="Times New Roman" panose="02020603050405020304" pitchFamily="18" charset="0"/>
                                </a:rPr>
                                <m:t>𝚺</m:t>
                              </m:r>
                            </m:e>
                            <m:sub>
                              <m:r>
                                <a:rPr lang="en-US" altLang="zh-TW" i="1">
                                  <a:latin typeface="Cambria Math" panose="02040503050406030204" pitchFamily="18" charset="0"/>
                                  <a:ea typeface="新細明體" panose="02020500000000000000" pitchFamily="18" charset="-120"/>
                                  <a:cs typeface="Times New Roman" panose="02020603050405020304" pitchFamily="18" charset="0"/>
                                </a:rPr>
                                <m:t>1</m:t>
                              </m:r>
                            </m:sub>
                          </m:sSub>
                        </m:e>
                      </m:d>
                    </m:oMath>
                  </m:oMathPara>
                </a14:m>
                <a:endParaRPr lang="zh-TW" altLang="en-US" dirty="0"/>
              </a:p>
            </p:txBody>
          </p:sp>
        </mc:Choice>
        <mc:Fallback xmlns="">
          <p:sp>
            <p:nvSpPr>
              <p:cNvPr id="5" name="矩形 4"/>
              <p:cNvSpPr>
                <a:spLocks noRot="1" noChangeAspect="1" noMove="1" noResize="1" noEditPoints="1" noAdjustHandles="1" noChangeArrowheads="1" noChangeShapeType="1" noTextEdit="1"/>
              </p:cNvSpPr>
              <p:nvPr/>
            </p:nvSpPr>
            <p:spPr>
              <a:xfrm>
                <a:off x="4057651" y="2971425"/>
                <a:ext cx="1463927" cy="646331"/>
              </a:xfrm>
              <a:prstGeom prst="rect">
                <a:avLst/>
              </a:prstGeom>
              <a:blipFill>
                <a:blip r:embed="rId6"/>
                <a:stretch>
                  <a:fillRect b="-75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5474230" y="2994097"/>
                <a:ext cx="1469248"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新細明體" panose="02020500000000000000" pitchFamily="18" charset="-120"/>
                            </a:rPr>
                            <m:t>𝑤</m:t>
                          </m:r>
                        </m:e>
                        <m:sub>
                          <m:r>
                            <a:rPr lang="en-US" altLang="zh-TW" i="1">
                              <a:latin typeface="Cambria Math" panose="02040503050406030204" pitchFamily="18" charset="0"/>
                              <a:ea typeface="新細明體" panose="02020500000000000000" pitchFamily="18" charset="-120"/>
                            </a:rPr>
                            <m:t>2</m:t>
                          </m:r>
                        </m:sub>
                      </m:sSub>
                    </m:oMath>
                  </m:oMathPara>
                </a14:m>
                <a:endParaRPr lang="en-US" altLang="zh-TW" i="1" dirty="0">
                  <a:latin typeface="Cambria Math" panose="02040503050406030204" pitchFamily="18" charset="0"/>
                  <a:ea typeface="新細明體" panose="02020500000000000000" pitchFamily="18" charset="-12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ea typeface="新細明體" panose="02020500000000000000" pitchFamily="18" charset="-120"/>
                          <a:cs typeface="Times New Roman" panose="02020603050405020304" pitchFamily="18" charset="0"/>
                        </a:rPr>
                        <m:t>𝐺</m:t>
                      </m:r>
                      <m:d>
                        <m:dPr>
                          <m:ctrlPr>
                            <a:rPr lang="zh-TW" altLang="zh-TW" i="1">
                              <a:latin typeface="Cambria Math" panose="02040503050406030204" pitchFamily="18" charset="0"/>
                              <a:ea typeface="Cambria Math" panose="02040503050406030204" pitchFamily="18" charset="0"/>
                            </a:rPr>
                          </m:ctrlPr>
                        </m:dPr>
                        <m:e>
                          <m:r>
                            <a:rPr lang="en-US" altLang="zh-TW" b="1" i="1">
                              <a:latin typeface="Cambria Math" panose="02040503050406030204" pitchFamily="18" charset="0"/>
                              <a:ea typeface="新細明體" panose="02020500000000000000" pitchFamily="18" charset="-120"/>
                              <a:cs typeface="Times New Roman" panose="02020603050405020304" pitchFamily="18" charset="0"/>
                            </a:rPr>
                            <m:t>𝝎</m:t>
                          </m:r>
                          <m:r>
                            <a:rPr lang="en-US" altLang="zh-TW" i="1">
                              <a:latin typeface="Cambria Math" panose="02040503050406030204" pitchFamily="18" charset="0"/>
                              <a:ea typeface="新細明體" panose="02020500000000000000" pitchFamily="18" charset="-120"/>
                              <a:cs typeface="Times New Roman" panose="02020603050405020304" pitchFamily="18" charset="0"/>
                            </a:rPr>
                            <m:t>|</m:t>
                          </m:r>
                          <m:sSub>
                            <m:sSubPr>
                              <m:ctrlPr>
                                <a:rPr lang="zh-TW" altLang="zh-TW" b="1" i="1">
                                  <a:latin typeface="Cambria Math" panose="02040503050406030204" pitchFamily="18" charset="0"/>
                                  <a:ea typeface="Cambria Math" panose="02040503050406030204" pitchFamily="18" charset="0"/>
                                </a:rPr>
                              </m:ctrlPr>
                            </m:sSubPr>
                            <m:e>
                              <m:r>
                                <a:rPr lang="en-US" altLang="zh-TW" b="1" i="1">
                                  <a:latin typeface="Cambria Math" panose="02040503050406030204" pitchFamily="18" charset="0"/>
                                  <a:ea typeface="新細明體" panose="02020500000000000000" pitchFamily="18" charset="-120"/>
                                  <a:cs typeface="Times New Roman" panose="02020603050405020304" pitchFamily="18" charset="0"/>
                                </a:rPr>
                                <m:t>𝝁</m:t>
                              </m:r>
                            </m:e>
                            <m:sub>
                              <m:r>
                                <a:rPr lang="en-US" altLang="zh-TW" i="1">
                                  <a:latin typeface="Cambria Math" panose="02040503050406030204" pitchFamily="18" charset="0"/>
                                  <a:ea typeface="新細明體" panose="02020500000000000000" pitchFamily="18" charset="-120"/>
                                  <a:cs typeface="Times New Roman" panose="02020603050405020304" pitchFamily="18" charset="0"/>
                                </a:rPr>
                                <m:t>2</m:t>
                              </m:r>
                            </m:sub>
                          </m:sSub>
                          <m:r>
                            <a:rPr lang="en-US" altLang="zh-TW" b="1" i="1">
                              <a:latin typeface="Cambria Math" panose="02040503050406030204" pitchFamily="18" charset="0"/>
                              <a:ea typeface="新細明體" panose="02020500000000000000" pitchFamily="18" charset="-120"/>
                              <a:cs typeface="Times New Roman" panose="02020603050405020304" pitchFamily="18" charset="0"/>
                            </a:rPr>
                            <m:t>,</m:t>
                          </m:r>
                          <m:sSub>
                            <m:sSubPr>
                              <m:ctrlPr>
                                <a:rPr lang="zh-TW" altLang="zh-TW" b="1" i="1">
                                  <a:latin typeface="Cambria Math" panose="02040503050406030204" pitchFamily="18" charset="0"/>
                                  <a:ea typeface="Cambria Math" panose="02040503050406030204" pitchFamily="18" charset="0"/>
                                </a:rPr>
                              </m:ctrlPr>
                            </m:sSubPr>
                            <m:e>
                              <m:r>
                                <a:rPr lang="en-US" altLang="zh-TW" b="1" i="1">
                                  <a:latin typeface="Cambria Math" panose="02040503050406030204" pitchFamily="18" charset="0"/>
                                  <a:ea typeface="新細明體" panose="02020500000000000000" pitchFamily="18" charset="-120"/>
                                  <a:cs typeface="Times New Roman" panose="02020603050405020304" pitchFamily="18" charset="0"/>
                                </a:rPr>
                                <m:t>𝚺</m:t>
                              </m:r>
                            </m:e>
                            <m:sub>
                              <m:r>
                                <a:rPr lang="en-US" altLang="zh-TW" i="1">
                                  <a:latin typeface="Cambria Math" panose="02040503050406030204" pitchFamily="18" charset="0"/>
                                  <a:ea typeface="新細明體" panose="02020500000000000000" pitchFamily="18" charset="-120"/>
                                  <a:cs typeface="Times New Roman" panose="02020603050405020304" pitchFamily="18" charset="0"/>
                                </a:rPr>
                                <m:t>2</m:t>
                              </m:r>
                            </m:sub>
                          </m:sSub>
                        </m:e>
                      </m:d>
                    </m:oMath>
                  </m:oMathPara>
                </a14:m>
                <a:endParaRPr lang="zh-TW" altLang="en-US" dirty="0"/>
              </a:p>
            </p:txBody>
          </p:sp>
        </mc:Choice>
        <mc:Fallback xmlns="">
          <p:sp>
            <p:nvSpPr>
              <p:cNvPr id="6" name="矩形 5"/>
              <p:cNvSpPr>
                <a:spLocks noRot="1" noChangeAspect="1" noMove="1" noResize="1" noEditPoints="1" noAdjustHandles="1" noChangeArrowheads="1" noChangeShapeType="1" noTextEdit="1"/>
              </p:cNvSpPr>
              <p:nvPr/>
            </p:nvSpPr>
            <p:spPr>
              <a:xfrm>
                <a:off x="5474230" y="2994097"/>
                <a:ext cx="1469248" cy="646331"/>
              </a:xfrm>
              <a:prstGeom prst="rect">
                <a:avLst/>
              </a:prstGeom>
              <a:blipFill>
                <a:blip r:embed="rId7"/>
                <a:stretch>
                  <a:fillRect b="-75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6899813" y="2994097"/>
                <a:ext cx="1469248"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新細明體" panose="02020500000000000000" pitchFamily="18" charset="-120"/>
                            </a:rPr>
                            <m:t>𝑤</m:t>
                          </m:r>
                        </m:e>
                        <m:sub>
                          <m:r>
                            <a:rPr lang="en-US" altLang="zh-TW" i="1">
                              <a:latin typeface="Cambria Math" panose="02040503050406030204" pitchFamily="18" charset="0"/>
                              <a:ea typeface="新細明體" panose="02020500000000000000" pitchFamily="18" charset="-120"/>
                            </a:rPr>
                            <m:t>3</m:t>
                          </m:r>
                        </m:sub>
                      </m:sSub>
                    </m:oMath>
                  </m:oMathPara>
                </a14:m>
                <a:endParaRPr lang="en-US" altLang="zh-TW" i="1" dirty="0">
                  <a:latin typeface="Cambria Math" panose="02040503050406030204" pitchFamily="18" charset="0"/>
                  <a:ea typeface="新細明體" panose="02020500000000000000" pitchFamily="18" charset="-12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ea typeface="新細明體" panose="02020500000000000000" pitchFamily="18" charset="-120"/>
                          <a:cs typeface="Times New Roman" panose="02020603050405020304" pitchFamily="18" charset="0"/>
                        </a:rPr>
                        <m:t>𝐺</m:t>
                      </m:r>
                      <m:d>
                        <m:dPr>
                          <m:ctrlPr>
                            <a:rPr lang="zh-TW" altLang="zh-TW" i="1">
                              <a:latin typeface="Cambria Math" panose="02040503050406030204" pitchFamily="18" charset="0"/>
                              <a:ea typeface="Cambria Math" panose="02040503050406030204" pitchFamily="18" charset="0"/>
                            </a:rPr>
                          </m:ctrlPr>
                        </m:dPr>
                        <m:e>
                          <m:r>
                            <a:rPr lang="en-US" altLang="zh-TW" b="1" i="1">
                              <a:latin typeface="Cambria Math" panose="02040503050406030204" pitchFamily="18" charset="0"/>
                              <a:ea typeface="新細明體" panose="02020500000000000000" pitchFamily="18" charset="-120"/>
                              <a:cs typeface="Times New Roman" panose="02020603050405020304" pitchFamily="18" charset="0"/>
                            </a:rPr>
                            <m:t>𝝎</m:t>
                          </m:r>
                          <m:r>
                            <a:rPr lang="en-US" altLang="zh-TW" i="1">
                              <a:latin typeface="Cambria Math" panose="02040503050406030204" pitchFamily="18" charset="0"/>
                              <a:ea typeface="新細明體" panose="02020500000000000000" pitchFamily="18" charset="-120"/>
                              <a:cs typeface="Times New Roman" panose="02020603050405020304" pitchFamily="18" charset="0"/>
                            </a:rPr>
                            <m:t>|</m:t>
                          </m:r>
                          <m:sSub>
                            <m:sSubPr>
                              <m:ctrlPr>
                                <a:rPr lang="zh-TW" altLang="zh-TW" b="1" i="1">
                                  <a:latin typeface="Cambria Math" panose="02040503050406030204" pitchFamily="18" charset="0"/>
                                  <a:ea typeface="Cambria Math" panose="02040503050406030204" pitchFamily="18" charset="0"/>
                                </a:rPr>
                              </m:ctrlPr>
                            </m:sSubPr>
                            <m:e>
                              <m:r>
                                <a:rPr lang="en-US" altLang="zh-TW" b="1" i="1">
                                  <a:latin typeface="Cambria Math" panose="02040503050406030204" pitchFamily="18" charset="0"/>
                                  <a:ea typeface="新細明體" panose="02020500000000000000" pitchFamily="18" charset="-120"/>
                                  <a:cs typeface="Times New Roman" panose="02020603050405020304" pitchFamily="18" charset="0"/>
                                </a:rPr>
                                <m:t>𝝁</m:t>
                              </m:r>
                            </m:e>
                            <m:sub>
                              <m:r>
                                <a:rPr lang="en-US" altLang="zh-TW" i="1">
                                  <a:latin typeface="Cambria Math" panose="02040503050406030204" pitchFamily="18" charset="0"/>
                                  <a:ea typeface="新細明體" panose="02020500000000000000" pitchFamily="18" charset="-120"/>
                                  <a:cs typeface="Times New Roman" panose="02020603050405020304" pitchFamily="18" charset="0"/>
                                </a:rPr>
                                <m:t>3</m:t>
                              </m:r>
                            </m:sub>
                          </m:sSub>
                          <m:r>
                            <a:rPr lang="en-US" altLang="zh-TW" b="1" i="1">
                              <a:latin typeface="Cambria Math" panose="02040503050406030204" pitchFamily="18" charset="0"/>
                              <a:ea typeface="新細明體" panose="02020500000000000000" pitchFamily="18" charset="-120"/>
                              <a:cs typeface="Times New Roman" panose="02020603050405020304" pitchFamily="18" charset="0"/>
                            </a:rPr>
                            <m:t>,</m:t>
                          </m:r>
                          <m:sSub>
                            <m:sSubPr>
                              <m:ctrlPr>
                                <a:rPr lang="zh-TW" altLang="zh-TW" b="1" i="1">
                                  <a:latin typeface="Cambria Math" panose="02040503050406030204" pitchFamily="18" charset="0"/>
                                  <a:ea typeface="Cambria Math" panose="02040503050406030204" pitchFamily="18" charset="0"/>
                                </a:rPr>
                              </m:ctrlPr>
                            </m:sSubPr>
                            <m:e>
                              <m:r>
                                <a:rPr lang="en-US" altLang="zh-TW" b="1" i="1">
                                  <a:latin typeface="Cambria Math" panose="02040503050406030204" pitchFamily="18" charset="0"/>
                                  <a:ea typeface="新細明體" panose="02020500000000000000" pitchFamily="18" charset="-120"/>
                                  <a:cs typeface="Times New Roman" panose="02020603050405020304" pitchFamily="18" charset="0"/>
                                </a:rPr>
                                <m:t>𝚺</m:t>
                              </m:r>
                            </m:e>
                            <m:sub>
                              <m:r>
                                <a:rPr lang="en-US" altLang="zh-TW" i="1">
                                  <a:latin typeface="Cambria Math" panose="02040503050406030204" pitchFamily="18" charset="0"/>
                                  <a:ea typeface="新細明體" panose="02020500000000000000" pitchFamily="18" charset="-120"/>
                                  <a:cs typeface="Times New Roman" panose="02020603050405020304" pitchFamily="18" charset="0"/>
                                </a:rPr>
                                <m:t>3</m:t>
                              </m:r>
                            </m:sub>
                          </m:sSub>
                        </m:e>
                      </m:d>
                    </m:oMath>
                  </m:oMathPara>
                </a14:m>
                <a:endParaRPr lang="zh-TW" altLang="en-US" dirty="0"/>
              </a:p>
            </p:txBody>
          </p:sp>
        </mc:Choice>
        <mc:Fallback xmlns="">
          <p:sp>
            <p:nvSpPr>
              <p:cNvPr id="7" name="矩形 6"/>
              <p:cNvSpPr>
                <a:spLocks noRot="1" noChangeAspect="1" noMove="1" noResize="1" noEditPoints="1" noAdjustHandles="1" noChangeArrowheads="1" noChangeShapeType="1" noTextEdit="1"/>
              </p:cNvSpPr>
              <p:nvPr/>
            </p:nvSpPr>
            <p:spPr>
              <a:xfrm>
                <a:off x="6899813" y="2994097"/>
                <a:ext cx="1469248" cy="646331"/>
              </a:xfrm>
              <a:prstGeom prst="rect">
                <a:avLst/>
              </a:prstGeom>
              <a:blipFill>
                <a:blip r:embed="rId8"/>
                <a:stretch>
                  <a:fillRect b="-7547"/>
                </a:stretch>
              </a:blipFill>
            </p:spPr>
            <p:txBody>
              <a:bodyPr/>
              <a:lstStyle/>
              <a:p>
                <a:r>
                  <a:rPr lang="en-US">
                    <a:noFill/>
                  </a:rPr>
                  <a:t> </a:t>
                </a:r>
              </a:p>
            </p:txBody>
          </p:sp>
        </mc:Fallback>
      </mc:AlternateContent>
      <p:cxnSp>
        <p:nvCxnSpPr>
          <p:cNvPr id="8" name="直線單箭頭接點 7"/>
          <p:cNvCxnSpPr>
            <a:endCxn id="5" idx="0"/>
          </p:cNvCxnSpPr>
          <p:nvPr/>
        </p:nvCxnSpPr>
        <p:spPr bwMode="auto">
          <a:xfrm flipH="1">
            <a:off x="4789614" y="2624328"/>
            <a:ext cx="693620" cy="34709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 name="直線單箭頭接點 8"/>
          <p:cNvCxnSpPr>
            <a:endCxn id="6" idx="0"/>
          </p:cNvCxnSpPr>
          <p:nvPr/>
        </p:nvCxnSpPr>
        <p:spPr bwMode="auto">
          <a:xfrm flipH="1">
            <a:off x="6208854" y="2618598"/>
            <a:ext cx="91582" cy="37549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 name="直線單箭頭接點 9"/>
          <p:cNvCxnSpPr>
            <a:endCxn id="7" idx="0"/>
          </p:cNvCxnSpPr>
          <p:nvPr/>
        </p:nvCxnSpPr>
        <p:spPr bwMode="auto">
          <a:xfrm>
            <a:off x="6899813" y="2544852"/>
            <a:ext cx="734624" cy="4492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3" name="直線單箭頭接點 12"/>
          <p:cNvCxnSpPr/>
          <p:nvPr/>
        </p:nvCxnSpPr>
        <p:spPr bwMode="auto">
          <a:xfrm flipH="1">
            <a:off x="6890760" y="1268730"/>
            <a:ext cx="645421" cy="218238"/>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14" name="矩形 13"/>
              <p:cNvSpPr/>
              <p:nvPr/>
            </p:nvSpPr>
            <p:spPr>
              <a:xfrm>
                <a:off x="7460203" y="1056822"/>
                <a:ext cx="2862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TW" altLang="en-US" i="1">
                          <a:solidFill>
                            <a:srgbClr val="C00000"/>
                          </a:solidFill>
                          <a:latin typeface="Cambria Math" panose="02040503050406030204" pitchFamily="18" charset="0"/>
                        </a:rPr>
                        <m:t>𝜃</m:t>
                      </m:r>
                      <m:r>
                        <a:rPr lang="zh-TW" altLang="en-US">
                          <a:solidFill>
                            <a:srgbClr val="C00000"/>
                          </a:solidFill>
                          <a:latin typeface="Cambria Math" panose="02040503050406030204" pitchFamily="18" charset="0"/>
                        </a:rPr>
                        <m:t>=</m:t>
                      </m:r>
                      <m:d>
                        <m:dPr>
                          <m:begChr m:val="{"/>
                          <m:endChr m:val="}"/>
                          <m:ctrlPr>
                            <a:rPr lang="zh-TW" altLang="en-US" i="1">
                              <a:solidFill>
                                <a:srgbClr val="C00000"/>
                              </a:solidFill>
                              <a:latin typeface="Cambria Math" panose="02040503050406030204" pitchFamily="18" charset="0"/>
                            </a:rPr>
                          </m:ctrlPr>
                        </m:dPr>
                        <m:e>
                          <m:sSub>
                            <m:sSubPr>
                              <m:ctrlPr>
                                <a:rPr lang="zh-TW" altLang="en-US" i="1">
                                  <a:solidFill>
                                    <a:srgbClr val="C00000"/>
                                  </a:solidFill>
                                  <a:latin typeface="Cambria Math" panose="02040503050406030204" pitchFamily="18" charset="0"/>
                                </a:rPr>
                              </m:ctrlPr>
                            </m:sSubPr>
                            <m:e>
                              <m:r>
                                <a:rPr lang="zh-TW" altLang="en-US" i="1">
                                  <a:solidFill>
                                    <a:srgbClr val="C00000"/>
                                  </a:solidFill>
                                  <a:latin typeface="Cambria Math" panose="02040503050406030204" pitchFamily="18" charset="0"/>
                                </a:rPr>
                                <m:t>𝑤</m:t>
                              </m:r>
                            </m:e>
                            <m:sub>
                              <m:r>
                                <a:rPr lang="zh-TW" altLang="en-US" i="1">
                                  <a:solidFill>
                                    <a:srgbClr val="C00000"/>
                                  </a:solidFill>
                                  <a:latin typeface="Cambria Math" panose="02040503050406030204" pitchFamily="18" charset="0"/>
                                </a:rPr>
                                <m:t>𝑖</m:t>
                              </m:r>
                            </m:sub>
                          </m:sSub>
                          <m:r>
                            <a:rPr lang="zh-TW" altLang="en-US">
                              <a:solidFill>
                                <a:srgbClr val="C00000"/>
                              </a:solidFill>
                              <a:latin typeface="Cambria Math" panose="02040503050406030204" pitchFamily="18" charset="0"/>
                            </a:rPr>
                            <m:t>,</m:t>
                          </m:r>
                          <m:sSub>
                            <m:sSubPr>
                              <m:ctrlPr>
                                <a:rPr lang="zh-TW" altLang="en-US" i="1">
                                  <a:solidFill>
                                    <a:srgbClr val="C00000"/>
                                  </a:solidFill>
                                  <a:latin typeface="Cambria Math" panose="02040503050406030204" pitchFamily="18" charset="0"/>
                                </a:rPr>
                              </m:ctrlPr>
                            </m:sSubPr>
                            <m:e>
                              <m:acc>
                                <m:accPr>
                                  <m:chr m:val="⃗"/>
                                  <m:ctrlPr>
                                    <a:rPr lang="zh-TW" altLang="en-US" i="1">
                                      <a:solidFill>
                                        <a:srgbClr val="C00000"/>
                                      </a:solidFill>
                                      <a:latin typeface="Cambria Math" panose="02040503050406030204" pitchFamily="18" charset="0"/>
                                    </a:rPr>
                                  </m:ctrlPr>
                                </m:accPr>
                                <m:e>
                                  <m:r>
                                    <a:rPr lang="zh-TW" altLang="en-US" i="1">
                                      <a:solidFill>
                                        <a:srgbClr val="C00000"/>
                                      </a:solidFill>
                                      <a:latin typeface="Cambria Math" panose="02040503050406030204" pitchFamily="18" charset="0"/>
                                    </a:rPr>
                                    <m:t>𝜇</m:t>
                                  </m:r>
                                </m:e>
                              </m:acc>
                            </m:e>
                            <m:sub>
                              <m:r>
                                <a:rPr lang="zh-TW" altLang="en-US" i="1">
                                  <a:solidFill>
                                    <a:srgbClr val="C00000"/>
                                  </a:solidFill>
                                  <a:latin typeface="Cambria Math" panose="02040503050406030204" pitchFamily="18" charset="0"/>
                                </a:rPr>
                                <m:t>𝑖</m:t>
                              </m:r>
                            </m:sub>
                          </m:sSub>
                          <m:r>
                            <a:rPr lang="zh-TW" altLang="en-US">
                              <a:solidFill>
                                <a:srgbClr val="C00000"/>
                              </a:solidFill>
                              <a:latin typeface="Cambria Math" panose="02040503050406030204" pitchFamily="18" charset="0"/>
                            </a:rPr>
                            <m:t>,</m:t>
                          </m:r>
                          <m:sSub>
                            <m:sSubPr>
                              <m:ctrlPr>
                                <a:rPr lang="zh-TW" altLang="en-US" i="1">
                                  <a:solidFill>
                                    <a:srgbClr val="C00000"/>
                                  </a:solidFill>
                                  <a:latin typeface="Cambria Math" panose="02040503050406030204" pitchFamily="18" charset="0"/>
                                </a:rPr>
                              </m:ctrlPr>
                            </m:sSubPr>
                            <m:e>
                              <m:r>
                                <m:rPr>
                                  <m:sty m:val="p"/>
                                </m:rPr>
                                <a:rPr lang="zh-TW" altLang="en-US">
                                  <a:solidFill>
                                    <a:srgbClr val="C00000"/>
                                  </a:solidFill>
                                  <a:latin typeface="Cambria Math" panose="02040503050406030204" pitchFamily="18" charset="0"/>
                                </a:rPr>
                                <m:t>Σ</m:t>
                              </m:r>
                            </m:e>
                            <m:sub>
                              <m:r>
                                <a:rPr lang="zh-TW" altLang="en-US" i="1">
                                  <a:solidFill>
                                    <a:srgbClr val="C00000"/>
                                  </a:solidFill>
                                  <a:latin typeface="Cambria Math" panose="02040503050406030204" pitchFamily="18" charset="0"/>
                                </a:rPr>
                                <m:t>𝑖</m:t>
                              </m:r>
                            </m:sub>
                          </m:sSub>
                        </m:e>
                      </m:d>
                      <m:r>
                        <a:rPr lang="zh-TW" altLang="en-US">
                          <a:solidFill>
                            <a:srgbClr val="C00000"/>
                          </a:solidFill>
                          <a:latin typeface="Cambria Math" panose="02040503050406030204" pitchFamily="18" charset="0"/>
                        </a:rPr>
                        <m:t>, </m:t>
                      </m:r>
                      <m:r>
                        <a:rPr lang="zh-TW" altLang="en-US" i="1">
                          <a:solidFill>
                            <a:srgbClr val="C00000"/>
                          </a:solidFill>
                          <a:latin typeface="Cambria Math" panose="02040503050406030204" pitchFamily="18" charset="0"/>
                        </a:rPr>
                        <m:t>𝑖</m:t>
                      </m:r>
                      <m:r>
                        <a:rPr lang="zh-TW" altLang="en-US">
                          <a:solidFill>
                            <a:srgbClr val="C00000"/>
                          </a:solidFill>
                          <a:latin typeface="Cambria Math" panose="02040503050406030204" pitchFamily="18" charset="0"/>
                        </a:rPr>
                        <m:t>=1,…,</m:t>
                      </m:r>
                      <m:r>
                        <a:rPr lang="en-US" altLang="zh-TW" i="1">
                          <a:solidFill>
                            <a:srgbClr val="C00000"/>
                          </a:solidFill>
                          <a:latin typeface="Cambria Math" panose="02040503050406030204" pitchFamily="18" charset="0"/>
                        </a:rPr>
                        <m:t>3</m:t>
                      </m:r>
                    </m:oMath>
                  </m:oMathPara>
                </a14:m>
                <a:endParaRPr lang="zh-TW" altLang="en-US" dirty="0">
                  <a:solidFill>
                    <a:srgbClr val="C00000"/>
                  </a:solidFill>
                </a:endParaRPr>
              </a:p>
            </p:txBody>
          </p:sp>
        </mc:Choice>
        <mc:Fallback xmlns="">
          <p:sp>
            <p:nvSpPr>
              <p:cNvPr id="14" name="矩形 13"/>
              <p:cNvSpPr>
                <a:spLocks noRot="1" noChangeAspect="1" noMove="1" noResize="1" noEditPoints="1" noAdjustHandles="1" noChangeArrowheads="1" noChangeShapeType="1" noTextEdit="1"/>
              </p:cNvSpPr>
              <p:nvPr/>
            </p:nvSpPr>
            <p:spPr>
              <a:xfrm>
                <a:off x="7460203" y="1056822"/>
                <a:ext cx="2862771" cy="369332"/>
              </a:xfrm>
              <a:prstGeom prst="rect">
                <a:avLst/>
              </a:prstGeom>
              <a:blipFill>
                <a:blip r:embed="rId9"/>
                <a:stretch>
                  <a:fillRect t="-22951" b="-3279"/>
                </a:stretch>
              </a:blipFill>
            </p:spPr>
            <p:txBody>
              <a:bodyPr/>
              <a:lstStyle/>
              <a:p>
                <a:r>
                  <a:rPr lang="en-US">
                    <a:noFill/>
                  </a:rPr>
                  <a:t> </a:t>
                </a:r>
              </a:p>
            </p:txBody>
          </p:sp>
        </mc:Fallback>
      </mc:AlternateContent>
      <p:pic>
        <p:nvPicPr>
          <p:cNvPr id="16" name="圖片 15"/>
          <p:cNvPicPr>
            <a:picLocks noChangeAspect="1"/>
          </p:cNvPicPr>
          <p:nvPr/>
        </p:nvPicPr>
        <p:blipFill>
          <a:blip r:embed="rId10"/>
          <a:stretch>
            <a:fillRect/>
          </a:stretch>
        </p:blipFill>
        <p:spPr>
          <a:xfrm>
            <a:off x="3247163" y="4182196"/>
            <a:ext cx="5761074" cy="686985"/>
          </a:xfrm>
          <a:prstGeom prst="rect">
            <a:avLst/>
          </a:prstGeom>
        </p:spPr>
      </p:pic>
      <p:pic>
        <p:nvPicPr>
          <p:cNvPr id="17" name="圖片 16"/>
          <p:cNvPicPr>
            <a:picLocks noChangeAspect="1"/>
          </p:cNvPicPr>
          <p:nvPr/>
        </p:nvPicPr>
        <p:blipFill>
          <a:blip r:embed="rId11"/>
          <a:stretch>
            <a:fillRect/>
          </a:stretch>
        </p:blipFill>
        <p:spPr>
          <a:xfrm>
            <a:off x="4424974" y="5474163"/>
            <a:ext cx="5761074" cy="686985"/>
          </a:xfrm>
          <a:prstGeom prst="rect">
            <a:avLst/>
          </a:prstGeom>
        </p:spPr>
      </p:pic>
      <p:sp>
        <p:nvSpPr>
          <p:cNvPr id="18" name="Content Placeholder 2"/>
          <p:cNvSpPr txBox="1">
            <a:spLocks/>
          </p:cNvSpPr>
          <p:nvPr/>
        </p:nvSpPr>
        <p:spPr>
          <a:xfrm>
            <a:off x="8775274" y="1668678"/>
            <a:ext cx="3111925" cy="876174"/>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en-US" sz="1600" i="1" dirty="0"/>
              <a:t>form new distribution (red line) by combining three Gaussian distribution (blue line)</a:t>
            </a:r>
          </a:p>
        </p:txBody>
      </p:sp>
    </p:spTree>
    <p:custDataLst>
      <p:tags r:id="rId1"/>
    </p:custDataLst>
    <p:extLst>
      <p:ext uri="{BB962C8B-B14F-4D97-AF65-F5344CB8AC3E}">
        <p14:creationId xmlns:p14="http://schemas.microsoft.com/office/powerpoint/2010/main" val="776051062"/>
      </p:ext>
    </p:extLst>
  </p:cSld>
  <p:clrMapOvr>
    <a:masterClrMapping/>
  </p:clrMapOvr>
  <mc:AlternateContent xmlns:mc="http://schemas.openxmlformats.org/markup-compatibility/2006" xmlns:p14="http://schemas.microsoft.com/office/powerpoint/2010/main">
    <mc:Choice Requires="p14">
      <p:transition spd="slow" p14:dur="2000" advTm="40746"/>
    </mc:Choice>
    <mc:Fallback xmlns="">
      <p:transition spd="slow" advTm="4074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1">
                                            <p:txEl>
                                              <p:pRg st="0" end="0"/>
                                            </p:txEl>
                                          </p:spTgt>
                                        </p:tgtEl>
                                        <p:attrNameLst>
                                          <p:attrName>style.visibility</p:attrName>
                                        </p:attrNameLst>
                                      </p:cBhvr>
                                      <p:to>
                                        <p:strVal val="visible"/>
                                      </p:to>
                                    </p:set>
                                    <p:animEffect transition="in" filter="fade">
                                      <p:cBhvr>
                                        <p:cTn id="56" dur="500"/>
                                        <p:tgtEl>
                                          <p:spTgt spid="11">
                                            <p:txEl>
                                              <p:pRg st="0" end="0"/>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00"/>
                                        <p:tgtEl>
                                          <p:spTgt spid="16"/>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1">
                                            <p:txEl>
                                              <p:pRg st="3" end="3"/>
                                            </p:txEl>
                                          </p:spTgt>
                                        </p:tgtEl>
                                        <p:attrNameLst>
                                          <p:attrName>style.visibility</p:attrName>
                                        </p:attrNameLst>
                                      </p:cBhvr>
                                      <p:to>
                                        <p:strVal val="visible"/>
                                      </p:to>
                                    </p:set>
                                    <p:animEffect transition="in" filter="fade">
                                      <p:cBhvr>
                                        <p:cTn id="66" dur="500"/>
                                        <p:tgtEl>
                                          <p:spTgt spid="11">
                                            <p:txEl>
                                              <p:pRg st="3" end="3"/>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4" grpId="0"/>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apply GMM (</a:t>
            </a:r>
            <a:r>
              <a:rPr lang="en-US" dirty="0" err="1"/>
              <a:t>matlab</a:t>
            </a:r>
            <a:r>
              <a:rPr lang="en-US" dirty="0"/>
              <a:t>)</a:t>
            </a:r>
          </a:p>
        </p:txBody>
      </p:sp>
      <p:sp>
        <p:nvSpPr>
          <p:cNvPr id="4" name="Slide Number Placeholder 3"/>
          <p:cNvSpPr>
            <a:spLocks noGrp="1"/>
          </p:cNvSpPr>
          <p:nvPr>
            <p:ph type="sldNum" sz="quarter" idx="12"/>
          </p:nvPr>
        </p:nvSpPr>
        <p:spPr/>
        <p:txBody>
          <a:bodyPr/>
          <a:lstStyle/>
          <a:p>
            <a:fld id="{58370351-947A-4E07-9670-11236DD68188}" type="slidenum">
              <a:rPr lang="zh-TW" altLang="en-US" smtClean="0"/>
              <a:t>15</a:t>
            </a:fld>
            <a:endParaRPr lang="zh-TW" altLang="en-US"/>
          </a:p>
        </p:txBody>
      </p:sp>
      <p:sp>
        <p:nvSpPr>
          <p:cNvPr id="5" name="Flowchart: Data 4"/>
          <p:cNvSpPr/>
          <p:nvPr/>
        </p:nvSpPr>
        <p:spPr>
          <a:xfrm>
            <a:off x="4000353" y="1954947"/>
            <a:ext cx="1440185" cy="407175"/>
          </a:xfrm>
          <a:prstGeom prst="flowChartInputOutput">
            <a:avLst/>
          </a:prstGeom>
          <a:ln w="19050"/>
        </p:spPr>
        <p:style>
          <a:lnRef idx="2">
            <a:schemeClr val="dk1"/>
          </a:lnRef>
          <a:fillRef idx="1">
            <a:schemeClr val="lt1"/>
          </a:fillRef>
          <a:effectRef idx="0">
            <a:schemeClr val="dk1"/>
          </a:effectRef>
          <a:fontRef idx="minor">
            <a:schemeClr val="dk1"/>
          </a:fontRef>
        </p:style>
        <p:txBody>
          <a:bodyPr rtlCol="0" anchor="ctr">
            <a:normAutofit/>
          </a:bodyPr>
          <a:lstStyle/>
          <a:p>
            <a:pPr algn="ctr"/>
            <a:r>
              <a:rPr lang="en-US" altLang="zh-TW" sz="1400" dirty="0">
                <a:solidFill>
                  <a:schemeClr val="tx1"/>
                </a:solidFill>
              </a:rPr>
              <a:t>Signal</a:t>
            </a:r>
          </a:p>
          <a:p>
            <a:pPr algn="ctr"/>
            <a:endParaRPr lang="zh-TW" altLang="en-US" sz="1400" dirty="0">
              <a:solidFill>
                <a:schemeClr val="tx1"/>
              </a:solidFill>
            </a:endParaRPr>
          </a:p>
        </p:txBody>
      </p:sp>
      <p:sp>
        <p:nvSpPr>
          <p:cNvPr id="6" name="Flowchart: Data 5"/>
          <p:cNvSpPr/>
          <p:nvPr/>
        </p:nvSpPr>
        <p:spPr>
          <a:xfrm>
            <a:off x="5390577" y="1972614"/>
            <a:ext cx="1440185" cy="407175"/>
          </a:xfrm>
          <a:prstGeom prst="flowChartInputOutput">
            <a:avLst/>
          </a:prstGeom>
          <a:ln w="19050"/>
        </p:spPr>
        <p:style>
          <a:lnRef idx="2">
            <a:schemeClr val="dk1"/>
          </a:lnRef>
          <a:fillRef idx="1">
            <a:schemeClr val="lt1"/>
          </a:fillRef>
          <a:effectRef idx="0">
            <a:schemeClr val="dk1"/>
          </a:effectRef>
          <a:fontRef idx="minor">
            <a:schemeClr val="dk1"/>
          </a:fontRef>
        </p:style>
        <p:txBody>
          <a:bodyPr rtlCol="0" anchor="ctr">
            <a:normAutofit/>
          </a:bodyPr>
          <a:lstStyle/>
          <a:p>
            <a:pPr algn="ctr"/>
            <a:r>
              <a:rPr lang="en-US" altLang="zh-TW" sz="1400" dirty="0" err="1">
                <a:solidFill>
                  <a:schemeClr val="tx1"/>
                </a:solidFill>
              </a:rPr>
              <a:t>cNum</a:t>
            </a:r>
            <a:endParaRPr lang="zh-TW" altLang="en-US" sz="1400" dirty="0">
              <a:solidFill>
                <a:schemeClr val="tx1"/>
              </a:solidFill>
            </a:endParaRPr>
          </a:p>
        </p:txBody>
      </p:sp>
      <p:sp>
        <p:nvSpPr>
          <p:cNvPr id="7" name="Flowchart: Process 6"/>
          <p:cNvSpPr/>
          <p:nvPr/>
        </p:nvSpPr>
        <p:spPr>
          <a:xfrm>
            <a:off x="4572173" y="3796133"/>
            <a:ext cx="1538495" cy="477671"/>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err="1"/>
              <a:t>kMeans</a:t>
            </a:r>
            <a:endParaRPr lang="en-US" sz="1200" dirty="0"/>
          </a:p>
        </p:txBody>
      </p:sp>
      <p:sp>
        <p:nvSpPr>
          <p:cNvPr id="8" name="Flowchart: Process 7"/>
          <p:cNvSpPr/>
          <p:nvPr/>
        </p:nvSpPr>
        <p:spPr>
          <a:xfrm>
            <a:off x="4572173" y="4512640"/>
            <a:ext cx="1538495" cy="477671"/>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err="1"/>
              <a:t>gmDistribution.fit</a:t>
            </a:r>
            <a:endParaRPr lang="en-US" sz="1200" dirty="0"/>
          </a:p>
        </p:txBody>
      </p:sp>
      <p:sp>
        <p:nvSpPr>
          <p:cNvPr id="10" name="Flowchart: Data 9"/>
          <p:cNvSpPr/>
          <p:nvPr/>
        </p:nvSpPr>
        <p:spPr>
          <a:xfrm>
            <a:off x="4545337" y="5258264"/>
            <a:ext cx="1592165" cy="391915"/>
          </a:xfrm>
          <a:prstGeom prst="flowChartInputOutput">
            <a:avLst/>
          </a:prstGeom>
          <a:ln w="19050"/>
        </p:spPr>
        <p:style>
          <a:lnRef idx="2">
            <a:schemeClr val="dk1"/>
          </a:lnRef>
          <a:fillRef idx="1">
            <a:schemeClr val="lt1"/>
          </a:fillRef>
          <a:effectRef idx="0">
            <a:schemeClr val="dk1"/>
          </a:effectRef>
          <a:fontRef idx="minor">
            <a:schemeClr val="dk1"/>
          </a:fontRef>
        </p:style>
        <p:txBody>
          <a:bodyPr rtlCol="0" anchor="ctr">
            <a:normAutofit/>
          </a:bodyPr>
          <a:lstStyle/>
          <a:p>
            <a:pPr algn="ctr"/>
            <a:r>
              <a:rPr lang="en-US" altLang="zh-TW" sz="1400" dirty="0" err="1">
                <a:solidFill>
                  <a:schemeClr val="tx1"/>
                </a:solidFill>
              </a:rPr>
              <a:t>llh</a:t>
            </a:r>
            <a:r>
              <a:rPr lang="en-US" altLang="zh-TW" sz="1400" dirty="0">
                <a:solidFill>
                  <a:schemeClr val="tx1"/>
                </a:solidFill>
              </a:rPr>
              <a:t>/pp</a:t>
            </a:r>
          </a:p>
        </p:txBody>
      </p:sp>
      <p:cxnSp>
        <p:nvCxnSpPr>
          <p:cNvPr id="12" name="Elbow Connector 11"/>
          <p:cNvCxnSpPr>
            <a:stCxn id="5" idx="4"/>
            <a:endCxn id="24" idx="0"/>
          </p:cNvCxnSpPr>
          <p:nvPr/>
        </p:nvCxnSpPr>
        <p:spPr>
          <a:xfrm rot="16200000" flipH="1">
            <a:off x="4723056" y="2359511"/>
            <a:ext cx="615754" cy="62097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p:cNvCxnSpPr>
            <a:stCxn id="6" idx="3"/>
            <a:endCxn id="24" idx="0"/>
          </p:cNvCxnSpPr>
          <p:nvPr/>
        </p:nvCxnSpPr>
        <p:spPr>
          <a:xfrm rot="5400000">
            <a:off x="5354993" y="2366217"/>
            <a:ext cx="598087" cy="62523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7" idx="2"/>
            <a:endCxn id="8" idx="0"/>
          </p:cNvCxnSpPr>
          <p:nvPr/>
        </p:nvCxnSpPr>
        <p:spPr>
          <a:xfrm>
            <a:off x="5341421" y="4273804"/>
            <a:ext cx="0" cy="238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469213" y="3804135"/>
            <a:ext cx="2825087" cy="461665"/>
          </a:xfrm>
          <a:prstGeom prst="rect">
            <a:avLst/>
          </a:prstGeom>
          <a:noFill/>
        </p:spPr>
        <p:txBody>
          <a:bodyPr wrap="square" rtlCol="0">
            <a:spAutoFit/>
          </a:bodyPr>
          <a:lstStyle/>
          <a:p>
            <a:r>
              <a:rPr lang="en-US" sz="1200" dirty="0"/>
              <a:t>Partitions points in data matrix into k cluster</a:t>
            </a:r>
          </a:p>
        </p:txBody>
      </p:sp>
      <p:sp>
        <p:nvSpPr>
          <p:cNvPr id="19" name="TextBox 18"/>
          <p:cNvSpPr txBox="1"/>
          <p:nvPr/>
        </p:nvSpPr>
        <p:spPr>
          <a:xfrm>
            <a:off x="6469213" y="4528646"/>
            <a:ext cx="2825087" cy="461665"/>
          </a:xfrm>
          <a:prstGeom prst="rect">
            <a:avLst/>
          </a:prstGeom>
          <a:noFill/>
        </p:spPr>
        <p:txBody>
          <a:bodyPr wrap="square" rtlCol="0">
            <a:spAutoFit/>
          </a:bodyPr>
          <a:lstStyle/>
          <a:p>
            <a:r>
              <a:rPr lang="en-US" sz="1200" dirty="0"/>
              <a:t>consist of a mixture of one or more multivariate Gaussian distribution</a:t>
            </a:r>
          </a:p>
        </p:txBody>
      </p:sp>
      <p:cxnSp>
        <p:nvCxnSpPr>
          <p:cNvPr id="21" name="Straight Arrow Connector 20"/>
          <p:cNvCxnSpPr>
            <a:stCxn id="8" idx="2"/>
            <a:endCxn id="10" idx="1"/>
          </p:cNvCxnSpPr>
          <p:nvPr/>
        </p:nvCxnSpPr>
        <p:spPr>
          <a:xfrm flipH="1">
            <a:off x="5341420" y="4990311"/>
            <a:ext cx="1" cy="2679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6469213" y="5419346"/>
            <a:ext cx="2825087" cy="461665"/>
          </a:xfrm>
          <a:prstGeom prst="rect">
            <a:avLst/>
          </a:prstGeom>
          <a:noFill/>
        </p:spPr>
        <p:txBody>
          <a:bodyPr wrap="square" rtlCol="0">
            <a:spAutoFit/>
          </a:bodyPr>
          <a:lstStyle/>
          <a:p>
            <a:r>
              <a:rPr lang="en-US" sz="1200" dirty="0"/>
              <a:t>Log-likelihood and/or posterior probability value, depend on </a:t>
            </a:r>
          </a:p>
        </p:txBody>
      </p:sp>
      <p:sp>
        <p:nvSpPr>
          <p:cNvPr id="24" name="Flowchart: Process 23"/>
          <p:cNvSpPr/>
          <p:nvPr/>
        </p:nvSpPr>
        <p:spPr>
          <a:xfrm>
            <a:off x="4572173" y="2977876"/>
            <a:ext cx="1538495" cy="477671"/>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Combine region</a:t>
            </a:r>
          </a:p>
        </p:txBody>
      </p:sp>
      <p:cxnSp>
        <p:nvCxnSpPr>
          <p:cNvPr id="30" name="Straight Arrow Connector 29"/>
          <p:cNvCxnSpPr>
            <a:stCxn id="24" idx="2"/>
            <a:endCxn id="7" idx="0"/>
          </p:cNvCxnSpPr>
          <p:nvPr/>
        </p:nvCxnSpPr>
        <p:spPr>
          <a:xfrm>
            <a:off x="5341421" y="3455547"/>
            <a:ext cx="0" cy="3405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469213" y="2980215"/>
            <a:ext cx="3410803" cy="461665"/>
          </a:xfrm>
          <a:prstGeom prst="rect">
            <a:avLst/>
          </a:prstGeom>
          <a:noFill/>
        </p:spPr>
        <p:txBody>
          <a:bodyPr wrap="square" rtlCol="0">
            <a:spAutoFit/>
          </a:bodyPr>
          <a:lstStyle/>
          <a:p>
            <a:r>
              <a:rPr lang="en-US" sz="1200" dirty="0"/>
              <a:t>Convert the contents of a cell array into a single matrix</a:t>
            </a:r>
          </a:p>
        </p:txBody>
      </p:sp>
      <p:pic>
        <p:nvPicPr>
          <p:cNvPr id="22" name="Picture 21"/>
          <p:cNvPicPr>
            <a:picLocks noChangeAspect="1"/>
          </p:cNvPicPr>
          <p:nvPr/>
        </p:nvPicPr>
        <p:blipFill>
          <a:blip r:embed="rId3"/>
          <a:stretch>
            <a:fillRect/>
          </a:stretch>
        </p:blipFill>
        <p:spPr>
          <a:xfrm>
            <a:off x="1246567" y="1906781"/>
            <a:ext cx="1526613" cy="1233161"/>
          </a:xfrm>
          <a:prstGeom prst="rect">
            <a:avLst/>
          </a:prstGeom>
        </p:spPr>
      </p:pic>
      <p:sp>
        <p:nvSpPr>
          <p:cNvPr id="23" name="Pentagon 22"/>
          <p:cNvSpPr/>
          <p:nvPr/>
        </p:nvSpPr>
        <p:spPr>
          <a:xfrm rot="5400000">
            <a:off x="1808737" y="2839007"/>
            <a:ext cx="253600" cy="99768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p:cNvPicPr>
            <a:picLocks noChangeAspect="1"/>
          </p:cNvPicPr>
          <p:nvPr/>
        </p:nvPicPr>
        <p:blipFill>
          <a:blip r:embed="rId4"/>
          <a:stretch>
            <a:fillRect/>
          </a:stretch>
        </p:blipFill>
        <p:spPr>
          <a:xfrm>
            <a:off x="1246567" y="3536857"/>
            <a:ext cx="1526613" cy="1244272"/>
          </a:xfrm>
          <a:prstGeom prst="rect">
            <a:avLst/>
          </a:prstGeom>
        </p:spPr>
      </p:pic>
      <p:sp>
        <p:nvSpPr>
          <p:cNvPr id="27" name="Pentagon 26"/>
          <p:cNvSpPr/>
          <p:nvPr/>
        </p:nvSpPr>
        <p:spPr>
          <a:xfrm rot="5400000">
            <a:off x="1874668" y="4448202"/>
            <a:ext cx="253600" cy="99768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p:cNvGrpSpPr/>
          <p:nvPr/>
        </p:nvGrpSpPr>
        <p:grpSpPr>
          <a:xfrm>
            <a:off x="1246567" y="5126206"/>
            <a:ext cx="1526613" cy="1214633"/>
            <a:chOff x="4214852" y="1687487"/>
            <a:chExt cx="3118970" cy="2542128"/>
          </a:xfrm>
        </p:grpSpPr>
        <p:pic>
          <p:nvPicPr>
            <p:cNvPr id="31" name="Picture 30"/>
            <p:cNvPicPr>
              <a:picLocks noChangeAspect="1"/>
            </p:cNvPicPr>
            <p:nvPr/>
          </p:nvPicPr>
          <p:blipFill>
            <a:blip r:embed="rId4"/>
            <a:stretch>
              <a:fillRect/>
            </a:stretch>
          </p:blipFill>
          <p:spPr>
            <a:xfrm>
              <a:off x="4214852" y="1687487"/>
              <a:ext cx="3118970" cy="2542128"/>
            </a:xfrm>
            <a:prstGeom prst="rect">
              <a:avLst/>
            </a:prstGeom>
          </p:spPr>
        </p:pic>
        <p:sp>
          <p:nvSpPr>
            <p:cNvPr id="32" name="Oval 31"/>
            <p:cNvSpPr/>
            <p:nvPr/>
          </p:nvSpPr>
          <p:spPr>
            <a:xfrm>
              <a:off x="4437089" y="2893103"/>
              <a:ext cx="1319134" cy="989350"/>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 name="Oval 32"/>
            <p:cNvSpPr/>
            <p:nvPr/>
          </p:nvSpPr>
          <p:spPr>
            <a:xfrm>
              <a:off x="4589489" y="3045503"/>
              <a:ext cx="1016832" cy="717028"/>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Oval 33"/>
            <p:cNvSpPr/>
            <p:nvPr/>
          </p:nvSpPr>
          <p:spPr>
            <a:xfrm>
              <a:off x="4741889" y="3197903"/>
              <a:ext cx="684550" cy="414727"/>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 name="Oval 34"/>
            <p:cNvSpPr/>
            <p:nvPr/>
          </p:nvSpPr>
          <p:spPr>
            <a:xfrm rot="1751759">
              <a:off x="5148490" y="1995910"/>
              <a:ext cx="1860005" cy="1210244"/>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 name="Oval 35"/>
            <p:cNvSpPr/>
            <p:nvPr/>
          </p:nvSpPr>
          <p:spPr>
            <a:xfrm rot="1751759">
              <a:off x="5366211" y="2169929"/>
              <a:ext cx="1508683" cy="841716"/>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 name="Oval 36"/>
            <p:cNvSpPr/>
            <p:nvPr/>
          </p:nvSpPr>
          <p:spPr>
            <a:xfrm rot="1751759">
              <a:off x="5499290" y="2232689"/>
              <a:ext cx="1069685" cy="631432"/>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Tree>
    <p:custDataLst>
      <p:tags r:id="rId1"/>
    </p:custDataLst>
    <p:extLst>
      <p:ext uri="{BB962C8B-B14F-4D97-AF65-F5344CB8AC3E}">
        <p14:creationId xmlns:p14="http://schemas.microsoft.com/office/powerpoint/2010/main" val="2804253597"/>
      </p:ext>
    </p:extLst>
  </p:cSld>
  <p:clrMapOvr>
    <a:masterClrMapping/>
  </p:clrMapOvr>
  <mc:AlternateContent xmlns:mc="http://schemas.openxmlformats.org/markup-compatibility/2006" xmlns:p14="http://schemas.microsoft.com/office/powerpoint/2010/main">
    <mc:Choice Requires="p14">
      <p:transition spd="slow" p14:dur="2000" advTm="44106"/>
    </mc:Choice>
    <mc:Fallback xmlns="">
      <p:transition spd="slow" advTm="4410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610600" y="6315407"/>
            <a:ext cx="2743200" cy="365125"/>
          </a:xfrm>
        </p:spPr>
        <p:txBody>
          <a:bodyPr/>
          <a:lstStyle/>
          <a:p>
            <a:fld id="{B784A550-5AC5-4180-9019-AEC96481E030}" type="slidenum">
              <a:rPr lang="zh-TW" altLang="en-US" smtClean="0"/>
              <a:t>16</a:t>
            </a:fld>
            <a:endParaRPr lang="zh-TW" altLang="en-US"/>
          </a:p>
        </p:txBody>
      </p:sp>
      <p:graphicFrame>
        <p:nvGraphicFramePr>
          <p:cNvPr id="5" name="Table 4"/>
          <p:cNvGraphicFramePr>
            <a:graphicFrameLocks noGrp="1"/>
          </p:cNvGraphicFramePr>
          <p:nvPr>
            <p:extLst>
              <p:ext uri="{D42A27DB-BD31-4B8C-83A1-F6EECF244321}">
                <p14:modId xmlns:p14="http://schemas.microsoft.com/office/powerpoint/2010/main" val="4154723951"/>
              </p:ext>
            </p:extLst>
          </p:nvPr>
        </p:nvGraphicFramePr>
        <p:xfrm>
          <a:off x="167286" y="736979"/>
          <a:ext cx="4599482" cy="1062990"/>
        </p:xfrm>
        <a:graphic>
          <a:graphicData uri="http://schemas.openxmlformats.org/drawingml/2006/table">
            <a:tbl>
              <a:tblPr>
                <a:tableStyleId>{5C22544A-7EE6-4342-B048-85BDC9FD1C3A}</a:tableStyleId>
              </a:tblPr>
              <a:tblGrid>
                <a:gridCol w="472844">
                  <a:extLst>
                    <a:ext uri="{9D8B030D-6E8A-4147-A177-3AD203B41FA5}">
                      <a16:colId xmlns:a16="http://schemas.microsoft.com/office/drawing/2014/main" val="1482423230"/>
                    </a:ext>
                  </a:extLst>
                </a:gridCol>
                <a:gridCol w="687773">
                  <a:extLst>
                    <a:ext uri="{9D8B030D-6E8A-4147-A177-3AD203B41FA5}">
                      <a16:colId xmlns:a16="http://schemas.microsoft.com/office/drawing/2014/main" val="3478280618"/>
                    </a:ext>
                  </a:extLst>
                </a:gridCol>
                <a:gridCol w="687773">
                  <a:extLst>
                    <a:ext uri="{9D8B030D-6E8A-4147-A177-3AD203B41FA5}">
                      <a16:colId xmlns:a16="http://schemas.microsoft.com/office/drawing/2014/main" val="2251944593"/>
                    </a:ext>
                  </a:extLst>
                </a:gridCol>
                <a:gridCol w="687773">
                  <a:extLst>
                    <a:ext uri="{9D8B030D-6E8A-4147-A177-3AD203B41FA5}">
                      <a16:colId xmlns:a16="http://schemas.microsoft.com/office/drawing/2014/main" val="1658301197"/>
                    </a:ext>
                  </a:extLst>
                </a:gridCol>
                <a:gridCol w="687773">
                  <a:extLst>
                    <a:ext uri="{9D8B030D-6E8A-4147-A177-3AD203B41FA5}">
                      <a16:colId xmlns:a16="http://schemas.microsoft.com/office/drawing/2014/main" val="194470321"/>
                    </a:ext>
                  </a:extLst>
                </a:gridCol>
                <a:gridCol w="687773">
                  <a:extLst>
                    <a:ext uri="{9D8B030D-6E8A-4147-A177-3AD203B41FA5}">
                      <a16:colId xmlns:a16="http://schemas.microsoft.com/office/drawing/2014/main" val="3405432256"/>
                    </a:ext>
                  </a:extLst>
                </a:gridCol>
                <a:gridCol w="687773">
                  <a:extLst>
                    <a:ext uri="{9D8B030D-6E8A-4147-A177-3AD203B41FA5}">
                      <a16:colId xmlns:a16="http://schemas.microsoft.com/office/drawing/2014/main" val="2439395741"/>
                    </a:ext>
                  </a:extLst>
                </a:gridCol>
              </a:tblGrid>
              <a:tr h="161962">
                <a:tc>
                  <a:txBody>
                    <a:bodyPr/>
                    <a:lstStyle/>
                    <a:p>
                      <a:pPr algn="l" fontAlgn="b"/>
                      <a:r>
                        <a:rPr lang="en-US" sz="1100" u="none" strike="noStrike">
                          <a:effectLst/>
                        </a:rPr>
                        <a:t>region</a:t>
                      </a:r>
                      <a:endParaRPr lang="en-US" sz="1100" b="0" i="0" u="none" strike="noStrike">
                        <a:solidFill>
                          <a:srgbClr val="000000"/>
                        </a:solidFill>
                        <a:effectLst/>
                        <a:latin typeface="Calibri" panose="020F0502020204030204" pitchFamily="34" charset="0"/>
                      </a:endParaRPr>
                    </a:p>
                  </a:txBody>
                  <a:tcPr marL="9525" marR="9525" marT="9525" marB="0" anchor="b"/>
                </a:tc>
                <a:tc gridSpan="6">
                  <a:txBody>
                    <a:bodyPr/>
                    <a:lstStyle/>
                    <a:p>
                      <a:pPr algn="ctr" fontAlgn="b"/>
                      <a:r>
                        <a:rPr lang="en-US" sz="1100" u="none" strike="noStrike">
                          <a:effectLst/>
                        </a:rPr>
                        <a:t>700 - 900 (data captured)</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2022896"/>
                  </a:ext>
                </a:extLst>
              </a:tr>
              <a:tr h="161962">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3.5378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3.5378</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3.614396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3.614396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3.623971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60311395"/>
                  </a:ext>
                </a:extLst>
              </a:tr>
              <a:tr h="161962">
                <a:tc>
                  <a:txBody>
                    <a:bodyPr/>
                    <a:lstStyle/>
                    <a:p>
                      <a:pPr algn="r" fontAlgn="b"/>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1.680335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1.680335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1.680335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1.680335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1.680335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79141292"/>
                  </a:ext>
                </a:extLst>
              </a:tr>
              <a:tr h="161962">
                <a:tc>
                  <a:txBody>
                    <a:bodyPr/>
                    <a:lstStyle/>
                    <a:p>
                      <a:pPr algn="r" fontAlgn="b"/>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3.317585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3.365458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3.375032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3.375032</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3.422905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89021138"/>
                  </a:ext>
                </a:extLst>
              </a:tr>
              <a:tr h="161962">
                <a:tc>
                  <a:txBody>
                    <a:bodyPr/>
                    <a:lstStyle/>
                    <a:p>
                      <a:pPr algn="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34064920"/>
                  </a:ext>
                </a:extLst>
              </a:tr>
              <a:tr h="161962">
                <a:tc>
                  <a:txBody>
                    <a:bodyPr/>
                    <a:lstStyle/>
                    <a:p>
                      <a:pPr algn="r" fontAlgn="b"/>
                      <a:r>
                        <a:rPr lang="en-US" sz="1100" u="none" strike="noStrike">
                          <a:effectLst/>
                        </a:rPr>
                        <a:t>265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2.283533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2.331405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2.360129</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2.360129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2.360129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58237725"/>
                  </a:ext>
                </a:extLst>
              </a:tr>
            </a:tbl>
          </a:graphicData>
        </a:graphic>
      </p:graphicFrame>
      <p:sp>
        <p:nvSpPr>
          <p:cNvPr id="6" name="TextBox 5"/>
          <p:cNvSpPr txBox="1"/>
          <p:nvPr/>
        </p:nvSpPr>
        <p:spPr>
          <a:xfrm>
            <a:off x="167285" y="327547"/>
            <a:ext cx="2430635" cy="276999"/>
          </a:xfrm>
          <a:prstGeom prst="rect">
            <a:avLst/>
          </a:prstGeom>
          <a:noFill/>
        </p:spPr>
        <p:txBody>
          <a:bodyPr wrap="square" rtlCol="0">
            <a:spAutoFit/>
          </a:bodyPr>
          <a:lstStyle/>
          <a:p>
            <a:r>
              <a:rPr lang="en-US" sz="1200" dirty="0" err="1"/>
              <a:t>Left_rawSignalData.Driver</a:t>
            </a:r>
            <a:r>
              <a:rPr lang="en-US" sz="1200" dirty="0"/>
              <a:t> 1.AccX</a:t>
            </a:r>
          </a:p>
        </p:txBody>
      </p:sp>
      <p:sp>
        <p:nvSpPr>
          <p:cNvPr id="9" name="Flowchart: Process 8"/>
          <p:cNvSpPr/>
          <p:nvPr/>
        </p:nvSpPr>
        <p:spPr>
          <a:xfrm>
            <a:off x="5090668" y="2382565"/>
            <a:ext cx="1542197" cy="300251"/>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Combine region</a:t>
            </a:r>
          </a:p>
        </p:txBody>
      </p:sp>
      <p:graphicFrame>
        <p:nvGraphicFramePr>
          <p:cNvPr id="12" name="Table 11"/>
          <p:cNvGraphicFramePr>
            <a:graphicFrameLocks noGrp="1"/>
          </p:cNvGraphicFramePr>
          <p:nvPr/>
        </p:nvGraphicFramePr>
        <p:xfrm>
          <a:off x="6953250" y="604546"/>
          <a:ext cx="3651060" cy="590523"/>
        </p:xfrm>
        <a:graphic>
          <a:graphicData uri="http://schemas.openxmlformats.org/drawingml/2006/table">
            <a:tbl>
              <a:tblPr>
                <a:tableStyleId>{5C22544A-7EE6-4342-B048-85BDC9FD1C3A}</a:tableStyleId>
              </a:tblPr>
              <a:tblGrid>
                <a:gridCol w="248130">
                  <a:extLst>
                    <a:ext uri="{9D8B030D-6E8A-4147-A177-3AD203B41FA5}">
                      <a16:colId xmlns:a16="http://schemas.microsoft.com/office/drawing/2014/main" val="909441353"/>
                    </a:ext>
                  </a:extLst>
                </a:gridCol>
                <a:gridCol w="567155">
                  <a:extLst>
                    <a:ext uri="{9D8B030D-6E8A-4147-A177-3AD203B41FA5}">
                      <a16:colId xmlns:a16="http://schemas.microsoft.com/office/drawing/2014/main" val="3810027343"/>
                    </a:ext>
                  </a:extLst>
                </a:gridCol>
                <a:gridCol w="567155">
                  <a:extLst>
                    <a:ext uri="{9D8B030D-6E8A-4147-A177-3AD203B41FA5}">
                      <a16:colId xmlns:a16="http://schemas.microsoft.com/office/drawing/2014/main" val="2666358430"/>
                    </a:ext>
                  </a:extLst>
                </a:gridCol>
                <a:gridCol w="567155">
                  <a:extLst>
                    <a:ext uri="{9D8B030D-6E8A-4147-A177-3AD203B41FA5}">
                      <a16:colId xmlns:a16="http://schemas.microsoft.com/office/drawing/2014/main" val="2580768060"/>
                    </a:ext>
                  </a:extLst>
                </a:gridCol>
                <a:gridCol w="567155">
                  <a:extLst>
                    <a:ext uri="{9D8B030D-6E8A-4147-A177-3AD203B41FA5}">
                      <a16:colId xmlns:a16="http://schemas.microsoft.com/office/drawing/2014/main" val="816922645"/>
                    </a:ext>
                  </a:extLst>
                </a:gridCol>
                <a:gridCol w="567155">
                  <a:extLst>
                    <a:ext uri="{9D8B030D-6E8A-4147-A177-3AD203B41FA5}">
                      <a16:colId xmlns:a16="http://schemas.microsoft.com/office/drawing/2014/main" val="708245505"/>
                    </a:ext>
                  </a:extLst>
                </a:gridCol>
                <a:gridCol w="567155">
                  <a:extLst>
                    <a:ext uri="{9D8B030D-6E8A-4147-A177-3AD203B41FA5}">
                      <a16:colId xmlns:a16="http://schemas.microsoft.com/office/drawing/2014/main" val="4060373792"/>
                    </a:ext>
                  </a:extLst>
                </a:gridCol>
              </a:tblGrid>
              <a:tr h="196841">
                <a:tc>
                  <a:txBody>
                    <a:bodyPr/>
                    <a:lstStyle/>
                    <a:p>
                      <a:pPr algn="l" fontAlgn="b"/>
                      <a:r>
                        <a:rPr lang="en-US" sz="1100" u="none" strike="noStrike">
                          <a:effectLst/>
                        </a:rPr>
                        <a:t>X</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4.485681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4.50483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4.552703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4.552703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4.600576</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100" b="0" i="0" u="none" strike="noStrike" dirty="0">
                          <a:solidFill>
                            <a:srgbClr val="000000"/>
                          </a:solidFill>
                          <a:effectLst/>
                          <a:latin typeface="Calibri" panose="020F0502020204030204" pitchFamily="34" charset="0"/>
                        </a:rPr>
                        <a:t>…</a:t>
                      </a:r>
                    </a:p>
                  </a:txBody>
                  <a:tcPr marL="9525" marR="9525" marT="9525" marB="0" anchor="b"/>
                </a:tc>
                <a:extLst>
                  <a:ext uri="{0D108BD9-81ED-4DB2-BD59-A6C34878D82A}">
                    <a16:rowId xmlns:a16="http://schemas.microsoft.com/office/drawing/2014/main" val="3504142781"/>
                  </a:ext>
                </a:extLst>
              </a:tr>
              <a:tr h="196841">
                <a:tc>
                  <a:txBody>
                    <a:bodyPr/>
                    <a:lstStyle/>
                    <a:p>
                      <a:pPr algn="l" fontAlgn="b"/>
                      <a:r>
                        <a:rPr lang="en-US" sz="1100" u="none" strike="noStrike">
                          <a:effectLst/>
                        </a:rPr>
                        <a:t>Y</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-0.70444</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-0.70444</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-0.70444</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-0.70444</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-0.70444</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b="0" i="0" u="none" strike="noStrike" dirty="0">
                          <a:solidFill>
                            <a:srgbClr val="000000"/>
                          </a:solidFill>
                          <a:effectLst/>
                          <a:latin typeface="Calibri" panose="020F0502020204030204" pitchFamily="34" charset="0"/>
                        </a:rPr>
                        <a:t>…</a:t>
                      </a:r>
                    </a:p>
                  </a:txBody>
                  <a:tcPr marL="9525" marR="9525" marT="9525" marB="0" anchor="b"/>
                </a:tc>
                <a:extLst>
                  <a:ext uri="{0D108BD9-81ED-4DB2-BD59-A6C34878D82A}">
                    <a16:rowId xmlns:a16="http://schemas.microsoft.com/office/drawing/2014/main" val="4056915050"/>
                  </a:ext>
                </a:extLst>
              </a:tr>
              <a:tr h="196841">
                <a:tc>
                  <a:txBody>
                    <a:bodyPr/>
                    <a:lstStyle/>
                    <a:p>
                      <a:pPr algn="l" fontAlgn="b"/>
                      <a:r>
                        <a:rPr lang="en-US" sz="1100" u="none" strike="noStrike">
                          <a:effectLst/>
                        </a:rPr>
                        <a:t>Z</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5.93144</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5.921865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5.921865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5.921865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5.873993</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100" b="0" i="0" u="none" strike="noStrike" dirty="0">
                          <a:solidFill>
                            <a:srgbClr val="000000"/>
                          </a:solidFill>
                          <a:effectLst/>
                          <a:latin typeface="Calibri" panose="020F0502020204030204" pitchFamily="34" charset="0"/>
                        </a:rPr>
                        <a:t>…</a:t>
                      </a:r>
                    </a:p>
                  </a:txBody>
                  <a:tcPr marL="9525" marR="9525" marT="9525" marB="0" anchor="b"/>
                </a:tc>
                <a:extLst>
                  <a:ext uri="{0D108BD9-81ED-4DB2-BD59-A6C34878D82A}">
                    <a16:rowId xmlns:a16="http://schemas.microsoft.com/office/drawing/2014/main" val="1897077881"/>
                  </a:ext>
                </a:extLst>
              </a:tr>
            </a:tbl>
          </a:graphicData>
        </a:graphic>
      </p:graphicFrame>
      <p:sp>
        <p:nvSpPr>
          <p:cNvPr id="13" name="TextBox 12"/>
          <p:cNvSpPr txBox="1"/>
          <p:nvPr/>
        </p:nvSpPr>
        <p:spPr>
          <a:xfrm>
            <a:off x="6827395" y="189046"/>
            <a:ext cx="1405720" cy="276999"/>
          </a:xfrm>
          <a:prstGeom prst="rect">
            <a:avLst/>
          </a:prstGeom>
          <a:noFill/>
        </p:spPr>
        <p:txBody>
          <a:bodyPr wrap="square" rtlCol="0">
            <a:spAutoFit/>
          </a:bodyPr>
          <a:lstStyle/>
          <a:p>
            <a:r>
              <a:rPr lang="en-US" sz="1200" dirty="0" err="1"/>
              <a:t>signalLeft</a:t>
            </a:r>
            <a:endParaRPr lang="en-US" sz="1200" dirty="0"/>
          </a:p>
        </p:txBody>
      </p:sp>
      <p:graphicFrame>
        <p:nvGraphicFramePr>
          <p:cNvPr id="14" name="Table 13"/>
          <p:cNvGraphicFramePr>
            <a:graphicFrameLocks noGrp="1"/>
          </p:cNvGraphicFramePr>
          <p:nvPr/>
        </p:nvGraphicFramePr>
        <p:xfrm>
          <a:off x="6956764" y="1661107"/>
          <a:ext cx="3647544" cy="729021"/>
        </p:xfrm>
        <a:graphic>
          <a:graphicData uri="http://schemas.openxmlformats.org/drawingml/2006/table">
            <a:tbl>
              <a:tblPr>
                <a:tableStyleId>{5C22544A-7EE6-4342-B048-85BDC9FD1C3A}</a:tableStyleId>
              </a:tblPr>
              <a:tblGrid>
                <a:gridCol w="269754">
                  <a:extLst>
                    <a:ext uri="{9D8B030D-6E8A-4147-A177-3AD203B41FA5}">
                      <a16:colId xmlns:a16="http://schemas.microsoft.com/office/drawing/2014/main" val="1184471374"/>
                    </a:ext>
                  </a:extLst>
                </a:gridCol>
                <a:gridCol w="562965">
                  <a:extLst>
                    <a:ext uri="{9D8B030D-6E8A-4147-A177-3AD203B41FA5}">
                      <a16:colId xmlns:a16="http://schemas.microsoft.com/office/drawing/2014/main" val="1324982929"/>
                    </a:ext>
                  </a:extLst>
                </a:gridCol>
                <a:gridCol w="562965">
                  <a:extLst>
                    <a:ext uri="{9D8B030D-6E8A-4147-A177-3AD203B41FA5}">
                      <a16:colId xmlns:a16="http://schemas.microsoft.com/office/drawing/2014/main" val="3713203202"/>
                    </a:ext>
                  </a:extLst>
                </a:gridCol>
                <a:gridCol w="562965">
                  <a:extLst>
                    <a:ext uri="{9D8B030D-6E8A-4147-A177-3AD203B41FA5}">
                      <a16:colId xmlns:a16="http://schemas.microsoft.com/office/drawing/2014/main" val="3291990840"/>
                    </a:ext>
                  </a:extLst>
                </a:gridCol>
                <a:gridCol w="562965">
                  <a:extLst>
                    <a:ext uri="{9D8B030D-6E8A-4147-A177-3AD203B41FA5}">
                      <a16:colId xmlns:a16="http://schemas.microsoft.com/office/drawing/2014/main" val="330391435"/>
                    </a:ext>
                  </a:extLst>
                </a:gridCol>
                <a:gridCol w="562965">
                  <a:extLst>
                    <a:ext uri="{9D8B030D-6E8A-4147-A177-3AD203B41FA5}">
                      <a16:colId xmlns:a16="http://schemas.microsoft.com/office/drawing/2014/main" val="341453931"/>
                    </a:ext>
                  </a:extLst>
                </a:gridCol>
                <a:gridCol w="562965">
                  <a:extLst>
                    <a:ext uri="{9D8B030D-6E8A-4147-A177-3AD203B41FA5}">
                      <a16:colId xmlns:a16="http://schemas.microsoft.com/office/drawing/2014/main" val="4014809510"/>
                    </a:ext>
                  </a:extLst>
                </a:gridCol>
              </a:tblGrid>
              <a:tr h="243007">
                <a:tc>
                  <a:txBody>
                    <a:bodyPr/>
                    <a:lstStyle/>
                    <a:p>
                      <a:pPr algn="ctr" fontAlgn="b"/>
                      <a:r>
                        <a:rPr lang="en-US" sz="1100" u="none" strike="noStrike">
                          <a:effectLst/>
                        </a:rPr>
                        <a:t>X</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3.64312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3.623971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3.585673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3.585673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3.547374</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100" b="0" i="0" u="none" strike="noStrike" dirty="0">
                          <a:solidFill>
                            <a:srgbClr val="000000"/>
                          </a:solidFill>
                          <a:effectLst/>
                          <a:latin typeface="Calibri" panose="020F0502020204030204" pitchFamily="34" charset="0"/>
                        </a:rPr>
                        <a:t>….</a:t>
                      </a:r>
                    </a:p>
                  </a:txBody>
                  <a:tcPr marL="9525" marR="9525" marT="9525" marB="0" anchor="b"/>
                </a:tc>
                <a:extLst>
                  <a:ext uri="{0D108BD9-81ED-4DB2-BD59-A6C34878D82A}">
                    <a16:rowId xmlns:a16="http://schemas.microsoft.com/office/drawing/2014/main" val="2111217130"/>
                  </a:ext>
                </a:extLst>
              </a:tr>
              <a:tr h="243007">
                <a:tc>
                  <a:txBody>
                    <a:bodyPr/>
                    <a:lstStyle/>
                    <a:p>
                      <a:pPr algn="ctr" fontAlgn="b"/>
                      <a:r>
                        <a:rPr lang="en-US" sz="1100" u="none" strike="noStrike">
                          <a:effectLst/>
                        </a:rPr>
                        <a:t>Y</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-1.11909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-1.11909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-1.11909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-1.11909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-1.11909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b="0" i="0" u="none" strike="noStrike" dirty="0">
                          <a:solidFill>
                            <a:srgbClr val="000000"/>
                          </a:solidFill>
                          <a:effectLst/>
                          <a:latin typeface="Calibri" panose="020F0502020204030204" pitchFamily="34" charset="0"/>
                        </a:rPr>
                        <a:t>….</a:t>
                      </a:r>
                    </a:p>
                  </a:txBody>
                  <a:tcPr marL="9525" marR="9525" marT="9525" marB="0" anchor="b"/>
                </a:tc>
                <a:extLst>
                  <a:ext uri="{0D108BD9-81ED-4DB2-BD59-A6C34878D82A}">
                    <a16:rowId xmlns:a16="http://schemas.microsoft.com/office/drawing/2014/main" val="2451138587"/>
                  </a:ext>
                </a:extLst>
              </a:tr>
              <a:tr h="243007">
                <a:tc>
                  <a:txBody>
                    <a:bodyPr/>
                    <a:lstStyle/>
                    <a:p>
                      <a:pPr algn="ctr" fontAlgn="b"/>
                      <a:r>
                        <a:rPr lang="en-US" sz="1100" u="none" strike="noStrike">
                          <a:effectLst/>
                        </a:rPr>
                        <a:t>Z</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6.458041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6.458041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6.438892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6.438892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6.419742</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100" b="0" i="0" u="none" strike="noStrike" dirty="0">
                          <a:solidFill>
                            <a:srgbClr val="000000"/>
                          </a:solidFill>
                          <a:effectLst/>
                          <a:latin typeface="Calibri" panose="020F0502020204030204" pitchFamily="34" charset="0"/>
                        </a:rPr>
                        <a:t>…..</a:t>
                      </a:r>
                    </a:p>
                  </a:txBody>
                  <a:tcPr marL="9525" marR="9525" marT="9525" marB="0" anchor="b"/>
                </a:tc>
                <a:extLst>
                  <a:ext uri="{0D108BD9-81ED-4DB2-BD59-A6C34878D82A}">
                    <a16:rowId xmlns:a16="http://schemas.microsoft.com/office/drawing/2014/main" val="1156181094"/>
                  </a:ext>
                </a:extLst>
              </a:tr>
            </a:tbl>
          </a:graphicData>
        </a:graphic>
      </p:graphicFrame>
      <p:sp>
        <p:nvSpPr>
          <p:cNvPr id="15" name="TextBox 14"/>
          <p:cNvSpPr txBox="1"/>
          <p:nvPr/>
        </p:nvSpPr>
        <p:spPr>
          <a:xfrm>
            <a:off x="6827395" y="1289587"/>
            <a:ext cx="1405720" cy="276999"/>
          </a:xfrm>
          <a:prstGeom prst="rect">
            <a:avLst/>
          </a:prstGeom>
          <a:noFill/>
        </p:spPr>
        <p:txBody>
          <a:bodyPr wrap="square" rtlCol="0">
            <a:spAutoFit/>
          </a:bodyPr>
          <a:lstStyle/>
          <a:p>
            <a:r>
              <a:rPr lang="en-US" sz="1200" dirty="0" err="1"/>
              <a:t>signalright</a:t>
            </a:r>
            <a:endParaRPr lang="en-US" sz="1200" dirty="0"/>
          </a:p>
        </p:txBody>
      </p:sp>
      <p:graphicFrame>
        <p:nvGraphicFramePr>
          <p:cNvPr id="16" name="Table 15"/>
          <p:cNvGraphicFramePr>
            <a:graphicFrameLocks noGrp="1"/>
          </p:cNvGraphicFramePr>
          <p:nvPr/>
        </p:nvGraphicFramePr>
        <p:xfrm>
          <a:off x="6953250" y="2760935"/>
          <a:ext cx="3651056" cy="541824"/>
        </p:xfrm>
        <a:graphic>
          <a:graphicData uri="http://schemas.openxmlformats.org/drawingml/2006/table">
            <a:tbl>
              <a:tblPr>
                <a:tableStyleId>{5C22544A-7EE6-4342-B048-85BDC9FD1C3A}</a:tableStyleId>
              </a:tblPr>
              <a:tblGrid>
                <a:gridCol w="270014">
                  <a:extLst>
                    <a:ext uri="{9D8B030D-6E8A-4147-A177-3AD203B41FA5}">
                      <a16:colId xmlns:a16="http://schemas.microsoft.com/office/drawing/2014/main" val="2977118672"/>
                    </a:ext>
                  </a:extLst>
                </a:gridCol>
                <a:gridCol w="563507">
                  <a:extLst>
                    <a:ext uri="{9D8B030D-6E8A-4147-A177-3AD203B41FA5}">
                      <a16:colId xmlns:a16="http://schemas.microsoft.com/office/drawing/2014/main" val="41920959"/>
                    </a:ext>
                  </a:extLst>
                </a:gridCol>
                <a:gridCol w="563507">
                  <a:extLst>
                    <a:ext uri="{9D8B030D-6E8A-4147-A177-3AD203B41FA5}">
                      <a16:colId xmlns:a16="http://schemas.microsoft.com/office/drawing/2014/main" val="1746813314"/>
                    </a:ext>
                  </a:extLst>
                </a:gridCol>
                <a:gridCol w="563507">
                  <a:extLst>
                    <a:ext uri="{9D8B030D-6E8A-4147-A177-3AD203B41FA5}">
                      <a16:colId xmlns:a16="http://schemas.microsoft.com/office/drawing/2014/main" val="1584759264"/>
                    </a:ext>
                  </a:extLst>
                </a:gridCol>
                <a:gridCol w="563507">
                  <a:extLst>
                    <a:ext uri="{9D8B030D-6E8A-4147-A177-3AD203B41FA5}">
                      <a16:colId xmlns:a16="http://schemas.microsoft.com/office/drawing/2014/main" val="1648898479"/>
                    </a:ext>
                  </a:extLst>
                </a:gridCol>
                <a:gridCol w="563507">
                  <a:extLst>
                    <a:ext uri="{9D8B030D-6E8A-4147-A177-3AD203B41FA5}">
                      <a16:colId xmlns:a16="http://schemas.microsoft.com/office/drawing/2014/main" val="1138770692"/>
                    </a:ext>
                  </a:extLst>
                </a:gridCol>
                <a:gridCol w="563507">
                  <a:extLst>
                    <a:ext uri="{9D8B030D-6E8A-4147-A177-3AD203B41FA5}">
                      <a16:colId xmlns:a16="http://schemas.microsoft.com/office/drawing/2014/main" val="3755172545"/>
                    </a:ext>
                  </a:extLst>
                </a:gridCol>
              </a:tblGrid>
              <a:tr h="180608">
                <a:tc>
                  <a:txBody>
                    <a:bodyPr/>
                    <a:lstStyle/>
                    <a:p>
                      <a:pPr algn="ctr" fontAlgn="b"/>
                      <a:r>
                        <a:rPr lang="en-US" sz="1100" u="none" strike="noStrike">
                          <a:effectLst/>
                        </a:rPr>
                        <a:t>X</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3.317585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3.365458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3.375032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3.375032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3.422905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38022607"/>
                  </a:ext>
                </a:extLst>
              </a:tr>
              <a:tr h="180608">
                <a:tc>
                  <a:txBody>
                    <a:bodyPr/>
                    <a:lstStyle/>
                    <a:p>
                      <a:pPr algn="ctr" fontAlgn="b"/>
                      <a:r>
                        <a:rPr lang="en-US" sz="1100" u="none" strike="noStrike">
                          <a:effectLst/>
                        </a:rPr>
                        <a:t>Y</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-2.44995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-2.44038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-2.44038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-2.44038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-2.44038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67640596"/>
                  </a:ext>
                </a:extLst>
              </a:tr>
              <a:tr h="180608">
                <a:tc>
                  <a:txBody>
                    <a:bodyPr/>
                    <a:lstStyle/>
                    <a:p>
                      <a:pPr algn="ctr" fontAlgn="b"/>
                      <a:r>
                        <a:rPr lang="en-US" sz="1100" u="none" strike="noStrike">
                          <a:effectLst/>
                        </a:rPr>
                        <a:t>Z</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5.136751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5.136751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5.136751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5.136751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5.136751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64818206"/>
                  </a:ext>
                </a:extLst>
              </a:tr>
            </a:tbl>
          </a:graphicData>
        </a:graphic>
      </p:graphicFrame>
      <p:sp>
        <p:nvSpPr>
          <p:cNvPr id="17" name="TextBox 16"/>
          <p:cNvSpPr txBox="1"/>
          <p:nvPr/>
        </p:nvSpPr>
        <p:spPr>
          <a:xfrm>
            <a:off x="6827395" y="2437032"/>
            <a:ext cx="1405720" cy="276999"/>
          </a:xfrm>
          <a:prstGeom prst="rect">
            <a:avLst/>
          </a:prstGeom>
          <a:noFill/>
        </p:spPr>
        <p:txBody>
          <a:bodyPr wrap="square" rtlCol="0">
            <a:spAutoFit/>
          </a:bodyPr>
          <a:lstStyle/>
          <a:p>
            <a:r>
              <a:rPr lang="en-US" sz="1200" dirty="0" err="1"/>
              <a:t>signalstraight</a:t>
            </a:r>
            <a:endParaRPr lang="en-US" sz="1200" dirty="0"/>
          </a:p>
        </p:txBody>
      </p:sp>
      <p:sp>
        <p:nvSpPr>
          <p:cNvPr id="18" name="TextBox 17"/>
          <p:cNvSpPr txBox="1"/>
          <p:nvPr/>
        </p:nvSpPr>
        <p:spPr>
          <a:xfrm>
            <a:off x="167286" y="1937901"/>
            <a:ext cx="2430634" cy="276999"/>
          </a:xfrm>
          <a:prstGeom prst="rect">
            <a:avLst/>
          </a:prstGeom>
          <a:noFill/>
        </p:spPr>
        <p:txBody>
          <a:bodyPr wrap="square" rtlCol="0">
            <a:spAutoFit/>
          </a:bodyPr>
          <a:lstStyle/>
          <a:p>
            <a:r>
              <a:rPr lang="en-US" sz="1200" dirty="0" err="1"/>
              <a:t>Left_rawSignalData.Driver</a:t>
            </a:r>
            <a:r>
              <a:rPr lang="en-US" sz="1200" dirty="0"/>
              <a:t> 2.AccX</a:t>
            </a:r>
          </a:p>
        </p:txBody>
      </p:sp>
      <p:sp>
        <p:nvSpPr>
          <p:cNvPr id="19" name="TextBox 18"/>
          <p:cNvSpPr txBox="1"/>
          <p:nvPr/>
        </p:nvSpPr>
        <p:spPr>
          <a:xfrm>
            <a:off x="167285" y="4912768"/>
            <a:ext cx="4395027" cy="246221"/>
          </a:xfrm>
          <a:prstGeom prst="rect">
            <a:avLst/>
          </a:prstGeom>
          <a:noFill/>
        </p:spPr>
        <p:txBody>
          <a:bodyPr wrap="square" rtlCol="0">
            <a:spAutoFit/>
          </a:bodyPr>
          <a:lstStyle/>
          <a:p>
            <a:r>
              <a:rPr lang="en-US" sz="1000" dirty="0"/>
              <a:t>……………….. ((driver 1, Driver 2,..), (</a:t>
            </a:r>
            <a:r>
              <a:rPr lang="en-US" sz="1000" dirty="0" err="1"/>
              <a:t>leftTurn</a:t>
            </a:r>
            <a:r>
              <a:rPr lang="en-US" sz="1000" dirty="0"/>
              <a:t>, straight, </a:t>
            </a:r>
            <a:r>
              <a:rPr lang="en-US" sz="1000" dirty="0" err="1"/>
              <a:t>rightTurn</a:t>
            </a:r>
            <a:r>
              <a:rPr lang="en-US" sz="1000" dirty="0"/>
              <a:t>), (</a:t>
            </a:r>
            <a:r>
              <a:rPr lang="en-US" sz="1000" dirty="0" err="1"/>
              <a:t>AccX</a:t>
            </a:r>
            <a:r>
              <a:rPr lang="en-US" sz="1000" dirty="0"/>
              <a:t>, </a:t>
            </a:r>
            <a:r>
              <a:rPr lang="en-US" sz="1000" dirty="0" err="1"/>
              <a:t>AccY</a:t>
            </a:r>
            <a:r>
              <a:rPr lang="en-US" sz="1000" dirty="0"/>
              <a:t>,..))</a:t>
            </a:r>
          </a:p>
        </p:txBody>
      </p:sp>
      <p:graphicFrame>
        <p:nvGraphicFramePr>
          <p:cNvPr id="20" name="Table 19"/>
          <p:cNvGraphicFramePr>
            <a:graphicFrameLocks noGrp="1"/>
          </p:cNvGraphicFramePr>
          <p:nvPr>
            <p:extLst>
              <p:ext uri="{D42A27DB-BD31-4B8C-83A1-F6EECF244321}">
                <p14:modId xmlns:p14="http://schemas.microsoft.com/office/powerpoint/2010/main" val="3740125411"/>
              </p:ext>
            </p:extLst>
          </p:nvPr>
        </p:nvGraphicFramePr>
        <p:xfrm>
          <a:off x="176471" y="2279154"/>
          <a:ext cx="4586783" cy="1062990"/>
        </p:xfrm>
        <a:graphic>
          <a:graphicData uri="http://schemas.openxmlformats.org/drawingml/2006/table">
            <a:tbl>
              <a:tblPr>
                <a:tableStyleId>{5C22544A-7EE6-4342-B048-85BDC9FD1C3A}</a:tableStyleId>
              </a:tblPr>
              <a:tblGrid>
                <a:gridCol w="471539">
                  <a:extLst>
                    <a:ext uri="{9D8B030D-6E8A-4147-A177-3AD203B41FA5}">
                      <a16:colId xmlns:a16="http://schemas.microsoft.com/office/drawing/2014/main" val="1482423230"/>
                    </a:ext>
                  </a:extLst>
                </a:gridCol>
                <a:gridCol w="685874">
                  <a:extLst>
                    <a:ext uri="{9D8B030D-6E8A-4147-A177-3AD203B41FA5}">
                      <a16:colId xmlns:a16="http://schemas.microsoft.com/office/drawing/2014/main" val="3478280618"/>
                    </a:ext>
                  </a:extLst>
                </a:gridCol>
                <a:gridCol w="685874">
                  <a:extLst>
                    <a:ext uri="{9D8B030D-6E8A-4147-A177-3AD203B41FA5}">
                      <a16:colId xmlns:a16="http://schemas.microsoft.com/office/drawing/2014/main" val="2251944593"/>
                    </a:ext>
                  </a:extLst>
                </a:gridCol>
                <a:gridCol w="685874">
                  <a:extLst>
                    <a:ext uri="{9D8B030D-6E8A-4147-A177-3AD203B41FA5}">
                      <a16:colId xmlns:a16="http://schemas.microsoft.com/office/drawing/2014/main" val="1658301197"/>
                    </a:ext>
                  </a:extLst>
                </a:gridCol>
                <a:gridCol w="685874">
                  <a:extLst>
                    <a:ext uri="{9D8B030D-6E8A-4147-A177-3AD203B41FA5}">
                      <a16:colId xmlns:a16="http://schemas.microsoft.com/office/drawing/2014/main" val="194470321"/>
                    </a:ext>
                  </a:extLst>
                </a:gridCol>
                <a:gridCol w="685874">
                  <a:extLst>
                    <a:ext uri="{9D8B030D-6E8A-4147-A177-3AD203B41FA5}">
                      <a16:colId xmlns:a16="http://schemas.microsoft.com/office/drawing/2014/main" val="3405432256"/>
                    </a:ext>
                  </a:extLst>
                </a:gridCol>
                <a:gridCol w="685874">
                  <a:extLst>
                    <a:ext uri="{9D8B030D-6E8A-4147-A177-3AD203B41FA5}">
                      <a16:colId xmlns:a16="http://schemas.microsoft.com/office/drawing/2014/main" val="2439395741"/>
                    </a:ext>
                  </a:extLst>
                </a:gridCol>
              </a:tblGrid>
              <a:tr h="173044">
                <a:tc>
                  <a:txBody>
                    <a:bodyPr/>
                    <a:lstStyle/>
                    <a:p>
                      <a:pPr algn="l" fontAlgn="b"/>
                      <a:r>
                        <a:rPr lang="en-US" sz="1100" u="none" strike="noStrike">
                          <a:effectLst/>
                        </a:rPr>
                        <a:t>region</a:t>
                      </a:r>
                      <a:endParaRPr lang="en-US" sz="1100" b="0" i="0" u="none" strike="noStrike">
                        <a:solidFill>
                          <a:srgbClr val="000000"/>
                        </a:solidFill>
                        <a:effectLst/>
                        <a:latin typeface="Calibri" panose="020F0502020204030204" pitchFamily="34" charset="0"/>
                      </a:endParaRPr>
                    </a:p>
                  </a:txBody>
                  <a:tcPr marL="9525" marR="9525" marT="9525" marB="0" anchor="b"/>
                </a:tc>
                <a:tc gridSpan="6">
                  <a:txBody>
                    <a:bodyPr/>
                    <a:lstStyle/>
                    <a:p>
                      <a:pPr algn="ctr" fontAlgn="b"/>
                      <a:r>
                        <a:rPr lang="en-US" sz="1100" u="none" strike="noStrike" dirty="0">
                          <a:effectLst/>
                        </a:rPr>
                        <a:t>700 - 900 (data captured)</a:t>
                      </a:r>
                      <a:endParaRPr lang="en-US" sz="11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2022896"/>
                  </a:ext>
                </a:extLst>
              </a:tr>
              <a:tr h="173044">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3.5378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3.5378</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3.614396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3.614396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3.623971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60311395"/>
                  </a:ext>
                </a:extLst>
              </a:tr>
              <a:tr h="173044">
                <a:tc>
                  <a:txBody>
                    <a:bodyPr/>
                    <a:lstStyle/>
                    <a:p>
                      <a:pPr algn="r" fontAlgn="b"/>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1.680335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1.680335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1.680335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1.680335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1.680335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79141292"/>
                  </a:ext>
                </a:extLst>
              </a:tr>
              <a:tr h="173044">
                <a:tc>
                  <a:txBody>
                    <a:bodyPr/>
                    <a:lstStyle/>
                    <a:p>
                      <a:pPr algn="r" fontAlgn="b"/>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3.317585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3.365458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3.375032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3.375032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3.422905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89021138"/>
                  </a:ext>
                </a:extLst>
              </a:tr>
              <a:tr h="173044">
                <a:tc>
                  <a:txBody>
                    <a:bodyPr/>
                    <a:lstStyle/>
                    <a:p>
                      <a:pPr algn="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34064920"/>
                  </a:ext>
                </a:extLst>
              </a:tr>
              <a:tr h="173044">
                <a:tc>
                  <a:txBody>
                    <a:bodyPr/>
                    <a:lstStyle/>
                    <a:p>
                      <a:pPr algn="r" fontAlgn="b"/>
                      <a:r>
                        <a:rPr lang="en-US" sz="1100" u="none" strike="noStrike">
                          <a:effectLst/>
                        </a:rPr>
                        <a:t>265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2.283533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2.331405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2.360129</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2.360129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2.360129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58237725"/>
                  </a:ext>
                </a:extLst>
              </a:tr>
            </a:tbl>
          </a:graphicData>
        </a:graphic>
      </p:graphicFrame>
      <p:cxnSp>
        <p:nvCxnSpPr>
          <p:cNvPr id="22" name="Elbow Connector 21"/>
          <p:cNvCxnSpPr>
            <a:stCxn id="5" idx="3"/>
            <a:endCxn id="9" idx="1"/>
          </p:cNvCxnSpPr>
          <p:nvPr/>
        </p:nvCxnSpPr>
        <p:spPr>
          <a:xfrm>
            <a:off x="4766768" y="1268474"/>
            <a:ext cx="323900" cy="126421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24"/>
          <p:cNvCxnSpPr>
            <a:stCxn id="20" idx="3"/>
            <a:endCxn id="9" idx="1"/>
          </p:cNvCxnSpPr>
          <p:nvPr/>
        </p:nvCxnSpPr>
        <p:spPr>
          <a:xfrm flipV="1">
            <a:off x="4763254" y="2532691"/>
            <a:ext cx="327414" cy="27795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extLst>
              <p:ext uri="{D42A27DB-BD31-4B8C-83A1-F6EECF244321}">
                <p14:modId xmlns:p14="http://schemas.microsoft.com/office/powerpoint/2010/main" val="352866821"/>
              </p:ext>
            </p:extLst>
          </p:nvPr>
        </p:nvGraphicFramePr>
        <p:xfrm>
          <a:off x="167286" y="5289137"/>
          <a:ext cx="4599482" cy="1193615"/>
        </p:xfrm>
        <a:graphic>
          <a:graphicData uri="http://schemas.openxmlformats.org/drawingml/2006/table">
            <a:tbl>
              <a:tblPr>
                <a:tableStyleId>{5C22544A-7EE6-4342-B048-85BDC9FD1C3A}</a:tableStyleId>
              </a:tblPr>
              <a:tblGrid>
                <a:gridCol w="472844">
                  <a:extLst>
                    <a:ext uri="{9D8B030D-6E8A-4147-A177-3AD203B41FA5}">
                      <a16:colId xmlns:a16="http://schemas.microsoft.com/office/drawing/2014/main" val="1482423230"/>
                    </a:ext>
                  </a:extLst>
                </a:gridCol>
                <a:gridCol w="687773">
                  <a:extLst>
                    <a:ext uri="{9D8B030D-6E8A-4147-A177-3AD203B41FA5}">
                      <a16:colId xmlns:a16="http://schemas.microsoft.com/office/drawing/2014/main" val="3478280618"/>
                    </a:ext>
                  </a:extLst>
                </a:gridCol>
                <a:gridCol w="687773">
                  <a:extLst>
                    <a:ext uri="{9D8B030D-6E8A-4147-A177-3AD203B41FA5}">
                      <a16:colId xmlns:a16="http://schemas.microsoft.com/office/drawing/2014/main" val="2251944593"/>
                    </a:ext>
                  </a:extLst>
                </a:gridCol>
                <a:gridCol w="687773">
                  <a:extLst>
                    <a:ext uri="{9D8B030D-6E8A-4147-A177-3AD203B41FA5}">
                      <a16:colId xmlns:a16="http://schemas.microsoft.com/office/drawing/2014/main" val="1658301197"/>
                    </a:ext>
                  </a:extLst>
                </a:gridCol>
                <a:gridCol w="687773">
                  <a:extLst>
                    <a:ext uri="{9D8B030D-6E8A-4147-A177-3AD203B41FA5}">
                      <a16:colId xmlns:a16="http://schemas.microsoft.com/office/drawing/2014/main" val="194470321"/>
                    </a:ext>
                  </a:extLst>
                </a:gridCol>
                <a:gridCol w="687773">
                  <a:extLst>
                    <a:ext uri="{9D8B030D-6E8A-4147-A177-3AD203B41FA5}">
                      <a16:colId xmlns:a16="http://schemas.microsoft.com/office/drawing/2014/main" val="3405432256"/>
                    </a:ext>
                  </a:extLst>
                </a:gridCol>
                <a:gridCol w="687773">
                  <a:extLst>
                    <a:ext uri="{9D8B030D-6E8A-4147-A177-3AD203B41FA5}">
                      <a16:colId xmlns:a16="http://schemas.microsoft.com/office/drawing/2014/main" val="2439395741"/>
                    </a:ext>
                  </a:extLst>
                </a:gridCol>
              </a:tblGrid>
              <a:tr h="238723">
                <a:tc>
                  <a:txBody>
                    <a:bodyPr/>
                    <a:lstStyle/>
                    <a:p>
                      <a:pPr algn="l" fontAlgn="b"/>
                      <a:r>
                        <a:rPr lang="en-US" sz="1100" u="none" strike="noStrike">
                          <a:effectLst/>
                        </a:rPr>
                        <a:t>region</a:t>
                      </a:r>
                      <a:endParaRPr lang="en-US" sz="1100" b="0" i="0" u="none" strike="noStrike">
                        <a:solidFill>
                          <a:srgbClr val="000000"/>
                        </a:solidFill>
                        <a:effectLst/>
                        <a:latin typeface="Calibri" panose="020F0502020204030204" pitchFamily="34" charset="0"/>
                      </a:endParaRPr>
                    </a:p>
                  </a:txBody>
                  <a:tcPr marL="9525" marR="9525" marT="9525" marB="0" anchor="b"/>
                </a:tc>
                <a:tc gridSpan="6">
                  <a:txBody>
                    <a:bodyPr/>
                    <a:lstStyle/>
                    <a:p>
                      <a:pPr algn="ctr" fontAlgn="b"/>
                      <a:endParaRPr lang="en-US" sz="11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2022896"/>
                  </a:ext>
                </a:extLst>
              </a:tr>
              <a:tr h="238723">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60311395"/>
                  </a:ext>
                </a:extLst>
              </a:tr>
              <a:tr h="238723">
                <a:tc>
                  <a:txBody>
                    <a:bodyPr/>
                    <a:lstStyle/>
                    <a:p>
                      <a:pPr algn="r" fontAlgn="b"/>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79141292"/>
                  </a:ext>
                </a:extLst>
              </a:tr>
              <a:tr h="238723">
                <a:tc>
                  <a:txBody>
                    <a:bodyPr/>
                    <a:lstStyle/>
                    <a:p>
                      <a:pPr algn="r" fontAlgn="b"/>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89021138"/>
                  </a:ext>
                </a:extLst>
              </a:tr>
              <a:tr h="238723">
                <a:tc>
                  <a:txBody>
                    <a:bodyPr/>
                    <a:lstStyle/>
                    <a:p>
                      <a:pPr algn="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34064920"/>
                  </a:ext>
                </a:extLst>
              </a:tr>
            </a:tbl>
          </a:graphicData>
        </a:graphic>
      </p:graphicFrame>
      <p:cxnSp>
        <p:nvCxnSpPr>
          <p:cNvPr id="32" name="Elbow Connector 31"/>
          <p:cNvCxnSpPr>
            <a:stCxn id="30" idx="3"/>
            <a:endCxn id="9" idx="1"/>
          </p:cNvCxnSpPr>
          <p:nvPr/>
        </p:nvCxnSpPr>
        <p:spPr>
          <a:xfrm flipV="1">
            <a:off x="4766768" y="2532691"/>
            <a:ext cx="323900" cy="335325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Elbow Connector 35"/>
          <p:cNvCxnSpPr>
            <a:stCxn id="9" idx="3"/>
            <a:endCxn id="12" idx="1"/>
          </p:cNvCxnSpPr>
          <p:nvPr/>
        </p:nvCxnSpPr>
        <p:spPr>
          <a:xfrm flipV="1">
            <a:off x="6632865" y="899807"/>
            <a:ext cx="320385" cy="163288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p:cNvCxnSpPr>
            <a:stCxn id="9" idx="3"/>
            <a:endCxn id="14" idx="1"/>
          </p:cNvCxnSpPr>
          <p:nvPr/>
        </p:nvCxnSpPr>
        <p:spPr>
          <a:xfrm flipV="1">
            <a:off x="6632865" y="2025617"/>
            <a:ext cx="323899" cy="50707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p:cNvCxnSpPr>
            <a:stCxn id="9" idx="3"/>
            <a:endCxn id="16" idx="1"/>
          </p:cNvCxnSpPr>
          <p:nvPr/>
        </p:nvCxnSpPr>
        <p:spPr>
          <a:xfrm>
            <a:off x="6632865" y="2532691"/>
            <a:ext cx="320385" cy="49915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41" name="Picture 40"/>
          <p:cNvPicPr>
            <a:picLocks noChangeAspect="1"/>
          </p:cNvPicPr>
          <p:nvPr/>
        </p:nvPicPr>
        <p:blipFill>
          <a:blip r:embed="rId2"/>
          <a:stretch>
            <a:fillRect/>
          </a:stretch>
        </p:blipFill>
        <p:spPr>
          <a:xfrm>
            <a:off x="5295123" y="3960077"/>
            <a:ext cx="1972885" cy="551856"/>
          </a:xfrm>
          <a:prstGeom prst="rect">
            <a:avLst/>
          </a:prstGeom>
        </p:spPr>
      </p:pic>
      <p:pic>
        <p:nvPicPr>
          <p:cNvPr id="42" name="Picture 41"/>
          <p:cNvPicPr>
            <a:picLocks noChangeAspect="1"/>
          </p:cNvPicPr>
          <p:nvPr/>
        </p:nvPicPr>
        <p:blipFill>
          <a:blip r:embed="rId2"/>
          <a:stretch>
            <a:fillRect/>
          </a:stretch>
        </p:blipFill>
        <p:spPr>
          <a:xfrm>
            <a:off x="7530255" y="3945962"/>
            <a:ext cx="1972885" cy="551856"/>
          </a:xfrm>
          <a:prstGeom prst="rect">
            <a:avLst/>
          </a:prstGeom>
        </p:spPr>
      </p:pic>
      <p:pic>
        <p:nvPicPr>
          <p:cNvPr id="43" name="Picture 42"/>
          <p:cNvPicPr>
            <a:picLocks noChangeAspect="1"/>
          </p:cNvPicPr>
          <p:nvPr/>
        </p:nvPicPr>
        <p:blipFill>
          <a:blip r:embed="rId2"/>
          <a:stretch>
            <a:fillRect/>
          </a:stretch>
        </p:blipFill>
        <p:spPr>
          <a:xfrm>
            <a:off x="9956190" y="3960077"/>
            <a:ext cx="1972885" cy="551856"/>
          </a:xfrm>
          <a:prstGeom prst="rect">
            <a:avLst/>
          </a:prstGeom>
        </p:spPr>
      </p:pic>
      <p:sp>
        <p:nvSpPr>
          <p:cNvPr id="44" name="TextBox 43"/>
          <p:cNvSpPr txBox="1"/>
          <p:nvPr/>
        </p:nvSpPr>
        <p:spPr>
          <a:xfrm>
            <a:off x="5547530" y="4580020"/>
            <a:ext cx="1405720" cy="276999"/>
          </a:xfrm>
          <a:prstGeom prst="rect">
            <a:avLst/>
          </a:prstGeom>
          <a:noFill/>
        </p:spPr>
        <p:txBody>
          <a:bodyPr wrap="square" rtlCol="0">
            <a:spAutoFit/>
          </a:bodyPr>
          <a:lstStyle/>
          <a:p>
            <a:r>
              <a:rPr lang="en-US" sz="1200" dirty="0" err="1"/>
              <a:t>llh</a:t>
            </a:r>
            <a:r>
              <a:rPr lang="en-US" sz="1200" dirty="0"/>
              <a:t> </a:t>
            </a:r>
            <a:r>
              <a:rPr lang="en-US" sz="1200" dirty="0" err="1"/>
              <a:t>leftTurning</a:t>
            </a:r>
            <a:endParaRPr lang="en-US" sz="1200" dirty="0"/>
          </a:p>
        </p:txBody>
      </p:sp>
      <p:sp>
        <p:nvSpPr>
          <p:cNvPr id="45" name="TextBox 44"/>
          <p:cNvSpPr txBox="1"/>
          <p:nvPr/>
        </p:nvSpPr>
        <p:spPr>
          <a:xfrm>
            <a:off x="7813837" y="4580020"/>
            <a:ext cx="1405720" cy="276999"/>
          </a:xfrm>
          <a:prstGeom prst="rect">
            <a:avLst/>
          </a:prstGeom>
          <a:noFill/>
        </p:spPr>
        <p:txBody>
          <a:bodyPr wrap="square" rtlCol="0">
            <a:spAutoFit/>
          </a:bodyPr>
          <a:lstStyle/>
          <a:p>
            <a:r>
              <a:rPr lang="en-US" sz="1200" dirty="0" err="1"/>
              <a:t>llh.rightTurning</a:t>
            </a:r>
            <a:endParaRPr lang="en-US" sz="1200" dirty="0"/>
          </a:p>
        </p:txBody>
      </p:sp>
      <p:sp>
        <p:nvSpPr>
          <p:cNvPr id="46" name="TextBox 45"/>
          <p:cNvSpPr txBox="1"/>
          <p:nvPr/>
        </p:nvSpPr>
        <p:spPr>
          <a:xfrm>
            <a:off x="9915433" y="4552555"/>
            <a:ext cx="1405720" cy="276999"/>
          </a:xfrm>
          <a:prstGeom prst="rect">
            <a:avLst/>
          </a:prstGeom>
          <a:noFill/>
        </p:spPr>
        <p:txBody>
          <a:bodyPr wrap="square" rtlCol="0">
            <a:spAutoFit/>
          </a:bodyPr>
          <a:lstStyle/>
          <a:p>
            <a:r>
              <a:rPr lang="en-US" sz="1200" dirty="0" err="1"/>
              <a:t>llh.straight</a:t>
            </a:r>
            <a:endParaRPr lang="en-US" sz="1200" dirty="0"/>
          </a:p>
        </p:txBody>
      </p:sp>
      <p:pic>
        <p:nvPicPr>
          <p:cNvPr id="47" name="Picture 46"/>
          <p:cNvPicPr>
            <a:picLocks noChangeAspect="1"/>
          </p:cNvPicPr>
          <p:nvPr/>
        </p:nvPicPr>
        <p:blipFill>
          <a:blip r:embed="rId3"/>
          <a:stretch>
            <a:fillRect/>
          </a:stretch>
        </p:blipFill>
        <p:spPr>
          <a:xfrm>
            <a:off x="5234238" y="4912768"/>
            <a:ext cx="2763350" cy="1918595"/>
          </a:xfrm>
          <a:prstGeom prst="rect">
            <a:avLst/>
          </a:prstGeom>
        </p:spPr>
      </p:pic>
      <p:cxnSp>
        <p:nvCxnSpPr>
          <p:cNvPr id="49" name="Elbow Connector 48"/>
          <p:cNvCxnSpPr>
            <a:endCxn id="41" idx="0"/>
          </p:cNvCxnSpPr>
          <p:nvPr/>
        </p:nvCxnSpPr>
        <p:spPr>
          <a:xfrm rot="10800000" flipV="1">
            <a:off x="6281567" y="3302759"/>
            <a:ext cx="2235131" cy="65731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Elbow Connector 50"/>
          <p:cNvCxnSpPr>
            <a:endCxn id="43" idx="0"/>
          </p:cNvCxnSpPr>
          <p:nvPr/>
        </p:nvCxnSpPr>
        <p:spPr>
          <a:xfrm>
            <a:off x="8516697" y="3262951"/>
            <a:ext cx="2425936" cy="69712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endCxn id="42" idx="0"/>
          </p:cNvCxnSpPr>
          <p:nvPr/>
        </p:nvCxnSpPr>
        <p:spPr>
          <a:xfrm>
            <a:off x="8516696" y="3275798"/>
            <a:ext cx="2" cy="6701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4928718" y="114415"/>
            <a:ext cx="1619829" cy="369332"/>
          </a:xfrm>
          <a:prstGeom prst="rect">
            <a:avLst/>
          </a:prstGeom>
          <a:noFill/>
        </p:spPr>
        <p:txBody>
          <a:bodyPr wrap="square" rtlCol="0">
            <a:spAutoFit/>
          </a:bodyPr>
          <a:lstStyle/>
          <a:p>
            <a:r>
              <a:rPr lang="en-US" dirty="0"/>
              <a:t>Data Structure</a:t>
            </a:r>
          </a:p>
        </p:txBody>
      </p:sp>
      <p:graphicFrame>
        <p:nvGraphicFramePr>
          <p:cNvPr id="39" name="Table 38"/>
          <p:cNvGraphicFramePr>
            <a:graphicFrameLocks noGrp="1"/>
          </p:cNvGraphicFramePr>
          <p:nvPr>
            <p:extLst>
              <p:ext uri="{D42A27DB-BD31-4B8C-83A1-F6EECF244321}">
                <p14:modId xmlns:p14="http://schemas.microsoft.com/office/powerpoint/2010/main" val="81564889"/>
              </p:ext>
            </p:extLst>
          </p:nvPr>
        </p:nvGraphicFramePr>
        <p:xfrm>
          <a:off x="167286" y="3756988"/>
          <a:ext cx="4586783" cy="1062990"/>
        </p:xfrm>
        <a:graphic>
          <a:graphicData uri="http://schemas.openxmlformats.org/drawingml/2006/table">
            <a:tbl>
              <a:tblPr>
                <a:tableStyleId>{5C22544A-7EE6-4342-B048-85BDC9FD1C3A}</a:tableStyleId>
              </a:tblPr>
              <a:tblGrid>
                <a:gridCol w="471539">
                  <a:extLst>
                    <a:ext uri="{9D8B030D-6E8A-4147-A177-3AD203B41FA5}">
                      <a16:colId xmlns:a16="http://schemas.microsoft.com/office/drawing/2014/main" val="1482423230"/>
                    </a:ext>
                  </a:extLst>
                </a:gridCol>
                <a:gridCol w="685874">
                  <a:extLst>
                    <a:ext uri="{9D8B030D-6E8A-4147-A177-3AD203B41FA5}">
                      <a16:colId xmlns:a16="http://schemas.microsoft.com/office/drawing/2014/main" val="3478280618"/>
                    </a:ext>
                  </a:extLst>
                </a:gridCol>
                <a:gridCol w="685874">
                  <a:extLst>
                    <a:ext uri="{9D8B030D-6E8A-4147-A177-3AD203B41FA5}">
                      <a16:colId xmlns:a16="http://schemas.microsoft.com/office/drawing/2014/main" val="2251944593"/>
                    </a:ext>
                  </a:extLst>
                </a:gridCol>
                <a:gridCol w="685874">
                  <a:extLst>
                    <a:ext uri="{9D8B030D-6E8A-4147-A177-3AD203B41FA5}">
                      <a16:colId xmlns:a16="http://schemas.microsoft.com/office/drawing/2014/main" val="1658301197"/>
                    </a:ext>
                  </a:extLst>
                </a:gridCol>
                <a:gridCol w="685874">
                  <a:extLst>
                    <a:ext uri="{9D8B030D-6E8A-4147-A177-3AD203B41FA5}">
                      <a16:colId xmlns:a16="http://schemas.microsoft.com/office/drawing/2014/main" val="194470321"/>
                    </a:ext>
                  </a:extLst>
                </a:gridCol>
                <a:gridCol w="685874">
                  <a:extLst>
                    <a:ext uri="{9D8B030D-6E8A-4147-A177-3AD203B41FA5}">
                      <a16:colId xmlns:a16="http://schemas.microsoft.com/office/drawing/2014/main" val="3405432256"/>
                    </a:ext>
                  </a:extLst>
                </a:gridCol>
                <a:gridCol w="685874">
                  <a:extLst>
                    <a:ext uri="{9D8B030D-6E8A-4147-A177-3AD203B41FA5}">
                      <a16:colId xmlns:a16="http://schemas.microsoft.com/office/drawing/2014/main" val="2439395741"/>
                    </a:ext>
                  </a:extLst>
                </a:gridCol>
              </a:tblGrid>
              <a:tr h="173044">
                <a:tc>
                  <a:txBody>
                    <a:bodyPr/>
                    <a:lstStyle/>
                    <a:p>
                      <a:pPr algn="l" fontAlgn="b"/>
                      <a:r>
                        <a:rPr lang="en-US" sz="1100" u="none" strike="noStrike">
                          <a:effectLst/>
                        </a:rPr>
                        <a:t>region</a:t>
                      </a:r>
                      <a:endParaRPr lang="en-US" sz="1100" b="0" i="0" u="none" strike="noStrike">
                        <a:solidFill>
                          <a:srgbClr val="000000"/>
                        </a:solidFill>
                        <a:effectLst/>
                        <a:latin typeface="Calibri" panose="020F0502020204030204" pitchFamily="34" charset="0"/>
                      </a:endParaRPr>
                    </a:p>
                  </a:txBody>
                  <a:tcPr marL="9525" marR="9525" marT="9525" marB="0" anchor="b"/>
                </a:tc>
                <a:tc gridSpan="6">
                  <a:txBody>
                    <a:bodyPr/>
                    <a:lstStyle/>
                    <a:p>
                      <a:pPr algn="ctr" fontAlgn="b"/>
                      <a:r>
                        <a:rPr lang="en-US" sz="1100" u="none" strike="noStrike" dirty="0">
                          <a:effectLst/>
                        </a:rPr>
                        <a:t>700 - 900 (data captured)</a:t>
                      </a:r>
                      <a:endParaRPr lang="en-US" sz="11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2022896"/>
                  </a:ext>
                </a:extLst>
              </a:tr>
              <a:tr h="173044">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3.5378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3.5378</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3.614396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3.614396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3.623971</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60311395"/>
                  </a:ext>
                </a:extLst>
              </a:tr>
              <a:tr h="173044">
                <a:tc>
                  <a:txBody>
                    <a:bodyPr/>
                    <a:lstStyle/>
                    <a:p>
                      <a:pPr algn="r" fontAlgn="b"/>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1.680335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1.680335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1.680335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1.680335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1.680335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79141292"/>
                  </a:ext>
                </a:extLst>
              </a:tr>
              <a:tr h="173044">
                <a:tc>
                  <a:txBody>
                    <a:bodyPr/>
                    <a:lstStyle/>
                    <a:p>
                      <a:pPr algn="r" fontAlgn="b"/>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3.317585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3.365458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3.375032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3.375032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3.422905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89021138"/>
                  </a:ext>
                </a:extLst>
              </a:tr>
              <a:tr h="173044">
                <a:tc>
                  <a:txBody>
                    <a:bodyPr/>
                    <a:lstStyle/>
                    <a:p>
                      <a:pPr algn="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34064920"/>
                  </a:ext>
                </a:extLst>
              </a:tr>
              <a:tr h="173044">
                <a:tc>
                  <a:txBody>
                    <a:bodyPr/>
                    <a:lstStyle/>
                    <a:p>
                      <a:pPr algn="r" fontAlgn="b"/>
                      <a:r>
                        <a:rPr lang="en-US" sz="1100" u="none" strike="noStrike">
                          <a:effectLst/>
                        </a:rPr>
                        <a:t>265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2.283533</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2.331405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2.360129</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2.360129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2.360129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58237725"/>
                  </a:ext>
                </a:extLst>
              </a:tr>
            </a:tbl>
          </a:graphicData>
        </a:graphic>
      </p:graphicFrame>
      <p:sp>
        <p:nvSpPr>
          <p:cNvPr id="21" name="Rectangle 20"/>
          <p:cNvSpPr/>
          <p:nvPr/>
        </p:nvSpPr>
        <p:spPr>
          <a:xfrm>
            <a:off x="167286" y="3438224"/>
            <a:ext cx="2257606" cy="276999"/>
          </a:xfrm>
          <a:prstGeom prst="rect">
            <a:avLst/>
          </a:prstGeom>
        </p:spPr>
        <p:txBody>
          <a:bodyPr wrap="none">
            <a:spAutoFit/>
          </a:bodyPr>
          <a:lstStyle/>
          <a:p>
            <a:r>
              <a:rPr lang="en-US" sz="1200" dirty="0" err="1"/>
              <a:t>Left_rawSignalData.Driver</a:t>
            </a:r>
            <a:r>
              <a:rPr lang="en-US" sz="1200" dirty="0"/>
              <a:t> 1.AccY</a:t>
            </a:r>
          </a:p>
        </p:txBody>
      </p:sp>
    </p:spTree>
    <p:extLst>
      <p:ext uri="{BB962C8B-B14F-4D97-AF65-F5344CB8AC3E}">
        <p14:creationId xmlns:p14="http://schemas.microsoft.com/office/powerpoint/2010/main" val="93731600"/>
      </p:ext>
    </p:extLst>
  </p:cSld>
  <p:clrMapOvr>
    <a:masterClrMapping/>
  </p:clrMapOvr>
  <mc:AlternateContent xmlns:mc="http://schemas.openxmlformats.org/markup-compatibility/2006" xmlns:p14="http://schemas.microsoft.com/office/powerpoint/2010/main">
    <mc:Choice Requires="p14">
      <p:transition spd="slow" p14:dur="2000" advTm="65928"/>
    </mc:Choice>
    <mc:Fallback xmlns="">
      <p:transition spd="slow" advTm="65928"/>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defTabSz="457200">
              <a:lnSpc>
                <a:spcPct val="100000"/>
              </a:lnSpc>
              <a:spcBef>
                <a:spcPts val="0"/>
              </a:spcBef>
            </a:pPr>
            <a:r>
              <a:rPr lang="en-US" dirty="0"/>
              <a:t>GMM Implementation example</a:t>
            </a:r>
            <a:br>
              <a:rPr lang="en-US" dirty="0"/>
            </a:br>
            <a:r>
              <a:rPr lang="en-US" altLang="en-US" sz="2300" spc="0" dirty="0">
                <a:solidFill>
                  <a:srgbClr val="000000">
                    <a:lumMod val="75000"/>
                    <a:lumOff val="25000"/>
                  </a:srgbClr>
                </a:solidFill>
                <a:latin typeface="Calibri" panose="020F0502020204030204"/>
                <a:ea typeface="+mn-ea"/>
                <a:cs typeface="+mn-cs"/>
              </a:rPr>
              <a:t>(in driver recognition case)</a:t>
            </a:r>
            <a:endParaRPr lang="en-US" dirty="0"/>
          </a:p>
        </p:txBody>
      </p:sp>
      <p:sp>
        <p:nvSpPr>
          <p:cNvPr id="3" name="Content Placeholder 2"/>
          <p:cNvSpPr>
            <a:spLocks noGrp="1"/>
          </p:cNvSpPr>
          <p:nvPr>
            <p:ph idx="1"/>
          </p:nvPr>
        </p:nvSpPr>
        <p:spPr>
          <a:xfrm>
            <a:off x="5966171" y="1846112"/>
            <a:ext cx="4328517" cy="564253"/>
          </a:xfrm>
          <a:ln>
            <a:solidFill>
              <a:schemeClr val="tx1"/>
            </a:solidFill>
          </a:ln>
        </p:spPr>
        <p:txBody>
          <a:bodyPr>
            <a:noAutofit/>
          </a:bodyPr>
          <a:lstStyle/>
          <a:p>
            <a:pPr>
              <a:spcBef>
                <a:spcPts val="0"/>
              </a:spcBef>
              <a:spcAft>
                <a:spcPts val="0"/>
              </a:spcAft>
            </a:pPr>
            <a:r>
              <a:rPr lang="en-US" sz="1200" dirty="0"/>
              <a:t>In driver Recognition case, proven that GMM-based modeling approach produce a good authentication., identification</a:t>
            </a:r>
          </a:p>
          <a:p>
            <a:pPr>
              <a:spcBef>
                <a:spcPts val="0"/>
              </a:spcBef>
              <a:spcAft>
                <a:spcPts val="0"/>
              </a:spcAft>
            </a:pPr>
            <a:r>
              <a:rPr lang="en-US" sz="1200" dirty="0"/>
              <a:t>The feature induce a good model.</a:t>
            </a:r>
          </a:p>
          <a:p>
            <a:pPr>
              <a:spcBef>
                <a:spcPts val="0"/>
              </a:spcBef>
              <a:spcAft>
                <a:spcPts val="0"/>
              </a:spcAft>
            </a:pPr>
            <a:endParaRPr lang="en-US" sz="1100" dirty="0"/>
          </a:p>
        </p:txBody>
      </p:sp>
      <p:sp>
        <p:nvSpPr>
          <p:cNvPr id="4" name="Slide Number Placeholder 3"/>
          <p:cNvSpPr>
            <a:spLocks noGrp="1"/>
          </p:cNvSpPr>
          <p:nvPr>
            <p:ph type="sldNum" sz="quarter" idx="12"/>
          </p:nvPr>
        </p:nvSpPr>
        <p:spPr/>
        <p:txBody>
          <a:bodyPr/>
          <a:lstStyle/>
          <a:p>
            <a:fld id="{58370351-947A-4E07-9670-11236DD68188}" type="slidenum">
              <a:rPr lang="zh-TW" altLang="en-US" smtClean="0"/>
              <a:t>17</a:t>
            </a:fld>
            <a:endParaRPr lang="zh-TW" altLang="en-US"/>
          </a:p>
        </p:txBody>
      </p:sp>
      <p:pic>
        <p:nvPicPr>
          <p:cNvPr id="5" name="image21.png"/>
          <p:cNvPicPr/>
          <p:nvPr/>
        </p:nvPicPr>
        <p:blipFill>
          <a:blip r:embed="rId2" cstate="print"/>
          <a:stretch>
            <a:fillRect/>
          </a:stretch>
        </p:blipFill>
        <p:spPr>
          <a:xfrm>
            <a:off x="1264665" y="4446147"/>
            <a:ext cx="2861129" cy="1623153"/>
          </a:xfrm>
          <a:prstGeom prst="rect">
            <a:avLst/>
          </a:prstGeom>
        </p:spPr>
      </p:pic>
      <p:sp>
        <p:nvSpPr>
          <p:cNvPr id="6" name="TextBox 5"/>
          <p:cNvSpPr txBox="1"/>
          <p:nvPr/>
        </p:nvSpPr>
        <p:spPr>
          <a:xfrm>
            <a:off x="1097280" y="2012305"/>
            <a:ext cx="1491345" cy="338554"/>
          </a:xfrm>
          <a:prstGeom prst="rect">
            <a:avLst/>
          </a:prstGeom>
          <a:noFill/>
        </p:spPr>
        <p:txBody>
          <a:bodyPr wrap="square" rtlCol="0">
            <a:spAutoFit/>
          </a:bodyPr>
          <a:lstStyle/>
          <a:p>
            <a:r>
              <a:rPr lang="en-US" sz="1600" dirty="0"/>
              <a:t>Raw signal</a:t>
            </a:r>
          </a:p>
        </p:txBody>
      </p:sp>
      <p:pic>
        <p:nvPicPr>
          <p:cNvPr id="7" name="Picture 15" descr="Image result for verification">
            <a:extLst>
              <a:ext uri="{FF2B5EF4-FFF2-40B4-BE49-F238E27FC236}">
                <a16:creationId xmlns:a16="http://schemas.microsoft.com/office/drawing/2014/main" id="{5CEFA69B-31C3-4B94-8B61-565858EBB6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2361" y="2643880"/>
            <a:ext cx="2161006" cy="126857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5520551" y="4181572"/>
            <a:ext cx="2874235" cy="928267"/>
          </a:xfrm>
          <a:prstGeom prst="rect">
            <a:avLst/>
          </a:prstGeom>
        </p:spPr>
        <p:txBody>
          <a:bodyPr wrap="square">
            <a:spAutoFit/>
          </a:bodyPr>
          <a:lstStyle/>
          <a:p>
            <a:pPr>
              <a:lnSpc>
                <a:spcPct val="120000"/>
              </a:lnSpc>
              <a:spcBef>
                <a:spcPts val="0"/>
              </a:spcBef>
              <a:spcAft>
                <a:spcPts val="0"/>
              </a:spcAft>
            </a:pPr>
            <a:r>
              <a:rPr lang="en-US" sz="1100" dirty="0"/>
              <a:t>DRIVER AUTHENTICATION</a:t>
            </a:r>
          </a:p>
          <a:p>
            <a:pPr>
              <a:lnSpc>
                <a:spcPct val="120000"/>
              </a:lnSpc>
              <a:spcBef>
                <a:spcPts val="0"/>
              </a:spcBef>
              <a:spcAft>
                <a:spcPts val="0"/>
              </a:spcAft>
            </a:pPr>
            <a:r>
              <a:rPr lang="en-US" sz="800" dirty="0"/>
              <a:t>[YCL18] </a:t>
            </a:r>
            <a:r>
              <a:rPr lang="en-US" sz="800" dirty="0" err="1"/>
              <a:t>Ching</a:t>
            </a:r>
            <a:r>
              <a:rPr lang="en-US" sz="800" dirty="0"/>
              <a:t>-Han Yang, Chin-Chun Chang, Deron Liang (2018) “A Novel GMM-Based Behavioral Modeling Approach for Smartwatch-Based Driver Authentication”, Sensors, Volume 18, Issue 4, March 2018. (SCI)</a:t>
            </a:r>
            <a:r>
              <a:rPr lang="en-US" sz="1100" dirty="0"/>
              <a:t> </a:t>
            </a:r>
          </a:p>
        </p:txBody>
      </p:sp>
      <p:pic>
        <p:nvPicPr>
          <p:cNvPr id="9" name="Picture 2" descr="Image result for identification">
            <a:extLst>
              <a:ext uri="{FF2B5EF4-FFF2-40B4-BE49-F238E27FC236}">
                <a16:creationId xmlns:a16="http://schemas.microsoft.com/office/drawing/2014/main" id="{F863A729-62D6-43A4-94B4-69111FA2C9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46050" y="2643880"/>
            <a:ext cx="1566871" cy="169019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8997420" y="4715522"/>
            <a:ext cx="2926779" cy="886397"/>
          </a:xfrm>
          <a:prstGeom prst="rect">
            <a:avLst/>
          </a:prstGeom>
        </p:spPr>
        <p:txBody>
          <a:bodyPr wrap="square">
            <a:spAutoFit/>
          </a:bodyPr>
          <a:lstStyle/>
          <a:p>
            <a:pPr>
              <a:lnSpc>
                <a:spcPct val="120000"/>
              </a:lnSpc>
              <a:spcBef>
                <a:spcPts val="0"/>
              </a:spcBef>
              <a:spcAft>
                <a:spcPts val="0"/>
              </a:spcAft>
            </a:pPr>
            <a:r>
              <a:rPr lang="en-US" sz="1100" dirty="0"/>
              <a:t>DRIVER IDENTIFICATION</a:t>
            </a:r>
          </a:p>
          <a:p>
            <a:pPr>
              <a:lnSpc>
                <a:spcPct val="120000"/>
              </a:lnSpc>
              <a:spcBef>
                <a:spcPts val="0"/>
              </a:spcBef>
              <a:spcAft>
                <a:spcPts val="0"/>
              </a:spcAft>
            </a:pPr>
            <a:r>
              <a:rPr lang="en-US" sz="800" dirty="0"/>
              <a:t>[RCC21] Rekyan Regasari Mardi </a:t>
            </a:r>
            <a:r>
              <a:rPr lang="en-US" sz="800" dirty="0" err="1"/>
              <a:t>Putri</a:t>
            </a:r>
            <a:r>
              <a:rPr lang="en-US" sz="800" dirty="0"/>
              <a:t>, </a:t>
            </a:r>
            <a:r>
              <a:rPr lang="en-US" sz="800" dirty="0" err="1"/>
              <a:t>Ching</a:t>
            </a:r>
            <a:r>
              <a:rPr lang="en-US" sz="800" dirty="0"/>
              <a:t>-Han Yang, Chin-Chun Chang, Deron Liang (2020) “Smartwatch-based Open-set Driver Identification by Using GMM-based Behavior Modeling Approach”. in IEEE Sensors Journal, February 2021. (SCI)</a:t>
            </a:r>
          </a:p>
        </p:txBody>
      </p:sp>
      <p:sp>
        <p:nvSpPr>
          <p:cNvPr id="11" name="TextBox 10"/>
          <p:cNvSpPr txBox="1"/>
          <p:nvPr/>
        </p:nvSpPr>
        <p:spPr>
          <a:xfrm>
            <a:off x="6333826" y="3865705"/>
            <a:ext cx="1247686" cy="276999"/>
          </a:xfrm>
          <a:prstGeom prst="rect">
            <a:avLst/>
          </a:prstGeom>
          <a:noFill/>
        </p:spPr>
        <p:txBody>
          <a:bodyPr wrap="square" rtlCol="0">
            <a:spAutoFit/>
          </a:bodyPr>
          <a:lstStyle/>
          <a:p>
            <a:r>
              <a:rPr lang="en-US" sz="1200" dirty="0">
                <a:solidFill>
                  <a:srgbClr val="0070C0"/>
                </a:solidFill>
              </a:rPr>
              <a:t>Driver X? Y/N</a:t>
            </a:r>
          </a:p>
        </p:txBody>
      </p:sp>
      <p:sp>
        <p:nvSpPr>
          <p:cNvPr id="12" name="TextBox 11"/>
          <p:cNvSpPr txBox="1"/>
          <p:nvPr/>
        </p:nvSpPr>
        <p:spPr>
          <a:xfrm>
            <a:off x="8997421" y="4269146"/>
            <a:ext cx="2841321" cy="276999"/>
          </a:xfrm>
          <a:prstGeom prst="rect">
            <a:avLst/>
          </a:prstGeom>
          <a:noFill/>
        </p:spPr>
        <p:txBody>
          <a:bodyPr wrap="square" rtlCol="0">
            <a:spAutoFit/>
          </a:bodyPr>
          <a:lstStyle/>
          <a:p>
            <a:r>
              <a:rPr lang="en-US" sz="1200" dirty="0">
                <a:solidFill>
                  <a:srgbClr val="0070C0"/>
                </a:solidFill>
              </a:rPr>
              <a:t>Which Driver? A? B? C? D? or Unknown?</a:t>
            </a:r>
          </a:p>
        </p:txBody>
      </p:sp>
      <p:sp>
        <p:nvSpPr>
          <p:cNvPr id="13" name="Rectangle 12"/>
          <p:cNvSpPr/>
          <p:nvPr/>
        </p:nvSpPr>
        <p:spPr>
          <a:xfrm>
            <a:off x="6481378" y="5700045"/>
            <a:ext cx="3041730" cy="276999"/>
          </a:xfrm>
          <a:prstGeom prst="rect">
            <a:avLst/>
          </a:prstGeom>
        </p:spPr>
        <p:txBody>
          <a:bodyPr wrap="none">
            <a:spAutoFit/>
          </a:bodyPr>
          <a:lstStyle/>
          <a:p>
            <a:r>
              <a:rPr lang="en-US" sz="1200" dirty="0">
                <a:hlinkClick r:id="rId5"/>
              </a:rPr>
              <a:t>https://isslab.csie.ncu.edu.tw/en/results.html</a:t>
            </a:r>
            <a:endParaRPr lang="en-US" sz="1200" dirty="0"/>
          </a:p>
        </p:txBody>
      </p:sp>
      <p:cxnSp>
        <p:nvCxnSpPr>
          <p:cNvPr id="15" name="Elbow Connector 14"/>
          <p:cNvCxnSpPr>
            <a:stCxn id="3" idx="2"/>
            <a:endCxn id="7" idx="0"/>
          </p:cNvCxnSpPr>
          <p:nvPr/>
        </p:nvCxnSpPr>
        <p:spPr>
          <a:xfrm rot="5400000">
            <a:off x="7364890" y="1878339"/>
            <a:ext cx="233515" cy="129756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7" name="Elbow Connector 16"/>
          <p:cNvCxnSpPr>
            <a:stCxn id="3" idx="2"/>
            <a:endCxn id="9" idx="0"/>
          </p:cNvCxnSpPr>
          <p:nvPr/>
        </p:nvCxnSpPr>
        <p:spPr>
          <a:xfrm rot="16200000" flipH="1">
            <a:off x="8863201" y="1677594"/>
            <a:ext cx="233515" cy="169905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6481378" y="5527872"/>
            <a:ext cx="1018342" cy="246221"/>
          </a:xfrm>
          <a:prstGeom prst="rect">
            <a:avLst/>
          </a:prstGeom>
          <a:noFill/>
        </p:spPr>
        <p:txBody>
          <a:bodyPr wrap="square" rtlCol="0">
            <a:spAutoFit/>
          </a:bodyPr>
          <a:lstStyle/>
          <a:p>
            <a:r>
              <a:rPr lang="en-US" sz="1000" dirty="0"/>
              <a:t>Article link:</a:t>
            </a:r>
          </a:p>
        </p:txBody>
      </p:sp>
      <p:grpSp>
        <p:nvGrpSpPr>
          <p:cNvPr id="18" name="群組 10">
            <a:extLst>
              <a:ext uri="{FF2B5EF4-FFF2-40B4-BE49-F238E27FC236}">
                <a16:creationId xmlns:a16="http://schemas.microsoft.com/office/drawing/2014/main" id="{E2E90567-4221-4E23-89CB-2E3768590181}"/>
              </a:ext>
            </a:extLst>
          </p:cNvPr>
          <p:cNvGrpSpPr/>
          <p:nvPr/>
        </p:nvGrpSpPr>
        <p:grpSpPr>
          <a:xfrm>
            <a:off x="17231" y="2682700"/>
            <a:ext cx="1893312" cy="1440023"/>
            <a:chOff x="0" y="2341274"/>
            <a:chExt cx="3723812" cy="3125929"/>
          </a:xfrm>
        </p:grpSpPr>
        <p:pic>
          <p:nvPicPr>
            <p:cNvPr id="20" name="圖片 4">
              <a:extLst>
                <a:ext uri="{FF2B5EF4-FFF2-40B4-BE49-F238E27FC236}">
                  <a16:creationId xmlns:a16="http://schemas.microsoft.com/office/drawing/2014/main" id="{F0DFA183-2A21-48CA-B022-035EAA6A3C29}"/>
                </a:ext>
              </a:extLst>
            </p:cNvPr>
            <p:cNvPicPr>
              <a:picLocks noChangeAspect="1"/>
            </p:cNvPicPr>
            <p:nvPr/>
          </p:nvPicPr>
          <p:blipFill>
            <a:blip r:embed="rId6"/>
            <a:stretch>
              <a:fillRect/>
            </a:stretch>
          </p:blipFill>
          <p:spPr>
            <a:xfrm>
              <a:off x="0" y="2341274"/>
              <a:ext cx="3723812" cy="3125929"/>
            </a:xfrm>
            <a:prstGeom prst="rect">
              <a:avLst/>
            </a:prstGeom>
          </p:spPr>
        </p:pic>
        <p:sp>
          <p:nvSpPr>
            <p:cNvPr id="21" name="矩形 7">
              <a:extLst>
                <a:ext uri="{FF2B5EF4-FFF2-40B4-BE49-F238E27FC236}">
                  <a16:creationId xmlns:a16="http://schemas.microsoft.com/office/drawing/2014/main" id="{860B8C76-B70D-46F6-BEB2-4B2450C14766}"/>
                </a:ext>
              </a:extLst>
            </p:cNvPr>
            <p:cNvSpPr/>
            <p:nvPr/>
          </p:nvSpPr>
          <p:spPr>
            <a:xfrm>
              <a:off x="1861906" y="2341274"/>
              <a:ext cx="328474" cy="14204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grpSp>
      <p:grpSp>
        <p:nvGrpSpPr>
          <p:cNvPr id="22" name="群組 11">
            <a:extLst>
              <a:ext uri="{FF2B5EF4-FFF2-40B4-BE49-F238E27FC236}">
                <a16:creationId xmlns:a16="http://schemas.microsoft.com/office/drawing/2014/main" id="{EE83EBD5-0B5E-4227-87F0-742A275AD2EA}"/>
              </a:ext>
            </a:extLst>
          </p:cNvPr>
          <p:cNvGrpSpPr/>
          <p:nvPr/>
        </p:nvGrpSpPr>
        <p:grpSpPr>
          <a:xfrm>
            <a:off x="1763327" y="2682700"/>
            <a:ext cx="1863806" cy="1440023"/>
            <a:chOff x="3595384" y="2341274"/>
            <a:chExt cx="4214560" cy="3125928"/>
          </a:xfrm>
        </p:grpSpPr>
        <p:pic>
          <p:nvPicPr>
            <p:cNvPr id="23" name="圖片 5">
              <a:extLst>
                <a:ext uri="{FF2B5EF4-FFF2-40B4-BE49-F238E27FC236}">
                  <a16:creationId xmlns:a16="http://schemas.microsoft.com/office/drawing/2014/main" id="{6077FAD4-BE88-49D0-A5F8-8BA847D6398F}"/>
                </a:ext>
              </a:extLst>
            </p:cNvPr>
            <p:cNvPicPr>
              <a:picLocks noChangeAspect="1"/>
            </p:cNvPicPr>
            <p:nvPr/>
          </p:nvPicPr>
          <p:blipFill>
            <a:blip r:embed="rId7"/>
            <a:stretch>
              <a:fillRect/>
            </a:stretch>
          </p:blipFill>
          <p:spPr>
            <a:xfrm>
              <a:off x="3595384" y="2341274"/>
              <a:ext cx="4214560" cy="3125928"/>
            </a:xfrm>
            <a:prstGeom prst="rect">
              <a:avLst/>
            </a:prstGeom>
          </p:spPr>
        </p:pic>
        <p:sp>
          <p:nvSpPr>
            <p:cNvPr id="24" name="矩形 8">
              <a:extLst>
                <a:ext uri="{FF2B5EF4-FFF2-40B4-BE49-F238E27FC236}">
                  <a16:creationId xmlns:a16="http://schemas.microsoft.com/office/drawing/2014/main" id="{0AEBF4CB-8329-42BC-8E4E-0CFB7A86E58C}"/>
                </a:ext>
              </a:extLst>
            </p:cNvPr>
            <p:cNvSpPr/>
            <p:nvPr/>
          </p:nvSpPr>
          <p:spPr>
            <a:xfrm>
              <a:off x="5707417" y="2378264"/>
              <a:ext cx="328474" cy="14204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grpSp>
      <p:grpSp>
        <p:nvGrpSpPr>
          <p:cNvPr id="25" name="群組 12">
            <a:extLst>
              <a:ext uri="{FF2B5EF4-FFF2-40B4-BE49-F238E27FC236}">
                <a16:creationId xmlns:a16="http://schemas.microsoft.com/office/drawing/2014/main" id="{FFC73D39-1221-4598-9B92-C3691DE743F2}"/>
              </a:ext>
            </a:extLst>
          </p:cNvPr>
          <p:cNvGrpSpPr/>
          <p:nvPr/>
        </p:nvGrpSpPr>
        <p:grpSpPr>
          <a:xfrm>
            <a:off x="3483982" y="2668213"/>
            <a:ext cx="1792657" cy="1454510"/>
            <a:chOff x="7809944" y="2341274"/>
            <a:chExt cx="4181027" cy="3125928"/>
          </a:xfrm>
        </p:grpSpPr>
        <p:pic>
          <p:nvPicPr>
            <p:cNvPr id="26" name="圖片 6">
              <a:extLst>
                <a:ext uri="{FF2B5EF4-FFF2-40B4-BE49-F238E27FC236}">
                  <a16:creationId xmlns:a16="http://schemas.microsoft.com/office/drawing/2014/main" id="{17AAE548-C71E-4151-91A4-AA49855C57BE}"/>
                </a:ext>
              </a:extLst>
            </p:cNvPr>
            <p:cNvPicPr>
              <a:picLocks noChangeAspect="1"/>
            </p:cNvPicPr>
            <p:nvPr/>
          </p:nvPicPr>
          <p:blipFill>
            <a:blip r:embed="rId8"/>
            <a:stretch>
              <a:fillRect/>
            </a:stretch>
          </p:blipFill>
          <p:spPr>
            <a:xfrm>
              <a:off x="7809944" y="2341274"/>
              <a:ext cx="4181027" cy="3125928"/>
            </a:xfrm>
            <a:prstGeom prst="rect">
              <a:avLst/>
            </a:prstGeom>
          </p:spPr>
        </p:pic>
        <p:sp>
          <p:nvSpPr>
            <p:cNvPr id="27" name="矩形 9">
              <a:extLst>
                <a:ext uri="{FF2B5EF4-FFF2-40B4-BE49-F238E27FC236}">
                  <a16:creationId xmlns:a16="http://schemas.microsoft.com/office/drawing/2014/main" id="{D2BA9193-0A5B-4FC9-8874-35F69987E35C}"/>
                </a:ext>
              </a:extLst>
            </p:cNvPr>
            <p:cNvSpPr/>
            <p:nvPr/>
          </p:nvSpPr>
          <p:spPr>
            <a:xfrm>
              <a:off x="9862166" y="2378265"/>
              <a:ext cx="328474" cy="14204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3076521168"/>
      </p:ext>
    </p:extLst>
  </p:cSld>
  <p:clrMapOvr>
    <a:masterClrMapping/>
  </p:clrMapOvr>
  <mc:AlternateContent xmlns:mc="http://schemas.openxmlformats.org/markup-compatibility/2006" xmlns:p14="http://schemas.microsoft.com/office/powerpoint/2010/main">
    <mc:Choice Requires="p14">
      <p:transition spd="slow" p14:dur="2000" advTm="26918"/>
    </mc:Choice>
    <mc:Fallback xmlns="">
      <p:transition spd="slow" advTm="26918"/>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GMM’s Summarize</a:t>
            </a:r>
          </a:p>
        </p:txBody>
      </p:sp>
      <p:sp>
        <p:nvSpPr>
          <p:cNvPr id="4" name="Content Placeholder 3"/>
          <p:cNvSpPr>
            <a:spLocks noGrp="1"/>
          </p:cNvSpPr>
          <p:nvPr>
            <p:ph idx="1"/>
          </p:nvPr>
        </p:nvSpPr>
        <p:spPr/>
        <p:txBody>
          <a:bodyPr>
            <a:normAutofit fontScale="92500" lnSpcReduction="10000"/>
          </a:bodyPr>
          <a:lstStyle/>
          <a:p>
            <a:r>
              <a:rPr lang="en-US" dirty="0"/>
              <a:t>- what is GMM </a:t>
            </a:r>
          </a:p>
          <a:p>
            <a:pPr marL="0" indent="0">
              <a:buNone/>
            </a:pPr>
            <a:r>
              <a:rPr lang="en-US" dirty="0"/>
              <a:t>	a single distribution combined from n distribution</a:t>
            </a:r>
          </a:p>
          <a:p>
            <a:endParaRPr lang="en-US" dirty="0"/>
          </a:p>
          <a:p>
            <a:r>
              <a:rPr lang="en-US" dirty="0"/>
              <a:t>- why we use GMM</a:t>
            </a:r>
          </a:p>
          <a:p>
            <a:pPr marL="914400" indent="0">
              <a:lnSpc>
                <a:spcPct val="80000"/>
              </a:lnSpc>
              <a:spcBef>
                <a:spcPts val="0"/>
              </a:spcBef>
              <a:spcAft>
                <a:spcPts val="0"/>
              </a:spcAft>
              <a:buNone/>
            </a:pPr>
            <a:r>
              <a:rPr lang="en-US" dirty="0"/>
              <a:t>when the signal’s probability distribution that we used, </a:t>
            </a:r>
          </a:p>
          <a:p>
            <a:pPr marL="914400" indent="0">
              <a:lnSpc>
                <a:spcPct val="80000"/>
              </a:lnSpc>
              <a:spcBef>
                <a:spcPts val="0"/>
              </a:spcBef>
              <a:spcAft>
                <a:spcPts val="0"/>
              </a:spcAft>
              <a:buNone/>
            </a:pPr>
            <a:r>
              <a:rPr lang="en-US" dirty="0"/>
              <a:t>cannot </a:t>
            </a:r>
            <a:r>
              <a:rPr lang="en-US" dirty="0" err="1"/>
              <a:t>representated</a:t>
            </a:r>
            <a:r>
              <a:rPr lang="en-US" dirty="0"/>
              <a:t> by a single Gaussian model</a:t>
            </a:r>
          </a:p>
          <a:p>
            <a:endParaRPr lang="en-US" dirty="0"/>
          </a:p>
          <a:p>
            <a:endParaRPr lang="en-US" dirty="0"/>
          </a:p>
          <a:p>
            <a:r>
              <a:rPr lang="en-US" dirty="0"/>
              <a:t>- how is GMM work</a:t>
            </a:r>
          </a:p>
          <a:p>
            <a:pPr marL="201168" lvl="1" indent="0">
              <a:buNone/>
            </a:pPr>
            <a:r>
              <a:rPr lang="en-US" dirty="0"/>
              <a:t>	Convert into single matrix </a:t>
            </a:r>
            <a:r>
              <a:rPr lang="en-US" dirty="0">
                <a:sym typeface="Wingdings" panose="05000000000000000000" pitchFamily="2" charset="2"/>
              </a:rPr>
              <a:t> </a:t>
            </a:r>
            <a:r>
              <a:rPr lang="en-US" dirty="0" err="1">
                <a:sym typeface="Wingdings" panose="05000000000000000000" pitchFamily="2" charset="2"/>
              </a:rPr>
              <a:t>partity</a:t>
            </a:r>
            <a:r>
              <a:rPr lang="en-US" dirty="0">
                <a:sym typeface="Wingdings" panose="05000000000000000000" pitchFamily="2" charset="2"/>
              </a:rPr>
              <a:t> into k cluster  </a:t>
            </a:r>
          </a:p>
          <a:p>
            <a:pPr marL="201168" lvl="1" indent="0">
              <a:buNone/>
            </a:pPr>
            <a:r>
              <a:rPr lang="en-US" dirty="0">
                <a:sym typeface="Wingdings" panose="05000000000000000000" pitchFamily="2" charset="2"/>
              </a:rPr>
              <a:t>	</a:t>
            </a:r>
            <a:r>
              <a:rPr lang="en-US" dirty="0"/>
              <a:t>Gaussian mixture distribution class </a:t>
            </a:r>
          </a:p>
          <a:p>
            <a:pPr marL="201168" lvl="1" indent="0">
              <a:buNone/>
            </a:pPr>
            <a:r>
              <a:rPr lang="en-US" dirty="0"/>
              <a:t>	(use “</a:t>
            </a:r>
            <a:r>
              <a:rPr lang="en-US" dirty="0" err="1"/>
              <a:t>gmDistribution.fit</a:t>
            </a:r>
            <a:r>
              <a:rPr lang="en-US" dirty="0"/>
              <a:t>” on </a:t>
            </a:r>
            <a:r>
              <a:rPr lang="en-US" dirty="0" err="1"/>
              <a:t>matlab</a:t>
            </a:r>
            <a:r>
              <a:rPr lang="en-US" dirty="0"/>
              <a:t>)</a:t>
            </a:r>
          </a:p>
        </p:txBody>
      </p:sp>
      <p:sp>
        <p:nvSpPr>
          <p:cNvPr id="2" name="Slide Number Placeholder 1"/>
          <p:cNvSpPr>
            <a:spLocks noGrp="1"/>
          </p:cNvSpPr>
          <p:nvPr>
            <p:ph type="sldNum" sz="quarter" idx="12"/>
          </p:nvPr>
        </p:nvSpPr>
        <p:spPr/>
        <p:txBody>
          <a:bodyPr/>
          <a:lstStyle/>
          <a:p>
            <a:fld id="{58370351-947A-4E07-9670-11236DD68188}" type="slidenum">
              <a:rPr lang="zh-TW" altLang="en-US" smtClean="0"/>
              <a:t>18</a:t>
            </a:fld>
            <a:endParaRPr lang="zh-TW" altLang="en-US"/>
          </a:p>
        </p:txBody>
      </p:sp>
      <p:pic>
        <p:nvPicPr>
          <p:cNvPr id="5" name="Picture 4"/>
          <p:cNvPicPr>
            <a:picLocks noChangeAspect="1"/>
          </p:cNvPicPr>
          <p:nvPr/>
        </p:nvPicPr>
        <p:blipFill>
          <a:blip r:embed="rId2"/>
          <a:stretch>
            <a:fillRect/>
          </a:stretch>
        </p:blipFill>
        <p:spPr>
          <a:xfrm>
            <a:off x="8227821" y="1864053"/>
            <a:ext cx="1431307" cy="1001273"/>
          </a:xfrm>
          <a:prstGeom prst="rect">
            <a:avLst/>
          </a:prstGeom>
        </p:spPr>
      </p:pic>
      <p:pic>
        <p:nvPicPr>
          <p:cNvPr id="6" name="Picture 4" descr="tnfpoints"/>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8400705" y="2973700"/>
            <a:ext cx="1085537" cy="1085537"/>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p:cNvGrpSpPr/>
          <p:nvPr/>
        </p:nvGrpSpPr>
        <p:grpSpPr>
          <a:xfrm>
            <a:off x="8400705" y="4708648"/>
            <a:ext cx="1499753" cy="1214633"/>
            <a:chOff x="4214852" y="1687487"/>
            <a:chExt cx="3118970" cy="2542128"/>
          </a:xfrm>
        </p:grpSpPr>
        <p:pic>
          <p:nvPicPr>
            <p:cNvPr id="8" name="Picture 7"/>
            <p:cNvPicPr>
              <a:picLocks noChangeAspect="1"/>
            </p:cNvPicPr>
            <p:nvPr/>
          </p:nvPicPr>
          <p:blipFill>
            <a:blip r:embed="rId4"/>
            <a:stretch>
              <a:fillRect/>
            </a:stretch>
          </p:blipFill>
          <p:spPr>
            <a:xfrm>
              <a:off x="4214852" y="1687487"/>
              <a:ext cx="3118970" cy="2542128"/>
            </a:xfrm>
            <a:prstGeom prst="rect">
              <a:avLst/>
            </a:prstGeom>
          </p:spPr>
        </p:pic>
        <p:sp>
          <p:nvSpPr>
            <p:cNvPr id="9" name="Oval 8"/>
            <p:cNvSpPr/>
            <p:nvPr/>
          </p:nvSpPr>
          <p:spPr>
            <a:xfrm>
              <a:off x="4437089" y="2893103"/>
              <a:ext cx="1319134" cy="989350"/>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Oval 9"/>
            <p:cNvSpPr/>
            <p:nvPr/>
          </p:nvSpPr>
          <p:spPr>
            <a:xfrm>
              <a:off x="4589489" y="3045503"/>
              <a:ext cx="1016832" cy="717028"/>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Oval 10"/>
            <p:cNvSpPr/>
            <p:nvPr/>
          </p:nvSpPr>
          <p:spPr>
            <a:xfrm>
              <a:off x="4741889" y="3197903"/>
              <a:ext cx="684550" cy="414727"/>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Oval 11"/>
            <p:cNvSpPr/>
            <p:nvPr/>
          </p:nvSpPr>
          <p:spPr>
            <a:xfrm rot="1751759">
              <a:off x="5148490" y="1995910"/>
              <a:ext cx="1860005" cy="1210244"/>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Oval 12"/>
            <p:cNvSpPr/>
            <p:nvPr/>
          </p:nvSpPr>
          <p:spPr>
            <a:xfrm rot="1751759">
              <a:off x="5366211" y="2169929"/>
              <a:ext cx="1508683" cy="841716"/>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Oval 13"/>
            <p:cNvSpPr/>
            <p:nvPr/>
          </p:nvSpPr>
          <p:spPr>
            <a:xfrm rot="1751759">
              <a:off x="5499290" y="2232689"/>
              <a:ext cx="1069685" cy="631432"/>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1066419467"/>
      </p:ext>
    </p:extLst>
  </p:cSld>
  <p:clrMapOvr>
    <a:masterClrMapping/>
  </p:clrMapOvr>
  <mc:AlternateContent xmlns:mc="http://schemas.openxmlformats.org/markup-compatibility/2006" xmlns:p14="http://schemas.microsoft.com/office/powerpoint/2010/main">
    <mc:Choice Requires="p14">
      <p:transition spd="slow" p14:dur="2000" advTm="57290"/>
    </mc:Choice>
    <mc:Fallback xmlns="">
      <p:transition spd="slow" advTm="5729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5.3|2.2|2.3|1.4|1.3|1.5|3.9|2.8|2.7"/>
</p:tagLst>
</file>

<file path=ppt/tags/tag2.xml><?xml version="1.0" encoding="utf-8"?>
<p:tagLst xmlns:a="http://schemas.openxmlformats.org/drawingml/2006/main" xmlns:r="http://schemas.openxmlformats.org/officeDocument/2006/relationships" xmlns:p="http://schemas.openxmlformats.org/presentationml/2006/main">
  <p:tag name="TIMING" val="|1.1|3|1|0.7|1.1|0.6|0.8|0.6|1.7|1.4|9.9|6.9|1.7|6"/>
</p:tagLst>
</file>

<file path=ppt/tags/tag3.xml><?xml version="1.0" encoding="utf-8"?>
<p:tagLst xmlns:a="http://schemas.openxmlformats.org/drawingml/2006/main" xmlns:r="http://schemas.openxmlformats.org/officeDocument/2006/relationships" xmlns:p="http://schemas.openxmlformats.org/presentationml/2006/main">
  <p:tag name="TIMING" val="|15.9|0.8|4.7|6.6|10.1"/>
</p:tagLst>
</file>

<file path=ppt/theme/theme1.xml><?xml version="1.0" encoding="utf-8"?>
<a:theme xmlns:a="http://schemas.openxmlformats.org/drawingml/2006/main" name="回顧">
  <a:themeElements>
    <a:clrScheme name="回顧">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顧">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顧">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8778</TotalTime>
  <Words>1284</Words>
  <Application>Microsoft Office PowerPoint</Application>
  <PresentationFormat>Widescreen</PresentationFormat>
  <Paragraphs>349</Paragraphs>
  <Slides>18</Slides>
  <Notes>5</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Calibri</vt:lpstr>
      <vt:lpstr>Calibri Light</vt:lpstr>
      <vt:lpstr>Cambria Math</vt:lpstr>
      <vt:lpstr>Lato</vt:lpstr>
      <vt:lpstr>Lato Black</vt:lpstr>
      <vt:lpstr>Lato Light</vt:lpstr>
      <vt:lpstr>回顧</vt:lpstr>
      <vt:lpstr>GAUSSIAN MIXTURE MODEL (GMM)</vt:lpstr>
      <vt:lpstr>PowerPoint Presentation</vt:lpstr>
      <vt:lpstr>Example in DRIVER RECOGNITION ARCHITECTURE</vt:lpstr>
      <vt:lpstr>Feature Extraction</vt:lpstr>
      <vt:lpstr>Feature Extraction</vt:lpstr>
      <vt:lpstr>Why we use GMM</vt:lpstr>
      <vt:lpstr>Raw data</vt:lpstr>
      <vt:lpstr>PowerPoint Presentation</vt:lpstr>
      <vt:lpstr>What is GMM</vt:lpstr>
      <vt:lpstr>Normal (Gaussian) Distribution </vt:lpstr>
      <vt:lpstr>PowerPoint Presentation</vt:lpstr>
      <vt:lpstr>Gaussian</vt:lpstr>
      <vt:lpstr>PowerPoint Presentation</vt:lpstr>
      <vt:lpstr>Gaussian Mixture Model (GMM)</vt:lpstr>
      <vt:lpstr>How to apply GMM (matlab)</vt:lpstr>
      <vt:lpstr>PowerPoint Presentation</vt:lpstr>
      <vt:lpstr>GMM Implementation example (in driver recognition case)</vt:lpstr>
      <vt:lpstr>GMM’s Summarize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Preporcessing</dc:title>
  <dc:creator>rekyan</dc:creator>
  <cp:lastModifiedBy>Ika Putri</cp:lastModifiedBy>
  <cp:revision>253</cp:revision>
  <dcterms:created xsi:type="dcterms:W3CDTF">2019-01-04T03:03:08Z</dcterms:created>
  <dcterms:modified xsi:type="dcterms:W3CDTF">2024-03-19T06:39:47Z</dcterms:modified>
</cp:coreProperties>
</file>