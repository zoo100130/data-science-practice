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Dosis"/>
      <p:regular r:id="rId24"/>
      <p:bold r:id="rId25"/>
    </p:embeddedFont>
    <p:embeddedFont>
      <p:font typeface="Arvo"/>
      <p:regular r:id="rId26"/>
      <p:bold r:id="rId27"/>
      <p:italic r:id="rId28"/>
      <p:boldItalic r:id="rId29"/>
    </p:embeddedFont>
    <p:embeddedFont>
      <p:font typeface="Roboto Condensed"/>
      <p:regular r:id="rId30"/>
      <p:bold r:id="rId31"/>
      <p:italic r:id="rId32"/>
      <p:boldItalic r:id="rId33"/>
    </p:embeddedFont>
    <p:embeddedFont>
      <p:font typeface="Roboto Condensed Light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gwCyZ9yEwn0hRQuRFj30/6tf0m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font" Target="fonts/OpenSans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Dosis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vo-regular.fntdata"/><Relationship Id="rId25" Type="http://schemas.openxmlformats.org/officeDocument/2006/relationships/font" Target="fonts/Dosis-bold.fntdata"/><Relationship Id="rId28" Type="http://schemas.openxmlformats.org/officeDocument/2006/relationships/font" Target="fonts/Arvo-italic.fntdata"/><Relationship Id="rId27" Type="http://schemas.openxmlformats.org/officeDocument/2006/relationships/font" Target="fonts/Arv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v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Condensed-bold.fntdata"/><Relationship Id="rId30" Type="http://schemas.openxmlformats.org/officeDocument/2006/relationships/font" Target="fonts/RobotoCondensed-regular.fntdata"/><Relationship Id="rId11" Type="http://schemas.openxmlformats.org/officeDocument/2006/relationships/slide" Target="slides/slide7.xml"/><Relationship Id="rId33" Type="http://schemas.openxmlformats.org/officeDocument/2006/relationships/font" Target="fonts/RobotoCondensed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Condensed-italic.fntdata"/><Relationship Id="rId13" Type="http://schemas.openxmlformats.org/officeDocument/2006/relationships/slide" Target="slides/slide9.xml"/><Relationship Id="rId35" Type="http://schemas.openxmlformats.org/officeDocument/2006/relationships/font" Target="fonts/RobotoCondensedLight-bold.fntdata"/><Relationship Id="rId12" Type="http://schemas.openxmlformats.org/officeDocument/2006/relationships/slide" Target="slides/slide8.xml"/><Relationship Id="rId34" Type="http://schemas.openxmlformats.org/officeDocument/2006/relationships/font" Target="fonts/RobotoCondensedLight-regular.fntdata"/><Relationship Id="rId15" Type="http://schemas.openxmlformats.org/officeDocument/2006/relationships/slide" Target="slides/slide11.xml"/><Relationship Id="rId37" Type="http://schemas.openxmlformats.org/officeDocument/2006/relationships/font" Target="fonts/RobotoCondensedLight-boldItalic.fntdata"/><Relationship Id="rId14" Type="http://schemas.openxmlformats.org/officeDocument/2006/relationships/slide" Target="slides/slide10.xml"/><Relationship Id="rId36" Type="http://schemas.openxmlformats.org/officeDocument/2006/relationships/font" Target="fonts/RobotoCondensedLight-italic.fntdata"/><Relationship Id="rId17" Type="http://schemas.openxmlformats.org/officeDocument/2006/relationships/slide" Target="slides/slide13.xml"/><Relationship Id="rId39" Type="http://schemas.openxmlformats.org/officeDocument/2006/relationships/font" Target="fonts/OpenSans-bold.fntdata"/><Relationship Id="rId16" Type="http://schemas.openxmlformats.org/officeDocument/2006/relationships/slide" Target="slides/slide12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CREATE A NAVIGATION!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CREATE A NAVIGATION!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CREATE A NAVIGATION!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1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1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1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1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7" cy="6522736"/>
          </a:xfrm>
        </p:grpSpPr>
        <p:sp>
          <p:nvSpPr>
            <p:cNvPr id="15" name="Google Shape;15;p21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1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1"/>
          <p:cNvGrpSpPr/>
          <p:nvPr/>
        </p:nvGrpSpPr>
        <p:grpSpPr>
          <a:xfrm>
            <a:off x="3677236" y="4278349"/>
            <a:ext cx="5480828" cy="432996"/>
            <a:chOff x="5582265" y="4646738"/>
            <a:chExt cx="5480828" cy="432996"/>
          </a:xfrm>
        </p:grpSpPr>
        <p:sp>
          <p:nvSpPr>
            <p:cNvPr id="18" name="Google Shape;18;p21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" name="Google Shape;19;p21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1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1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" name="Google Shape;22;p21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e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311700" y="34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3800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3600">
                <a:latin typeface="Dosis"/>
                <a:ea typeface="Dosis"/>
                <a:cs typeface="Dosis"/>
                <a:sym typeface="Dosi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3600">
                <a:latin typeface="Dosis"/>
                <a:ea typeface="Dosis"/>
                <a:cs typeface="Dosis"/>
                <a:sym typeface="Dosi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3600">
                <a:latin typeface="Dosis"/>
                <a:ea typeface="Dosis"/>
                <a:cs typeface="Dosis"/>
                <a:sym typeface="Dosi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3600">
                <a:latin typeface="Dosis"/>
                <a:ea typeface="Dosis"/>
                <a:cs typeface="Dosis"/>
                <a:sym typeface="Dosi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3600">
                <a:latin typeface="Dosis"/>
                <a:ea typeface="Dosis"/>
                <a:cs typeface="Dosis"/>
                <a:sym typeface="Dosi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3600">
                <a:latin typeface="Dosis"/>
                <a:ea typeface="Dosis"/>
                <a:cs typeface="Dosis"/>
                <a:sym typeface="Dosi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3600">
                <a:latin typeface="Dosis"/>
                <a:ea typeface="Dosis"/>
                <a:cs typeface="Dosis"/>
                <a:sym typeface="Dosi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1" sz="3600">
                <a:latin typeface="Dosis"/>
                <a:ea typeface="Dosis"/>
                <a:cs typeface="Dosis"/>
                <a:sym typeface="Dosis"/>
              </a:defRPr>
            </a:lvl9pPr>
          </a:lstStyle>
          <a:p/>
        </p:txBody>
      </p:sp>
      <p:sp>
        <p:nvSpPr>
          <p:cNvPr id="25" name="Google Shape;25;p22"/>
          <p:cNvSpPr txBox="1"/>
          <p:nvPr>
            <p:ph idx="1" type="subTitle"/>
          </p:nvPr>
        </p:nvSpPr>
        <p:spPr>
          <a:xfrm>
            <a:off x="2249850" y="606800"/>
            <a:ext cx="46443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400"/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26" name="Google Shape;26;p22"/>
          <p:cNvSpPr/>
          <p:nvPr/>
        </p:nvSpPr>
        <p:spPr>
          <a:xfrm>
            <a:off x="8468475" y="152350"/>
            <a:ext cx="454500" cy="365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2"/>
          <p:cNvSpPr/>
          <p:nvPr/>
        </p:nvSpPr>
        <p:spPr>
          <a:xfrm>
            <a:off x="8468475" y="517700"/>
            <a:ext cx="454500" cy="89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421384" y="138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1" i="0" sz="13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" name="Google Shape;31;p2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2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" name="Google Shape;33;p2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2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oogle Shape;36;p2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2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2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" name="Google Shape;39;p23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40" name="Google Shape;40;p2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" name="Google Shape;41;p2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42" name="Google Shape;42;p2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" name="Google Shape;44;p2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45" name="Google Shape;45;p2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24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49" name="Google Shape;49;p24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50" name="Google Shape;50;p24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51" name="Google Shape;51;p24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52" name="Google Shape;52;p24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53" name="Google Shape;53;p24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54" name="Google Shape;54;p24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55" name="Google Shape;55;p24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56" name="Google Shape;56;p2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57" name="Google Shape;57;p2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" name="Google Shape;58;p2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9" name="Google Shape;59;p2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" name="Google Shape;61;p2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2" name="Google Shape;62;p2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4" name="Google Shape;64;p24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indent="-3810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indent="-3810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indent="-3810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indent="-3810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indent="-3810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indent="-3810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indent="-3810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indent="-3810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5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69" name="Google Shape;69;p25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70" name="Google Shape;70;p25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5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72" name="Google Shape;72;p25"/>
          <p:cNvGrpSpPr/>
          <p:nvPr/>
        </p:nvGrpSpPr>
        <p:grpSpPr>
          <a:xfrm flipH="1" rot="10800000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73" name="Google Shape;73;p25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74" name="Google Shape;74;p25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75" name="Google Shape;75;p2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6" name="Google Shape;76;p2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" name="Google Shape;77;p2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8" name="Google Shape;78;p2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2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81" name="Google Shape;81;p2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" name="Google Shape;83;p25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25"/>
          <p:cNvSpPr txBox="1"/>
          <p:nvPr>
            <p:ph idx="1" type="subTitle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2pPr>
            <a:lvl3pPr lvl="2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3pPr>
            <a:lvl4pPr lvl="3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4pPr>
            <a:lvl5pPr lvl="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5pPr>
            <a:lvl6pPr lvl="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6pPr>
            <a:lvl7pPr lvl="6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7pPr>
            <a:lvl8pPr lvl="7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8pPr>
            <a:lvl9pPr lvl="8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9pPr>
          </a:lstStyle>
          <a:p/>
        </p:txBody>
      </p:sp>
      <p:sp>
        <p:nvSpPr>
          <p:cNvPr id="85" name="Google Shape;85;p2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88" name="Google Shape;88;p26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89" name="Google Shape;89;p26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6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91" name="Google Shape;91;p26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7" cy="6522736"/>
          </a:xfrm>
        </p:grpSpPr>
        <p:sp>
          <p:nvSpPr>
            <p:cNvPr id="92" name="Google Shape;92;p26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93" name="Google Shape;93;p26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94" name="Google Shape;94;p26"/>
          <p:cNvSpPr txBox="1"/>
          <p:nvPr>
            <p:ph idx="1" type="body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i="1" sz="3000">
                <a:solidFill>
                  <a:srgbClr val="FFFFFF"/>
                </a:solidFill>
              </a:defRPr>
            </a:lvl1pPr>
            <a:lvl2pPr indent="-4191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2pPr>
            <a:lvl3pPr indent="-4191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3pPr>
            <a:lvl4pPr indent="-4191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4pPr>
            <a:lvl5pPr indent="-4191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5pPr>
            <a:lvl6pPr indent="-4191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6pPr>
            <a:lvl7pPr indent="-4191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7pPr>
            <a:lvl8pPr indent="-4191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8pPr>
            <a:lvl9pPr indent="-4191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i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26"/>
          <p:cNvSpPr txBox="1"/>
          <p:nvPr/>
        </p:nvSpPr>
        <p:spPr>
          <a:xfrm>
            <a:off x="286600" y="1014575"/>
            <a:ext cx="676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" sz="7200" u="none" cap="none" strike="noStrike">
                <a:solidFill>
                  <a:srgbClr val="FF98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1" i="0" sz="7200" u="none" cap="none" strike="noStrike">
              <a:solidFill>
                <a:srgbClr val="FF98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2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7" name="Google Shape;97;p2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" name="Google Shape;98;p2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9" name="Google Shape;99;p2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2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" name="Google Shape;101;p2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02" name="Google Shape;102;p2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2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4" name="Google Shape;104;p2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7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07" name="Google Shape;107;p27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8" name="Google Shape;108;p27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09" name="Google Shape;109;p27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Google Shape;110;p2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11" name="Google Shape;111;p27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12" name="Google Shape;112;p27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3" name="Google Shape;113;p2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4" name="Google Shape;114;p27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5" name="Google Shape;115;p27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" name="Google Shape;116;p27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7" name="Google Shape;117;p2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Google Shape;119;p2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20" name="Google Shape;120;p2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2" name="Google Shape;122;p27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/>
        </p:txBody>
      </p:sp>
      <p:sp>
        <p:nvSpPr>
          <p:cNvPr id="124" name="Google Shape;124;p27"/>
          <p:cNvSpPr txBox="1"/>
          <p:nvPr>
            <p:ph idx="2" type="body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/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2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8" name="Google Shape;128;p2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9" name="Google Shape;129;p28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30" name="Google Shape;130;p2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1" name="Google Shape;131;p2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2" name="Google Shape;132;p28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3" name="Google Shape;133;p2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4" name="Google Shape;134;p2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5" name="Google Shape;135;p2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6" name="Google Shape;136;p2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" name="Google Shape;137;p2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8" name="Google Shape;138;p2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2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" name="Google Shape;140;p2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41" name="Google Shape;141;p2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3" name="Google Shape;143;p28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45" name="Google Shape;145;p28"/>
          <p:cNvSpPr txBox="1"/>
          <p:nvPr>
            <p:ph idx="2" type="body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46" name="Google Shape;146;p28"/>
          <p:cNvSpPr txBox="1"/>
          <p:nvPr>
            <p:ph idx="3" type="body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/>
        </p:txBody>
      </p:sp>
      <p:sp>
        <p:nvSpPr>
          <p:cNvPr id="147" name="Google Shape;147;p2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29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50" name="Google Shape;150;p29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51" name="Google Shape;151;p29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52" name="Google Shape;152;p29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53" name="Google Shape;153;p2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54" name="Google Shape;154;p29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55" name="Google Shape;155;p29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56" name="Google Shape;156;p2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57" name="Google Shape;157;p29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58" name="Google Shape;158;p2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" name="Google Shape;159;p2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0" name="Google Shape;160;p2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" name="Google Shape;162;p2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3" name="Google Shape;163;p2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5" name="Google Shape;165;p29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30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69" name="Google Shape;169;p30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0" name="Google Shape;170;p30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71" name="Google Shape;171;p30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30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30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74" name="Google Shape;174;p30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30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</a:lstStyle>
          <a:p/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8" name="Google Shape;178;p3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79" name="Google Shape;179;p3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0" name="Google Shape;180;p3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81" name="Google Shape;181;p3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3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" name="Google Shape;183;p3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84" name="Google Shape;184;p3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3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b="1" i="0" sz="2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b="0" i="0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b="0" i="0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"/>
          <p:cNvSpPr txBox="1"/>
          <p:nvPr>
            <p:ph type="ctrTitle"/>
          </p:nvPr>
        </p:nvSpPr>
        <p:spPr>
          <a:xfrm>
            <a:off x="229375" y="1090750"/>
            <a:ext cx="63945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Calculating The Unknown Machines Yield Rate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i="1" lang="en" sz="3000"/>
              <a:t>DSP Lab</a:t>
            </a:r>
            <a:endParaRPr i="1" sz="3000"/>
          </a:p>
        </p:txBody>
      </p:sp>
      <p:sp>
        <p:nvSpPr>
          <p:cNvPr id="191" name="Google Shape;191;p1"/>
          <p:cNvSpPr txBox="1"/>
          <p:nvPr/>
        </p:nvSpPr>
        <p:spPr>
          <a:xfrm>
            <a:off x="8271750" y="4236625"/>
            <a:ext cx="8721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CSIE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"/>
          <p:cNvSpPr/>
          <p:nvPr/>
        </p:nvSpPr>
        <p:spPr>
          <a:xfrm>
            <a:off x="4823700" y="1478700"/>
            <a:ext cx="1054800" cy="2015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"/>
          <p:cNvSpPr/>
          <p:nvPr/>
        </p:nvSpPr>
        <p:spPr>
          <a:xfrm>
            <a:off x="2362675" y="1478700"/>
            <a:ext cx="875700" cy="20154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6224925" y="1477600"/>
            <a:ext cx="875700" cy="20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"/>
          <p:cNvSpPr/>
          <p:nvPr/>
        </p:nvSpPr>
        <p:spPr>
          <a:xfrm>
            <a:off x="3606425" y="1477600"/>
            <a:ext cx="875700" cy="2015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"/>
          <p:cNvSpPr txBox="1"/>
          <p:nvPr>
            <p:ph type="title"/>
          </p:nvPr>
        </p:nvSpPr>
        <p:spPr>
          <a:xfrm>
            <a:off x="311700" y="34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Main Problem</a:t>
            </a:r>
            <a:endParaRPr/>
          </a:p>
        </p:txBody>
      </p:sp>
      <p:sp>
        <p:nvSpPr>
          <p:cNvPr id="201" name="Google Shape;201;p2"/>
          <p:cNvSpPr txBox="1"/>
          <p:nvPr>
            <p:ph idx="12" type="sldNum"/>
          </p:nvPr>
        </p:nvSpPr>
        <p:spPr>
          <a:xfrm>
            <a:off x="8421384" y="138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2"/>
          <p:cNvSpPr txBox="1"/>
          <p:nvPr/>
        </p:nvSpPr>
        <p:spPr>
          <a:xfrm>
            <a:off x="2127202" y="1627321"/>
            <a:ext cx="12873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Laser Machine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"/>
          <p:cNvSpPr txBox="1"/>
          <p:nvPr/>
        </p:nvSpPr>
        <p:spPr>
          <a:xfrm>
            <a:off x="2362388" y="1454611"/>
            <a:ext cx="817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Station W</a:t>
            </a:r>
            <a:endParaRPr b="1" i="0" sz="12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4" name="Google Shape;204;p2"/>
          <p:cNvSpPr txBox="1"/>
          <p:nvPr/>
        </p:nvSpPr>
        <p:spPr>
          <a:xfrm>
            <a:off x="3425691" y="1627332"/>
            <a:ext cx="12873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COI Inspection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"/>
          <p:cNvSpPr txBox="1"/>
          <p:nvPr/>
        </p:nvSpPr>
        <p:spPr>
          <a:xfrm>
            <a:off x="3660884" y="1454622"/>
            <a:ext cx="817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Station X</a:t>
            </a:r>
            <a:endParaRPr b="1" i="0" sz="12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6" name="Google Shape;206;p2"/>
          <p:cNvSpPr txBox="1"/>
          <p:nvPr/>
        </p:nvSpPr>
        <p:spPr>
          <a:xfrm>
            <a:off x="4724187" y="1627321"/>
            <a:ext cx="12873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Sputtering Machine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"/>
          <p:cNvSpPr txBox="1"/>
          <p:nvPr/>
        </p:nvSpPr>
        <p:spPr>
          <a:xfrm>
            <a:off x="4959381" y="1454611"/>
            <a:ext cx="817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Station Y</a:t>
            </a:r>
            <a:endParaRPr b="1" i="0" sz="12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8" name="Google Shape;208;p2"/>
          <p:cNvSpPr txBox="1"/>
          <p:nvPr/>
        </p:nvSpPr>
        <p:spPr>
          <a:xfrm>
            <a:off x="6022684" y="1627321"/>
            <a:ext cx="12873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Leakage Tester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/>
          <p:cNvSpPr txBox="1"/>
          <p:nvPr/>
        </p:nvSpPr>
        <p:spPr>
          <a:xfrm>
            <a:off x="6257877" y="1454611"/>
            <a:ext cx="817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Station Z</a:t>
            </a:r>
            <a:endParaRPr b="1" i="0" sz="12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10" name="Google Shape;210;p2"/>
          <p:cNvSpPr txBox="1"/>
          <p:nvPr/>
        </p:nvSpPr>
        <p:spPr>
          <a:xfrm>
            <a:off x="7548986" y="1627310"/>
            <a:ext cx="894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Finished LOT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 txBox="1"/>
          <p:nvPr/>
        </p:nvSpPr>
        <p:spPr>
          <a:xfrm>
            <a:off x="7587394" y="1454600"/>
            <a:ext cx="8172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Result</a:t>
            </a:r>
            <a:endParaRPr b="1" i="0" sz="12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12" name="Google Shape;212;p2"/>
          <p:cNvSpPr/>
          <p:nvPr/>
        </p:nvSpPr>
        <p:spPr>
          <a:xfrm>
            <a:off x="2568510" y="2607689"/>
            <a:ext cx="404700" cy="404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LS-29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"/>
          <p:cNvSpPr/>
          <p:nvPr/>
        </p:nvSpPr>
        <p:spPr>
          <a:xfrm>
            <a:off x="3866995" y="1944657"/>
            <a:ext cx="404700" cy="4047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MS-28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3866995" y="2606343"/>
            <a:ext cx="404700" cy="4047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MS-30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5165479" y="1944659"/>
            <a:ext cx="404700" cy="40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SP-06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5165479" y="2606345"/>
            <a:ext cx="404700" cy="40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SP-07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6463931" y="1937980"/>
            <a:ext cx="404700" cy="404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LK-13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6463954" y="2619442"/>
            <a:ext cx="404700" cy="404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LK-14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"/>
          <p:cNvSpPr txBox="1"/>
          <p:nvPr/>
        </p:nvSpPr>
        <p:spPr>
          <a:xfrm>
            <a:off x="817807" y="2005704"/>
            <a:ext cx="557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GBOM C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0" name="Google Shape;220;p2"/>
          <p:cNvSpPr txBox="1"/>
          <p:nvPr/>
        </p:nvSpPr>
        <p:spPr>
          <a:xfrm>
            <a:off x="1423613" y="2000285"/>
            <a:ext cx="596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C5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21" name="Google Shape;221;p2"/>
          <p:cNvCxnSpPr>
            <a:stCxn id="220" idx="3"/>
            <a:endCxn id="213" idx="2"/>
          </p:cNvCxnSpPr>
          <p:nvPr/>
        </p:nvCxnSpPr>
        <p:spPr>
          <a:xfrm>
            <a:off x="2020013" y="2125985"/>
            <a:ext cx="1847100" cy="21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2" name="Google Shape;222;p2"/>
          <p:cNvCxnSpPr>
            <a:stCxn id="213" idx="6"/>
            <a:endCxn id="215" idx="2"/>
          </p:cNvCxnSpPr>
          <p:nvPr/>
        </p:nvCxnSpPr>
        <p:spPr>
          <a:xfrm>
            <a:off x="4271695" y="2147007"/>
            <a:ext cx="8937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3" name="Google Shape;223;p2"/>
          <p:cNvCxnSpPr>
            <a:stCxn id="215" idx="6"/>
            <a:endCxn id="217" idx="2"/>
          </p:cNvCxnSpPr>
          <p:nvPr/>
        </p:nvCxnSpPr>
        <p:spPr>
          <a:xfrm flipH="1" rot="10800000">
            <a:off x="5570179" y="2140409"/>
            <a:ext cx="893700" cy="6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" name="Google Shape;224;p2"/>
          <p:cNvCxnSpPr>
            <a:stCxn id="217" idx="6"/>
            <a:endCxn id="225" idx="1"/>
          </p:cNvCxnSpPr>
          <p:nvPr/>
        </p:nvCxnSpPr>
        <p:spPr>
          <a:xfrm flipH="1" rot="10800000">
            <a:off x="6868631" y="2122930"/>
            <a:ext cx="816600" cy="17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" name="Google Shape;226;p2"/>
          <p:cNvSpPr txBox="1"/>
          <p:nvPr/>
        </p:nvSpPr>
        <p:spPr>
          <a:xfrm>
            <a:off x="1423613" y="2326526"/>
            <a:ext cx="596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C6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27" name="Google Shape;227;p2"/>
          <p:cNvCxnSpPr>
            <a:stCxn id="226" idx="3"/>
            <a:endCxn id="213" idx="3"/>
          </p:cNvCxnSpPr>
          <p:nvPr/>
        </p:nvCxnSpPr>
        <p:spPr>
          <a:xfrm flipH="1" rot="10800000">
            <a:off x="2020013" y="2290226"/>
            <a:ext cx="1906200" cy="162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p2"/>
          <p:cNvCxnSpPr>
            <a:stCxn id="213" idx="5"/>
            <a:endCxn id="216" idx="1"/>
          </p:cNvCxnSpPr>
          <p:nvPr/>
        </p:nvCxnSpPr>
        <p:spPr>
          <a:xfrm>
            <a:off x="4212428" y="2290090"/>
            <a:ext cx="1012200" cy="375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" name="Google Shape;229;p2"/>
          <p:cNvCxnSpPr>
            <a:stCxn id="216" idx="7"/>
            <a:endCxn id="218" idx="1"/>
          </p:cNvCxnSpPr>
          <p:nvPr/>
        </p:nvCxnSpPr>
        <p:spPr>
          <a:xfrm>
            <a:off x="5510912" y="2665612"/>
            <a:ext cx="1012200" cy="13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p2"/>
          <p:cNvSpPr txBox="1"/>
          <p:nvPr/>
        </p:nvSpPr>
        <p:spPr>
          <a:xfrm>
            <a:off x="7685100" y="1997296"/>
            <a:ext cx="596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C5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0" name="Google Shape;230;p2"/>
          <p:cNvSpPr txBox="1"/>
          <p:nvPr/>
        </p:nvSpPr>
        <p:spPr>
          <a:xfrm>
            <a:off x="7685100" y="2323537"/>
            <a:ext cx="596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C6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31" name="Google Shape;231;p2"/>
          <p:cNvCxnSpPr>
            <a:stCxn id="218" idx="7"/>
            <a:endCxn id="230" idx="1"/>
          </p:cNvCxnSpPr>
          <p:nvPr/>
        </p:nvCxnSpPr>
        <p:spPr>
          <a:xfrm flipH="1" rot="10800000">
            <a:off x="6809387" y="2449209"/>
            <a:ext cx="875700" cy="2295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2" name="Google Shape;232;p2"/>
          <p:cNvSpPr txBox="1"/>
          <p:nvPr/>
        </p:nvSpPr>
        <p:spPr>
          <a:xfrm>
            <a:off x="1423624" y="2684315"/>
            <a:ext cx="596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E7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3" name="Google Shape;233;p2"/>
          <p:cNvSpPr txBox="1"/>
          <p:nvPr/>
        </p:nvSpPr>
        <p:spPr>
          <a:xfrm>
            <a:off x="817795" y="2684311"/>
            <a:ext cx="557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GBOM E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34" name="Google Shape;234;p2"/>
          <p:cNvCxnSpPr/>
          <p:nvPr/>
        </p:nvCxnSpPr>
        <p:spPr>
          <a:xfrm>
            <a:off x="701025" y="2585029"/>
            <a:ext cx="129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2"/>
          <p:cNvCxnSpPr>
            <a:stCxn id="232" idx="3"/>
            <a:endCxn id="212" idx="2"/>
          </p:cNvCxnSpPr>
          <p:nvPr/>
        </p:nvCxnSpPr>
        <p:spPr>
          <a:xfrm>
            <a:off x="2020024" y="2810015"/>
            <a:ext cx="5484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36" name="Google Shape;236;p2"/>
          <p:cNvCxnSpPr>
            <a:stCxn id="212" idx="6"/>
            <a:endCxn id="214" idx="2"/>
          </p:cNvCxnSpPr>
          <p:nvPr/>
        </p:nvCxnSpPr>
        <p:spPr>
          <a:xfrm flipH="1" rot="10800000">
            <a:off x="2973210" y="2808839"/>
            <a:ext cx="893700" cy="1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37" name="Google Shape;237;p2"/>
          <p:cNvCxnSpPr>
            <a:stCxn id="214" idx="6"/>
            <a:endCxn id="216" idx="2"/>
          </p:cNvCxnSpPr>
          <p:nvPr/>
        </p:nvCxnSpPr>
        <p:spPr>
          <a:xfrm>
            <a:off x="4271695" y="2808693"/>
            <a:ext cx="8937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2"/>
          <p:cNvCxnSpPr>
            <a:stCxn id="216" idx="6"/>
            <a:endCxn id="218" idx="2"/>
          </p:cNvCxnSpPr>
          <p:nvPr/>
        </p:nvCxnSpPr>
        <p:spPr>
          <a:xfrm>
            <a:off x="5570179" y="2808695"/>
            <a:ext cx="893700" cy="132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39" name="Google Shape;239;p2"/>
          <p:cNvSpPr txBox="1"/>
          <p:nvPr/>
        </p:nvSpPr>
        <p:spPr>
          <a:xfrm>
            <a:off x="7685121" y="2684315"/>
            <a:ext cx="596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E7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40" name="Google Shape;240;p2"/>
          <p:cNvCxnSpPr>
            <a:stCxn id="218" idx="6"/>
            <a:endCxn id="239" idx="1"/>
          </p:cNvCxnSpPr>
          <p:nvPr/>
        </p:nvCxnSpPr>
        <p:spPr>
          <a:xfrm flipH="1" rot="10800000">
            <a:off x="6868654" y="2810092"/>
            <a:ext cx="816600" cy="117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41" name="Google Shape;241;p2"/>
          <p:cNvSpPr txBox="1"/>
          <p:nvPr/>
        </p:nvSpPr>
        <p:spPr>
          <a:xfrm>
            <a:off x="2804893" y="2082865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C5-1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"/>
          <p:cNvSpPr txBox="1"/>
          <p:nvPr/>
        </p:nvSpPr>
        <p:spPr>
          <a:xfrm>
            <a:off x="4579960" y="2089832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C5-2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"/>
          <p:cNvSpPr txBox="1"/>
          <p:nvPr/>
        </p:nvSpPr>
        <p:spPr>
          <a:xfrm>
            <a:off x="5878434" y="2093765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C5-3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"/>
          <p:cNvSpPr txBox="1"/>
          <p:nvPr/>
        </p:nvSpPr>
        <p:spPr>
          <a:xfrm>
            <a:off x="2804893" y="2320170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C6-1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"/>
          <p:cNvSpPr txBox="1"/>
          <p:nvPr/>
        </p:nvSpPr>
        <p:spPr>
          <a:xfrm>
            <a:off x="4579927" y="2420696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C6-2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"/>
          <p:cNvSpPr txBox="1"/>
          <p:nvPr/>
        </p:nvSpPr>
        <p:spPr>
          <a:xfrm>
            <a:off x="5878434" y="2605083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C6-3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"/>
          <p:cNvSpPr txBox="1"/>
          <p:nvPr/>
        </p:nvSpPr>
        <p:spPr>
          <a:xfrm>
            <a:off x="2107937" y="2752872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E7-1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"/>
          <p:cNvSpPr txBox="1"/>
          <p:nvPr/>
        </p:nvSpPr>
        <p:spPr>
          <a:xfrm>
            <a:off x="3281475" y="2752872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E7-2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"/>
          <p:cNvSpPr txBox="1"/>
          <p:nvPr/>
        </p:nvSpPr>
        <p:spPr>
          <a:xfrm>
            <a:off x="4579960" y="2752872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E7-3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"/>
          <p:cNvSpPr txBox="1"/>
          <p:nvPr/>
        </p:nvSpPr>
        <p:spPr>
          <a:xfrm>
            <a:off x="5878423" y="2762849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E7-4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"/>
          <p:cNvSpPr txBox="1"/>
          <p:nvPr/>
        </p:nvSpPr>
        <p:spPr>
          <a:xfrm>
            <a:off x="1423624" y="3082008"/>
            <a:ext cx="596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F8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2" name="Google Shape;252;p2"/>
          <p:cNvSpPr txBox="1"/>
          <p:nvPr/>
        </p:nvSpPr>
        <p:spPr>
          <a:xfrm>
            <a:off x="817795" y="3082004"/>
            <a:ext cx="557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GBOM F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3" name="Google Shape;253;p2"/>
          <p:cNvSpPr txBox="1"/>
          <p:nvPr/>
        </p:nvSpPr>
        <p:spPr>
          <a:xfrm>
            <a:off x="7685121" y="3082008"/>
            <a:ext cx="596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F8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54" name="Google Shape;254;p2"/>
          <p:cNvCxnSpPr/>
          <p:nvPr/>
        </p:nvCxnSpPr>
        <p:spPr>
          <a:xfrm>
            <a:off x="709536" y="2964579"/>
            <a:ext cx="129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2"/>
          <p:cNvCxnSpPr>
            <a:stCxn id="212" idx="4"/>
            <a:endCxn id="214" idx="3"/>
          </p:cNvCxnSpPr>
          <p:nvPr/>
        </p:nvCxnSpPr>
        <p:spPr>
          <a:xfrm rot="-5400000">
            <a:off x="3318210" y="2404439"/>
            <a:ext cx="60600" cy="1155300"/>
          </a:xfrm>
          <a:prstGeom prst="bentConnector3">
            <a:avLst>
              <a:gd fmla="val -135209" name="adj1"/>
            </a:avLst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6" name="Google Shape;256;p2"/>
          <p:cNvCxnSpPr>
            <a:stCxn id="251" idx="3"/>
            <a:endCxn id="214" idx="4"/>
          </p:cNvCxnSpPr>
          <p:nvPr/>
        </p:nvCxnSpPr>
        <p:spPr>
          <a:xfrm flipH="1" rot="10800000">
            <a:off x="2020024" y="3010908"/>
            <a:ext cx="2049300" cy="196800"/>
          </a:xfrm>
          <a:prstGeom prst="bentConnector2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7" name="Google Shape;257;p2"/>
          <p:cNvCxnSpPr>
            <a:stCxn id="214" idx="3"/>
            <a:endCxn id="212" idx="5"/>
          </p:cNvCxnSpPr>
          <p:nvPr/>
        </p:nvCxnSpPr>
        <p:spPr>
          <a:xfrm flipH="1">
            <a:off x="2914062" y="2951776"/>
            <a:ext cx="1012200" cy="1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8" name="Google Shape;258;p2"/>
          <p:cNvCxnSpPr>
            <a:stCxn id="214" idx="5"/>
            <a:endCxn id="253" idx="1"/>
          </p:cNvCxnSpPr>
          <p:nvPr/>
        </p:nvCxnSpPr>
        <p:spPr>
          <a:xfrm>
            <a:off x="4212428" y="2951776"/>
            <a:ext cx="3472800" cy="255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2"/>
          <p:cNvSpPr txBox="1"/>
          <p:nvPr/>
        </p:nvSpPr>
        <p:spPr>
          <a:xfrm>
            <a:off x="2655258" y="3150532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F8-1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"/>
          <p:cNvSpPr txBox="1"/>
          <p:nvPr/>
        </p:nvSpPr>
        <p:spPr>
          <a:xfrm>
            <a:off x="3281475" y="2897306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F8-2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"/>
          <p:cNvSpPr txBox="1"/>
          <p:nvPr/>
        </p:nvSpPr>
        <p:spPr>
          <a:xfrm>
            <a:off x="3281541" y="3041740"/>
            <a:ext cx="277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F8-3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"/>
          <p:cNvSpPr txBox="1"/>
          <p:nvPr/>
        </p:nvSpPr>
        <p:spPr>
          <a:xfrm>
            <a:off x="3606425" y="3494100"/>
            <a:ext cx="894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Observable </a:t>
            </a:r>
            <a:endParaRPr b="0" i="0" sz="800" u="none" cap="none" strike="noStrike">
              <a:solidFill>
                <a:srgbClr val="38444A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defect pieces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"/>
          <p:cNvSpPr txBox="1"/>
          <p:nvPr/>
        </p:nvSpPr>
        <p:spPr>
          <a:xfrm>
            <a:off x="6215775" y="3494100"/>
            <a:ext cx="894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Observable </a:t>
            </a:r>
            <a:endParaRPr b="0" i="0" sz="800" u="none" cap="none" strike="noStrike">
              <a:solidFill>
                <a:srgbClr val="38444A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defect pieces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"/>
          <p:cNvSpPr txBox="1"/>
          <p:nvPr/>
        </p:nvSpPr>
        <p:spPr>
          <a:xfrm>
            <a:off x="2353525" y="3494100"/>
            <a:ext cx="894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latent</a:t>
            </a:r>
            <a:endParaRPr b="0" i="0" sz="800" u="none" cap="none" strike="noStrike">
              <a:solidFill>
                <a:srgbClr val="38444A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"/>
          <p:cNvSpPr txBox="1"/>
          <p:nvPr/>
        </p:nvSpPr>
        <p:spPr>
          <a:xfrm>
            <a:off x="4917175" y="3505400"/>
            <a:ext cx="894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latent</a:t>
            </a:r>
            <a:endParaRPr b="0" i="0" sz="800" u="none" cap="none" strike="noStrike">
              <a:solidFill>
                <a:srgbClr val="38444A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"/>
          <p:cNvSpPr txBox="1"/>
          <p:nvPr/>
        </p:nvSpPr>
        <p:spPr>
          <a:xfrm>
            <a:off x="187675" y="4235350"/>
            <a:ext cx="13419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Main Problem:</a:t>
            </a:r>
            <a:endParaRPr b="1" i="0" sz="18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7" name="Google Shape;267;p2"/>
          <p:cNvSpPr txBox="1"/>
          <p:nvPr/>
        </p:nvSpPr>
        <p:spPr>
          <a:xfrm>
            <a:off x="187675" y="669978"/>
            <a:ext cx="85494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To increase the yield rate of each product, maintain</a:t>
            </a:r>
            <a:r>
              <a:rPr lang="en" sz="1800">
                <a:latin typeface="Dosis"/>
                <a:ea typeface="Dosis"/>
                <a:cs typeface="Dosis"/>
                <a:sym typeface="Dosis"/>
              </a:rPr>
              <a:t>ing</a:t>
            </a: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 the machine condition is a must. When the product yield decreased, some of the suspected machine</a:t>
            </a:r>
            <a:r>
              <a:rPr lang="en" sz="1800">
                <a:latin typeface="Dosis"/>
                <a:ea typeface="Dosis"/>
                <a:cs typeface="Dosis"/>
                <a:sym typeface="Dosis"/>
              </a:rPr>
              <a:t>s</a:t>
            </a: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 (generate too many defect) should be repaired.</a:t>
            </a:r>
            <a:endParaRPr b="0" i="0" sz="18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8" name="Google Shape;268;p2"/>
          <p:cNvSpPr txBox="1"/>
          <p:nvPr/>
        </p:nvSpPr>
        <p:spPr>
          <a:xfrm>
            <a:off x="1583475" y="4238975"/>
            <a:ext cx="71883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While </a:t>
            </a:r>
            <a:r>
              <a:rPr b="1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defects </a:t>
            </a: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on some stations </a:t>
            </a:r>
            <a:r>
              <a:rPr b="1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can’t be observed</a:t>
            </a: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, which </a:t>
            </a:r>
            <a:r>
              <a:rPr b="1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machines </a:t>
            </a: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are </a:t>
            </a:r>
            <a:r>
              <a:rPr b="1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s</a:t>
            </a:r>
            <a:r>
              <a:rPr b="1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uspected </a:t>
            </a: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to have the </a:t>
            </a:r>
            <a:r>
              <a:rPr b="1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lowest yield rate</a:t>
            </a: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 or produce </a:t>
            </a:r>
            <a:r>
              <a:rPr lang="en" sz="1800">
                <a:latin typeface="Dosis"/>
                <a:ea typeface="Dosis"/>
                <a:cs typeface="Dosis"/>
                <a:sym typeface="Dosis"/>
              </a:rPr>
              <a:t>the</a:t>
            </a: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highest defect</a:t>
            </a:r>
            <a:r>
              <a:rPr b="0" i="0" lang="en" sz="18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 pieces? </a:t>
            </a:r>
            <a:endParaRPr b="0" i="0" sz="18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69" name="Google Shape;269;p2"/>
          <p:cNvCxnSpPr>
            <a:stCxn id="212" idx="3"/>
            <a:endCxn id="270" idx="0"/>
          </p:cNvCxnSpPr>
          <p:nvPr/>
        </p:nvCxnSpPr>
        <p:spPr>
          <a:xfrm flipH="1">
            <a:off x="2526077" y="2953122"/>
            <a:ext cx="101700" cy="914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2"/>
          <p:cNvSpPr txBox="1"/>
          <p:nvPr/>
        </p:nvSpPr>
        <p:spPr>
          <a:xfrm>
            <a:off x="2079200" y="3867725"/>
            <a:ext cx="894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defect pieces = ??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2"/>
          <p:cNvCxnSpPr>
            <a:stCxn id="215" idx="3"/>
            <a:endCxn id="272" idx="0"/>
          </p:cNvCxnSpPr>
          <p:nvPr/>
        </p:nvCxnSpPr>
        <p:spPr>
          <a:xfrm flipH="1">
            <a:off x="4887246" y="2290092"/>
            <a:ext cx="337500" cy="1589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2" name="Google Shape;272;p2"/>
          <p:cNvSpPr txBox="1"/>
          <p:nvPr/>
        </p:nvSpPr>
        <p:spPr>
          <a:xfrm>
            <a:off x="4440225" y="3879275"/>
            <a:ext cx="894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800" u="none" cap="none" strike="noStrike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defect pieces = ??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2"/>
          <p:cNvCxnSpPr>
            <a:stCxn id="216" idx="3"/>
            <a:endCxn id="272" idx="0"/>
          </p:cNvCxnSpPr>
          <p:nvPr/>
        </p:nvCxnSpPr>
        <p:spPr>
          <a:xfrm flipH="1">
            <a:off x="4887246" y="2951778"/>
            <a:ext cx="337500" cy="927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"/>
          <p:cNvSpPr/>
          <p:nvPr/>
        </p:nvSpPr>
        <p:spPr>
          <a:xfrm>
            <a:off x="6352500" y="788700"/>
            <a:ext cx="1138800" cy="361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"/>
          <p:cNvSpPr/>
          <p:nvPr/>
        </p:nvSpPr>
        <p:spPr>
          <a:xfrm>
            <a:off x="3429100" y="769125"/>
            <a:ext cx="1138800" cy="361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"/>
          <p:cNvSpPr txBox="1"/>
          <p:nvPr/>
        </p:nvSpPr>
        <p:spPr>
          <a:xfrm>
            <a:off x="311700" y="-42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" sz="3800" u="none" cap="none" strike="noStrike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rPr>
              <a:t>Extended Example</a:t>
            </a:r>
            <a:endParaRPr b="1" i="0" sz="3800" u="none" cap="none" strike="noStrike">
              <a:solidFill>
                <a:srgbClr val="666666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1" name="Google Shape;281;p3"/>
          <p:cNvSpPr txBox="1"/>
          <p:nvPr/>
        </p:nvSpPr>
        <p:spPr>
          <a:xfrm>
            <a:off x="8421384" y="138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"/>
          <p:cNvSpPr txBox="1"/>
          <p:nvPr/>
        </p:nvSpPr>
        <p:spPr>
          <a:xfrm>
            <a:off x="6822300" y="4802400"/>
            <a:ext cx="23217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Note: ignore the line pattern/dash</a:t>
            </a:r>
            <a:endParaRPr b="0" i="0" sz="1000" u="none" cap="none" strike="noStrike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3"/>
          <p:cNvSpPr/>
          <p:nvPr/>
        </p:nvSpPr>
        <p:spPr>
          <a:xfrm>
            <a:off x="3754926" y="1988502"/>
            <a:ext cx="455400" cy="455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MS-14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"/>
          <p:cNvSpPr/>
          <p:nvPr/>
        </p:nvSpPr>
        <p:spPr>
          <a:xfrm>
            <a:off x="6676663" y="1223940"/>
            <a:ext cx="455400" cy="45540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LK-06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"/>
          <p:cNvSpPr/>
          <p:nvPr/>
        </p:nvSpPr>
        <p:spPr>
          <a:xfrm>
            <a:off x="2294040" y="1223929"/>
            <a:ext cx="455400" cy="4554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LS-24</a:t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"/>
          <p:cNvSpPr/>
          <p:nvPr/>
        </p:nvSpPr>
        <p:spPr>
          <a:xfrm>
            <a:off x="3754926" y="2813017"/>
            <a:ext cx="455400" cy="455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MS-28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"/>
          <p:cNvSpPr/>
          <p:nvPr/>
        </p:nvSpPr>
        <p:spPr>
          <a:xfrm>
            <a:off x="5215812" y="2813019"/>
            <a:ext cx="455400" cy="45540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SP-06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"/>
          <p:cNvSpPr/>
          <p:nvPr/>
        </p:nvSpPr>
        <p:spPr>
          <a:xfrm>
            <a:off x="5215812" y="3557470"/>
            <a:ext cx="455400" cy="455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SP-07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"/>
          <p:cNvSpPr/>
          <p:nvPr/>
        </p:nvSpPr>
        <p:spPr>
          <a:xfrm>
            <a:off x="6676663" y="1988516"/>
            <a:ext cx="455400" cy="45540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LK-12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6676663" y="2805504"/>
            <a:ext cx="455400" cy="455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LK-13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"/>
          <p:cNvSpPr/>
          <p:nvPr/>
        </p:nvSpPr>
        <p:spPr>
          <a:xfrm>
            <a:off x="6676688" y="3572205"/>
            <a:ext cx="455400" cy="455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LK-14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"/>
          <p:cNvSpPr txBox="1"/>
          <p:nvPr/>
        </p:nvSpPr>
        <p:spPr>
          <a:xfrm>
            <a:off x="1005950" y="1310087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A1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1005950" y="1669153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LOT A2</a:t>
            </a:r>
            <a:endParaRPr b="1" i="0" sz="1300" u="none" cap="none" strike="noStrike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4" name="Google Shape;294;p3"/>
          <p:cNvSpPr txBox="1"/>
          <p:nvPr/>
        </p:nvSpPr>
        <p:spPr>
          <a:xfrm>
            <a:off x="1005950" y="2062549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B3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5" name="Google Shape;295;p3"/>
          <p:cNvSpPr txBox="1"/>
          <p:nvPr/>
        </p:nvSpPr>
        <p:spPr>
          <a:xfrm>
            <a:off x="1797538" y="939063"/>
            <a:ext cx="14484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Laser Machine</a:t>
            </a:r>
            <a:endParaRPr b="0" i="0" sz="14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"/>
          <p:cNvSpPr txBox="1"/>
          <p:nvPr/>
        </p:nvSpPr>
        <p:spPr>
          <a:xfrm>
            <a:off x="2062138" y="744750"/>
            <a:ext cx="919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Station W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7" name="Google Shape;297;p3"/>
          <p:cNvSpPr txBox="1"/>
          <p:nvPr/>
        </p:nvSpPr>
        <p:spPr>
          <a:xfrm>
            <a:off x="3258428" y="939075"/>
            <a:ext cx="14484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38444A"/>
                </a:solidFill>
                <a:latin typeface="Open Sans"/>
                <a:ea typeface="Open Sans"/>
                <a:cs typeface="Open Sans"/>
                <a:sym typeface="Open Sans"/>
              </a:rPr>
              <a:t>COI Inspection</a:t>
            </a:r>
            <a:endParaRPr b="0" i="0" sz="14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"/>
          <p:cNvSpPr txBox="1"/>
          <p:nvPr/>
        </p:nvSpPr>
        <p:spPr>
          <a:xfrm>
            <a:off x="3523038" y="744763"/>
            <a:ext cx="919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Station X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4719328" y="939063"/>
            <a:ext cx="14484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Sputtering Machine</a:t>
            </a:r>
            <a:endParaRPr b="0" i="0" sz="14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"/>
          <p:cNvSpPr txBox="1"/>
          <p:nvPr/>
        </p:nvSpPr>
        <p:spPr>
          <a:xfrm>
            <a:off x="4983938" y="744750"/>
            <a:ext cx="919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Station Y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1" name="Google Shape;301;p3"/>
          <p:cNvSpPr txBox="1"/>
          <p:nvPr/>
        </p:nvSpPr>
        <p:spPr>
          <a:xfrm>
            <a:off x="6180228" y="939063"/>
            <a:ext cx="14484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8444A"/>
                </a:solidFill>
                <a:latin typeface="Open Sans"/>
                <a:ea typeface="Open Sans"/>
                <a:cs typeface="Open Sans"/>
                <a:sym typeface="Open Sans"/>
              </a:rPr>
              <a:t>Leakage Tester</a:t>
            </a:r>
            <a:endParaRPr b="0" i="0" sz="14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"/>
          <p:cNvSpPr txBox="1"/>
          <p:nvPr/>
        </p:nvSpPr>
        <p:spPr>
          <a:xfrm>
            <a:off x="6444838" y="744750"/>
            <a:ext cx="919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Station Z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3" name="Google Shape;303;p3"/>
          <p:cNvSpPr txBox="1"/>
          <p:nvPr/>
        </p:nvSpPr>
        <p:spPr>
          <a:xfrm>
            <a:off x="7676028" y="939050"/>
            <a:ext cx="14484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Finished LOT</a:t>
            </a:r>
            <a:endParaRPr b="0" i="0" sz="14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"/>
          <p:cNvSpPr txBox="1"/>
          <p:nvPr/>
        </p:nvSpPr>
        <p:spPr>
          <a:xfrm>
            <a:off x="7940638" y="744738"/>
            <a:ext cx="919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Result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5" name="Google Shape;305;p3"/>
          <p:cNvSpPr txBox="1"/>
          <p:nvPr/>
        </p:nvSpPr>
        <p:spPr>
          <a:xfrm>
            <a:off x="1005950" y="2508555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C4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6" name="Google Shape;306;p3"/>
          <p:cNvSpPr txBox="1"/>
          <p:nvPr/>
        </p:nvSpPr>
        <p:spPr>
          <a:xfrm>
            <a:off x="324375" y="1316825"/>
            <a:ext cx="627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GBOM A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07" name="Google Shape;307;p3"/>
          <p:cNvCxnSpPr>
            <a:stCxn id="292" idx="3"/>
            <a:endCxn id="285" idx="2"/>
          </p:cNvCxnSpPr>
          <p:nvPr/>
        </p:nvCxnSpPr>
        <p:spPr>
          <a:xfrm>
            <a:off x="1677050" y="1451537"/>
            <a:ext cx="617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8" name="Google Shape;308;p3"/>
          <p:cNvCxnSpPr>
            <a:stCxn id="285" idx="6"/>
            <a:endCxn id="284" idx="2"/>
          </p:cNvCxnSpPr>
          <p:nvPr/>
        </p:nvCxnSpPr>
        <p:spPr>
          <a:xfrm>
            <a:off x="2749440" y="1451629"/>
            <a:ext cx="3927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9" name="Google Shape;309;p3"/>
          <p:cNvCxnSpPr>
            <a:stCxn id="284" idx="6"/>
            <a:endCxn id="310" idx="1"/>
          </p:cNvCxnSpPr>
          <p:nvPr/>
        </p:nvCxnSpPr>
        <p:spPr>
          <a:xfrm flipH="1" rot="10800000">
            <a:off x="7132063" y="1448040"/>
            <a:ext cx="918600" cy="3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1" name="Google Shape;311;p3"/>
          <p:cNvSpPr/>
          <p:nvPr/>
        </p:nvSpPr>
        <p:spPr>
          <a:xfrm>
            <a:off x="8276993" y="634582"/>
            <a:ext cx="246600" cy="199500"/>
          </a:xfrm>
          <a:custGeom>
            <a:rect b="b" l="l" r="r" t="t"/>
            <a:pathLst>
              <a:path extrusionOk="0" h="120000" w="120000">
                <a:moveTo>
                  <a:pt x="19033" y="73346"/>
                </a:moveTo>
                <a:lnTo>
                  <a:pt x="2705" y="73346"/>
                </a:lnTo>
                <a:cubicBezTo>
                  <a:pt x="1062" y="73346"/>
                  <a:pt x="0" y="74645"/>
                  <a:pt x="0" y="76653"/>
                </a:cubicBezTo>
                <a:lnTo>
                  <a:pt x="0" y="116574"/>
                </a:lnTo>
                <a:cubicBezTo>
                  <a:pt x="0" y="118582"/>
                  <a:pt x="1062" y="120000"/>
                  <a:pt x="2705" y="120000"/>
                </a:cubicBezTo>
                <a:lnTo>
                  <a:pt x="19033" y="120000"/>
                </a:lnTo>
                <a:cubicBezTo>
                  <a:pt x="20676" y="120000"/>
                  <a:pt x="21835" y="118582"/>
                  <a:pt x="21835" y="116574"/>
                </a:cubicBezTo>
                <a:lnTo>
                  <a:pt x="21835" y="76653"/>
                </a:lnTo>
                <a:cubicBezTo>
                  <a:pt x="21835" y="74645"/>
                  <a:pt x="20676" y="73346"/>
                  <a:pt x="19033" y="73346"/>
                </a:cubicBezTo>
                <a:close/>
                <a:moveTo>
                  <a:pt x="16328" y="113267"/>
                </a:moveTo>
                <a:lnTo>
                  <a:pt x="5410" y="113267"/>
                </a:lnTo>
                <a:lnTo>
                  <a:pt x="5410" y="79960"/>
                </a:lnTo>
                <a:lnTo>
                  <a:pt x="16328" y="79960"/>
                </a:lnTo>
                <a:lnTo>
                  <a:pt x="16328" y="113267"/>
                </a:lnTo>
                <a:close/>
                <a:moveTo>
                  <a:pt x="84541" y="53267"/>
                </a:moveTo>
                <a:lnTo>
                  <a:pt x="68115" y="53267"/>
                </a:lnTo>
                <a:cubicBezTo>
                  <a:pt x="66570" y="53267"/>
                  <a:pt x="65410" y="54685"/>
                  <a:pt x="65410" y="56574"/>
                </a:cubicBezTo>
                <a:lnTo>
                  <a:pt x="65410" y="116574"/>
                </a:lnTo>
                <a:cubicBezTo>
                  <a:pt x="65410" y="118582"/>
                  <a:pt x="66570" y="120000"/>
                  <a:pt x="68115" y="120000"/>
                </a:cubicBezTo>
                <a:lnTo>
                  <a:pt x="84541" y="120000"/>
                </a:lnTo>
                <a:cubicBezTo>
                  <a:pt x="86183" y="120000"/>
                  <a:pt x="87246" y="118582"/>
                  <a:pt x="87246" y="116574"/>
                </a:cubicBezTo>
                <a:lnTo>
                  <a:pt x="87246" y="56574"/>
                </a:lnTo>
                <a:cubicBezTo>
                  <a:pt x="87246" y="54685"/>
                  <a:pt x="86183" y="53267"/>
                  <a:pt x="84541" y="53267"/>
                </a:cubicBezTo>
                <a:close/>
                <a:moveTo>
                  <a:pt x="81835" y="113267"/>
                </a:moveTo>
                <a:lnTo>
                  <a:pt x="70917" y="113267"/>
                </a:lnTo>
                <a:lnTo>
                  <a:pt x="70917" y="60000"/>
                </a:lnTo>
                <a:lnTo>
                  <a:pt x="81835" y="60000"/>
                </a:lnTo>
                <a:lnTo>
                  <a:pt x="81835" y="113267"/>
                </a:lnTo>
                <a:close/>
                <a:moveTo>
                  <a:pt x="51787" y="13346"/>
                </a:moveTo>
                <a:lnTo>
                  <a:pt x="35458" y="13346"/>
                </a:lnTo>
                <a:cubicBezTo>
                  <a:pt x="33816" y="13346"/>
                  <a:pt x="32753" y="14645"/>
                  <a:pt x="32753" y="16653"/>
                </a:cubicBezTo>
                <a:lnTo>
                  <a:pt x="32753" y="116574"/>
                </a:lnTo>
                <a:cubicBezTo>
                  <a:pt x="32753" y="118582"/>
                  <a:pt x="33816" y="120000"/>
                  <a:pt x="35458" y="120000"/>
                </a:cubicBezTo>
                <a:lnTo>
                  <a:pt x="51787" y="120000"/>
                </a:lnTo>
                <a:cubicBezTo>
                  <a:pt x="53429" y="120000"/>
                  <a:pt x="54492" y="118582"/>
                  <a:pt x="54492" y="116574"/>
                </a:cubicBezTo>
                <a:lnTo>
                  <a:pt x="54492" y="16653"/>
                </a:lnTo>
                <a:cubicBezTo>
                  <a:pt x="54492" y="14645"/>
                  <a:pt x="53429" y="13346"/>
                  <a:pt x="51787" y="13346"/>
                </a:cubicBezTo>
                <a:close/>
                <a:moveTo>
                  <a:pt x="49082" y="113267"/>
                </a:moveTo>
                <a:lnTo>
                  <a:pt x="38164" y="113267"/>
                </a:lnTo>
                <a:lnTo>
                  <a:pt x="38164" y="19960"/>
                </a:lnTo>
                <a:lnTo>
                  <a:pt x="49082" y="19960"/>
                </a:lnTo>
                <a:lnTo>
                  <a:pt x="49082" y="113267"/>
                </a:lnTo>
                <a:close/>
                <a:moveTo>
                  <a:pt x="117198" y="0"/>
                </a:moveTo>
                <a:lnTo>
                  <a:pt x="100869" y="0"/>
                </a:lnTo>
                <a:cubicBezTo>
                  <a:pt x="99227" y="0"/>
                  <a:pt x="98164" y="1299"/>
                  <a:pt x="98164" y="3307"/>
                </a:cubicBezTo>
                <a:lnTo>
                  <a:pt x="98164" y="116574"/>
                </a:lnTo>
                <a:cubicBezTo>
                  <a:pt x="98164" y="118582"/>
                  <a:pt x="99227" y="120000"/>
                  <a:pt x="100869" y="120000"/>
                </a:cubicBezTo>
                <a:lnTo>
                  <a:pt x="117198" y="120000"/>
                </a:lnTo>
                <a:cubicBezTo>
                  <a:pt x="118840" y="120000"/>
                  <a:pt x="120000" y="118582"/>
                  <a:pt x="120000" y="116574"/>
                </a:cubicBezTo>
                <a:lnTo>
                  <a:pt x="120000" y="3307"/>
                </a:lnTo>
                <a:cubicBezTo>
                  <a:pt x="120000" y="1299"/>
                  <a:pt x="118840" y="0"/>
                  <a:pt x="117198" y="0"/>
                </a:cubicBezTo>
                <a:close/>
                <a:moveTo>
                  <a:pt x="114492" y="113267"/>
                </a:moveTo>
                <a:lnTo>
                  <a:pt x="103574" y="113267"/>
                </a:lnTo>
                <a:lnTo>
                  <a:pt x="103574" y="6614"/>
                </a:lnTo>
                <a:lnTo>
                  <a:pt x="114492" y="6614"/>
                </a:lnTo>
                <a:lnTo>
                  <a:pt x="114492" y="113267"/>
                </a:lnTo>
                <a:close/>
              </a:path>
            </a:pathLst>
          </a:custGeom>
          <a:solidFill>
            <a:srgbClr val="0000FF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3"/>
          <p:cNvCxnSpPr>
            <a:stCxn id="293" idx="3"/>
            <a:endCxn id="285" idx="3"/>
          </p:cNvCxnSpPr>
          <p:nvPr/>
        </p:nvCxnSpPr>
        <p:spPr>
          <a:xfrm flipH="1" rot="10800000">
            <a:off x="1677050" y="1612603"/>
            <a:ext cx="683700" cy="1980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3" name="Google Shape;313;p3"/>
          <p:cNvCxnSpPr>
            <a:stCxn id="285" idx="5"/>
            <a:endCxn id="289" idx="1"/>
          </p:cNvCxnSpPr>
          <p:nvPr/>
        </p:nvCxnSpPr>
        <p:spPr>
          <a:xfrm>
            <a:off x="2682748" y="1612637"/>
            <a:ext cx="4060500" cy="442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4" name="Google Shape;314;p3"/>
          <p:cNvCxnSpPr>
            <a:stCxn id="289" idx="7"/>
            <a:endCxn id="315" idx="1"/>
          </p:cNvCxnSpPr>
          <p:nvPr/>
        </p:nvCxnSpPr>
        <p:spPr>
          <a:xfrm flipH="1" rot="10800000">
            <a:off x="7065371" y="1807108"/>
            <a:ext cx="985200" cy="2481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6" name="Google Shape;316;p3"/>
          <p:cNvSpPr txBox="1"/>
          <p:nvPr/>
        </p:nvSpPr>
        <p:spPr>
          <a:xfrm>
            <a:off x="324375" y="2062550"/>
            <a:ext cx="627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GBOM B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17" name="Google Shape;317;p3"/>
          <p:cNvCxnSpPr>
            <a:stCxn id="294" idx="3"/>
            <a:endCxn id="283" idx="2"/>
          </p:cNvCxnSpPr>
          <p:nvPr/>
        </p:nvCxnSpPr>
        <p:spPr>
          <a:xfrm>
            <a:off x="1677050" y="2203999"/>
            <a:ext cx="2077800" cy="12300"/>
          </a:xfrm>
          <a:prstGeom prst="straightConnector1">
            <a:avLst/>
          </a:prstGeom>
          <a:noFill/>
          <a:ln cap="flat" cmpd="sng" w="19050">
            <a:solidFill>
              <a:srgbClr val="00CE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18" name="Google Shape;318;p3"/>
          <p:cNvCxnSpPr>
            <a:stCxn id="283" idx="6"/>
            <a:endCxn id="289" idx="2"/>
          </p:cNvCxnSpPr>
          <p:nvPr/>
        </p:nvCxnSpPr>
        <p:spPr>
          <a:xfrm>
            <a:off x="4210326" y="2216202"/>
            <a:ext cx="2466300" cy="0"/>
          </a:xfrm>
          <a:prstGeom prst="straightConnector1">
            <a:avLst/>
          </a:prstGeom>
          <a:noFill/>
          <a:ln cap="flat" cmpd="sng" w="19050">
            <a:solidFill>
              <a:srgbClr val="00CE00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3"/>
          <p:cNvCxnSpPr>
            <a:stCxn id="289" idx="6"/>
            <a:endCxn id="320" idx="1"/>
          </p:cNvCxnSpPr>
          <p:nvPr/>
        </p:nvCxnSpPr>
        <p:spPr>
          <a:xfrm flipH="1" rot="10800000">
            <a:off x="7132063" y="2200616"/>
            <a:ext cx="918600" cy="15600"/>
          </a:xfrm>
          <a:prstGeom prst="straightConnector1">
            <a:avLst/>
          </a:prstGeom>
          <a:noFill/>
          <a:ln cap="flat" cmpd="sng" w="19050">
            <a:solidFill>
              <a:srgbClr val="00CE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21" name="Google Shape;321;p3"/>
          <p:cNvSpPr txBox="1"/>
          <p:nvPr/>
        </p:nvSpPr>
        <p:spPr>
          <a:xfrm>
            <a:off x="324375" y="2507775"/>
            <a:ext cx="627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GBOM C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22" name="Google Shape;322;p3"/>
          <p:cNvCxnSpPr/>
          <p:nvPr/>
        </p:nvCxnSpPr>
        <p:spPr>
          <a:xfrm>
            <a:off x="202575" y="1978400"/>
            <a:ext cx="145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3"/>
          <p:cNvCxnSpPr/>
          <p:nvPr/>
        </p:nvCxnSpPr>
        <p:spPr>
          <a:xfrm>
            <a:off x="202575" y="2388900"/>
            <a:ext cx="145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3"/>
          <p:cNvCxnSpPr>
            <a:endCxn id="283" idx="3"/>
          </p:cNvCxnSpPr>
          <p:nvPr/>
        </p:nvCxnSpPr>
        <p:spPr>
          <a:xfrm flipH="1" rot="10800000">
            <a:off x="1708718" y="2377210"/>
            <a:ext cx="2112900" cy="2088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" name="Google Shape;325;p3"/>
          <p:cNvCxnSpPr>
            <a:stCxn id="283" idx="5"/>
            <a:endCxn id="287" idx="1"/>
          </p:cNvCxnSpPr>
          <p:nvPr/>
        </p:nvCxnSpPr>
        <p:spPr>
          <a:xfrm>
            <a:off x="4143634" y="2377210"/>
            <a:ext cx="1138800" cy="5025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6" name="Google Shape;326;p3"/>
          <p:cNvCxnSpPr>
            <a:stCxn id="287" idx="7"/>
            <a:endCxn id="289" idx="3"/>
          </p:cNvCxnSpPr>
          <p:nvPr/>
        </p:nvCxnSpPr>
        <p:spPr>
          <a:xfrm flipH="1" rot="10800000">
            <a:off x="5604520" y="2377211"/>
            <a:ext cx="1138800" cy="5025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" name="Google Shape;327;p3"/>
          <p:cNvCxnSpPr>
            <a:stCxn id="289" idx="5"/>
            <a:endCxn id="328" idx="1"/>
          </p:cNvCxnSpPr>
          <p:nvPr/>
        </p:nvCxnSpPr>
        <p:spPr>
          <a:xfrm>
            <a:off x="7065371" y="2377224"/>
            <a:ext cx="985200" cy="2694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9" name="Google Shape;329;p3"/>
          <p:cNvSpPr txBox="1"/>
          <p:nvPr/>
        </p:nvSpPr>
        <p:spPr>
          <a:xfrm>
            <a:off x="1005950" y="2875602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LOT C5</a:t>
            </a:r>
            <a:endParaRPr b="1" i="0" sz="1300" u="none" cap="none" strike="noStrike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30" name="Google Shape;330;p3"/>
          <p:cNvCxnSpPr>
            <a:stCxn id="329" idx="3"/>
            <a:endCxn id="286" idx="2"/>
          </p:cNvCxnSpPr>
          <p:nvPr/>
        </p:nvCxnSpPr>
        <p:spPr>
          <a:xfrm>
            <a:off x="1677050" y="3017052"/>
            <a:ext cx="2077800" cy="237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" name="Google Shape;331;p3"/>
          <p:cNvCxnSpPr>
            <a:stCxn id="286" idx="6"/>
            <a:endCxn id="287" idx="2"/>
          </p:cNvCxnSpPr>
          <p:nvPr/>
        </p:nvCxnSpPr>
        <p:spPr>
          <a:xfrm>
            <a:off x="4210326" y="3040717"/>
            <a:ext cx="10056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2" name="Google Shape;332;p3"/>
          <p:cNvCxnSpPr>
            <a:stCxn id="287" idx="6"/>
            <a:endCxn id="290" idx="2"/>
          </p:cNvCxnSpPr>
          <p:nvPr/>
        </p:nvCxnSpPr>
        <p:spPr>
          <a:xfrm flipH="1" rot="10800000">
            <a:off x="5671212" y="3033219"/>
            <a:ext cx="1005600" cy="7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" name="Google Shape;333;p3"/>
          <p:cNvCxnSpPr>
            <a:stCxn id="290" idx="6"/>
            <a:endCxn id="334" idx="1"/>
          </p:cNvCxnSpPr>
          <p:nvPr/>
        </p:nvCxnSpPr>
        <p:spPr>
          <a:xfrm flipH="1" rot="10800000">
            <a:off x="7132063" y="3013704"/>
            <a:ext cx="918600" cy="195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5" name="Google Shape;335;p3"/>
          <p:cNvSpPr txBox="1"/>
          <p:nvPr/>
        </p:nvSpPr>
        <p:spPr>
          <a:xfrm>
            <a:off x="1005950" y="3242650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LOT C6</a:t>
            </a:r>
            <a:endParaRPr b="1" i="0" sz="1300" u="none" cap="none" strike="noStrike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36" name="Google Shape;336;p3"/>
          <p:cNvCxnSpPr>
            <a:stCxn id="335" idx="3"/>
            <a:endCxn id="286" idx="3"/>
          </p:cNvCxnSpPr>
          <p:nvPr/>
        </p:nvCxnSpPr>
        <p:spPr>
          <a:xfrm flipH="1" rot="10800000">
            <a:off x="1677050" y="3201700"/>
            <a:ext cx="2144700" cy="182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" name="Google Shape;337;p3"/>
          <p:cNvCxnSpPr>
            <a:stCxn id="286" idx="5"/>
            <a:endCxn id="288" idx="1"/>
          </p:cNvCxnSpPr>
          <p:nvPr/>
        </p:nvCxnSpPr>
        <p:spPr>
          <a:xfrm>
            <a:off x="4143634" y="3201725"/>
            <a:ext cx="1138800" cy="4224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8" name="Google Shape;338;p3"/>
          <p:cNvCxnSpPr>
            <a:stCxn id="288" idx="7"/>
            <a:endCxn id="291" idx="1"/>
          </p:cNvCxnSpPr>
          <p:nvPr/>
        </p:nvCxnSpPr>
        <p:spPr>
          <a:xfrm>
            <a:off x="5604520" y="3624162"/>
            <a:ext cx="1138800" cy="147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3"/>
          <p:cNvSpPr txBox="1"/>
          <p:nvPr/>
        </p:nvSpPr>
        <p:spPr>
          <a:xfrm>
            <a:off x="8050564" y="1306725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A1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5" name="Google Shape;315;p3"/>
          <p:cNvSpPr txBox="1"/>
          <p:nvPr/>
        </p:nvSpPr>
        <p:spPr>
          <a:xfrm>
            <a:off x="8050564" y="1665790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LOT A2</a:t>
            </a:r>
            <a:endParaRPr b="1" i="0" sz="1300" u="none" cap="none" strike="noStrike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0" name="Google Shape;320;p3"/>
          <p:cNvSpPr txBox="1"/>
          <p:nvPr/>
        </p:nvSpPr>
        <p:spPr>
          <a:xfrm>
            <a:off x="8050564" y="2059187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B3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8" name="Google Shape;328;p3"/>
          <p:cNvSpPr txBox="1"/>
          <p:nvPr/>
        </p:nvSpPr>
        <p:spPr>
          <a:xfrm>
            <a:off x="8050564" y="2505192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C4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34" name="Google Shape;334;p3"/>
          <p:cNvSpPr txBox="1"/>
          <p:nvPr/>
        </p:nvSpPr>
        <p:spPr>
          <a:xfrm>
            <a:off x="8050564" y="2872240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LOT C5</a:t>
            </a:r>
            <a:endParaRPr b="1" i="0" sz="1300" u="none" cap="none" strike="noStrike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39" name="Google Shape;339;p3"/>
          <p:cNvSpPr txBox="1"/>
          <p:nvPr/>
        </p:nvSpPr>
        <p:spPr>
          <a:xfrm>
            <a:off x="8050564" y="3239288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LOT C6</a:t>
            </a:r>
            <a:endParaRPr b="1" i="0" sz="1300" u="none" cap="none" strike="noStrike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40" name="Google Shape;340;p3"/>
          <p:cNvCxnSpPr>
            <a:stCxn id="291" idx="7"/>
            <a:endCxn id="339" idx="1"/>
          </p:cNvCxnSpPr>
          <p:nvPr/>
        </p:nvCxnSpPr>
        <p:spPr>
          <a:xfrm flipH="1" rot="10800000">
            <a:off x="7065396" y="3380597"/>
            <a:ext cx="985200" cy="2583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3"/>
          <p:cNvSpPr txBox="1"/>
          <p:nvPr/>
        </p:nvSpPr>
        <p:spPr>
          <a:xfrm>
            <a:off x="1005962" y="3645192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LOT E7</a:t>
            </a:r>
            <a:endParaRPr b="1" i="0" sz="1300" u="none" cap="none" strike="noStrike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42" name="Google Shape;342;p3"/>
          <p:cNvSpPr txBox="1"/>
          <p:nvPr/>
        </p:nvSpPr>
        <p:spPr>
          <a:xfrm>
            <a:off x="324363" y="3645188"/>
            <a:ext cx="627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GBOM E</a:t>
            </a:r>
            <a:endParaRPr b="1" i="0" sz="1300" u="none" cap="none" strike="noStrike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43" name="Google Shape;343;p3"/>
          <p:cNvCxnSpPr/>
          <p:nvPr/>
        </p:nvCxnSpPr>
        <p:spPr>
          <a:xfrm>
            <a:off x="192988" y="3533488"/>
            <a:ext cx="145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3"/>
          <p:cNvCxnSpPr>
            <a:stCxn id="341" idx="3"/>
          </p:cNvCxnSpPr>
          <p:nvPr/>
        </p:nvCxnSpPr>
        <p:spPr>
          <a:xfrm>
            <a:off x="1677062" y="3786642"/>
            <a:ext cx="6171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45" name="Google Shape;345;p3"/>
          <p:cNvCxnSpPr/>
          <p:nvPr/>
        </p:nvCxnSpPr>
        <p:spPr>
          <a:xfrm flipH="1" rot="10800000">
            <a:off x="2749440" y="3785181"/>
            <a:ext cx="1005600" cy="15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46" name="Google Shape;346;p3"/>
          <p:cNvCxnSpPr>
            <a:endCxn id="288" idx="2"/>
          </p:cNvCxnSpPr>
          <p:nvPr/>
        </p:nvCxnSpPr>
        <p:spPr>
          <a:xfrm>
            <a:off x="4210212" y="3785170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3"/>
          <p:cNvCxnSpPr>
            <a:stCxn id="288" idx="6"/>
            <a:endCxn id="291" idx="2"/>
          </p:cNvCxnSpPr>
          <p:nvPr/>
        </p:nvCxnSpPr>
        <p:spPr>
          <a:xfrm>
            <a:off x="5671212" y="3785170"/>
            <a:ext cx="1005600" cy="14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48" name="Google Shape;348;p3"/>
          <p:cNvSpPr txBox="1"/>
          <p:nvPr/>
        </p:nvSpPr>
        <p:spPr>
          <a:xfrm>
            <a:off x="8050587" y="3645192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LOT E7</a:t>
            </a:r>
            <a:endParaRPr b="1" i="0" sz="1300" u="none" cap="none" strike="noStrike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49" name="Google Shape;349;p3"/>
          <p:cNvCxnSpPr>
            <a:stCxn id="291" idx="6"/>
            <a:endCxn id="348" idx="1"/>
          </p:cNvCxnSpPr>
          <p:nvPr/>
        </p:nvCxnSpPr>
        <p:spPr>
          <a:xfrm flipH="1" rot="10800000">
            <a:off x="7132088" y="3786705"/>
            <a:ext cx="918600" cy="132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50" name="Google Shape;350;p3"/>
          <p:cNvSpPr txBox="1"/>
          <p:nvPr/>
        </p:nvSpPr>
        <p:spPr>
          <a:xfrm>
            <a:off x="4557063" y="136707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A1-2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"/>
          <p:cNvSpPr txBox="1"/>
          <p:nvPr/>
        </p:nvSpPr>
        <p:spPr>
          <a:xfrm>
            <a:off x="1775875" y="1389338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A1-1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"/>
          <p:cNvSpPr txBox="1"/>
          <p:nvPr/>
        </p:nvSpPr>
        <p:spPr>
          <a:xfrm>
            <a:off x="1829550" y="1649638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A2-1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"/>
          <p:cNvSpPr txBox="1"/>
          <p:nvPr/>
        </p:nvSpPr>
        <p:spPr>
          <a:xfrm>
            <a:off x="4557063" y="17916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A2-2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"/>
          <p:cNvSpPr txBox="1"/>
          <p:nvPr/>
        </p:nvSpPr>
        <p:spPr>
          <a:xfrm>
            <a:off x="2559975" y="2151863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B3-1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"/>
          <p:cNvSpPr txBox="1"/>
          <p:nvPr/>
        </p:nvSpPr>
        <p:spPr>
          <a:xfrm>
            <a:off x="5287488" y="215185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B3-2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"/>
          <p:cNvSpPr txBox="1"/>
          <p:nvPr/>
        </p:nvSpPr>
        <p:spPr>
          <a:xfrm>
            <a:off x="2559975" y="24475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C4-1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"/>
          <p:cNvSpPr txBox="1"/>
          <p:nvPr/>
        </p:nvSpPr>
        <p:spPr>
          <a:xfrm>
            <a:off x="4557075" y="256410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C4-2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"/>
          <p:cNvSpPr txBox="1"/>
          <p:nvPr/>
        </p:nvSpPr>
        <p:spPr>
          <a:xfrm>
            <a:off x="6017900" y="256035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C4-3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"/>
          <p:cNvSpPr txBox="1"/>
          <p:nvPr/>
        </p:nvSpPr>
        <p:spPr>
          <a:xfrm>
            <a:off x="2559988" y="2968513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C5-1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"/>
          <p:cNvSpPr txBox="1"/>
          <p:nvPr/>
        </p:nvSpPr>
        <p:spPr>
          <a:xfrm>
            <a:off x="4557063" y="297635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C5-2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"/>
          <p:cNvSpPr txBox="1"/>
          <p:nvPr/>
        </p:nvSpPr>
        <p:spPr>
          <a:xfrm>
            <a:off x="6017938" y="298077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C5-3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"/>
          <p:cNvSpPr txBox="1"/>
          <p:nvPr/>
        </p:nvSpPr>
        <p:spPr>
          <a:xfrm>
            <a:off x="2559988" y="323550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C6-1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"/>
          <p:cNvSpPr txBox="1"/>
          <p:nvPr/>
        </p:nvSpPr>
        <p:spPr>
          <a:xfrm>
            <a:off x="4557025" y="334860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C6-2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"/>
          <p:cNvSpPr txBox="1"/>
          <p:nvPr/>
        </p:nvSpPr>
        <p:spPr>
          <a:xfrm>
            <a:off x="6017938" y="355605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C6-3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"/>
          <p:cNvSpPr txBox="1"/>
          <p:nvPr/>
        </p:nvSpPr>
        <p:spPr>
          <a:xfrm>
            <a:off x="1775863" y="37223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E7-1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"/>
          <p:cNvSpPr txBox="1"/>
          <p:nvPr/>
        </p:nvSpPr>
        <p:spPr>
          <a:xfrm>
            <a:off x="3096175" y="37223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E7-2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"/>
          <p:cNvSpPr txBox="1"/>
          <p:nvPr/>
        </p:nvSpPr>
        <p:spPr>
          <a:xfrm>
            <a:off x="4557063" y="37223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E7-3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"/>
          <p:cNvSpPr txBox="1"/>
          <p:nvPr/>
        </p:nvSpPr>
        <p:spPr>
          <a:xfrm>
            <a:off x="6017925" y="371330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E7-4</a:t>
            </a:r>
            <a:endParaRPr b="0" i="0" sz="8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"/>
          <p:cNvSpPr txBox="1"/>
          <p:nvPr/>
        </p:nvSpPr>
        <p:spPr>
          <a:xfrm>
            <a:off x="8050587" y="4092630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LOT F8</a:t>
            </a:r>
            <a:endParaRPr b="1" i="0" sz="1300" u="none" cap="none" strike="noStrike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70" name="Google Shape;370;p3"/>
          <p:cNvCxnSpPr/>
          <p:nvPr/>
        </p:nvCxnSpPr>
        <p:spPr>
          <a:xfrm>
            <a:off x="202563" y="3960513"/>
            <a:ext cx="1455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3"/>
          <p:cNvSpPr txBox="1"/>
          <p:nvPr/>
        </p:nvSpPr>
        <p:spPr>
          <a:xfrm>
            <a:off x="2800" y="4656875"/>
            <a:ext cx="6033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-114300" lvl="0" marL="114300" marR="0" rtl="0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Open Sans"/>
              <a:buChar char="●"/>
            </a:pPr>
            <a:r>
              <a:rPr b="0" i="0" lang="en" sz="1000" u="none" cap="none" strike="noStrike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For simplified case, we use LOT A1, B3, C4, and F8 as our example in this EM Algorithm</a:t>
            </a:r>
            <a:endParaRPr b="0" i="0" sz="1000" u="none" cap="none" strike="noStrike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2" name="Google Shape;372;p3"/>
          <p:cNvSpPr txBox="1"/>
          <p:nvPr/>
        </p:nvSpPr>
        <p:spPr>
          <a:xfrm>
            <a:off x="0" y="-7500"/>
            <a:ext cx="23217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Note: ignore the line pattern/dash</a:t>
            </a:r>
            <a:endParaRPr b="0" i="0" sz="1000" u="none" cap="none" strike="noStrike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3" name="Google Shape;373;p3"/>
          <p:cNvSpPr/>
          <p:nvPr/>
        </p:nvSpPr>
        <p:spPr>
          <a:xfrm>
            <a:off x="2294040" y="3558981"/>
            <a:ext cx="455400" cy="455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LS-29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"/>
          <p:cNvSpPr/>
          <p:nvPr/>
        </p:nvSpPr>
        <p:spPr>
          <a:xfrm>
            <a:off x="3754926" y="3557468"/>
            <a:ext cx="455400" cy="455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MS-30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"/>
          <p:cNvSpPr txBox="1"/>
          <p:nvPr/>
        </p:nvSpPr>
        <p:spPr>
          <a:xfrm>
            <a:off x="1005962" y="4092630"/>
            <a:ext cx="6711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LOT F8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76" name="Google Shape;376;p3"/>
          <p:cNvSpPr txBox="1"/>
          <p:nvPr/>
        </p:nvSpPr>
        <p:spPr>
          <a:xfrm>
            <a:off x="324363" y="4092625"/>
            <a:ext cx="627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GBOM F</a:t>
            </a:r>
            <a:endParaRPr b="1" i="0" sz="1300" u="none" cap="none" strike="noStrike">
              <a:solidFill>
                <a:srgbClr val="000000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77" name="Google Shape;377;p3"/>
          <p:cNvCxnSpPr>
            <a:stCxn id="373" idx="4"/>
            <a:endCxn id="374" idx="3"/>
          </p:cNvCxnSpPr>
          <p:nvPr/>
        </p:nvCxnSpPr>
        <p:spPr>
          <a:xfrm rot="-5400000">
            <a:off x="3137640" y="3330381"/>
            <a:ext cx="68100" cy="1299900"/>
          </a:xfrm>
          <a:prstGeom prst="bentConnector3">
            <a:avLst>
              <a:gd fmla="val -349670" name="adj1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8" name="Google Shape;378;p3"/>
          <p:cNvCxnSpPr>
            <a:stCxn id="375" idx="3"/>
            <a:endCxn id="374" idx="4"/>
          </p:cNvCxnSpPr>
          <p:nvPr/>
        </p:nvCxnSpPr>
        <p:spPr>
          <a:xfrm flipH="1" rot="10800000">
            <a:off x="1677062" y="4012980"/>
            <a:ext cx="2305500" cy="221100"/>
          </a:xfrm>
          <a:prstGeom prst="bentConnector2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" name="Google Shape;379;p3"/>
          <p:cNvCxnSpPr>
            <a:stCxn id="374" idx="3"/>
            <a:endCxn id="373" idx="5"/>
          </p:cNvCxnSpPr>
          <p:nvPr/>
        </p:nvCxnSpPr>
        <p:spPr>
          <a:xfrm flipH="1">
            <a:off x="2682818" y="3946176"/>
            <a:ext cx="1138800" cy="15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0" name="Google Shape;380;p3"/>
          <p:cNvCxnSpPr>
            <a:stCxn id="374" idx="5"/>
          </p:cNvCxnSpPr>
          <p:nvPr/>
        </p:nvCxnSpPr>
        <p:spPr>
          <a:xfrm>
            <a:off x="4143634" y="3946176"/>
            <a:ext cx="3906900" cy="2880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1" name="Google Shape;381;p3"/>
          <p:cNvSpPr txBox="1"/>
          <p:nvPr/>
        </p:nvSpPr>
        <p:spPr>
          <a:xfrm>
            <a:off x="2391638" y="41697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F8-1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"/>
          <p:cNvSpPr txBox="1"/>
          <p:nvPr/>
        </p:nvSpPr>
        <p:spPr>
          <a:xfrm>
            <a:off x="3096175" y="38848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F8-2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"/>
          <p:cNvSpPr txBox="1"/>
          <p:nvPr/>
        </p:nvSpPr>
        <p:spPr>
          <a:xfrm>
            <a:off x="3096250" y="40473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F8-3</a:t>
            </a:r>
            <a:endParaRPr b="0" i="0" sz="800" u="none" cap="none" strike="noStrike">
              <a:solidFill>
                <a:srgbClr val="38444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"/>
          <p:cNvSpPr txBox="1"/>
          <p:nvPr>
            <p:ph idx="4294967295" type="ctrTitle"/>
          </p:nvPr>
        </p:nvSpPr>
        <p:spPr>
          <a:xfrm>
            <a:off x="79100" y="537863"/>
            <a:ext cx="5567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</a:pPr>
            <a:r>
              <a:rPr b="1" i="0" lang="en" sz="7200" u="none" cap="none" strike="noStrike">
                <a:solidFill>
                  <a:srgbClr val="FF98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Objective</a:t>
            </a:r>
            <a:endParaRPr b="1" i="0" sz="7200" u="none" cap="none" strike="noStrike">
              <a:solidFill>
                <a:srgbClr val="FF98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9" name="Google Shape;389;p4"/>
          <p:cNvSpPr txBox="1"/>
          <p:nvPr>
            <p:ph idx="4294967295" type="subTitle"/>
          </p:nvPr>
        </p:nvSpPr>
        <p:spPr>
          <a:xfrm>
            <a:off x="79100" y="1553200"/>
            <a:ext cx="7378200" cy="3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None/>
            </a:pP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The Goal of this EM Algorithm is to compute the maximum likelihood of each </a:t>
            </a:r>
            <a:r>
              <a:rPr b="1" i="0" lang="en" sz="2400" u="none" cap="none" strike="noStrike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machine </a:t>
            </a: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step </a:t>
            </a:r>
            <a:r>
              <a:rPr b="1" i="0" lang="en" sz="2400" u="none" cap="none" strike="noStrike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yield rate</a:t>
            </a: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through the iterative method between the expectation (</a:t>
            </a:r>
            <a:r>
              <a:rPr b="1" i="0" lang="en" sz="2400" u="none" cap="none" strike="noStrike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E-Step</a:t>
            </a: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) and maximization (</a:t>
            </a:r>
            <a:r>
              <a:rPr b="1" i="0" lang="en" sz="2400" u="none" cap="none" strike="noStrike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M-Step</a:t>
            </a: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).</a:t>
            </a:r>
            <a:endParaRPr b="0" i="0" sz="12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90" name="Google Shape;390;p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1" name="Google Shape;391;p4"/>
          <p:cNvGrpSpPr/>
          <p:nvPr/>
        </p:nvGrpSpPr>
        <p:grpSpPr>
          <a:xfrm>
            <a:off x="5646805" y="676368"/>
            <a:ext cx="794281" cy="882815"/>
            <a:chOff x="3581544" y="2667002"/>
            <a:chExt cx="1409549" cy="1718876"/>
          </a:xfrm>
        </p:grpSpPr>
        <p:grpSp>
          <p:nvGrpSpPr>
            <p:cNvPr id="392" name="Google Shape;392;p4"/>
            <p:cNvGrpSpPr/>
            <p:nvPr/>
          </p:nvGrpSpPr>
          <p:grpSpPr>
            <a:xfrm>
              <a:off x="3581544" y="2667002"/>
              <a:ext cx="1409549" cy="1718876"/>
              <a:chOff x="1268550" y="929175"/>
              <a:chExt cx="407950" cy="497475"/>
            </a:xfrm>
          </p:grpSpPr>
          <p:sp>
            <p:nvSpPr>
              <p:cNvPr id="393" name="Google Shape;393;p4"/>
              <p:cNvSpPr/>
              <p:nvPr/>
            </p:nvSpPr>
            <p:spPr>
              <a:xfrm>
                <a:off x="1268550" y="953550"/>
                <a:ext cx="387250" cy="473100"/>
              </a:xfrm>
              <a:custGeom>
                <a:rect b="b" l="l" r="r" t="t"/>
                <a:pathLst>
                  <a:path extrusionOk="0" fill="none" h="18924" w="15490">
                    <a:moveTo>
                      <a:pt x="15490" y="17828"/>
                    </a:moveTo>
                    <a:lnTo>
                      <a:pt x="15490" y="17828"/>
                    </a:lnTo>
                    <a:lnTo>
                      <a:pt x="15465" y="17998"/>
                    </a:lnTo>
                    <a:lnTo>
                      <a:pt x="15417" y="18169"/>
                    </a:lnTo>
                    <a:lnTo>
                      <a:pt x="15319" y="18364"/>
                    </a:lnTo>
                    <a:lnTo>
                      <a:pt x="15197" y="18534"/>
                    </a:lnTo>
                    <a:lnTo>
                      <a:pt x="15051" y="18680"/>
                    </a:lnTo>
                    <a:lnTo>
                      <a:pt x="14881" y="18802"/>
                    </a:lnTo>
                    <a:lnTo>
                      <a:pt x="14735" y="18900"/>
                    </a:lnTo>
                    <a:lnTo>
                      <a:pt x="14564" y="18924"/>
                    </a:lnTo>
                    <a:lnTo>
                      <a:pt x="1023" y="18924"/>
                    </a:lnTo>
                    <a:lnTo>
                      <a:pt x="1023" y="18924"/>
                    </a:lnTo>
                    <a:lnTo>
                      <a:pt x="852" y="18900"/>
                    </a:lnTo>
                    <a:lnTo>
                      <a:pt x="682" y="18802"/>
                    </a:lnTo>
                    <a:lnTo>
                      <a:pt x="511" y="18680"/>
                    </a:lnTo>
                    <a:lnTo>
                      <a:pt x="341" y="18534"/>
                    </a:lnTo>
                    <a:lnTo>
                      <a:pt x="219" y="18364"/>
                    </a:lnTo>
                    <a:lnTo>
                      <a:pt x="97" y="18169"/>
                    </a:lnTo>
                    <a:lnTo>
                      <a:pt x="24" y="17998"/>
                    </a:lnTo>
                    <a:lnTo>
                      <a:pt x="0" y="17828"/>
                    </a:lnTo>
                    <a:lnTo>
                      <a:pt x="0" y="877"/>
                    </a:lnTo>
                    <a:lnTo>
                      <a:pt x="0" y="877"/>
                    </a:lnTo>
                    <a:lnTo>
                      <a:pt x="24" y="706"/>
                    </a:lnTo>
                    <a:lnTo>
                      <a:pt x="97" y="560"/>
                    </a:lnTo>
                    <a:lnTo>
                      <a:pt x="195" y="414"/>
                    </a:lnTo>
                    <a:lnTo>
                      <a:pt x="341" y="268"/>
                    </a:lnTo>
                    <a:lnTo>
                      <a:pt x="487" y="171"/>
                    </a:lnTo>
                    <a:lnTo>
                      <a:pt x="658" y="73"/>
                    </a:lnTo>
                    <a:lnTo>
                      <a:pt x="828" y="24"/>
                    </a:lnTo>
                    <a:lnTo>
                      <a:pt x="974" y="0"/>
                    </a:lnTo>
                  </a:path>
                </a:pathLst>
              </a:custGeom>
              <a:noFill/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4"/>
              <p:cNvSpPr/>
              <p:nvPr/>
            </p:nvSpPr>
            <p:spPr>
              <a:xfrm>
                <a:off x="1298975" y="929175"/>
                <a:ext cx="377525" cy="462775"/>
              </a:xfrm>
              <a:custGeom>
                <a:rect b="b" l="l" r="r" t="t"/>
                <a:pathLst>
                  <a:path extrusionOk="0" fill="none" h="18511" w="15101">
                    <a:moveTo>
                      <a:pt x="15101" y="3362"/>
                    </a:moveTo>
                    <a:lnTo>
                      <a:pt x="15101" y="17731"/>
                    </a:lnTo>
                    <a:lnTo>
                      <a:pt x="15101" y="17731"/>
                    </a:lnTo>
                    <a:lnTo>
                      <a:pt x="15076" y="17877"/>
                    </a:lnTo>
                    <a:lnTo>
                      <a:pt x="15028" y="18024"/>
                    </a:lnTo>
                    <a:lnTo>
                      <a:pt x="14979" y="18145"/>
                    </a:lnTo>
                    <a:lnTo>
                      <a:pt x="14882" y="18267"/>
                    </a:lnTo>
                    <a:lnTo>
                      <a:pt x="14760" y="18365"/>
                    </a:lnTo>
                    <a:lnTo>
                      <a:pt x="14614" y="18438"/>
                    </a:lnTo>
                    <a:lnTo>
                      <a:pt x="14468" y="18486"/>
                    </a:lnTo>
                    <a:lnTo>
                      <a:pt x="14321" y="18511"/>
                    </a:lnTo>
                    <a:lnTo>
                      <a:pt x="780" y="18511"/>
                    </a:lnTo>
                    <a:lnTo>
                      <a:pt x="780" y="18511"/>
                    </a:lnTo>
                    <a:lnTo>
                      <a:pt x="634" y="18486"/>
                    </a:lnTo>
                    <a:lnTo>
                      <a:pt x="488" y="18438"/>
                    </a:lnTo>
                    <a:lnTo>
                      <a:pt x="342" y="18365"/>
                    </a:lnTo>
                    <a:lnTo>
                      <a:pt x="220" y="18267"/>
                    </a:lnTo>
                    <a:lnTo>
                      <a:pt x="123" y="18145"/>
                    </a:lnTo>
                    <a:lnTo>
                      <a:pt x="74" y="18024"/>
                    </a:lnTo>
                    <a:lnTo>
                      <a:pt x="25" y="17877"/>
                    </a:lnTo>
                    <a:lnTo>
                      <a:pt x="1" y="17731"/>
                    </a:lnTo>
                    <a:lnTo>
                      <a:pt x="1" y="780"/>
                    </a:lnTo>
                    <a:lnTo>
                      <a:pt x="1" y="780"/>
                    </a:lnTo>
                    <a:lnTo>
                      <a:pt x="25" y="610"/>
                    </a:lnTo>
                    <a:lnTo>
                      <a:pt x="74" y="464"/>
                    </a:lnTo>
                    <a:lnTo>
                      <a:pt x="123" y="342"/>
                    </a:lnTo>
                    <a:lnTo>
                      <a:pt x="220" y="220"/>
                    </a:lnTo>
                    <a:lnTo>
                      <a:pt x="342" y="123"/>
                    </a:lnTo>
                    <a:lnTo>
                      <a:pt x="488" y="50"/>
                    </a:lnTo>
                    <a:lnTo>
                      <a:pt x="634" y="1"/>
                    </a:lnTo>
                    <a:lnTo>
                      <a:pt x="780" y="1"/>
                    </a:lnTo>
                    <a:lnTo>
                      <a:pt x="11740" y="1"/>
                    </a:lnTo>
                  </a:path>
                </a:pathLst>
              </a:custGeom>
              <a:noFill/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4"/>
              <p:cNvSpPr/>
              <p:nvPr/>
            </p:nvSpPr>
            <p:spPr>
              <a:xfrm>
                <a:off x="1592450" y="929175"/>
                <a:ext cx="84050" cy="84050"/>
              </a:xfrm>
              <a:custGeom>
                <a:rect b="b" l="l" r="r" t="t"/>
                <a:pathLst>
                  <a:path extrusionOk="0" fill="none" h="3362" w="3362">
                    <a:moveTo>
                      <a:pt x="1" y="2582"/>
                    </a:moveTo>
                    <a:lnTo>
                      <a:pt x="1" y="1"/>
                    </a:lnTo>
                    <a:lnTo>
                      <a:pt x="3362" y="3362"/>
                    </a:lnTo>
                    <a:lnTo>
                      <a:pt x="780" y="3362"/>
                    </a:lnTo>
                    <a:lnTo>
                      <a:pt x="780" y="3362"/>
                    </a:lnTo>
                    <a:lnTo>
                      <a:pt x="610" y="3337"/>
                    </a:lnTo>
                    <a:lnTo>
                      <a:pt x="464" y="3289"/>
                    </a:lnTo>
                    <a:lnTo>
                      <a:pt x="342" y="3216"/>
                    </a:lnTo>
                    <a:lnTo>
                      <a:pt x="220" y="3118"/>
                    </a:lnTo>
                    <a:lnTo>
                      <a:pt x="123" y="3021"/>
                    </a:lnTo>
                    <a:lnTo>
                      <a:pt x="50" y="2875"/>
                    </a:lnTo>
                    <a:lnTo>
                      <a:pt x="1" y="2729"/>
                    </a:lnTo>
                    <a:lnTo>
                      <a:pt x="1" y="2582"/>
                    </a:lnTo>
                    <a:lnTo>
                      <a:pt x="1" y="2582"/>
                    </a:lnTo>
                    <a:close/>
                  </a:path>
                </a:pathLst>
              </a:custGeom>
              <a:noFill/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6" name="Google Shape;396;p4"/>
            <p:cNvSpPr/>
            <p:nvPr/>
          </p:nvSpPr>
          <p:spPr>
            <a:xfrm>
              <a:off x="3824184" y="2845306"/>
              <a:ext cx="219632" cy="219646"/>
            </a:xfrm>
            <a:custGeom>
              <a:rect b="b" l="l" r="r" t="t"/>
              <a:pathLst>
                <a:path extrusionOk="0" fill="none" h="16222" w="16221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3824184" y="3142343"/>
              <a:ext cx="219632" cy="219646"/>
            </a:xfrm>
            <a:custGeom>
              <a:rect b="b" l="l" r="r" t="t"/>
              <a:pathLst>
                <a:path extrusionOk="0" fill="none" h="16222" w="16221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3824184" y="3439380"/>
              <a:ext cx="219632" cy="219646"/>
            </a:xfrm>
            <a:custGeom>
              <a:rect b="b" l="l" r="r" t="t"/>
              <a:pathLst>
                <a:path extrusionOk="0" fill="none" h="16222" w="16221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3824184" y="3736416"/>
              <a:ext cx="219632" cy="219646"/>
            </a:xfrm>
            <a:custGeom>
              <a:rect b="b" l="l" r="r" t="t"/>
              <a:pathLst>
                <a:path extrusionOk="0" fill="none" h="16222" w="16221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0" name="Google Shape;400;p4"/>
            <p:cNvGrpSpPr/>
            <p:nvPr/>
          </p:nvGrpSpPr>
          <p:grpSpPr>
            <a:xfrm>
              <a:off x="4085540" y="3066303"/>
              <a:ext cx="728164" cy="728078"/>
              <a:chOff x="1923675" y="1633650"/>
              <a:chExt cx="436000" cy="435975"/>
            </a:xfrm>
          </p:grpSpPr>
          <p:sp>
            <p:nvSpPr>
              <p:cNvPr id="401" name="Google Shape;401;p4"/>
              <p:cNvSpPr/>
              <p:nvPr/>
            </p:nvSpPr>
            <p:spPr>
              <a:xfrm>
                <a:off x="2209250" y="1633650"/>
                <a:ext cx="150425" cy="150425"/>
              </a:xfrm>
              <a:custGeom>
                <a:rect b="b" l="l" r="r" t="t"/>
                <a:pathLst>
                  <a:path extrusionOk="0" fill="none" h="6017" w="6017">
                    <a:moveTo>
                      <a:pt x="5846" y="3605"/>
                    </a:moveTo>
                    <a:lnTo>
                      <a:pt x="2412" y="171"/>
                    </a:lnTo>
                    <a:lnTo>
                      <a:pt x="2412" y="171"/>
                    </a:lnTo>
                    <a:lnTo>
                      <a:pt x="2314" y="98"/>
                    </a:lnTo>
                    <a:lnTo>
                      <a:pt x="2217" y="49"/>
                    </a:lnTo>
                    <a:lnTo>
                      <a:pt x="2095" y="25"/>
                    </a:lnTo>
                    <a:lnTo>
                      <a:pt x="1997" y="1"/>
                    </a:lnTo>
                    <a:lnTo>
                      <a:pt x="1876" y="25"/>
                    </a:lnTo>
                    <a:lnTo>
                      <a:pt x="1778" y="49"/>
                    </a:lnTo>
                    <a:lnTo>
                      <a:pt x="1681" y="98"/>
                    </a:lnTo>
                    <a:lnTo>
                      <a:pt x="1583" y="171"/>
                    </a:lnTo>
                    <a:lnTo>
                      <a:pt x="0" y="1778"/>
                    </a:lnTo>
                    <a:lnTo>
                      <a:pt x="4238" y="6016"/>
                    </a:lnTo>
                    <a:lnTo>
                      <a:pt x="5846" y="4433"/>
                    </a:lnTo>
                    <a:lnTo>
                      <a:pt x="5846" y="4433"/>
                    </a:lnTo>
                    <a:lnTo>
                      <a:pt x="5919" y="4336"/>
                    </a:lnTo>
                    <a:lnTo>
                      <a:pt x="5967" y="4238"/>
                    </a:lnTo>
                    <a:lnTo>
                      <a:pt x="5992" y="4141"/>
                    </a:lnTo>
                    <a:lnTo>
                      <a:pt x="6016" y="4019"/>
                    </a:lnTo>
                    <a:lnTo>
                      <a:pt x="5992" y="3922"/>
                    </a:lnTo>
                    <a:lnTo>
                      <a:pt x="5967" y="3800"/>
                    </a:lnTo>
                    <a:lnTo>
                      <a:pt x="5919" y="3703"/>
                    </a:lnTo>
                    <a:lnTo>
                      <a:pt x="5846" y="3605"/>
                    </a:lnTo>
                    <a:lnTo>
                      <a:pt x="5846" y="3605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4"/>
              <p:cNvSpPr/>
              <p:nvPr/>
            </p:nvSpPr>
            <p:spPr>
              <a:xfrm>
                <a:off x="2019900" y="1757250"/>
                <a:ext cx="261825" cy="261850"/>
              </a:xfrm>
              <a:custGeom>
                <a:rect b="b" l="l" r="r" t="t"/>
                <a:pathLst>
                  <a:path extrusionOk="0" fill="none" h="10474" w="10473">
                    <a:moveTo>
                      <a:pt x="10473" y="1"/>
                    </a:moveTo>
                    <a:lnTo>
                      <a:pt x="0" y="10473"/>
                    </a:lnTo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4"/>
              <p:cNvSpPr/>
              <p:nvPr/>
            </p:nvSpPr>
            <p:spPr>
              <a:xfrm>
                <a:off x="1923675" y="1681150"/>
                <a:ext cx="388500" cy="388475"/>
              </a:xfrm>
              <a:custGeom>
                <a:rect b="b" l="l" r="r" t="t"/>
                <a:pathLst>
                  <a:path extrusionOk="0" fill="none" h="15539" w="15540">
                    <a:moveTo>
                      <a:pt x="11277" y="0"/>
                    </a:moveTo>
                    <a:lnTo>
                      <a:pt x="756" y="10546"/>
                    </a:lnTo>
                    <a:lnTo>
                      <a:pt x="756" y="10546"/>
                    </a:lnTo>
                    <a:lnTo>
                      <a:pt x="683" y="10619"/>
                    </a:lnTo>
                    <a:lnTo>
                      <a:pt x="634" y="10692"/>
                    </a:lnTo>
                    <a:lnTo>
                      <a:pt x="610" y="10765"/>
                    </a:lnTo>
                    <a:lnTo>
                      <a:pt x="585" y="10863"/>
                    </a:lnTo>
                    <a:lnTo>
                      <a:pt x="1" y="14881"/>
                    </a:lnTo>
                    <a:lnTo>
                      <a:pt x="1" y="14881"/>
                    </a:lnTo>
                    <a:lnTo>
                      <a:pt x="1" y="15003"/>
                    </a:lnTo>
                    <a:lnTo>
                      <a:pt x="25" y="15149"/>
                    </a:lnTo>
                    <a:lnTo>
                      <a:pt x="98" y="15271"/>
                    </a:lnTo>
                    <a:lnTo>
                      <a:pt x="171" y="15368"/>
                    </a:lnTo>
                    <a:lnTo>
                      <a:pt x="171" y="15368"/>
                    </a:lnTo>
                    <a:lnTo>
                      <a:pt x="269" y="15441"/>
                    </a:lnTo>
                    <a:lnTo>
                      <a:pt x="366" y="15490"/>
                    </a:lnTo>
                    <a:lnTo>
                      <a:pt x="464" y="15514"/>
                    </a:lnTo>
                    <a:lnTo>
                      <a:pt x="585" y="15539"/>
                    </a:lnTo>
                    <a:lnTo>
                      <a:pt x="585" y="15539"/>
                    </a:lnTo>
                    <a:lnTo>
                      <a:pt x="659" y="15539"/>
                    </a:lnTo>
                    <a:lnTo>
                      <a:pt x="4677" y="14954"/>
                    </a:lnTo>
                    <a:lnTo>
                      <a:pt x="4677" y="14954"/>
                    </a:lnTo>
                    <a:lnTo>
                      <a:pt x="4848" y="14905"/>
                    </a:lnTo>
                    <a:lnTo>
                      <a:pt x="4921" y="14857"/>
                    </a:lnTo>
                    <a:lnTo>
                      <a:pt x="4994" y="14784"/>
                    </a:lnTo>
                    <a:lnTo>
                      <a:pt x="15539" y="4262"/>
                    </a:lnTo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4"/>
              <p:cNvSpPr/>
              <p:nvPr/>
            </p:nvSpPr>
            <p:spPr>
              <a:xfrm>
                <a:off x="1974225" y="1711575"/>
                <a:ext cx="261825" cy="261850"/>
              </a:xfrm>
              <a:custGeom>
                <a:rect b="b" l="l" r="r" t="t"/>
                <a:pathLst>
                  <a:path extrusionOk="0" fill="none" h="10474" w="10473">
                    <a:moveTo>
                      <a:pt x="0" y="10474"/>
                    </a:moveTo>
                    <a:lnTo>
                      <a:pt x="10473" y="1"/>
                    </a:lnTo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4"/>
              <p:cNvSpPr/>
              <p:nvPr/>
            </p:nvSpPr>
            <p:spPr>
              <a:xfrm>
                <a:off x="1934650" y="2014200"/>
                <a:ext cx="44475" cy="44475"/>
              </a:xfrm>
              <a:custGeom>
                <a:rect b="b" l="l" r="r" t="t"/>
                <a:pathLst>
                  <a:path extrusionOk="0" fill="none" h="1779" w="1779">
                    <a:moveTo>
                      <a:pt x="1778" y="1778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4"/>
              <p:cNvSpPr/>
              <p:nvPr/>
            </p:nvSpPr>
            <p:spPr>
              <a:xfrm>
                <a:off x="1944375" y="1947225"/>
                <a:ext cx="101725" cy="101700"/>
              </a:xfrm>
              <a:custGeom>
                <a:rect b="b" l="l" r="r" t="t"/>
                <a:pathLst>
                  <a:path extrusionOk="0" fill="none" h="4068" w="4069">
                    <a:moveTo>
                      <a:pt x="1" y="49"/>
                    </a:moveTo>
                    <a:lnTo>
                      <a:pt x="1" y="49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4068" y="4043"/>
                    </a:lnTo>
                    <a:lnTo>
                      <a:pt x="4068" y="4043"/>
                    </a:lnTo>
                    <a:lnTo>
                      <a:pt x="4068" y="4043"/>
                    </a:lnTo>
                    <a:lnTo>
                      <a:pt x="4020" y="4068"/>
                    </a:lnTo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"/>
          <p:cNvSpPr txBox="1"/>
          <p:nvPr>
            <p:ph idx="4294967295" type="ctrTitle"/>
          </p:nvPr>
        </p:nvSpPr>
        <p:spPr>
          <a:xfrm>
            <a:off x="79100" y="537863"/>
            <a:ext cx="5567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</a:pPr>
            <a:r>
              <a:rPr b="1" i="0" lang="en" sz="7200" u="none" cap="none" strike="noStrike">
                <a:solidFill>
                  <a:srgbClr val="FF98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EMA Labs</a:t>
            </a:r>
            <a:endParaRPr b="1" i="0" sz="7200" u="none" cap="none" strike="noStrike">
              <a:solidFill>
                <a:srgbClr val="FF98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2" name="Google Shape;412;p5"/>
          <p:cNvSpPr txBox="1"/>
          <p:nvPr>
            <p:ph idx="4294967295" type="subTitle"/>
          </p:nvPr>
        </p:nvSpPr>
        <p:spPr>
          <a:xfrm>
            <a:off x="672975" y="1418075"/>
            <a:ext cx="6784200" cy="3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FA8DC"/>
              </a:buClr>
              <a:buSzPts val="2400"/>
              <a:buFont typeface="Roboto Condensed Light"/>
              <a:buAutoNum type="arabicPeriod"/>
            </a:pP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Getting Started</a:t>
            </a:r>
            <a:endParaRPr b="0" i="0" sz="24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400"/>
              <a:buFont typeface="Roboto Condensed Light"/>
              <a:buAutoNum type="arabicPeriod"/>
            </a:pP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Setting up the first case</a:t>
            </a:r>
            <a:endParaRPr b="0" i="0" sz="24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400"/>
              <a:buFont typeface="Roboto Condensed Light"/>
              <a:buAutoNum type="arabicPeriod"/>
            </a:pP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Step 1: Reading CSV</a:t>
            </a:r>
            <a:endParaRPr b="0" i="0" sz="24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400"/>
              <a:buFont typeface="Roboto Condensed Light"/>
              <a:buAutoNum type="arabicPeriod"/>
            </a:pP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Step 2: One Hot Encoding of Machine Steps</a:t>
            </a:r>
            <a:endParaRPr b="0" i="0" sz="24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400"/>
              <a:buFont typeface="Roboto Condensed Light"/>
              <a:buAutoNum type="arabicPeriod"/>
            </a:pP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Step 3: Preprocessing: Lot Information</a:t>
            </a:r>
            <a:endParaRPr b="0" i="0" sz="24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400"/>
              <a:buFont typeface="Roboto Condensed Light"/>
              <a:buAutoNum type="arabicPeriod"/>
            </a:pP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Step 4: Preprocessing: Machine Information</a:t>
            </a:r>
            <a:endParaRPr b="0" i="0" sz="24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400"/>
              <a:buFont typeface="Roboto Condensed Light"/>
              <a:buAutoNum type="arabicPeriod"/>
            </a:pP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Step 5: Running EM Algorithm</a:t>
            </a:r>
            <a:endParaRPr b="0" i="0" sz="24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400"/>
              <a:buFont typeface="Roboto Condensed Light"/>
              <a:buAutoNum type="arabicPeriod"/>
            </a:pP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Step 6: Saving Report</a:t>
            </a:r>
            <a:endParaRPr b="0" i="0" sz="24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A8DC"/>
              </a:buClr>
              <a:buSzPts val="2400"/>
              <a:buFont typeface="Roboto Condensed Light"/>
              <a:buAutoNum type="arabicPeriod"/>
            </a:pPr>
            <a:r>
              <a:rPr b="0" i="0" lang="en" sz="24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Experiment on Real Data (bigger dataset)</a:t>
            </a:r>
            <a:endParaRPr b="0" i="0" sz="24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13" name="Google Shape;413;p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4" name="Google Shape;414;p5"/>
          <p:cNvGrpSpPr/>
          <p:nvPr/>
        </p:nvGrpSpPr>
        <p:grpSpPr>
          <a:xfrm>
            <a:off x="5646805" y="676368"/>
            <a:ext cx="794281" cy="882815"/>
            <a:chOff x="3581544" y="2667002"/>
            <a:chExt cx="1409549" cy="1718876"/>
          </a:xfrm>
        </p:grpSpPr>
        <p:grpSp>
          <p:nvGrpSpPr>
            <p:cNvPr id="415" name="Google Shape;415;p5"/>
            <p:cNvGrpSpPr/>
            <p:nvPr/>
          </p:nvGrpSpPr>
          <p:grpSpPr>
            <a:xfrm>
              <a:off x="3581544" y="2667002"/>
              <a:ext cx="1409549" cy="1718876"/>
              <a:chOff x="1268550" y="929175"/>
              <a:chExt cx="407950" cy="497475"/>
            </a:xfrm>
          </p:grpSpPr>
          <p:sp>
            <p:nvSpPr>
              <p:cNvPr id="416" name="Google Shape;416;p5"/>
              <p:cNvSpPr/>
              <p:nvPr/>
            </p:nvSpPr>
            <p:spPr>
              <a:xfrm>
                <a:off x="1268550" y="953550"/>
                <a:ext cx="387250" cy="473100"/>
              </a:xfrm>
              <a:custGeom>
                <a:rect b="b" l="l" r="r" t="t"/>
                <a:pathLst>
                  <a:path extrusionOk="0" fill="none" h="18924" w="15490">
                    <a:moveTo>
                      <a:pt x="15490" y="17828"/>
                    </a:moveTo>
                    <a:lnTo>
                      <a:pt x="15490" y="17828"/>
                    </a:lnTo>
                    <a:lnTo>
                      <a:pt x="15465" y="17998"/>
                    </a:lnTo>
                    <a:lnTo>
                      <a:pt x="15417" y="18169"/>
                    </a:lnTo>
                    <a:lnTo>
                      <a:pt x="15319" y="18364"/>
                    </a:lnTo>
                    <a:lnTo>
                      <a:pt x="15197" y="18534"/>
                    </a:lnTo>
                    <a:lnTo>
                      <a:pt x="15051" y="18680"/>
                    </a:lnTo>
                    <a:lnTo>
                      <a:pt x="14881" y="18802"/>
                    </a:lnTo>
                    <a:lnTo>
                      <a:pt x="14735" y="18900"/>
                    </a:lnTo>
                    <a:lnTo>
                      <a:pt x="14564" y="18924"/>
                    </a:lnTo>
                    <a:lnTo>
                      <a:pt x="1023" y="18924"/>
                    </a:lnTo>
                    <a:lnTo>
                      <a:pt x="1023" y="18924"/>
                    </a:lnTo>
                    <a:lnTo>
                      <a:pt x="852" y="18900"/>
                    </a:lnTo>
                    <a:lnTo>
                      <a:pt x="682" y="18802"/>
                    </a:lnTo>
                    <a:lnTo>
                      <a:pt x="511" y="18680"/>
                    </a:lnTo>
                    <a:lnTo>
                      <a:pt x="341" y="18534"/>
                    </a:lnTo>
                    <a:lnTo>
                      <a:pt x="219" y="18364"/>
                    </a:lnTo>
                    <a:lnTo>
                      <a:pt x="97" y="18169"/>
                    </a:lnTo>
                    <a:lnTo>
                      <a:pt x="24" y="17998"/>
                    </a:lnTo>
                    <a:lnTo>
                      <a:pt x="0" y="17828"/>
                    </a:lnTo>
                    <a:lnTo>
                      <a:pt x="0" y="877"/>
                    </a:lnTo>
                    <a:lnTo>
                      <a:pt x="0" y="877"/>
                    </a:lnTo>
                    <a:lnTo>
                      <a:pt x="24" y="706"/>
                    </a:lnTo>
                    <a:lnTo>
                      <a:pt x="97" y="560"/>
                    </a:lnTo>
                    <a:lnTo>
                      <a:pt x="195" y="414"/>
                    </a:lnTo>
                    <a:lnTo>
                      <a:pt x="341" y="268"/>
                    </a:lnTo>
                    <a:lnTo>
                      <a:pt x="487" y="171"/>
                    </a:lnTo>
                    <a:lnTo>
                      <a:pt x="658" y="73"/>
                    </a:lnTo>
                    <a:lnTo>
                      <a:pt x="828" y="24"/>
                    </a:lnTo>
                    <a:lnTo>
                      <a:pt x="974" y="0"/>
                    </a:lnTo>
                  </a:path>
                </a:pathLst>
              </a:custGeom>
              <a:noFill/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5"/>
              <p:cNvSpPr/>
              <p:nvPr/>
            </p:nvSpPr>
            <p:spPr>
              <a:xfrm>
                <a:off x="1298975" y="929175"/>
                <a:ext cx="377525" cy="462775"/>
              </a:xfrm>
              <a:custGeom>
                <a:rect b="b" l="l" r="r" t="t"/>
                <a:pathLst>
                  <a:path extrusionOk="0" fill="none" h="18511" w="15101">
                    <a:moveTo>
                      <a:pt x="15101" y="3362"/>
                    </a:moveTo>
                    <a:lnTo>
                      <a:pt x="15101" y="17731"/>
                    </a:lnTo>
                    <a:lnTo>
                      <a:pt x="15101" y="17731"/>
                    </a:lnTo>
                    <a:lnTo>
                      <a:pt x="15076" y="17877"/>
                    </a:lnTo>
                    <a:lnTo>
                      <a:pt x="15028" y="18024"/>
                    </a:lnTo>
                    <a:lnTo>
                      <a:pt x="14979" y="18145"/>
                    </a:lnTo>
                    <a:lnTo>
                      <a:pt x="14882" y="18267"/>
                    </a:lnTo>
                    <a:lnTo>
                      <a:pt x="14760" y="18365"/>
                    </a:lnTo>
                    <a:lnTo>
                      <a:pt x="14614" y="18438"/>
                    </a:lnTo>
                    <a:lnTo>
                      <a:pt x="14468" y="18486"/>
                    </a:lnTo>
                    <a:lnTo>
                      <a:pt x="14321" y="18511"/>
                    </a:lnTo>
                    <a:lnTo>
                      <a:pt x="780" y="18511"/>
                    </a:lnTo>
                    <a:lnTo>
                      <a:pt x="780" y="18511"/>
                    </a:lnTo>
                    <a:lnTo>
                      <a:pt x="634" y="18486"/>
                    </a:lnTo>
                    <a:lnTo>
                      <a:pt x="488" y="18438"/>
                    </a:lnTo>
                    <a:lnTo>
                      <a:pt x="342" y="18365"/>
                    </a:lnTo>
                    <a:lnTo>
                      <a:pt x="220" y="18267"/>
                    </a:lnTo>
                    <a:lnTo>
                      <a:pt x="123" y="18145"/>
                    </a:lnTo>
                    <a:lnTo>
                      <a:pt x="74" y="18024"/>
                    </a:lnTo>
                    <a:lnTo>
                      <a:pt x="25" y="17877"/>
                    </a:lnTo>
                    <a:lnTo>
                      <a:pt x="1" y="17731"/>
                    </a:lnTo>
                    <a:lnTo>
                      <a:pt x="1" y="780"/>
                    </a:lnTo>
                    <a:lnTo>
                      <a:pt x="1" y="780"/>
                    </a:lnTo>
                    <a:lnTo>
                      <a:pt x="25" y="610"/>
                    </a:lnTo>
                    <a:lnTo>
                      <a:pt x="74" y="464"/>
                    </a:lnTo>
                    <a:lnTo>
                      <a:pt x="123" y="342"/>
                    </a:lnTo>
                    <a:lnTo>
                      <a:pt x="220" y="220"/>
                    </a:lnTo>
                    <a:lnTo>
                      <a:pt x="342" y="123"/>
                    </a:lnTo>
                    <a:lnTo>
                      <a:pt x="488" y="50"/>
                    </a:lnTo>
                    <a:lnTo>
                      <a:pt x="634" y="1"/>
                    </a:lnTo>
                    <a:lnTo>
                      <a:pt x="780" y="1"/>
                    </a:lnTo>
                    <a:lnTo>
                      <a:pt x="11740" y="1"/>
                    </a:lnTo>
                  </a:path>
                </a:pathLst>
              </a:custGeom>
              <a:noFill/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5"/>
              <p:cNvSpPr/>
              <p:nvPr/>
            </p:nvSpPr>
            <p:spPr>
              <a:xfrm>
                <a:off x="1592450" y="929175"/>
                <a:ext cx="84050" cy="84050"/>
              </a:xfrm>
              <a:custGeom>
                <a:rect b="b" l="l" r="r" t="t"/>
                <a:pathLst>
                  <a:path extrusionOk="0" fill="none" h="3362" w="3362">
                    <a:moveTo>
                      <a:pt x="1" y="2582"/>
                    </a:moveTo>
                    <a:lnTo>
                      <a:pt x="1" y="1"/>
                    </a:lnTo>
                    <a:lnTo>
                      <a:pt x="3362" y="3362"/>
                    </a:lnTo>
                    <a:lnTo>
                      <a:pt x="780" y="3362"/>
                    </a:lnTo>
                    <a:lnTo>
                      <a:pt x="780" y="3362"/>
                    </a:lnTo>
                    <a:lnTo>
                      <a:pt x="610" y="3337"/>
                    </a:lnTo>
                    <a:lnTo>
                      <a:pt x="464" y="3289"/>
                    </a:lnTo>
                    <a:lnTo>
                      <a:pt x="342" y="3216"/>
                    </a:lnTo>
                    <a:lnTo>
                      <a:pt x="220" y="3118"/>
                    </a:lnTo>
                    <a:lnTo>
                      <a:pt x="123" y="3021"/>
                    </a:lnTo>
                    <a:lnTo>
                      <a:pt x="50" y="2875"/>
                    </a:lnTo>
                    <a:lnTo>
                      <a:pt x="1" y="2729"/>
                    </a:lnTo>
                    <a:lnTo>
                      <a:pt x="1" y="2582"/>
                    </a:lnTo>
                    <a:lnTo>
                      <a:pt x="1" y="2582"/>
                    </a:lnTo>
                    <a:close/>
                  </a:path>
                </a:pathLst>
              </a:custGeom>
              <a:noFill/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9" name="Google Shape;419;p5"/>
            <p:cNvSpPr/>
            <p:nvPr/>
          </p:nvSpPr>
          <p:spPr>
            <a:xfrm>
              <a:off x="3824184" y="2845306"/>
              <a:ext cx="219632" cy="219646"/>
            </a:xfrm>
            <a:custGeom>
              <a:rect b="b" l="l" r="r" t="t"/>
              <a:pathLst>
                <a:path extrusionOk="0" fill="none" h="16222" w="16221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3824184" y="3142343"/>
              <a:ext cx="219632" cy="219646"/>
            </a:xfrm>
            <a:custGeom>
              <a:rect b="b" l="l" r="r" t="t"/>
              <a:pathLst>
                <a:path extrusionOk="0" fill="none" h="16222" w="16221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3824184" y="3439380"/>
              <a:ext cx="219632" cy="219646"/>
            </a:xfrm>
            <a:custGeom>
              <a:rect b="b" l="l" r="r" t="t"/>
              <a:pathLst>
                <a:path extrusionOk="0" fill="none" h="16222" w="16221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3824184" y="3736416"/>
              <a:ext cx="219632" cy="219646"/>
            </a:xfrm>
            <a:custGeom>
              <a:rect b="b" l="l" r="r" t="t"/>
              <a:pathLst>
                <a:path extrusionOk="0" fill="none" h="16222" w="16221">
                  <a:moveTo>
                    <a:pt x="0" y="8111"/>
                  </a:moveTo>
                  <a:lnTo>
                    <a:pt x="0" y="8111"/>
                  </a:lnTo>
                  <a:lnTo>
                    <a:pt x="0" y="7697"/>
                  </a:lnTo>
                  <a:lnTo>
                    <a:pt x="49" y="7283"/>
                  </a:lnTo>
                  <a:lnTo>
                    <a:pt x="98" y="6869"/>
                  </a:lnTo>
                  <a:lnTo>
                    <a:pt x="171" y="6479"/>
                  </a:lnTo>
                  <a:lnTo>
                    <a:pt x="244" y="6090"/>
                  </a:lnTo>
                  <a:lnTo>
                    <a:pt x="366" y="5700"/>
                  </a:lnTo>
                  <a:lnTo>
                    <a:pt x="487" y="5335"/>
                  </a:lnTo>
                  <a:lnTo>
                    <a:pt x="634" y="4945"/>
                  </a:lnTo>
                  <a:lnTo>
                    <a:pt x="804" y="4604"/>
                  </a:lnTo>
                  <a:lnTo>
                    <a:pt x="975" y="4239"/>
                  </a:lnTo>
                  <a:lnTo>
                    <a:pt x="1169" y="3898"/>
                  </a:lnTo>
                  <a:lnTo>
                    <a:pt x="1389" y="3581"/>
                  </a:lnTo>
                  <a:lnTo>
                    <a:pt x="1608" y="3264"/>
                  </a:lnTo>
                  <a:lnTo>
                    <a:pt x="1851" y="2948"/>
                  </a:lnTo>
                  <a:lnTo>
                    <a:pt x="2119" y="2656"/>
                  </a:lnTo>
                  <a:lnTo>
                    <a:pt x="2387" y="2388"/>
                  </a:lnTo>
                  <a:lnTo>
                    <a:pt x="2655" y="2120"/>
                  </a:lnTo>
                  <a:lnTo>
                    <a:pt x="2947" y="1852"/>
                  </a:lnTo>
                  <a:lnTo>
                    <a:pt x="3264" y="1608"/>
                  </a:lnTo>
                  <a:lnTo>
                    <a:pt x="3581" y="1389"/>
                  </a:lnTo>
                  <a:lnTo>
                    <a:pt x="3897" y="1170"/>
                  </a:lnTo>
                  <a:lnTo>
                    <a:pt x="4238" y="975"/>
                  </a:lnTo>
                  <a:lnTo>
                    <a:pt x="4603" y="805"/>
                  </a:lnTo>
                  <a:lnTo>
                    <a:pt x="4944" y="634"/>
                  </a:lnTo>
                  <a:lnTo>
                    <a:pt x="5334" y="488"/>
                  </a:lnTo>
                  <a:lnTo>
                    <a:pt x="5699" y="366"/>
                  </a:lnTo>
                  <a:lnTo>
                    <a:pt x="6089" y="244"/>
                  </a:lnTo>
                  <a:lnTo>
                    <a:pt x="6479" y="171"/>
                  </a:lnTo>
                  <a:lnTo>
                    <a:pt x="6868" y="98"/>
                  </a:lnTo>
                  <a:lnTo>
                    <a:pt x="7282" y="50"/>
                  </a:lnTo>
                  <a:lnTo>
                    <a:pt x="7696" y="1"/>
                  </a:lnTo>
                  <a:lnTo>
                    <a:pt x="8111" y="1"/>
                  </a:lnTo>
                  <a:lnTo>
                    <a:pt x="8111" y="1"/>
                  </a:lnTo>
                  <a:lnTo>
                    <a:pt x="8525" y="1"/>
                  </a:lnTo>
                  <a:lnTo>
                    <a:pt x="8939" y="50"/>
                  </a:lnTo>
                  <a:lnTo>
                    <a:pt x="9353" y="98"/>
                  </a:lnTo>
                  <a:lnTo>
                    <a:pt x="9742" y="171"/>
                  </a:lnTo>
                  <a:lnTo>
                    <a:pt x="10132" y="244"/>
                  </a:lnTo>
                  <a:lnTo>
                    <a:pt x="10522" y="366"/>
                  </a:lnTo>
                  <a:lnTo>
                    <a:pt x="10911" y="488"/>
                  </a:lnTo>
                  <a:lnTo>
                    <a:pt x="11277" y="634"/>
                  </a:lnTo>
                  <a:lnTo>
                    <a:pt x="11618" y="805"/>
                  </a:lnTo>
                  <a:lnTo>
                    <a:pt x="11983" y="975"/>
                  </a:lnTo>
                  <a:lnTo>
                    <a:pt x="12324" y="1170"/>
                  </a:lnTo>
                  <a:lnTo>
                    <a:pt x="12641" y="1389"/>
                  </a:lnTo>
                  <a:lnTo>
                    <a:pt x="12957" y="1608"/>
                  </a:lnTo>
                  <a:lnTo>
                    <a:pt x="13274" y="1852"/>
                  </a:lnTo>
                  <a:lnTo>
                    <a:pt x="13566" y="2120"/>
                  </a:lnTo>
                  <a:lnTo>
                    <a:pt x="13834" y="2388"/>
                  </a:lnTo>
                  <a:lnTo>
                    <a:pt x="14126" y="2656"/>
                  </a:lnTo>
                  <a:lnTo>
                    <a:pt x="14370" y="2948"/>
                  </a:lnTo>
                  <a:lnTo>
                    <a:pt x="14613" y="3264"/>
                  </a:lnTo>
                  <a:lnTo>
                    <a:pt x="14832" y="3581"/>
                  </a:lnTo>
                  <a:lnTo>
                    <a:pt x="15052" y="3898"/>
                  </a:lnTo>
                  <a:lnTo>
                    <a:pt x="15247" y="4239"/>
                  </a:lnTo>
                  <a:lnTo>
                    <a:pt x="15417" y="4604"/>
                  </a:lnTo>
                  <a:lnTo>
                    <a:pt x="15587" y="4945"/>
                  </a:lnTo>
                  <a:lnTo>
                    <a:pt x="15734" y="5335"/>
                  </a:lnTo>
                  <a:lnTo>
                    <a:pt x="15855" y="5700"/>
                  </a:lnTo>
                  <a:lnTo>
                    <a:pt x="15977" y="6090"/>
                  </a:lnTo>
                  <a:lnTo>
                    <a:pt x="16050" y="6479"/>
                  </a:lnTo>
                  <a:lnTo>
                    <a:pt x="16123" y="6869"/>
                  </a:lnTo>
                  <a:lnTo>
                    <a:pt x="16172" y="7283"/>
                  </a:lnTo>
                  <a:lnTo>
                    <a:pt x="16221" y="7697"/>
                  </a:lnTo>
                  <a:lnTo>
                    <a:pt x="16221" y="8111"/>
                  </a:lnTo>
                  <a:lnTo>
                    <a:pt x="16221" y="8111"/>
                  </a:lnTo>
                  <a:lnTo>
                    <a:pt x="16221" y="8525"/>
                  </a:lnTo>
                  <a:lnTo>
                    <a:pt x="16172" y="8939"/>
                  </a:lnTo>
                  <a:lnTo>
                    <a:pt x="16123" y="9353"/>
                  </a:lnTo>
                  <a:lnTo>
                    <a:pt x="16050" y="9743"/>
                  </a:lnTo>
                  <a:lnTo>
                    <a:pt x="15977" y="10133"/>
                  </a:lnTo>
                  <a:lnTo>
                    <a:pt x="15855" y="10522"/>
                  </a:lnTo>
                  <a:lnTo>
                    <a:pt x="15734" y="10888"/>
                  </a:lnTo>
                  <a:lnTo>
                    <a:pt x="15587" y="11277"/>
                  </a:lnTo>
                  <a:lnTo>
                    <a:pt x="15417" y="11618"/>
                  </a:lnTo>
                  <a:lnTo>
                    <a:pt x="15247" y="11984"/>
                  </a:lnTo>
                  <a:lnTo>
                    <a:pt x="15052" y="12324"/>
                  </a:lnTo>
                  <a:lnTo>
                    <a:pt x="14832" y="12641"/>
                  </a:lnTo>
                  <a:lnTo>
                    <a:pt x="14613" y="12958"/>
                  </a:lnTo>
                  <a:lnTo>
                    <a:pt x="14370" y="13274"/>
                  </a:lnTo>
                  <a:lnTo>
                    <a:pt x="14126" y="13567"/>
                  </a:lnTo>
                  <a:lnTo>
                    <a:pt x="13834" y="13835"/>
                  </a:lnTo>
                  <a:lnTo>
                    <a:pt x="13566" y="14102"/>
                  </a:lnTo>
                  <a:lnTo>
                    <a:pt x="13274" y="14370"/>
                  </a:lnTo>
                  <a:lnTo>
                    <a:pt x="12957" y="14614"/>
                  </a:lnTo>
                  <a:lnTo>
                    <a:pt x="12641" y="14833"/>
                  </a:lnTo>
                  <a:lnTo>
                    <a:pt x="12324" y="15052"/>
                  </a:lnTo>
                  <a:lnTo>
                    <a:pt x="11983" y="15247"/>
                  </a:lnTo>
                  <a:lnTo>
                    <a:pt x="11618" y="15418"/>
                  </a:lnTo>
                  <a:lnTo>
                    <a:pt x="11277" y="15588"/>
                  </a:lnTo>
                  <a:lnTo>
                    <a:pt x="10911" y="15734"/>
                  </a:lnTo>
                  <a:lnTo>
                    <a:pt x="10522" y="15856"/>
                  </a:lnTo>
                  <a:lnTo>
                    <a:pt x="10132" y="15978"/>
                  </a:lnTo>
                  <a:lnTo>
                    <a:pt x="9742" y="16051"/>
                  </a:lnTo>
                  <a:lnTo>
                    <a:pt x="9353" y="16124"/>
                  </a:lnTo>
                  <a:lnTo>
                    <a:pt x="8939" y="16173"/>
                  </a:lnTo>
                  <a:lnTo>
                    <a:pt x="8525" y="16221"/>
                  </a:lnTo>
                  <a:lnTo>
                    <a:pt x="8111" y="16221"/>
                  </a:lnTo>
                  <a:lnTo>
                    <a:pt x="8111" y="16221"/>
                  </a:lnTo>
                  <a:lnTo>
                    <a:pt x="7696" y="16221"/>
                  </a:lnTo>
                  <a:lnTo>
                    <a:pt x="7282" y="16173"/>
                  </a:lnTo>
                  <a:lnTo>
                    <a:pt x="6868" y="16124"/>
                  </a:lnTo>
                  <a:lnTo>
                    <a:pt x="6479" y="16051"/>
                  </a:lnTo>
                  <a:lnTo>
                    <a:pt x="6089" y="15978"/>
                  </a:lnTo>
                  <a:lnTo>
                    <a:pt x="5699" y="15856"/>
                  </a:lnTo>
                  <a:lnTo>
                    <a:pt x="5334" y="15734"/>
                  </a:lnTo>
                  <a:lnTo>
                    <a:pt x="4944" y="15588"/>
                  </a:lnTo>
                  <a:lnTo>
                    <a:pt x="4603" y="15418"/>
                  </a:lnTo>
                  <a:lnTo>
                    <a:pt x="4238" y="15247"/>
                  </a:lnTo>
                  <a:lnTo>
                    <a:pt x="3897" y="15052"/>
                  </a:lnTo>
                  <a:lnTo>
                    <a:pt x="3581" y="14833"/>
                  </a:lnTo>
                  <a:lnTo>
                    <a:pt x="3264" y="14614"/>
                  </a:lnTo>
                  <a:lnTo>
                    <a:pt x="2947" y="14370"/>
                  </a:lnTo>
                  <a:lnTo>
                    <a:pt x="2655" y="14102"/>
                  </a:lnTo>
                  <a:lnTo>
                    <a:pt x="2387" y="13835"/>
                  </a:lnTo>
                  <a:lnTo>
                    <a:pt x="2119" y="13567"/>
                  </a:lnTo>
                  <a:lnTo>
                    <a:pt x="1851" y="13274"/>
                  </a:lnTo>
                  <a:lnTo>
                    <a:pt x="1608" y="12958"/>
                  </a:lnTo>
                  <a:lnTo>
                    <a:pt x="1389" y="12641"/>
                  </a:lnTo>
                  <a:lnTo>
                    <a:pt x="1169" y="12324"/>
                  </a:lnTo>
                  <a:lnTo>
                    <a:pt x="975" y="11984"/>
                  </a:lnTo>
                  <a:lnTo>
                    <a:pt x="804" y="11618"/>
                  </a:lnTo>
                  <a:lnTo>
                    <a:pt x="634" y="11277"/>
                  </a:lnTo>
                  <a:lnTo>
                    <a:pt x="487" y="10888"/>
                  </a:lnTo>
                  <a:lnTo>
                    <a:pt x="366" y="10522"/>
                  </a:lnTo>
                  <a:lnTo>
                    <a:pt x="244" y="10133"/>
                  </a:lnTo>
                  <a:lnTo>
                    <a:pt x="171" y="9743"/>
                  </a:lnTo>
                  <a:lnTo>
                    <a:pt x="98" y="9353"/>
                  </a:lnTo>
                  <a:lnTo>
                    <a:pt x="49" y="8939"/>
                  </a:lnTo>
                  <a:lnTo>
                    <a:pt x="0" y="8525"/>
                  </a:lnTo>
                  <a:lnTo>
                    <a:pt x="0" y="8111"/>
                  </a:lnTo>
                  <a:lnTo>
                    <a:pt x="0" y="8111"/>
                  </a:lnTo>
                  <a:close/>
                  <a:moveTo>
                    <a:pt x="7234" y="11180"/>
                  </a:moveTo>
                  <a:lnTo>
                    <a:pt x="7234" y="11180"/>
                  </a:lnTo>
                  <a:lnTo>
                    <a:pt x="7282" y="11180"/>
                  </a:lnTo>
                  <a:lnTo>
                    <a:pt x="7282" y="11180"/>
                  </a:lnTo>
                  <a:lnTo>
                    <a:pt x="7453" y="11155"/>
                  </a:lnTo>
                  <a:lnTo>
                    <a:pt x="7623" y="11082"/>
                  </a:lnTo>
                  <a:lnTo>
                    <a:pt x="7794" y="10985"/>
                  </a:lnTo>
                  <a:lnTo>
                    <a:pt x="7916" y="10863"/>
                  </a:lnTo>
                  <a:lnTo>
                    <a:pt x="12007" y="6747"/>
                  </a:lnTo>
                  <a:lnTo>
                    <a:pt x="12007" y="6747"/>
                  </a:lnTo>
                  <a:lnTo>
                    <a:pt x="12105" y="6625"/>
                  </a:lnTo>
                  <a:lnTo>
                    <a:pt x="12153" y="6504"/>
                  </a:lnTo>
                  <a:lnTo>
                    <a:pt x="12202" y="6358"/>
                  </a:lnTo>
                  <a:lnTo>
                    <a:pt x="12202" y="6211"/>
                  </a:lnTo>
                  <a:lnTo>
                    <a:pt x="12202" y="6211"/>
                  </a:lnTo>
                  <a:lnTo>
                    <a:pt x="12178" y="6017"/>
                  </a:lnTo>
                  <a:lnTo>
                    <a:pt x="12129" y="5822"/>
                  </a:lnTo>
                  <a:lnTo>
                    <a:pt x="12032" y="5676"/>
                  </a:lnTo>
                  <a:lnTo>
                    <a:pt x="11886" y="5529"/>
                  </a:lnTo>
                  <a:lnTo>
                    <a:pt x="11886" y="5529"/>
                  </a:lnTo>
                  <a:lnTo>
                    <a:pt x="11764" y="5432"/>
                  </a:lnTo>
                  <a:lnTo>
                    <a:pt x="11618" y="5383"/>
                  </a:lnTo>
                  <a:lnTo>
                    <a:pt x="11472" y="5335"/>
                  </a:lnTo>
                  <a:lnTo>
                    <a:pt x="11325" y="5335"/>
                  </a:lnTo>
                  <a:lnTo>
                    <a:pt x="11325" y="5335"/>
                  </a:lnTo>
                  <a:lnTo>
                    <a:pt x="11131" y="5359"/>
                  </a:lnTo>
                  <a:lnTo>
                    <a:pt x="10960" y="5408"/>
                  </a:lnTo>
                  <a:lnTo>
                    <a:pt x="10790" y="5505"/>
                  </a:lnTo>
                  <a:lnTo>
                    <a:pt x="10643" y="5651"/>
                  </a:lnTo>
                  <a:lnTo>
                    <a:pt x="7161" y="8988"/>
                  </a:lnTo>
                  <a:lnTo>
                    <a:pt x="5797" y="7648"/>
                  </a:lnTo>
                  <a:lnTo>
                    <a:pt x="5797" y="7648"/>
                  </a:lnTo>
                  <a:lnTo>
                    <a:pt x="5675" y="7527"/>
                  </a:lnTo>
                  <a:lnTo>
                    <a:pt x="5505" y="7454"/>
                  </a:lnTo>
                  <a:lnTo>
                    <a:pt x="5358" y="7405"/>
                  </a:lnTo>
                  <a:lnTo>
                    <a:pt x="5188" y="7380"/>
                  </a:lnTo>
                  <a:lnTo>
                    <a:pt x="5188" y="7380"/>
                  </a:lnTo>
                  <a:lnTo>
                    <a:pt x="5017" y="7405"/>
                  </a:lnTo>
                  <a:lnTo>
                    <a:pt x="4847" y="7454"/>
                  </a:lnTo>
                  <a:lnTo>
                    <a:pt x="4701" y="7527"/>
                  </a:lnTo>
                  <a:lnTo>
                    <a:pt x="4555" y="7648"/>
                  </a:lnTo>
                  <a:lnTo>
                    <a:pt x="4555" y="7648"/>
                  </a:lnTo>
                  <a:lnTo>
                    <a:pt x="4457" y="7770"/>
                  </a:lnTo>
                  <a:lnTo>
                    <a:pt x="4360" y="7916"/>
                  </a:lnTo>
                  <a:lnTo>
                    <a:pt x="4311" y="8087"/>
                  </a:lnTo>
                  <a:lnTo>
                    <a:pt x="4311" y="8257"/>
                  </a:lnTo>
                  <a:lnTo>
                    <a:pt x="4311" y="8257"/>
                  </a:lnTo>
                  <a:lnTo>
                    <a:pt x="4311" y="8428"/>
                  </a:lnTo>
                  <a:lnTo>
                    <a:pt x="4360" y="8598"/>
                  </a:lnTo>
                  <a:lnTo>
                    <a:pt x="4457" y="8744"/>
                  </a:lnTo>
                  <a:lnTo>
                    <a:pt x="4555" y="8890"/>
                  </a:lnTo>
                  <a:lnTo>
                    <a:pt x="6601" y="10936"/>
                  </a:lnTo>
                  <a:lnTo>
                    <a:pt x="6601" y="10936"/>
                  </a:lnTo>
                  <a:lnTo>
                    <a:pt x="6747" y="11034"/>
                  </a:lnTo>
                  <a:lnTo>
                    <a:pt x="6893" y="11131"/>
                  </a:lnTo>
                  <a:lnTo>
                    <a:pt x="7063" y="11180"/>
                  </a:lnTo>
                  <a:lnTo>
                    <a:pt x="7234" y="11180"/>
                  </a:lnTo>
                  <a:lnTo>
                    <a:pt x="7234" y="1118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3" name="Google Shape;423;p5"/>
            <p:cNvGrpSpPr/>
            <p:nvPr/>
          </p:nvGrpSpPr>
          <p:grpSpPr>
            <a:xfrm>
              <a:off x="4085540" y="3066303"/>
              <a:ext cx="728164" cy="728078"/>
              <a:chOff x="1923675" y="1633650"/>
              <a:chExt cx="436000" cy="435975"/>
            </a:xfrm>
          </p:grpSpPr>
          <p:sp>
            <p:nvSpPr>
              <p:cNvPr id="424" name="Google Shape;424;p5"/>
              <p:cNvSpPr/>
              <p:nvPr/>
            </p:nvSpPr>
            <p:spPr>
              <a:xfrm>
                <a:off x="2209250" y="1633650"/>
                <a:ext cx="150425" cy="150425"/>
              </a:xfrm>
              <a:custGeom>
                <a:rect b="b" l="l" r="r" t="t"/>
                <a:pathLst>
                  <a:path extrusionOk="0" fill="none" h="6017" w="6017">
                    <a:moveTo>
                      <a:pt x="5846" y="3605"/>
                    </a:moveTo>
                    <a:lnTo>
                      <a:pt x="2412" y="171"/>
                    </a:lnTo>
                    <a:lnTo>
                      <a:pt x="2412" y="171"/>
                    </a:lnTo>
                    <a:lnTo>
                      <a:pt x="2314" y="98"/>
                    </a:lnTo>
                    <a:lnTo>
                      <a:pt x="2217" y="49"/>
                    </a:lnTo>
                    <a:lnTo>
                      <a:pt x="2095" y="25"/>
                    </a:lnTo>
                    <a:lnTo>
                      <a:pt x="1997" y="1"/>
                    </a:lnTo>
                    <a:lnTo>
                      <a:pt x="1876" y="25"/>
                    </a:lnTo>
                    <a:lnTo>
                      <a:pt x="1778" y="49"/>
                    </a:lnTo>
                    <a:lnTo>
                      <a:pt x="1681" y="98"/>
                    </a:lnTo>
                    <a:lnTo>
                      <a:pt x="1583" y="171"/>
                    </a:lnTo>
                    <a:lnTo>
                      <a:pt x="0" y="1778"/>
                    </a:lnTo>
                    <a:lnTo>
                      <a:pt x="4238" y="6016"/>
                    </a:lnTo>
                    <a:lnTo>
                      <a:pt x="5846" y="4433"/>
                    </a:lnTo>
                    <a:lnTo>
                      <a:pt x="5846" y="4433"/>
                    </a:lnTo>
                    <a:lnTo>
                      <a:pt x="5919" y="4336"/>
                    </a:lnTo>
                    <a:lnTo>
                      <a:pt x="5967" y="4238"/>
                    </a:lnTo>
                    <a:lnTo>
                      <a:pt x="5992" y="4141"/>
                    </a:lnTo>
                    <a:lnTo>
                      <a:pt x="6016" y="4019"/>
                    </a:lnTo>
                    <a:lnTo>
                      <a:pt x="5992" y="3922"/>
                    </a:lnTo>
                    <a:lnTo>
                      <a:pt x="5967" y="3800"/>
                    </a:lnTo>
                    <a:lnTo>
                      <a:pt x="5919" y="3703"/>
                    </a:lnTo>
                    <a:lnTo>
                      <a:pt x="5846" y="3605"/>
                    </a:lnTo>
                    <a:lnTo>
                      <a:pt x="5846" y="3605"/>
                    </a:lnTo>
                    <a:close/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5"/>
              <p:cNvSpPr/>
              <p:nvPr/>
            </p:nvSpPr>
            <p:spPr>
              <a:xfrm>
                <a:off x="2019900" y="1757250"/>
                <a:ext cx="261825" cy="261850"/>
              </a:xfrm>
              <a:custGeom>
                <a:rect b="b" l="l" r="r" t="t"/>
                <a:pathLst>
                  <a:path extrusionOk="0" fill="none" h="10474" w="10473">
                    <a:moveTo>
                      <a:pt x="10473" y="1"/>
                    </a:moveTo>
                    <a:lnTo>
                      <a:pt x="0" y="10473"/>
                    </a:lnTo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5"/>
              <p:cNvSpPr/>
              <p:nvPr/>
            </p:nvSpPr>
            <p:spPr>
              <a:xfrm>
                <a:off x="1923675" y="1681150"/>
                <a:ext cx="388500" cy="388475"/>
              </a:xfrm>
              <a:custGeom>
                <a:rect b="b" l="l" r="r" t="t"/>
                <a:pathLst>
                  <a:path extrusionOk="0" fill="none" h="15539" w="15540">
                    <a:moveTo>
                      <a:pt x="11277" y="0"/>
                    </a:moveTo>
                    <a:lnTo>
                      <a:pt x="756" y="10546"/>
                    </a:lnTo>
                    <a:lnTo>
                      <a:pt x="756" y="10546"/>
                    </a:lnTo>
                    <a:lnTo>
                      <a:pt x="683" y="10619"/>
                    </a:lnTo>
                    <a:lnTo>
                      <a:pt x="634" y="10692"/>
                    </a:lnTo>
                    <a:lnTo>
                      <a:pt x="610" y="10765"/>
                    </a:lnTo>
                    <a:lnTo>
                      <a:pt x="585" y="10863"/>
                    </a:lnTo>
                    <a:lnTo>
                      <a:pt x="1" y="14881"/>
                    </a:lnTo>
                    <a:lnTo>
                      <a:pt x="1" y="14881"/>
                    </a:lnTo>
                    <a:lnTo>
                      <a:pt x="1" y="15003"/>
                    </a:lnTo>
                    <a:lnTo>
                      <a:pt x="25" y="15149"/>
                    </a:lnTo>
                    <a:lnTo>
                      <a:pt x="98" y="15271"/>
                    </a:lnTo>
                    <a:lnTo>
                      <a:pt x="171" y="15368"/>
                    </a:lnTo>
                    <a:lnTo>
                      <a:pt x="171" y="15368"/>
                    </a:lnTo>
                    <a:lnTo>
                      <a:pt x="269" y="15441"/>
                    </a:lnTo>
                    <a:lnTo>
                      <a:pt x="366" y="15490"/>
                    </a:lnTo>
                    <a:lnTo>
                      <a:pt x="464" y="15514"/>
                    </a:lnTo>
                    <a:lnTo>
                      <a:pt x="585" y="15539"/>
                    </a:lnTo>
                    <a:lnTo>
                      <a:pt x="585" y="15539"/>
                    </a:lnTo>
                    <a:lnTo>
                      <a:pt x="659" y="15539"/>
                    </a:lnTo>
                    <a:lnTo>
                      <a:pt x="4677" y="14954"/>
                    </a:lnTo>
                    <a:lnTo>
                      <a:pt x="4677" y="14954"/>
                    </a:lnTo>
                    <a:lnTo>
                      <a:pt x="4848" y="14905"/>
                    </a:lnTo>
                    <a:lnTo>
                      <a:pt x="4921" y="14857"/>
                    </a:lnTo>
                    <a:lnTo>
                      <a:pt x="4994" y="14784"/>
                    </a:lnTo>
                    <a:lnTo>
                      <a:pt x="15539" y="4262"/>
                    </a:lnTo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5"/>
              <p:cNvSpPr/>
              <p:nvPr/>
            </p:nvSpPr>
            <p:spPr>
              <a:xfrm>
                <a:off x="1974225" y="1711575"/>
                <a:ext cx="261825" cy="261850"/>
              </a:xfrm>
              <a:custGeom>
                <a:rect b="b" l="l" r="r" t="t"/>
                <a:pathLst>
                  <a:path extrusionOk="0" fill="none" h="10474" w="10473">
                    <a:moveTo>
                      <a:pt x="0" y="10474"/>
                    </a:moveTo>
                    <a:lnTo>
                      <a:pt x="10473" y="1"/>
                    </a:lnTo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5"/>
              <p:cNvSpPr/>
              <p:nvPr/>
            </p:nvSpPr>
            <p:spPr>
              <a:xfrm>
                <a:off x="1934650" y="2014200"/>
                <a:ext cx="44475" cy="44475"/>
              </a:xfrm>
              <a:custGeom>
                <a:rect b="b" l="l" r="r" t="t"/>
                <a:pathLst>
                  <a:path extrusionOk="0" fill="none" h="1779" w="1779">
                    <a:moveTo>
                      <a:pt x="1778" y="1778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5"/>
              <p:cNvSpPr/>
              <p:nvPr/>
            </p:nvSpPr>
            <p:spPr>
              <a:xfrm>
                <a:off x="1944375" y="1947225"/>
                <a:ext cx="101725" cy="101700"/>
              </a:xfrm>
              <a:custGeom>
                <a:rect b="b" l="l" r="r" t="t"/>
                <a:pathLst>
                  <a:path extrusionOk="0" fill="none" h="4068" w="4069">
                    <a:moveTo>
                      <a:pt x="1" y="49"/>
                    </a:moveTo>
                    <a:lnTo>
                      <a:pt x="1" y="49"/>
                    </a:lnTo>
                    <a:lnTo>
                      <a:pt x="25" y="0"/>
                    </a:lnTo>
                    <a:lnTo>
                      <a:pt x="25" y="0"/>
                    </a:lnTo>
                    <a:lnTo>
                      <a:pt x="4068" y="4043"/>
                    </a:lnTo>
                    <a:lnTo>
                      <a:pt x="4068" y="4043"/>
                    </a:lnTo>
                    <a:lnTo>
                      <a:pt x="4068" y="4043"/>
                    </a:lnTo>
                    <a:lnTo>
                      <a:pt x="4020" y="4068"/>
                    </a:lnTo>
                  </a:path>
                </a:pathLst>
              </a:custGeom>
              <a:solidFill>
                <a:srgbClr val="FFFFFF"/>
              </a:solidFill>
              <a:ln cap="rnd" cmpd="sng" w="12175">
                <a:solidFill>
                  <a:srgbClr val="FF98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430" name="Google Shape;4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7300" y="330163"/>
            <a:ext cx="1626325" cy="414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"/>
          <p:cNvSpPr txBox="1"/>
          <p:nvPr>
            <p:ph idx="4294967295" type="ctrTitle"/>
          </p:nvPr>
        </p:nvSpPr>
        <p:spPr>
          <a:xfrm>
            <a:off x="79100" y="537875"/>
            <a:ext cx="67881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</a:pPr>
            <a:r>
              <a:rPr b="1" i="0" lang="en" sz="7200" u="none" cap="none" strike="noStrike">
                <a:solidFill>
                  <a:srgbClr val="FF98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Getting Started</a:t>
            </a:r>
            <a:endParaRPr b="1" i="0" sz="7200" u="none" cap="none" strike="noStrike">
              <a:solidFill>
                <a:srgbClr val="FF98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36" name="Google Shape;436;p6"/>
          <p:cNvSpPr txBox="1"/>
          <p:nvPr>
            <p:ph idx="4294967295" type="subTitle"/>
          </p:nvPr>
        </p:nvSpPr>
        <p:spPr>
          <a:xfrm>
            <a:off x="79100" y="1553200"/>
            <a:ext cx="8866500" cy="3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FA8DC"/>
              </a:buClr>
              <a:buSzPts val="1800"/>
              <a:buFont typeface="Roboto Condensed Light"/>
              <a:buAutoNum type="arabicPeriod"/>
            </a:pPr>
            <a:r>
              <a:rPr b="0" i="0" lang="en" sz="18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Prerequisite:</a:t>
            </a:r>
            <a:endParaRPr b="0" i="0" sz="18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800"/>
              <a:buFont typeface="Roboto Condensed Light"/>
              <a:buAutoNum type="alphaLcPeriod"/>
            </a:pPr>
            <a:r>
              <a:rPr b="0" i="0" lang="en" sz="18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Internet and browser (to open google colab)</a:t>
            </a:r>
            <a:endParaRPr b="0" i="0" sz="18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800"/>
              <a:buFont typeface="Roboto Condensed Light"/>
              <a:buAutoNum type="alphaLcPeriod"/>
            </a:pPr>
            <a:r>
              <a:rPr b="0" i="0" lang="en" sz="18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Or using offline IDE</a:t>
            </a:r>
            <a:endParaRPr b="0" i="0" sz="18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800"/>
              <a:buFont typeface="Roboto Condensed Light"/>
              <a:buAutoNum type="romanLcPeriod"/>
            </a:pPr>
            <a:r>
              <a:rPr b="0" i="0" lang="en" sz="18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Python 3.</a:t>
            </a:r>
            <a:r>
              <a:rPr lang="en" sz="1800"/>
              <a:t>8</a:t>
            </a:r>
            <a:r>
              <a:rPr b="0" i="0" lang="en" sz="18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+,</a:t>
            </a:r>
            <a:endParaRPr b="0" i="0" sz="18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800"/>
              <a:buFont typeface="Roboto Condensed Light"/>
              <a:buAutoNum type="romanLcPeriod"/>
            </a:pPr>
            <a:r>
              <a:rPr b="0" i="0" lang="en" sz="18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Python IDE (Pycharm, Spyder, or similar)</a:t>
            </a:r>
            <a:endParaRPr b="0" i="0" sz="18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None/>
            </a:pPr>
            <a:r>
              <a:t/>
            </a:r>
            <a:endParaRPr b="0" i="0" sz="18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FA8DC"/>
              </a:buClr>
              <a:buSzPts val="1800"/>
              <a:buFont typeface="Roboto Condensed Light"/>
              <a:buAutoNum type="arabicPeriod"/>
            </a:pPr>
            <a:r>
              <a:rPr b="0" i="0" lang="en" sz="18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Code configuration:</a:t>
            </a:r>
            <a:endParaRPr b="0" i="0" sz="18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800"/>
              <a:buFont typeface="Roboto Condensed Light"/>
              <a:buAutoNum type="alphaLcPeriod" startAt="2"/>
            </a:pPr>
            <a:r>
              <a:rPr b="0" i="0" lang="en" sz="18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RAWDATA_CSV_PATH_FILENAME: specify the filename which will be analyzed</a:t>
            </a:r>
            <a:endParaRPr b="0" i="0" sz="18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800"/>
              <a:buFont typeface="Roboto Condensed Light"/>
              <a:buAutoNum type="alphaLcPeriod" startAt="2"/>
            </a:pPr>
            <a:r>
              <a:rPr b="0" i="0" lang="en" sz="18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REPORT_PATH_FILENAME: specify the output filename</a:t>
            </a:r>
            <a:endParaRPr b="0" i="0" sz="18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3E6"/>
              </a:buClr>
              <a:buSzPts val="1800"/>
              <a:buFont typeface="Roboto Condensed Light"/>
              <a:buAutoNum type="alphaLcPeriod" startAt="2"/>
            </a:pPr>
            <a:r>
              <a:rPr b="0" i="0" lang="en" sz="1800" u="none" cap="none" strike="noStrik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MAX_EMA_ITERATIONS: specify the maximum iterations</a:t>
            </a:r>
            <a:endParaRPr b="0" i="0" sz="1800" u="none" cap="none" strike="noStrike">
              <a:solidFill>
                <a:srgbClr val="263248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37" name="Google Shape;437;p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SIMPLIFIED CASE</a:t>
            </a:r>
            <a:endParaRPr/>
          </a:p>
        </p:txBody>
      </p:sp>
      <p:sp>
        <p:nvSpPr>
          <p:cNvPr id="443" name="Google Shape;443;p7"/>
          <p:cNvSpPr txBox="1"/>
          <p:nvPr>
            <p:ph idx="4294967295" type="sldNum"/>
          </p:nvPr>
        </p:nvSpPr>
        <p:spPr>
          <a:xfrm>
            <a:off x="7618000" y="426225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8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Setting up the first case </a:t>
            </a:r>
            <a:r>
              <a:rPr b="0" lang="en" sz="1200">
                <a:solidFill>
                  <a:schemeClr val="lt1"/>
                </a:solidFill>
              </a:rPr>
              <a:t>(page 1)</a:t>
            </a:r>
            <a:endParaRPr/>
          </a:p>
        </p:txBody>
      </p:sp>
      <p:sp>
        <p:nvSpPr>
          <p:cNvPr id="450" name="Google Shape;450;p8"/>
          <p:cNvSpPr txBox="1"/>
          <p:nvPr/>
        </p:nvSpPr>
        <p:spPr>
          <a:xfrm>
            <a:off x="305300" y="1412300"/>
            <a:ext cx="76743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First you need to copy these files into your google drive: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AutoNum type="alphaL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custom_utility.py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AutoNum type="alphaL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real_world_data.csv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AutoNum type="alphaL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test_case_1a.csv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AutoNum type="alphaL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Yield rate estimation Lab.ipynb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And remove the word “Copy of” from each of these files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Then move these files into a Folder in your google drive, e.g. EMLab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Open the </a:t>
            </a: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Yield rate estimation Lab.ipynb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file in the Google cola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9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Setting up the first case </a:t>
            </a:r>
            <a:r>
              <a:rPr b="0" lang="en" sz="1200"/>
              <a:t>(page 2)</a:t>
            </a:r>
            <a:endParaRPr b="0" sz="1200"/>
          </a:p>
        </p:txBody>
      </p:sp>
      <p:sp>
        <p:nvSpPr>
          <p:cNvPr id="457" name="Google Shape;457;p9"/>
          <p:cNvSpPr txBox="1"/>
          <p:nvPr/>
        </p:nvSpPr>
        <p:spPr>
          <a:xfrm>
            <a:off x="305300" y="1412300"/>
            <a:ext cx="76743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 startAt="4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Go to “Initializing Google Colab” section and change "ColabNotebook/TH" with your folder path in your google drive (e.g. 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EMLab)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4572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'gdrive/My Drive/</a:t>
            </a:r>
            <a:r>
              <a:rPr b="0" i="0" lang="en" sz="1400" u="none" cap="none" strike="noStrike">
                <a:solidFill>
                  <a:srgbClr val="FF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ColabNotebook/TH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'</a:t>
            </a:r>
            <a:endParaRPr b="0" i="0" sz="1400" u="none" cap="none" strike="noStrik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AutoNum type="arabicPeriod" startAt="4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In the “Code Configurations” section, modify the setting variable such as: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AutoNum type="alphaL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Find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RAWDATA_CSV_PATH_FILENAME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and insert the value with our simplified raw data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‘test_case_1a.csv’</a:t>
            </a:r>
            <a:endParaRPr b="0" i="0" sz="1400" u="none" cap="none" strike="noStrik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AutoNum type="alphaL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Find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REPORT_PATH_FILENAME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and insert the value with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‘report_test_case_1a.csv’</a:t>
            </a:r>
            <a:endParaRPr b="0" i="0" sz="1400" u="none" cap="none" strike="noStrik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AutoNum type="alphaL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(optional) You can also change the maximum iteration of EM Algorithm in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MAX_EMA_ITERATIONS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value with any integer number (between 10 to 50 is recommended)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3" name="Google Shape;463;p10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Setting up the first case </a:t>
            </a:r>
            <a:r>
              <a:rPr b="0" lang="en" sz="1200"/>
              <a:t>(page 2)</a:t>
            </a:r>
            <a:endParaRPr b="0" sz="1200"/>
          </a:p>
        </p:txBody>
      </p:sp>
      <p:sp>
        <p:nvSpPr>
          <p:cNvPr id="464" name="Google Shape;464;p10"/>
          <p:cNvSpPr txBox="1"/>
          <p:nvPr/>
        </p:nvSpPr>
        <p:spPr>
          <a:xfrm>
            <a:off x="305300" y="1412300"/>
            <a:ext cx="76743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AutoNum type="arabicPeriod" startAt="6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Then click Runtime menu &gt; Run All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AutoNum type="arabicPeriod" startAt="6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Then it will stop in “Initializing Google Colab” section, 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You may be asked: “Permit this notebook to access your Google Drive files?”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Then click “Connect to Google Drive”, and click “allow” in your account permissions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AutoNum type="arabicPeriod" startAt="6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Later, you </a:t>
            </a:r>
            <a:r>
              <a:rPr lang="en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get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error on the “Run EM Algorithm v1.2” section, which you need to complete the code from the following slides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11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Step 1: Reading CSV</a:t>
            </a:r>
            <a:endParaRPr/>
          </a:p>
        </p:txBody>
      </p:sp>
      <p:sp>
        <p:nvSpPr>
          <p:cNvPr id="471" name="Google Shape;471;p11"/>
          <p:cNvSpPr txBox="1"/>
          <p:nvPr/>
        </p:nvSpPr>
        <p:spPr>
          <a:xfrm>
            <a:off x="305300" y="1412300"/>
            <a:ext cx="76743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First, </a:t>
            </a:r>
            <a:r>
              <a:rPr lang="en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Scroll to the bottom of the script and look for the block starting with if __name__ == "__main__":. This is the "gatekeeper" that tells Python to start executing code here if the file is run directly.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rabicPeriod"/>
            </a:pPr>
            <a:r>
              <a:rPr lang="en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Inside that block, look for a function call (e.g., main(parameters)). This is the primary function responsible for triggering the rest of the EM Functions. We will complete the code inside this function.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The beginning of our analysis start from loading the data. So you can call the </a:t>
            </a: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read_csv_files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function with our raw data.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raw_data = read_csv_files(source_filename)</a:t>
            </a:r>
            <a:endParaRPr b="0" i="0" sz="1400" u="none" cap="none" strike="noStrike">
              <a:solidFill>
                <a:srgbClr val="000000"/>
              </a:solidFill>
              <a:highlight>
                <a:srgbClr val="EFEFEF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1143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4. 	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Then you can check your loaded data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print(raw_data.head())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12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Step 2: One Hot Encoding of Machine Steps</a:t>
            </a:r>
            <a:endParaRPr/>
          </a:p>
        </p:txBody>
      </p:sp>
      <p:sp>
        <p:nvSpPr>
          <p:cNvPr id="478" name="Google Shape;478;p12"/>
          <p:cNvSpPr txBox="1"/>
          <p:nvPr/>
        </p:nvSpPr>
        <p:spPr>
          <a:xfrm>
            <a:off x="305300" y="1412300"/>
            <a:ext cx="76743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Next, we need to create one hot encoding for each machine step and add lot machine usage to raw_data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Call the </a:t>
            </a: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get_onehot_machine 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function with the parameter of our loaded raw data.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onehot_lot_last_step, machine_information, raw_data = get_onehot_machine(raw_data)</a:t>
            </a:r>
            <a:endParaRPr b="0" i="0" sz="1100" u="none" cap="none" strike="noStrike">
              <a:solidFill>
                <a:srgbClr val="000000"/>
              </a:solidFill>
              <a:highlight>
                <a:srgbClr val="EFEFEF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highlight>
                <a:srgbClr val="EFEFEF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This function returns hot encoding data including machine name and updated raw data.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4" name="Google Shape;484;p13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Step 3: Preprocessing: Lot Information</a:t>
            </a:r>
            <a:endParaRPr/>
          </a:p>
        </p:txBody>
      </p:sp>
      <p:sp>
        <p:nvSpPr>
          <p:cNvPr id="485" name="Google Shape;485;p13"/>
          <p:cNvSpPr txBox="1"/>
          <p:nvPr/>
        </p:nvSpPr>
        <p:spPr>
          <a:xfrm>
            <a:off x="305300" y="1412300"/>
            <a:ext cx="76743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Next, we need to calculate each LOT's statistics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Call the </a:t>
            </a: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get_lot_information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function with the parameter of our updated raw data.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lot_information = get_lot_information(raw_data)</a:t>
            </a:r>
            <a:endParaRPr b="0" i="0" sz="1400" u="none" cap="none" strike="noStrike">
              <a:solidFill>
                <a:srgbClr val="000000"/>
              </a:solidFill>
              <a:highlight>
                <a:srgbClr val="EFEFEF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highlight>
                <a:srgbClr val="EFEFEF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This function will read the statistic of each lot in given source dataframe.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1" name="Google Shape;491;p14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Step 4: Preprocessing: Machine Information</a:t>
            </a:r>
            <a:endParaRPr/>
          </a:p>
        </p:txBody>
      </p:sp>
      <p:sp>
        <p:nvSpPr>
          <p:cNvPr id="492" name="Google Shape;492;p14"/>
          <p:cNvSpPr txBox="1"/>
          <p:nvPr/>
        </p:nvSpPr>
        <p:spPr>
          <a:xfrm>
            <a:off x="305300" y="1412300"/>
            <a:ext cx="8376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Next, we need to calculate each machine's statistics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Call the </a:t>
            </a: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get_machine_information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function with the parameter of our new variables.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machine_information = get_machine_information(onehot_lot_last_step, machine_information, lot_information)</a:t>
            </a:r>
            <a:endParaRPr b="0" i="0" sz="1000" u="none" cap="none" strike="noStrike">
              <a:solidFill>
                <a:srgbClr val="000000"/>
              </a:solidFill>
              <a:highlight>
                <a:srgbClr val="EFEFEF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highlight>
                <a:srgbClr val="EFEFEF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This function will calculate the statistic of each machine from several related sources.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15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Step 5: Running EM Algorithm</a:t>
            </a:r>
            <a:endParaRPr/>
          </a:p>
        </p:txBody>
      </p:sp>
      <p:sp>
        <p:nvSpPr>
          <p:cNvPr id="499" name="Google Shape;499;p15"/>
          <p:cNvSpPr txBox="1"/>
          <p:nvPr/>
        </p:nvSpPr>
        <p:spPr>
          <a:xfrm>
            <a:off x="305300" y="1412300"/>
            <a:ext cx="8376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Here, we already have the data required by our EM algorithm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function. So we can start analyzing our data.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Call the </a:t>
            </a: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em_algorithm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function with the parameter of our new variables.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machine_information, em_iter_res, iters = em_algorithm(raw_data, machine_information, lot_information)</a:t>
            </a:r>
            <a:endParaRPr b="0" i="0" sz="1000" u="none" cap="none" strike="noStrike">
              <a:solidFill>
                <a:srgbClr val="000000"/>
              </a:solidFill>
              <a:highlight>
                <a:srgbClr val="EFEFEF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highlight>
                <a:srgbClr val="EFEFEF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This function will calculate machine's yield rate using EM Algorithm.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6"/>
          <p:cNvSpPr txBox="1"/>
          <p:nvPr/>
        </p:nvSpPr>
        <p:spPr>
          <a:xfrm>
            <a:off x="305300" y="1412300"/>
            <a:ext cx="83760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The last thing to do is saving our result to the CSV file using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create_report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function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report = create_report(machine_information, report_filename)</a:t>
            </a:r>
            <a:endParaRPr b="0" i="0" sz="1400" u="none" cap="none" strike="noStrike">
              <a:solidFill>
                <a:srgbClr val="000000"/>
              </a:solidFill>
              <a:highlight>
                <a:srgbClr val="EFEFEF"/>
              </a:highlight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Then you can check your newly created file.</a:t>
            </a:r>
            <a:endParaRPr b="1" i="0" sz="1400" u="none" cap="none" strike="noStrike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05" name="Google Shape;505;p1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16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Step 6: Saving Report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17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The Result</a:t>
            </a:r>
            <a:endParaRPr/>
          </a:p>
        </p:txBody>
      </p:sp>
      <p:pic>
        <p:nvPicPr>
          <p:cNvPr id="513" name="Google Shape;5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7411" y="2312650"/>
            <a:ext cx="3613789" cy="2161187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7"/>
          <p:cNvSpPr txBox="1"/>
          <p:nvPr/>
        </p:nvSpPr>
        <p:spPr>
          <a:xfrm>
            <a:off x="305300" y="1412300"/>
            <a:ext cx="83760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result is already sorted ascendingly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So the lowest yield rate is in the top list.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515" name="Google Shape;515;p17"/>
          <p:cNvSpPr txBox="1"/>
          <p:nvPr/>
        </p:nvSpPr>
        <p:spPr>
          <a:xfrm>
            <a:off x="202575" y="4636500"/>
            <a:ext cx="67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Different computer or IDE may show a slight different result, but should be close to this</a:t>
            </a:r>
            <a:endParaRPr b="0" i="1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REAL CASE</a:t>
            </a:r>
            <a:endParaRPr/>
          </a:p>
        </p:txBody>
      </p:sp>
      <p:sp>
        <p:nvSpPr>
          <p:cNvPr id="521" name="Google Shape;521;p18"/>
          <p:cNvSpPr txBox="1"/>
          <p:nvPr>
            <p:ph idx="4294967295" type="sldNum"/>
          </p:nvPr>
        </p:nvSpPr>
        <p:spPr>
          <a:xfrm>
            <a:off x="7618000" y="426225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19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Setting up the real case</a:t>
            </a:r>
            <a:endParaRPr/>
          </a:p>
        </p:txBody>
      </p:sp>
      <p:sp>
        <p:nvSpPr>
          <p:cNvPr id="528" name="Google Shape;528;p19"/>
          <p:cNvSpPr txBox="1"/>
          <p:nvPr/>
        </p:nvSpPr>
        <p:spPr>
          <a:xfrm>
            <a:off x="305300" y="1327575"/>
            <a:ext cx="85359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Now if you have no trouble in previous case, you can start analyzing the real data with the bigger dataset. Then report your result.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First you have to open the </a:t>
            </a: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em_algorithm_v1_2.py</a:t>
            </a: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file in the python IDE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Modify the setting variable such as:</a:t>
            </a:r>
            <a:endParaRPr b="0" i="0" sz="1400" u="none" cap="none" strike="noStrike">
              <a:solidFill>
                <a:srgbClr val="000000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 Condensed Light"/>
              <a:buAutoNum type="alphaL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Find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RAWDATA_CSV_PATH_FILENAME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and insert the value with our simplified raw data 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real_world_data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.csv’</a:t>
            </a:r>
            <a:endParaRPr b="0" i="0" sz="1400" u="none" cap="none" strike="noStrik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AutoNum type="alphaL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Find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REPORT_PATH_FILENAME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and insert the value with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‘report_real_case.csv’</a:t>
            </a:r>
            <a:endParaRPr b="0" i="0" sz="1400" u="none" cap="none" strike="noStrik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AutoNum type="alphaL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(optional) You can also change the maximum iteration of EM Algorithm, just change </a:t>
            </a:r>
            <a:r>
              <a:rPr b="0" i="0" lang="en" sz="1400" u="none" cap="none" strike="noStrike">
                <a:solidFill>
                  <a:schemeClr val="dk1"/>
                </a:solidFill>
                <a:highlight>
                  <a:srgbClr val="EFEFEF"/>
                </a:highlight>
                <a:latin typeface="Courier"/>
                <a:ea typeface="Courier"/>
                <a:cs typeface="Courier"/>
                <a:sym typeface="Courier"/>
              </a:rPr>
              <a:t>MAX_EMA_ITERATIONS</a:t>
            </a: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value with any integer number (between 10 to 50 is recommended)</a:t>
            </a:r>
            <a:endParaRPr b="0" i="0" sz="1400" u="none" cap="none" strike="noStrik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AutoNum type="arabicPeriod"/>
            </a:pPr>
            <a:r>
              <a:rPr b="0" i="0" lang="en" sz="1400" u="none" cap="none" strike="noStrik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Start analyzing your data using EM Algorithm (similar to simplified case)</a:t>
            </a:r>
            <a:endParaRPr b="0" i="0" sz="1400" u="none" cap="none" strike="noStrike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